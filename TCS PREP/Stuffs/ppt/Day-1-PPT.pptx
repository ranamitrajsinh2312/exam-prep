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1" r:id="rId1"/>
  </p:sldMasterIdLst>
  <p:notesMasterIdLst>
    <p:notesMasterId r:id="rId34"/>
  </p:notesMasterIdLst>
  <p:handoutMasterIdLst>
    <p:handoutMasterId r:id="rId35"/>
  </p:handoutMasterIdLst>
  <p:sldIdLst>
    <p:sldId id="257" r:id="rId2"/>
    <p:sldId id="459" r:id="rId3"/>
    <p:sldId id="268" r:id="rId4"/>
    <p:sldId id="269" r:id="rId5"/>
    <p:sldId id="460" r:id="rId6"/>
    <p:sldId id="728" r:id="rId7"/>
    <p:sldId id="461" r:id="rId8"/>
    <p:sldId id="463" r:id="rId9"/>
    <p:sldId id="464" r:id="rId10"/>
    <p:sldId id="466" r:id="rId11"/>
    <p:sldId id="465" r:id="rId12"/>
    <p:sldId id="688" r:id="rId13"/>
    <p:sldId id="666" r:id="rId14"/>
    <p:sldId id="667" r:id="rId15"/>
    <p:sldId id="669" r:id="rId16"/>
    <p:sldId id="689" r:id="rId17"/>
    <p:sldId id="690" r:id="rId18"/>
    <p:sldId id="729" r:id="rId19"/>
    <p:sldId id="691" r:id="rId20"/>
    <p:sldId id="692" r:id="rId21"/>
    <p:sldId id="730" r:id="rId22"/>
    <p:sldId id="693" r:id="rId23"/>
    <p:sldId id="732" r:id="rId24"/>
    <p:sldId id="731" r:id="rId25"/>
    <p:sldId id="733" r:id="rId26"/>
    <p:sldId id="734" r:id="rId27"/>
    <p:sldId id="735" r:id="rId28"/>
    <p:sldId id="736" r:id="rId29"/>
    <p:sldId id="737" r:id="rId30"/>
    <p:sldId id="738" r:id="rId31"/>
    <p:sldId id="739" r:id="rId32"/>
    <p:sldId id="337" r:id="rId33"/>
  </p:sldIdLst>
  <p:sldSz cx="12192000" cy="68580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Roboto Condensed" panose="02000000000000000000" pitchFamily="2" charset="0"/>
      <p:regular r:id="rId44"/>
      <p:bold r:id="rId45"/>
      <p:italic r:id="rId46"/>
      <p:boldItalic r:id="rId47"/>
    </p:embeddedFont>
    <p:embeddedFont>
      <p:font typeface="Roboto Condensed Light" panose="02000000000000000000" pitchFamily="2" charset="0"/>
      <p:regular r:id="rId48"/>
      <p:italic r:id="rId49"/>
    </p:embeddedFont>
    <p:embeddedFont>
      <p:font typeface="Wingdings 3" panose="05040102010807070707" pitchFamily="18" charset="2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CnQYft+1wjpVsihJR6+yXQ==" hashData="C6t/W3DgVA1fym8dnezXrHGdg9Te372XEoxD6XdVKaCVwN5LNzNa/HBfKKNwibOQO/2JGZGZgeuhVClcoKx9zA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9FE"/>
    <a:srgbClr val="C00000"/>
    <a:srgbClr val="002060"/>
    <a:srgbClr val="2981C0"/>
    <a:srgbClr val="0C77C3"/>
    <a:srgbClr val="FFFFFF"/>
    <a:srgbClr val="A0C061"/>
    <a:srgbClr val="3572EB"/>
    <a:srgbClr val="B9B9B9"/>
    <a:srgbClr val="95DD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9" autoAdjust="0"/>
    <p:restoredTop sz="96091" autoAdjust="0"/>
  </p:normalViewPr>
  <p:slideViewPr>
    <p:cSldViewPr snapToGrid="0">
      <p:cViewPr varScale="1">
        <p:scale>
          <a:sx n="85" d="100"/>
          <a:sy n="85" d="100"/>
        </p:scale>
        <p:origin x="504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64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5693-2F5F-4C2C-AA37-8E54880345AD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E920D-5A96-474F-9B79-F5AA1EF5E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FBB180-F380-4DDD-8F5B-4775C6561492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E1D88-AA76-442E-88A9-1A7935C1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014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308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811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F096-4E1D-6424-CDF2-3A104C0F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467D-02D3-0636-A5E5-DAF5512AC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87F3-8C65-4FB5-5216-96CDDC545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6A692-CAE4-A580-B117-370339F25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365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5F096-4E1D-6424-CDF2-3A104C0F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467D-02D3-0636-A5E5-DAF5512AC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787F3-8C65-4FB5-5216-96CDDC545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6A692-CAE4-A580-B117-370339F25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595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221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84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064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123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9779-C2FE-01F1-6BEA-474EA3867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0B566-226E-589D-7E23-3565E075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CC7CE-5540-CCB9-BCD4-2E0D0FF57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Ref: https://mentorplus.co.in/wp-content/uploads/2023/01/Parts-of-Speech-With-5-Examples-Each.jpg</a:t>
            </a:r>
            <a:br>
              <a:rPr lang="en-US" dirty="0"/>
            </a:br>
            <a:r>
              <a:rPr lang="en-US" dirty="0"/>
              <a:t>https://images.app.goo.gl/3ziftbz12KYkYvmW8</a:t>
            </a:r>
            <a:br>
              <a:rPr lang="en-US" dirty="0"/>
            </a:br>
            <a:r>
              <a:rPr lang="en-US" dirty="0"/>
              <a:t>https://www.shutterstock.com/search/similar/1819286891</a:t>
            </a:r>
            <a:br>
              <a:rPr lang="en-US" dirty="0"/>
            </a:br>
            <a:r>
              <a:rPr lang="en-US" dirty="0"/>
              <a:t>https</a:t>
            </a:r>
            <a:r>
              <a:rPr lang="en-US"/>
              <a:t>://www.pngwing.com/en/free-png-dhqabhttps</a:t>
            </a:r>
            <a:r>
              <a:rPr lang="en-US" dirty="0"/>
              <a:t>://www.vectorstock.com/royalty-free-vector/policeman-cartoon-profession-vector-43031206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42BA-3537-E8FD-4C70-28236320E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660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988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651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670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86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4494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8822-7EBB-6B3A-F4A0-ACB4B0EB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C98F9-D4BA-F30A-EDC2-A819231F3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0E3B9-5AB2-8641-FB98-17C0E2379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AD2F4-012C-7E77-725B-1A5119351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373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F8822-7EBB-6B3A-F4A0-ACB4B0EB9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C98F9-D4BA-F30A-EDC2-A819231F3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90E3B9-5AB2-8641-FB98-17C0E2379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AD2F4-012C-7E77-725B-1A5119351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660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66AEB-96CE-B26D-B8FD-850CC95F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F6DEE4-3CCC-8C68-AAA5-F504E3E8F7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00BD73-22A3-980A-F108-DBF0E8ACB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6EF05-FC62-E293-EBFE-12821E4EF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006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3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416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6A5A-6825-C372-3706-9094EA76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C298A-0419-C967-E114-F37F6D0DE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C3759-4BBC-0A37-A84A-6B2DF8BDB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8204D-1DC3-FB8D-5EF6-EBC255811B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52262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5B341-5D65-EC85-3641-A78BB624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6E012-CC14-5796-9738-BD2ED6FFE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D5121-8DED-4336-3CA8-3F042B61D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B0FA7-8730-1C37-05F5-9831ABEDA4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552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FA074-C9F9-AC4D-0D5C-DE9FE08C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0AC1E-69EE-0EB0-8524-EF2150E78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A6B30-DCDC-2F2D-CA48-689EDBF80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557DA-FD53-1515-6E78-5993500DE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9847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Gif</a:t>
            </a:r>
            <a:r>
              <a:rPr lang="en-US" baseline="0" dirty="0"/>
              <a:t> Reference: </a:t>
            </a:r>
            <a:r>
              <a:rPr lang="en-IN" dirty="0"/>
              <a:t>https://tenor.com/view/tkthpsharma-gif-23317246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000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991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868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457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870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5058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47576-BE49-33AB-7190-A9F5DDD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A5AA7-4ED9-787E-40BC-570D9326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6CD1EB-68E1-3565-4D67-A2798842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3011-E1EE-1561-B4DC-398FC9657D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E1D88-AA76-442E-88A9-1A7935C108D4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5873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2" name="Google Shape;2092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3" name="Google Shape;2093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17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2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1866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090100" y="96297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  <p:sp>
        <p:nvSpPr>
          <p:cNvPr id="2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</p:spTree>
    <p:extLst>
      <p:ext uri="{BB962C8B-B14F-4D97-AF65-F5344CB8AC3E}">
        <p14:creationId xmlns:p14="http://schemas.microsoft.com/office/powerpoint/2010/main" val="265330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28104" y="585094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-2" y="6858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53231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Essential Grammar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 Chauhan</a:t>
            </a:r>
          </a:p>
        </p:txBody>
      </p:sp>
    </p:spTree>
    <p:extLst>
      <p:ext uri="{BB962C8B-B14F-4D97-AF65-F5344CB8AC3E}">
        <p14:creationId xmlns:p14="http://schemas.microsoft.com/office/powerpoint/2010/main" val="278517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08039" y="5952522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4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#2501HS102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Essential Grammar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91484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559036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Roboto Condensed Light" panose="02000000000000000000" pitchFamily="2" charset="0"/>
                <a:cs typeface="+mn-cs"/>
              </a:rPr>
              <a:t>#2501HS102 (English)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Wingdings" panose="05000000000000000000" pitchFamily="2" charset="2"/>
                <a:ea typeface="Roboto Condensed Light" panose="02000000000000000000" pitchFamily="2" charset="0"/>
                <a:cs typeface="+mn-cs"/>
              </a:rPr>
              <a:t>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Unit - 4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12121">
                    <a:lumMod val="90000"/>
                    <a:lumOff val="10000"/>
                  </a:srgbClr>
                </a:solidFill>
                <a:effectLst/>
                <a:uLnTx/>
                <a:uFillTx/>
                <a:latin typeface="Roboto Condensed"/>
                <a:ea typeface="Roboto Condensed Light" panose="02000000000000000000" pitchFamily="2" charset="0"/>
                <a:cs typeface="+mn-cs"/>
              </a:rPr>
              <a:t>Essential Grammar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141473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8" y="92111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34543" y="921114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Unit - 4 Essential Grammar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294706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9053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#2501HS102</a:t>
            </a:r>
            <a:r>
              <a:rPr lang="en-US" sz="1200" kern="1200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(English)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sz="1200" kern="1200" dirty="0">
                <a:solidFill>
                  <a:srgbClr val="212121">
                    <a:lumMod val="90000"/>
                    <a:lumOff val="10000"/>
                  </a:srgbClr>
                </a:solidFill>
                <a:latin typeface="+mn-lt"/>
                <a:ea typeface="Roboto Condensed Light" panose="02000000000000000000" pitchFamily="2" charset="0"/>
                <a:cs typeface="+mn-cs"/>
              </a:rPr>
              <a:t>Unit - 4 Essential Grammar</a:t>
            </a:r>
          </a:p>
        </p:txBody>
      </p:sp>
      <p:sp>
        <p:nvSpPr>
          <p:cNvPr id="3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47253" y="6608527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195547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77041" y="242508"/>
            <a:ext cx="1649043" cy="501287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79575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rgbClr val="212121">
                    <a:lumMod val="90000"/>
                    <a:lumOff val="10000"/>
                  </a:srgbClr>
                </a:solidFill>
              </a:rPr>
              <a:pPr/>
              <a:t>‹#›</a:t>
            </a:fld>
            <a:endParaRPr lang="en-US" b="1" dirty="0">
              <a:solidFill>
                <a:srgbClr val="212121">
                  <a:lumMod val="90000"/>
                  <a:lumOff val="10000"/>
                </a:srgb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242441" y="5980196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1 - Parts of Speech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39140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1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152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6667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A1721-8CF9-09D4-7B12-699E396E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72E8E8-F1D1-9CEB-19A2-607B5CDC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78542-39B3-1981-0439-143C4EAF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DC2D7-54FF-1FD8-3A27-F62D6E72F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142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52807"/>
            <a:ext cx="11929641" cy="56012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oogle Shape;60;p54"/>
          <p:cNvGrpSpPr/>
          <p:nvPr userDrawn="1"/>
        </p:nvGrpSpPr>
        <p:grpSpPr>
          <a:xfrm>
            <a:off x="10721798" y="852808"/>
            <a:ext cx="1339024" cy="407045"/>
            <a:chOff x="10721798" y="852808"/>
            <a:chExt cx="1339024" cy="407045"/>
          </a:xfrm>
        </p:grpSpPr>
        <p:pic>
          <p:nvPicPr>
            <p:cNvPr id="15" name="Google Shape;61;p5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" name="Google Shape;62;p54"/>
            <p:cNvSpPr/>
            <p:nvPr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5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8527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#2301HS102</a:t>
            </a:r>
            <a:r>
              <a:rPr lang="en-US" baseline="0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(English)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Unit - 4 – Essential Grammar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Nitin</a:t>
            </a:r>
            <a:r>
              <a:rPr lang="en-US" dirty="0">
                <a:solidFill>
                  <a:srgbClr val="212121">
                    <a:lumMod val="90000"/>
                    <a:lumOff val="10000"/>
                  </a:srgbClr>
                </a:solidFill>
                <a:latin typeface="+mj-lt"/>
                <a:ea typeface="Roboto Condensed Light" panose="02000000000000000000" pitchFamily="2" charset="0"/>
              </a:rPr>
              <a:t> Chauhan</a:t>
            </a:r>
          </a:p>
        </p:txBody>
      </p:sp>
    </p:spTree>
    <p:extLst>
      <p:ext uri="{BB962C8B-B14F-4D97-AF65-F5344CB8AC3E}">
        <p14:creationId xmlns:p14="http://schemas.microsoft.com/office/powerpoint/2010/main" val="306250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4088" y="-5993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272" y="1999976"/>
            <a:ext cx="2973402" cy="32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36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8/7/2026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>
                <a:solidFill>
                  <a:srgbClr val="212121">
                    <a:tint val="75000"/>
                  </a:srgbClr>
                </a:solidFill>
              </a:rPr>
              <a:pPr/>
              <a:t>‹#›</a:t>
            </a:fld>
            <a:endParaRPr lang="en-US">
              <a:solidFill>
                <a:srgbClr val="212121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999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19" r:id="rId3"/>
    <p:sldLayoutId id="2147483724" r:id="rId4"/>
    <p:sldLayoutId id="2147483720" r:id="rId5"/>
    <p:sldLayoutId id="2147483663" r:id="rId6"/>
    <p:sldLayoutId id="2147483689" r:id="rId7"/>
    <p:sldLayoutId id="2147483667" r:id="rId8"/>
    <p:sldLayoutId id="2147483669" r:id="rId9"/>
    <p:sldLayoutId id="2147483670" r:id="rId10"/>
    <p:sldLayoutId id="2147483671" r:id="rId11"/>
    <p:sldLayoutId id="2147483705" r:id="rId12"/>
    <p:sldLayoutId id="2147483727" r:id="rId13"/>
    <p:sldLayoutId id="2147483726" r:id="rId14"/>
    <p:sldLayoutId id="2147483728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mailto:Swati.sharma@darshan.ac.in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33F9D0-79AF-43AC-AF9D-363E78BA5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218" y="1327132"/>
            <a:ext cx="7292336" cy="2987314"/>
          </a:xfrm>
        </p:spPr>
        <p:txBody>
          <a:bodyPr/>
          <a:lstStyle/>
          <a:p>
            <a:br>
              <a:rPr lang="en-US" sz="1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r>
              <a:rPr lang="en-US" dirty="0">
                <a:ea typeface="Roboto Condensed Light" panose="02000000000000000000" pitchFamily="2" charset="0"/>
              </a:rPr>
              <a:t>Essential Grammar </a:t>
            </a:r>
            <a:b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Sentence Completion &amp; Vocabulary Basics</a:t>
            </a:r>
            <a:b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</a:b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EA47D8-8426-4DBD-BFF3-4005B9628AC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nitin.chauhan@darshan.ac.in</a:t>
            </a:r>
            <a:r>
              <a:rPr lang="en-US" dirty="0"/>
              <a:t>	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B68CD4-73FE-4D9C-A25E-10B975B947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9016705547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3D8A79D-333F-44B3-B1A0-1780CA0E35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Humanities and Science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4423574-50B3-4C1F-BB03-4625B3BB7D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Nitin H. Chauhan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8C932FB-1928-4F3D-87A8-4A34E30617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81756" y="11675"/>
            <a:ext cx="4646358" cy="73465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TCS Placement Practice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15961" y="1641307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9B32553-06B4-F721-2DD8-3BE81916D61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2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99380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685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31706"/>
            <a:ext cx="519725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Topics </a:t>
            </a:r>
            <a:endParaRPr lang="en-US" sz="2400" dirty="0"/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Noun-Pronoun Agreement 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Subject-Verb Agreement </a:t>
            </a:r>
          </a:p>
          <a:p>
            <a:pPr marL="800100" lvl="1" indent="-342900">
              <a:buSzPct val="100000"/>
              <a:buFont typeface="Arial" panose="020B0604020202020204" pitchFamily="34" charset="0"/>
              <a:buChar char="•"/>
            </a:pPr>
            <a:r>
              <a:rPr lang="en-US" sz="2400" dirty="0"/>
              <a:t>Tips to solve Sentence Completion</a:t>
            </a:r>
          </a:p>
          <a:p>
            <a:pPr marL="428625" lvl="2"/>
            <a:endParaRPr lang="en-US" sz="2400" dirty="0"/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6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83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5"/>
            <a:ext cx="7820123" cy="5590364"/>
          </a:xfrm>
        </p:spPr>
        <p:txBody>
          <a:bodyPr/>
          <a:lstStyle/>
          <a:p>
            <a:pPr fontAlgn="base"/>
            <a:r>
              <a:rPr lang="en-US" dirty="0"/>
              <a:t>Noun-Pronoun Agreement refers to the </a:t>
            </a:r>
            <a:r>
              <a:rPr lang="en-US" b="1" dirty="0"/>
              <a:t>grammatical agreement between the noun and the pronoun</a:t>
            </a:r>
            <a:r>
              <a:rPr lang="en-US" dirty="0"/>
              <a:t>, the pronoun should match the noun it replaces:</a:t>
            </a:r>
          </a:p>
          <a:p>
            <a:pPr lvl="1" fontAlgn="base"/>
            <a:r>
              <a:rPr lang="en-US" dirty="0"/>
              <a:t>Gender (male, female, or thing) </a:t>
            </a:r>
          </a:p>
          <a:p>
            <a:pPr lvl="2" fontAlgn="base"/>
            <a:r>
              <a:rPr lang="en-US" b="1" dirty="0"/>
              <a:t>Shyam</a:t>
            </a:r>
            <a:r>
              <a:rPr lang="en-US" dirty="0"/>
              <a:t> is my brother. </a:t>
            </a:r>
            <a:r>
              <a:rPr lang="en-US" b="1" dirty="0"/>
              <a:t>He</a:t>
            </a:r>
            <a:r>
              <a:rPr lang="en-US" dirty="0"/>
              <a:t> likes to draw.</a:t>
            </a:r>
          </a:p>
          <a:p>
            <a:pPr lvl="2" fontAlgn="base"/>
            <a:r>
              <a:rPr lang="en-US" b="1" dirty="0"/>
              <a:t>Meera</a:t>
            </a:r>
            <a:r>
              <a:rPr lang="en-US" dirty="0"/>
              <a:t> joined the football team. </a:t>
            </a:r>
            <a:r>
              <a:rPr lang="en-US" b="1" dirty="0"/>
              <a:t>She</a:t>
            </a:r>
            <a:r>
              <a:rPr lang="en-US" dirty="0"/>
              <a:t> practices every evening.</a:t>
            </a:r>
          </a:p>
          <a:p>
            <a:pPr lvl="2" fontAlgn="base"/>
            <a:r>
              <a:rPr lang="en-US" dirty="0"/>
              <a:t>I bought a new </a:t>
            </a:r>
            <a:r>
              <a:rPr lang="en-US" b="1" dirty="0"/>
              <a:t>mobile</a:t>
            </a:r>
            <a:r>
              <a:rPr lang="en-US" dirty="0"/>
              <a:t>. </a:t>
            </a:r>
            <a:r>
              <a:rPr lang="en-US" b="1" dirty="0"/>
              <a:t>It</a:t>
            </a:r>
            <a:r>
              <a:rPr lang="en-US" dirty="0"/>
              <a:t> is very useful.</a:t>
            </a:r>
          </a:p>
          <a:p>
            <a:pPr lvl="1" fontAlgn="base"/>
            <a:r>
              <a:rPr lang="en-US" dirty="0"/>
              <a:t>Person (first, second, or third)</a:t>
            </a:r>
          </a:p>
          <a:p>
            <a:pPr lvl="2" fontAlgn="base"/>
            <a:r>
              <a:rPr lang="en-US" b="1" dirty="0"/>
              <a:t>I</a:t>
            </a:r>
            <a:r>
              <a:rPr lang="en-US" dirty="0"/>
              <a:t> love reading books. </a:t>
            </a:r>
          </a:p>
          <a:p>
            <a:pPr lvl="2" fontAlgn="base"/>
            <a:r>
              <a:rPr lang="en-US" b="1" dirty="0"/>
              <a:t>You</a:t>
            </a:r>
            <a:r>
              <a:rPr lang="en-US" dirty="0"/>
              <a:t> enjoy painting. </a:t>
            </a:r>
          </a:p>
          <a:p>
            <a:pPr lvl="2" fontAlgn="base"/>
            <a:r>
              <a:rPr lang="en-US" b="1" dirty="0"/>
              <a:t>He</a:t>
            </a:r>
            <a:r>
              <a:rPr lang="en-US" dirty="0"/>
              <a:t> plays cricket.</a:t>
            </a:r>
          </a:p>
          <a:p>
            <a:pPr lvl="1" fontAlgn="base"/>
            <a:r>
              <a:rPr lang="en-US" dirty="0"/>
              <a:t>In number (singular or plural)</a:t>
            </a:r>
          </a:p>
          <a:p>
            <a:pPr lvl="2" fontAlgn="base"/>
            <a:r>
              <a:rPr lang="en-US" b="1" dirty="0"/>
              <a:t>The child</a:t>
            </a:r>
            <a:r>
              <a:rPr lang="en-US" dirty="0"/>
              <a:t> is playing. </a:t>
            </a:r>
            <a:r>
              <a:rPr lang="en-US" b="1" dirty="0"/>
              <a:t>It</a:t>
            </a:r>
            <a:r>
              <a:rPr lang="en-US" dirty="0"/>
              <a:t> looks happy. </a:t>
            </a:r>
          </a:p>
          <a:p>
            <a:pPr lvl="2" fontAlgn="base"/>
            <a:r>
              <a:rPr lang="en-US" b="1" dirty="0"/>
              <a:t>The children</a:t>
            </a:r>
            <a:r>
              <a:rPr lang="en-US" dirty="0"/>
              <a:t> are playing. </a:t>
            </a:r>
            <a:r>
              <a:rPr lang="en-US" b="1" dirty="0"/>
              <a:t>They</a:t>
            </a:r>
            <a:r>
              <a:rPr lang="en-US" dirty="0"/>
              <a:t> look happy.</a:t>
            </a:r>
          </a:p>
          <a:p>
            <a:pPr marL="914400" lvl="2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A3A046-8444-FF08-DC5E-A29ACCFE2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180" y="459850"/>
            <a:ext cx="4852283" cy="477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49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DE2A-315C-4FE7-F776-338C6B31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37A24-F1B8-FE8B-E8B3-9820E9CE2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935773" cy="4715422"/>
          </a:xfrm>
        </p:spPr>
        <p:txBody>
          <a:bodyPr/>
          <a:lstStyle/>
          <a:p>
            <a:pPr fontAlgn="base"/>
            <a:r>
              <a:rPr lang="en-US" dirty="0"/>
              <a:t>Rule 1: When referring to </a:t>
            </a:r>
            <a:r>
              <a:rPr lang="en-US" b="1" dirty="0"/>
              <a:t>a singular masculine</a:t>
            </a:r>
            <a:r>
              <a:rPr lang="en-US" dirty="0"/>
              <a:t>, use pronouns like </a:t>
            </a:r>
            <a:r>
              <a:rPr lang="en-US" b="1" dirty="0"/>
              <a:t>“he,” “him,” “his,” </a:t>
            </a:r>
            <a:r>
              <a:rPr lang="en-US" dirty="0"/>
              <a:t>and </a:t>
            </a:r>
            <a:r>
              <a:rPr lang="en-US" b="1" dirty="0"/>
              <a:t>“himself.”</a:t>
            </a:r>
            <a:endParaRPr lang="en-US" dirty="0"/>
          </a:p>
          <a:p>
            <a:pPr lvl="1" fontAlgn="base"/>
            <a:r>
              <a:rPr lang="en-US" dirty="0"/>
              <a:t>Ravi is my friend. </a:t>
            </a:r>
            <a:r>
              <a:rPr lang="en-US" b="1" dirty="0"/>
              <a:t>He</a:t>
            </a:r>
            <a:r>
              <a:rPr lang="en-US" dirty="0"/>
              <a:t> is very helpful.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he</a:t>
            </a:r>
            <a:endParaRPr lang="en-IN" dirty="0"/>
          </a:p>
          <a:p>
            <a:pPr lvl="2" fontAlgn="base"/>
            <a:endParaRPr lang="en-IN" dirty="0"/>
          </a:p>
          <a:p>
            <a:pPr lvl="1" fontAlgn="base"/>
            <a:r>
              <a:rPr lang="en-US" dirty="0"/>
              <a:t>This boy is intelligent. Everyone likes </a:t>
            </a:r>
            <a:r>
              <a:rPr lang="en-US" b="1" dirty="0"/>
              <a:t>him</a:t>
            </a:r>
            <a:r>
              <a:rPr lang="en-US" dirty="0"/>
              <a:t>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him</a:t>
            </a:r>
            <a:endParaRPr lang="en-IN" dirty="0"/>
          </a:p>
          <a:p>
            <a:pPr lvl="2" fontAlgn="base"/>
            <a:endParaRPr lang="en-IN" dirty="0"/>
          </a:p>
          <a:p>
            <a:pPr lvl="1" fontAlgn="base"/>
            <a:r>
              <a:rPr lang="en-US" dirty="0"/>
              <a:t>Arjun has lost </a:t>
            </a:r>
            <a:r>
              <a:rPr lang="en-US" b="1" dirty="0"/>
              <a:t>his</a:t>
            </a:r>
            <a:r>
              <a:rPr lang="en-US" dirty="0"/>
              <a:t> book.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his</a:t>
            </a:r>
            <a:endParaRPr lang="en-IN" dirty="0"/>
          </a:p>
          <a:p>
            <a:pPr lvl="2" fontAlgn="base"/>
            <a:endParaRPr lang="en-IN" dirty="0"/>
          </a:p>
          <a:p>
            <a:pPr lvl="1" fontAlgn="base"/>
            <a:r>
              <a:rPr lang="en-US" dirty="0"/>
              <a:t>The man solved the problem himself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lvl="2" fontAlgn="base"/>
            <a:r>
              <a:rPr lang="en-IN" dirty="0"/>
              <a:t>masculine subject → pronoun </a:t>
            </a:r>
            <a:r>
              <a:rPr lang="en-IN" b="1" dirty="0"/>
              <a:t>himself</a:t>
            </a:r>
            <a:endParaRPr lang="en-US" dirty="0"/>
          </a:p>
        </p:txBody>
      </p:sp>
      <p:pic>
        <p:nvPicPr>
          <p:cNvPr id="5" name="Picture 4" descr="A blue line drawing of a person&#10;&#10;AI-generated content may be incorrect.">
            <a:extLst>
              <a:ext uri="{FF2B5EF4-FFF2-40B4-BE49-F238E27FC236}">
                <a16:creationId xmlns:a16="http://schemas.microsoft.com/office/drawing/2014/main" id="{FCFFCC66-2FF4-C220-F541-14580C9A30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756" y="1669832"/>
            <a:ext cx="4047881" cy="351833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89552B-0048-AD0D-6F58-A12D8542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893F4-3D89-8555-BA81-09B944F1A93A}"/>
              </a:ext>
            </a:extLst>
          </p:cNvPr>
          <p:cNvSpPr/>
          <p:nvPr/>
        </p:nvSpPr>
        <p:spPr>
          <a:xfrm>
            <a:off x="8805333" y="3221156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C8E234-5127-0D8A-6EB7-0BD23BC4CC09}"/>
              </a:ext>
            </a:extLst>
          </p:cNvPr>
          <p:cNvSpPr/>
          <p:nvPr/>
        </p:nvSpPr>
        <p:spPr>
          <a:xfrm>
            <a:off x="8805330" y="3525957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EB7D1-0D54-A0E2-668A-B6D09FCDA371}"/>
              </a:ext>
            </a:extLst>
          </p:cNvPr>
          <p:cNvSpPr/>
          <p:nvPr/>
        </p:nvSpPr>
        <p:spPr>
          <a:xfrm>
            <a:off x="8856129" y="3805357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6E218-DAE2-6F7D-DC5F-01D8F39ED36A}"/>
              </a:ext>
            </a:extLst>
          </p:cNvPr>
          <p:cNvSpPr/>
          <p:nvPr/>
        </p:nvSpPr>
        <p:spPr>
          <a:xfrm>
            <a:off x="8856129" y="4072468"/>
            <a:ext cx="1617134" cy="267111"/>
          </a:xfrm>
          <a:prstGeom prst="rect">
            <a:avLst/>
          </a:prstGeom>
          <a:solidFill>
            <a:srgbClr val="DAE9FE"/>
          </a:solidFill>
          <a:ln>
            <a:solidFill>
              <a:srgbClr val="DAE9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 descr="A blue line drawing of a person&#10;&#10;AI-generated content may be incorrect.">
            <a:extLst>
              <a:ext uri="{FF2B5EF4-FFF2-40B4-BE49-F238E27FC236}">
                <a16:creationId xmlns:a16="http://schemas.microsoft.com/office/drawing/2014/main" id="{D08057AF-6630-0F78-4E27-DD45A43496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756" y="1669832"/>
            <a:ext cx="4047881" cy="351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67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ADE2A-315C-4FE7-F776-338C6B312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37A24-F1B8-FE8B-E8B3-9820E9CE2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935773" cy="5075018"/>
          </a:xfrm>
        </p:spPr>
        <p:txBody>
          <a:bodyPr/>
          <a:lstStyle/>
          <a:p>
            <a:pPr fontAlgn="base"/>
            <a:r>
              <a:rPr lang="en-US" dirty="0"/>
              <a:t>Rule 2: When talking about </a:t>
            </a:r>
            <a:r>
              <a:rPr lang="en-US" b="1" dirty="0"/>
              <a:t>a singular feminine</a:t>
            </a:r>
            <a:r>
              <a:rPr lang="en-US" dirty="0"/>
              <a:t>, use pronouns such as </a:t>
            </a:r>
            <a:r>
              <a:rPr lang="en-US" b="1" dirty="0"/>
              <a:t>“she,” “her,” “hers,” </a:t>
            </a:r>
            <a:r>
              <a:rPr lang="en-US" dirty="0"/>
              <a:t>and</a:t>
            </a:r>
            <a:r>
              <a:rPr lang="en-US" b="1" dirty="0"/>
              <a:t> “herself.”</a:t>
            </a:r>
            <a:endParaRPr lang="en-US" dirty="0"/>
          </a:p>
          <a:p>
            <a:pPr lvl="1" algn="l"/>
            <a:r>
              <a:rPr lang="en-US" dirty="0"/>
              <a:t>Sita is a good singer. </a:t>
            </a:r>
            <a:r>
              <a:rPr lang="en-US" b="1" dirty="0"/>
              <a:t>She </a:t>
            </a:r>
            <a:r>
              <a:rPr lang="en-US" dirty="0"/>
              <a:t>sings beautifully.</a:t>
            </a:r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she</a:t>
            </a:r>
            <a:endParaRPr lang="en-US" dirty="0"/>
          </a:p>
          <a:p>
            <a:pPr lvl="2" algn="l"/>
            <a:endParaRPr lang="en-US" dirty="0"/>
          </a:p>
          <a:p>
            <a:pPr lvl="1" algn="l"/>
            <a:r>
              <a:rPr lang="en-US" dirty="0"/>
              <a:t>This girl is my classmate. I know </a:t>
            </a:r>
            <a:r>
              <a:rPr lang="en-US" b="1" dirty="0"/>
              <a:t>her.</a:t>
            </a:r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her</a:t>
            </a:r>
            <a:endParaRPr lang="en-US" dirty="0"/>
          </a:p>
          <a:p>
            <a:pPr lvl="2" algn="l"/>
            <a:endParaRPr lang="en-US" dirty="0"/>
          </a:p>
          <a:p>
            <a:pPr lvl="1" algn="l"/>
            <a:r>
              <a:rPr lang="en-US" dirty="0"/>
              <a:t>Anita has forgotten </a:t>
            </a:r>
            <a:r>
              <a:rPr lang="en-US" b="1" dirty="0"/>
              <a:t>her </a:t>
            </a:r>
            <a:r>
              <a:rPr lang="en-US" dirty="0"/>
              <a:t>notebook.</a:t>
            </a:r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her</a:t>
            </a:r>
            <a:endParaRPr lang="en-US" dirty="0"/>
          </a:p>
          <a:p>
            <a:pPr lvl="2" algn="l"/>
            <a:endParaRPr lang="en-US" dirty="0"/>
          </a:p>
          <a:p>
            <a:pPr lvl="1" algn="l"/>
            <a:r>
              <a:rPr lang="en-US" dirty="0"/>
              <a:t>The woman completed the work </a:t>
            </a:r>
            <a:r>
              <a:rPr lang="en-US" b="1" dirty="0"/>
              <a:t>herself.</a:t>
            </a:r>
            <a:endParaRPr lang="en-US" dirty="0"/>
          </a:p>
          <a:p>
            <a:pPr lvl="2" algn="l"/>
            <a:r>
              <a:rPr lang="en-US" dirty="0"/>
              <a:t>feminine subject → pronoun </a:t>
            </a:r>
            <a:r>
              <a:rPr lang="en-US" b="1" dirty="0"/>
              <a:t>herself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2" name="Picture 11" descr="A pink card with a person icon&#10;&#10;AI-generated content may be incorrect.">
            <a:extLst>
              <a:ext uri="{FF2B5EF4-FFF2-40B4-BE49-F238E27FC236}">
                <a16:creationId xmlns:a16="http://schemas.microsoft.com/office/drawing/2014/main" id="{3855D496-1007-8387-3967-7EB9AC92C4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756" y="1669832"/>
            <a:ext cx="4122309" cy="35183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6CDC50-FCEE-AF58-5396-AA7EF1589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615" y="3135463"/>
            <a:ext cx="1333210" cy="2788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43B125-602E-D2E7-B479-5FC259071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172" y="3507486"/>
            <a:ext cx="972000" cy="2761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A9AE57-00D0-CE9B-0F69-F99F7F8C3B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4269" y="3905294"/>
            <a:ext cx="828000" cy="2002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251AD4-5E03-BDF3-BD79-F77743C84C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6220" y="4217374"/>
            <a:ext cx="1080000" cy="28868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89552B-0048-AD0D-6F58-A12D8542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06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7820123" cy="5590364"/>
          </a:xfrm>
        </p:spPr>
        <p:txBody>
          <a:bodyPr/>
          <a:lstStyle/>
          <a:p>
            <a:pPr fontAlgn="base"/>
            <a:r>
              <a:rPr lang="en-US" dirty="0"/>
              <a:t>Rule 3: For </a:t>
            </a:r>
            <a:r>
              <a:rPr lang="en-US" b="1" dirty="0"/>
              <a:t>non-living things </a:t>
            </a:r>
            <a:r>
              <a:rPr lang="en-US" dirty="0"/>
              <a:t>and </a:t>
            </a:r>
            <a:r>
              <a:rPr lang="en-US" b="1" dirty="0"/>
              <a:t>most animals</a:t>
            </a:r>
            <a:r>
              <a:rPr lang="en-US" dirty="0"/>
              <a:t>, it is appropriate to use </a:t>
            </a:r>
            <a:r>
              <a:rPr lang="en-US" b="1" dirty="0"/>
              <a:t>“it,” “its,”</a:t>
            </a:r>
            <a:r>
              <a:rPr lang="en-US" dirty="0"/>
              <a:t> and </a:t>
            </a:r>
            <a:r>
              <a:rPr lang="en-US" b="1" dirty="0"/>
              <a:t>“itself” </a:t>
            </a:r>
            <a:r>
              <a:rPr lang="en-US" dirty="0"/>
              <a:t>as pronouns</a:t>
            </a:r>
            <a:r>
              <a:rPr lang="en-US" b="1" dirty="0"/>
              <a:t>.</a:t>
            </a:r>
            <a:endParaRPr lang="en-US" dirty="0"/>
          </a:p>
          <a:p>
            <a:pPr lvl="1" fontAlgn="base"/>
            <a:r>
              <a:rPr lang="en-US" dirty="0"/>
              <a:t>The </a:t>
            </a:r>
            <a:r>
              <a:rPr lang="en-US" b="1" dirty="0"/>
              <a:t>chair</a:t>
            </a:r>
            <a:r>
              <a:rPr lang="en-US" dirty="0"/>
              <a:t> is broken. </a:t>
            </a:r>
            <a:r>
              <a:rPr lang="en-US" b="1" dirty="0"/>
              <a:t>It</a:t>
            </a:r>
            <a:r>
              <a:rPr lang="en-US" dirty="0"/>
              <a:t> needs to be repaired.</a:t>
            </a:r>
          </a:p>
          <a:p>
            <a:pPr lvl="1" fontAlgn="base"/>
            <a:r>
              <a:rPr lang="en-US" dirty="0"/>
              <a:t>The </a:t>
            </a:r>
            <a:r>
              <a:rPr lang="en-US" b="1" dirty="0"/>
              <a:t>car </a:t>
            </a:r>
            <a:r>
              <a:rPr lang="en-US" dirty="0"/>
              <a:t>is new. </a:t>
            </a:r>
            <a:r>
              <a:rPr lang="en-US" b="1" dirty="0"/>
              <a:t>Its</a:t>
            </a:r>
            <a:r>
              <a:rPr lang="en-US" dirty="0"/>
              <a:t> color is red.</a:t>
            </a:r>
          </a:p>
          <a:p>
            <a:pPr lvl="1" fontAlgn="base"/>
            <a:r>
              <a:rPr lang="en-US" dirty="0"/>
              <a:t>The </a:t>
            </a:r>
            <a:r>
              <a:rPr lang="en-US" b="1" dirty="0"/>
              <a:t>computer</a:t>
            </a:r>
            <a:r>
              <a:rPr lang="en-US" dirty="0"/>
              <a:t> shut down by </a:t>
            </a:r>
            <a:r>
              <a:rPr lang="en-US" b="1" dirty="0"/>
              <a:t>itself.</a:t>
            </a:r>
            <a:endParaRPr lang="en-US" dirty="0"/>
          </a:p>
          <a:p>
            <a:r>
              <a:rPr lang="en-US" dirty="0"/>
              <a:t>Rule 4: </a:t>
            </a:r>
            <a:r>
              <a:rPr lang="en-GB" dirty="0"/>
              <a:t>If the noun refers to a </a:t>
            </a:r>
            <a:r>
              <a:rPr lang="en-GB" b="1" dirty="0"/>
              <a:t>person of any gender </a:t>
            </a:r>
            <a:r>
              <a:rPr lang="en-GB" dirty="0"/>
              <a:t>(e.g., person, pupil, scholar, reader), </a:t>
            </a:r>
            <a:r>
              <a:rPr lang="en-GB" b="1" dirty="0"/>
              <a:t>masculine pronouns are typically used</a:t>
            </a:r>
            <a:r>
              <a:rPr lang="en-GB" dirty="0"/>
              <a:t>.</a:t>
            </a:r>
          </a:p>
          <a:p>
            <a:pPr lvl="1"/>
            <a:r>
              <a:rPr lang="en-US" dirty="0"/>
              <a:t>If a person works hard, </a:t>
            </a:r>
            <a:r>
              <a:rPr lang="en-US" b="1" dirty="0"/>
              <a:t>he</a:t>
            </a:r>
            <a:r>
              <a:rPr lang="en-US" dirty="0"/>
              <a:t> will succeed.</a:t>
            </a:r>
          </a:p>
          <a:p>
            <a:pPr lvl="1"/>
            <a:r>
              <a:rPr lang="en-US" dirty="0"/>
              <a:t>Every pupil must bring </a:t>
            </a:r>
            <a:r>
              <a:rPr lang="en-US" b="1" dirty="0"/>
              <a:t>his</a:t>
            </a:r>
            <a:r>
              <a:rPr lang="en-US" dirty="0"/>
              <a:t> own notebook.</a:t>
            </a:r>
          </a:p>
          <a:p>
            <a:pPr lvl="1"/>
            <a:r>
              <a:rPr lang="en-US" dirty="0"/>
              <a:t>The scholar presented </a:t>
            </a:r>
            <a:r>
              <a:rPr lang="en-US" b="1" dirty="0"/>
              <a:t>his</a:t>
            </a:r>
            <a:r>
              <a:rPr lang="en-US" dirty="0"/>
              <a:t> research at the conference.</a:t>
            </a:r>
          </a:p>
          <a:p>
            <a:pPr lvl="1"/>
            <a:r>
              <a:rPr lang="en-US" dirty="0"/>
              <a:t>Each </a:t>
            </a:r>
            <a:r>
              <a:rPr lang="en-US" b="1" dirty="0"/>
              <a:t>reader</a:t>
            </a:r>
            <a:r>
              <a:rPr lang="en-US" dirty="0"/>
              <a:t> should bring </a:t>
            </a:r>
            <a:r>
              <a:rPr lang="en-US" b="1" dirty="0"/>
              <a:t>his</a:t>
            </a:r>
            <a:r>
              <a:rPr lang="en-US" dirty="0"/>
              <a:t> library card.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10" name="Picture 9" descr="A blue and white object with a symbol on it&#10;&#10;AI-generated content may be incorrect.">
            <a:extLst>
              <a:ext uri="{FF2B5EF4-FFF2-40B4-BE49-F238E27FC236}">
                <a16:creationId xmlns:a16="http://schemas.microsoft.com/office/drawing/2014/main" id="{E40AB0E5-06B6-20DB-DD2A-E76AF36569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211" y="2283552"/>
            <a:ext cx="2700000" cy="2447158"/>
          </a:xfrm>
          <a:prstGeom prst="rect">
            <a:avLst/>
          </a:prstGeom>
        </p:spPr>
      </p:pic>
      <p:pic>
        <p:nvPicPr>
          <p:cNvPr id="12" name="Picture 11" descr="A green and white circular object with a symbol on it&#10;&#10;AI-generated content may be incorrect.">
            <a:extLst>
              <a:ext uri="{FF2B5EF4-FFF2-40B4-BE49-F238E27FC236}">
                <a16:creationId xmlns:a16="http://schemas.microsoft.com/office/drawing/2014/main" id="{6A671092-4B0E-9640-B1B7-D14411DB7A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015" y="776380"/>
            <a:ext cx="2700000" cy="20803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4CA214-172C-2C1E-F12A-64AD6F561C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0000" y="4001308"/>
            <a:ext cx="1692000" cy="456176"/>
          </a:xfrm>
          <a:prstGeom prst="rect">
            <a:avLst/>
          </a:prstGeom>
        </p:spPr>
      </p:pic>
      <p:pic>
        <p:nvPicPr>
          <p:cNvPr id="15" name="Picture 14" descr="A green arch with white symbols&#10;&#10;AI-generated content may be incorrect.">
            <a:extLst>
              <a:ext uri="{FF2B5EF4-FFF2-40B4-BE49-F238E27FC236}">
                <a16:creationId xmlns:a16="http://schemas.microsoft.com/office/drawing/2014/main" id="{482731F2-9F55-9606-766D-565A71CB4D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547"/>
          <a:stretch>
            <a:fillRect/>
          </a:stretch>
        </p:blipFill>
        <p:spPr>
          <a:xfrm>
            <a:off x="8199424" y="1113717"/>
            <a:ext cx="3276000" cy="33958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53FC17-0CDF-0599-3D3E-4B77CC3448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211" y="4730710"/>
            <a:ext cx="704966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5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2040996" cy="5590364"/>
          </a:xfrm>
        </p:spPr>
        <p:txBody>
          <a:bodyPr/>
          <a:lstStyle/>
          <a:p>
            <a:pPr fontAlgn="base"/>
            <a:r>
              <a:rPr lang="en-US" dirty="0"/>
              <a:t>Rule 5: </a:t>
            </a:r>
            <a:r>
              <a:rPr lang="en-GB" dirty="0"/>
              <a:t>The words </a:t>
            </a:r>
            <a:r>
              <a:rPr lang="en-GB" b="1" dirty="0"/>
              <a:t>“baby” </a:t>
            </a:r>
            <a:r>
              <a:rPr lang="en-GB" dirty="0"/>
              <a:t>and </a:t>
            </a:r>
            <a:r>
              <a:rPr lang="en-GB" b="1" dirty="0"/>
              <a:t>“child” </a:t>
            </a:r>
            <a:r>
              <a:rPr lang="en-GB" dirty="0"/>
              <a:t>can be used for both boys and girls, so we usually say </a:t>
            </a:r>
            <a:r>
              <a:rPr lang="en-GB" b="1" dirty="0"/>
              <a:t>“it” </a:t>
            </a:r>
            <a:r>
              <a:rPr lang="en-GB" dirty="0"/>
              <a:t>when talking about them.</a:t>
            </a:r>
          </a:p>
          <a:p>
            <a:pPr lvl="1" algn="l" fontAlgn="base"/>
            <a:r>
              <a:rPr lang="en-US" dirty="0"/>
              <a:t>The </a:t>
            </a:r>
            <a:r>
              <a:rPr lang="en-US" b="1" dirty="0"/>
              <a:t>baby</a:t>
            </a:r>
            <a:r>
              <a:rPr lang="en-US" dirty="0"/>
              <a:t> is crying. I think </a:t>
            </a:r>
            <a:r>
              <a:rPr lang="en-US" b="1" dirty="0"/>
              <a:t>it</a:t>
            </a:r>
            <a:r>
              <a:rPr lang="en-US" dirty="0"/>
              <a:t> is hungry.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child</a:t>
            </a:r>
            <a:r>
              <a:rPr lang="en-US" dirty="0"/>
              <a:t> was lost in the mall. Luckily, </a:t>
            </a:r>
            <a:r>
              <a:rPr lang="en-US" b="1" dirty="0"/>
              <a:t>it</a:t>
            </a:r>
            <a:r>
              <a:rPr lang="en-US" dirty="0"/>
              <a:t> was found by the security guard.</a:t>
            </a:r>
          </a:p>
          <a:p>
            <a:pPr lvl="1" algn="l" fontAlgn="base"/>
            <a:endParaRPr lang="en-US" dirty="0"/>
          </a:p>
          <a:p>
            <a:r>
              <a:rPr lang="en-US" dirty="0"/>
              <a:t>Rule 6: When the noun is </a:t>
            </a:r>
            <a:r>
              <a:rPr lang="en-US" b="1" dirty="0"/>
              <a:t>plural</a:t>
            </a:r>
            <a:r>
              <a:rPr lang="en-US" dirty="0"/>
              <a:t> and can be </a:t>
            </a:r>
            <a:r>
              <a:rPr lang="en-US" b="1" dirty="0"/>
              <a:t>male</a:t>
            </a:r>
            <a:r>
              <a:rPr lang="en-US" dirty="0"/>
              <a:t> or </a:t>
            </a:r>
            <a:r>
              <a:rPr lang="en-US" b="1" dirty="0"/>
              <a:t>female</a:t>
            </a:r>
            <a:r>
              <a:rPr lang="en-US" dirty="0"/>
              <a:t>, or is a </a:t>
            </a:r>
            <a:r>
              <a:rPr lang="en-US" b="1" dirty="0"/>
              <a:t>non-living thing</a:t>
            </a:r>
            <a:r>
              <a:rPr lang="en-US" dirty="0"/>
              <a:t>, we use they, them, their, theirs, themselves.</a:t>
            </a:r>
            <a:endParaRPr lang="en-GB" dirty="0"/>
          </a:p>
          <a:p>
            <a:pPr lvl="1" algn="l"/>
            <a:r>
              <a:rPr lang="en-US" dirty="0"/>
              <a:t>The </a:t>
            </a:r>
            <a:r>
              <a:rPr lang="en-US" b="1" dirty="0"/>
              <a:t>girls</a:t>
            </a:r>
            <a:r>
              <a:rPr lang="en-US" dirty="0"/>
              <a:t> are singing. </a:t>
            </a:r>
            <a:r>
              <a:rPr lang="en-US" b="1" dirty="0"/>
              <a:t>They</a:t>
            </a:r>
            <a:r>
              <a:rPr lang="en-US" dirty="0"/>
              <a:t> sound great.</a:t>
            </a:r>
          </a:p>
          <a:p>
            <a:pPr lvl="1" algn="l"/>
            <a:r>
              <a:rPr lang="en-US" dirty="0"/>
              <a:t>The </a:t>
            </a:r>
            <a:r>
              <a:rPr lang="en-US" b="1" dirty="0"/>
              <a:t>chairs</a:t>
            </a:r>
            <a:r>
              <a:rPr lang="en-US" dirty="0"/>
              <a:t> are broken. We need to fix </a:t>
            </a:r>
            <a:r>
              <a:rPr lang="en-US" b="1" dirty="0"/>
              <a:t>them</a:t>
            </a:r>
            <a:r>
              <a:rPr lang="en-US" dirty="0"/>
              <a:t>.</a:t>
            </a:r>
          </a:p>
          <a:p>
            <a:pPr lvl="1" algn="l"/>
            <a:r>
              <a:rPr lang="en-US" dirty="0"/>
              <a:t>The students brought </a:t>
            </a:r>
            <a:r>
              <a:rPr lang="en-US" b="1" dirty="0"/>
              <a:t>their</a:t>
            </a:r>
            <a:r>
              <a:rPr lang="en-US" dirty="0"/>
              <a:t> books.</a:t>
            </a:r>
          </a:p>
          <a:p>
            <a:pPr lvl="1" algn="l"/>
            <a:r>
              <a:rPr lang="en-US" dirty="0"/>
              <a:t>The bags are new. </a:t>
            </a:r>
            <a:r>
              <a:rPr lang="en-US" b="1" dirty="0"/>
              <a:t>Theirs</a:t>
            </a:r>
            <a:r>
              <a:rPr lang="en-US" dirty="0"/>
              <a:t> are blue and white.</a:t>
            </a:r>
          </a:p>
          <a:p>
            <a:pPr lvl="1" algn="l"/>
            <a:r>
              <a:rPr lang="en-US" dirty="0"/>
              <a:t>The teachers introduced </a:t>
            </a:r>
            <a:r>
              <a:rPr lang="en-US" b="1" dirty="0"/>
              <a:t>themselves</a:t>
            </a:r>
            <a:r>
              <a:rPr lang="en-US" dirty="0"/>
              <a:t> before starting.</a:t>
            </a:r>
          </a:p>
          <a:p>
            <a:pPr marL="457200" lvl="1" indent="0" algn="l">
              <a:buNone/>
            </a:pPr>
            <a:endParaRPr lang="en-US" dirty="0"/>
          </a:p>
          <a:p>
            <a:pPr marL="457200" lvl="1" indent="0" algn="l">
              <a:buNone/>
            </a:pPr>
            <a:endParaRPr lang="en-US" dirty="0"/>
          </a:p>
          <a:p>
            <a:pPr lvl="1" algn="l"/>
            <a:endParaRPr lang="en-US" dirty="0"/>
          </a:p>
          <a:p>
            <a:pPr marL="457200" lvl="1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32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896696" cy="5590364"/>
          </a:xfrm>
        </p:spPr>
        <p:txBody>
          <a:bodyPr/>
          <a:lstStyle/>
          <a:p>
            <a:pPr fontAlgn="base"/>
            <a:r>
              <a:rPr lang="en-US" dirty="0"/>
              <a:t>Rule 7: We </a:t>
            </a:r>
            <a:r>
              <a:rPr lang="en-GB" dirty="0"/>
              <a:t>usually use </a:t>
            </a:r>
            <a:r>
              <a:rPr lang="en-GB" b="1" dirty="0"/>
              <a:t>“it” </a:t>
            </a:r>
            <a:r>
              <a:rPr lang="en-GB" dirty="0"/>
              <a:t>to talk about </a:t>
            </a:r>
            <a:r>
              <a:rPr lang="en-GB" b="1" dirty="0"/>
              <a:t>animals,</a:t>
            </a:r>
            <a:r>
              <a:rPr lang="en-GB" dirty="0"/>
              <a:t> even if the word for the animal </a:t>
            </a:r>
            <a:r>
              <a:rPr lang="en-GB" b="1" dirty="0"/>
              <a:t>suggests a specific gender, like “cow” or “bull.”</a:t>
            </a:r>
          </a:p>
          <a:p>
            <a:pPr lvl="1" fontAlgn="base"/>
            <a:r>
              <a:rPr lang="en-US" dirty="0"/>
              <a:t>A </a:t>
            </a:r>
            <a:r>
              <a:rPr lang="en-US" b="1" dirty="0"/>
              <a:t>bull</a:t>
            </a:r>
            <a:r>
              <a:rPr lang="en-US" dirty="0"/>
              <a:t> ran across the road. </a:t>
            </a:r>
            <a:r>
              <a:rPr lang="en-US" b="1" dirty="0"/>
              <a:t>It</a:t>
            </a:r>
            <a:r>
              <a:rPr lang="en-US" dirty="0"/>
              <a:t> looked very strong.</a:t>
            </a:r>
          </a:p>
          <a:p>
            <a:pPr lvl="1" algn="l" fontAlgn="base"/>
            <a:r>
              <a:rPr lang="en-US" dirty="0"/>
              <a:t>The </a:t>
            </a:r>
            <a:r>
              <a:rPr lang="en-US" b="1" dirty="0"/>
              <a:t>cow</a:t>
            </a:r>
            <a:r>
              <a:rPr lang="en-US" dirty="0"/>
              <a:t> is in the field. </a:t>
            </a:r>
            <a:r>
              <a:rPr lang="en-US" b="1" dirty="0"/>
              <a:t>It</a:t>
            </a:r>
            <a:r>
              <a:rPr lang="en-US" dirty="0"/>
              <a:t> is eating grass.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lion </a:t>
            </a:r>
            <a:r>
              <a:rPr lang="en-US" dirty="0"/>
              <a:t>is resting under the tree.</a:t>
            </a:r>
            <a:r>
              <a:rPr lang="en-US" b="1" dirty="0"/>
              <a:t> It </a:t>
            </a:r>
            <a:r>
              <a:rPr lang="en-US" dirty="0"/>
              <a:t>looks tired.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parrot</a:t>
            </a:r>
            <a:r>
              <a:rPr lang="en-US" dirty="0"/>
              <a:t> is sitting in the cage. </a:t>
            </a:r>
            <a:r>
              <a:rPr lang="en-US" b="1" dirty="0"/>
              <a:t>It</a:t>
            </a:r>
            <a:r>
              <a:rPr lang="en-US" dirty="0"/>
              <a:t> is making a lot of noise.</a:t>
            </a:r>
          </a:p>
          <a:p>
            <a:pPr lvl="1" algn="l" fontAlgn="base"/>
            <a:r>
              <a:rPr lang="en-US" dirty="0"/>
              <a:t>The </a:t>
            </a:r>
            <a:r>
              <a:rPr lang="en-US" b="1" dirty="0"/>
              <a:t>elephant</a:t>
            </a:r>
            <a:r>
              <a:rPr lang="en-US" dirty="0"/>
              <a:t> is crossing the river. </a:t>
            </a:r>
            <a:r>
              <a:rPr lang="en-US" b="1" dirty="0"/>
              <a:t>It</a:t>
            </a:r>
            <a:r>
              <a:rPr lang="en-US" dirty="0"/>
              <a:t> is very big.</a:t>
            </a:r>
          </a:p>
          <a:p>
            <a:pPr lvl="1" algn="l" fontAlgn="base"/>
            <a:r>
              <a:rPr lang="en-US" dirty="0"/>
              <a:t>A </a:t>
            </a:r>
            <a:r>
              <a:rPr lang="en-US" b="1" dirty="0"/>
              <a:t>monkey</a:t>
            </a:r>
            <a:r>
              <a:rPr lang="en-US" dirty="0"/>
              <a:t> is climbing the tree. </a:t>
            </a:r>
            <a:r>
              <a:rPr lang="en-US" b="1" dirty="0"/>
              <a:t>It</a:t>
            </a:r>
            <a:r>
              <a:rPr lang="en-US" dirty="0"/>
              <a:t> is very quick.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1863609-FBC4-1FB6-A452-260AA91DC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308" y="3753316"/>
            <a:ext cx="2295525" cy="24098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C61D746-2A2B-7EB1-D08A-918FE4BF36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385" y="3658627"/>
            <a:ext cx="2076450" cy="240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F61FB-DBBE-4EA0-1E6A-F783BA88FD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441" y="2871669"/>
            <a:ext cx="7473898" cy="358214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 txBox="1">
            <a:spLocks/>
          </p:cNvSpPr>
          <p:nvPr/>
        </p:nvSpPr>
        <p:spPr>
          <a:xfrm>
            <a:off x="137236" y="868457"/>
            <a:ext cx="11960059" cy="55903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Rule 8: </a:t>
            </a:r>
            <a:r>
              <a:rPr lang="en-GB"/>
              <a:t>We use </a:t>
            </a:r>
            <a:r>
              <a:rPr lang="en-GB" b="1"/>
              <a:t>"he" </a:t>
            </a:r>
            <a:r>
              <a:rPr lang="en-GB"/>
              <a:t>or </a:t>
            </a:r>
            <a:r>
              <a:rPr lang="en-GB" b="1"/>
              <a:t>"she" </a:t>
            </a:r>
            <a:r>
              <a:rPr lang="en-GB"/>
              <a:t>for </a:t>
            </a:r>
            <a:r>
              <a:rPr lang="en-GB" b="1"/>
              <a:t>animals</a:t>
            </a:r>
            <a:r>
              <a:rPr lang="en-GB"/>
              <a:t> when the context or </a:t>
            </a:r>
            <a:r>
              <a:rPr lang="en-GB" b="1"/>
              <a:t>situation makes their gender important</a:t>
            </a:r>
            <a:r>
              <a:rPr lang="en-GB"/>
              <a:t>. (Pet animals, which are often considered as </a:t>
            </a:r>
            <a:r>
              <a:rPr lang="en-GB" b="1"/>
              <a:t>members of the family</a:t>
            </a:r>
            <a:r>
              <a:rPr lang="en-GB"/>
              <a:t>, are usually referred to using pronouns appropriate to their gender.)</a:t>
            </a:r>
          </a:p>
          <a:p>
            <a:pPr lvl="1"/>
            <a:r>
              <a:rPr lang="en-US"/>
              <a:t>We usually call our pet dog </a:t>
            </a:r>
            <a:r>
              <a:rPr lang="en-US" b="1"/>
              <a:t>Rocky</a:t>
            </a:r>
            <a:r>
              <a:rPr lang="en-US"/>
              <a:t> a part of the family. </a:t>
            </a:r>
            <a:r>
              <a:rPr lang="en-US" b="1"/>
              <a:t>He</a:t>
            </a:r>
            <a:r>
              <a:rPr lang="en-US"/>
              <a:t> loves playing in the garden and waits by the door when it’s time for a walk. Our neighbor has a cat named </a:t>
            </a:r>
            <a:r>
              <a:rPr lang="en-US" b="1"/>
              <a:t>Misty</a:t>
            </a:r>
            <a:r>
              <a:rPr lang="en-US"/>
              <a:t>. </a:t>
            </a:r>
            <a:r>
              <a:rPr lang="en-US" b="1"/>
              <a:t>She</a:t>
            </a:r>
            <a:r>
              <a:rPr lang="en-US"/>
              <a:t> is very friendly and often visits our house.    </a:t>
            </a:r>
            <a:endParaRPr lang="en-US">
              <a:solidFill>
                <a:srgbClr val="FF0000"/>
              </a:solidFill>
            </a:endParaRPr>
          </a:p>
          <a:p>
            <a:pPr marL="457200" lvl="1" indent="0">
              <a:buFont typeface="Wingdings 3" panose="05040102010807070707" pitchFamily="18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813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3C403-D0CC-4AEA-9A65-C846A4EFD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3B07E1F-B2EA-40D3-3AC8-3311EF1A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Noun-Pronoun Agreement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EA06F-C747-7FF4-6BB8-90C77608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11508369" cy="5590364"/>
          </a:xfrm>
        </p:spPr>
        <p:txBody>
          <a:bodyPr/>
          <a:lstStyle/>
          <a:p>
            <a:pPr fontAlgn="base"/>
            <a:r>
              <a:rPr lang="en-US" dirty="0"/>
              <a:t>Rule 9: </a:t>
            </a:r>
            <a:r>
              <a:rPr lang="en-GB" dirty="0"/>
              <a:t>Words begin with </a:t>
            </a:r>
            <a:r>
              <a:rPr lang="en-GB" b="1" i="1" dirty="0"/>
              <a:t>every</a:t>
            </a:r>
            <a:r>
              <a:rPr lang="en-GB" b="1" dirty="0"/>
              <a:t>-(everyone, everybody, everything) </a:t>
            </a:r>
            <a:r>
              <a:rPr lang="en-GB" dirty="0"/>
              <a:t>are</a:t>
            </a:r>
            <a:r>
              <a:rPr lang="en-GB" b="1" dirty="0"/>
              <a:t> singular,</a:t>
            </a:r>
            <a:r>
              <a:rPr lang="en-GB" dirty="0"/>
              <a:t> and must therefore </a:t>
            </a:r>
            <a:r>
              <a:rPr lang="en-GB" b="1" dirty="0"/>
              <a:t>be referred </a:t>
            </a:r>
            <a:r>
              <a:rPr lang="en-GB" dirty="0"/>
              <a:t>to by the </a:t>
            </a:r>
            <a:r>
              <a:rPr lang="en-GB" b="1" dirty="0"/>
              <a:t>singular pronouns</a:t>
            </a:r>
            <a:r>
              <a:rPr lang="en-GB" dirty="0"/>
              <a:t>. </a:t>
            </a:r>
            <a:endParaRPr lang="en-US" dirty="0"/>
          </a:p>
          <a:p>
            <a:pPr lvl="1" fontAlgn="base"/>
            <a:r>
              <a:rPr lang="en-US" dirty="0"/>
              <a:t>Everyone must check </a:t>
            </a:r>
            <a:r>
              <a:rPr lang="en-US" b="1" dirty="0"/>
              <a:t>his</a:t>
            </a:r>
            <a:r>
              <a:rPr lang="en-US" dirty="0"/>
              <a:t> answers twice.</a:t>
            </a:r>
          </a:p>
          <a:p>
            <a:pPr lvl="1" fontAlgn="base"/>
            <a:r>
              <a:rPr lang="en-US" dirty="0"/>
              <a:t>Everybody shared </a:t>
            </a:r>
            <a:r>
              <a:rPr lang="en-US" b="1" dirty="0"/>
              <a:t>his</a:t>
            </a:r>
            <a:r>
              <a:rPr lang="en-US" dirty="0"/>
              <a:t> opinion.</a:t>
            </a:r>
          </a:p>
          <a:p>
            <a:pPr lvl="1" fontAlgn="base"/>
            <a:r>
              <a:rPr lang="en-US" dirty="0"/>
              <a:t>Everything in the box has </a:t>
            </a:r>
            <a:r>
              <a:rPr lang="en-US" b="1" dirty="0"/>
              <a:t>its</a:t>
            </a:r>
            <a:r>
              <a:rPr lang="en-US" dirty="0"/>
              <a:t> label.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B5E7A7-E0F3-8F64-FE66-C5E9B417BE0C}"/>
              </a:ext>
            </a:extLst>
          </p:cNvPr>
          <p:cNvSpPr txBox="1"/>
          <p:nvPr/>
        </p:nvSpPr>
        <p:spPr>
          <a:xfrm>
            <a:off x="2172742" y="4577962"/>
            <a:ext cx="1109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Everyone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2679A7-1209-DDAA-54BE-C87743780600}"/>
              </a:ext>
            </a:extLst>
          </p:cNvPr>
          <p:cNvSpPr txBox="1"/>
          <p:nvPr/>
        </p:nvSpPr>
        <p:spPr>
          <a:xfrm>
            <a:off x="8587220" y="4577962"/>
            <a:ext cx="1519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Everything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2F76A-D091-E878-E06C-B23CAB2D71D8}"/>
              </a:ext>
            </a:extLst>
          </p:cNvPr>
          <p:cNvSpPr txBox="1"/>
          <p:nvPr/>
        </p:nvSpPr>
        <p:spPr>
          <a:xfrm>
            <a:off x="4786233" y="3032616"/>
            <a:ext cx="115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Everybody</a:t>
            </a:r>
            <a:endParaRPr lang="en-IN" b="1" dirty="0"/>
          </a:p>
        </p:txBody>
      </p:sp>
      <p:pic>
        <p:nvPicPr>
          <p:cNvPr id="4" name="Picture 3" descr="A yellow line drawing of a triangle with a shopping basket and paw print&#10;&#10;AI-generated content may be incorrect.">
            <a:extLst>
              <a:ext uri="{FF2B5EF4-FFF2-40B4-BE49-F238E27FC236}">
                <a16:creationId xmlns:a16="http://schemas.microsoft.com/office/drawing/2014/main" id="{A549FC40-2177-BDF2-10C4-E574928E28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71" y="3684026"/>
            <a:ext cx="2437347" cy="2629957"/>
          </a:xfrm>
          <a:prstGeom prst="rect">
            <a:avLst/>
          </a:prstGeom>
        </p:spPr>
      </p:pic>
      <p:pic>
        <p:nvPicPr>
          <p:cNvPr id="7" name="Picture 6" descr="A black background with a black and green logo&#10;&#10;AI-generated content may be incorrect.">
            <a:extLst>
              <a:ext uri="{FF2B5EF4-FFF2-40B4-BE49-F238E27FC236}">
                <a16:creationId xmlns:a16="http://schemas.microsoft.com/office/drawing/2014/main" id="{0541E740-429A-8792-4C80-D698C64747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286" y="3606800"/>
            <a:ext cx="2520000" cy="2904067"/>
          </a:xfrm>
          <a:prstGeom prst="rect">
            <a:avLst/>
          </a:prstGeom>
        </p:spPr>
      </p:pic>
      <p:pic>
        <p:nvPicPr>
          <p:cNvPr id="9" name="Picture 8" descr="A green outline of a triangle with people on it&#10;&#10;AI-generated content may be incorrect.">
            <a:extLst>
              <a:ext uri="{FF2B5EF4-FFF2-40B4-BE49-F238E27FC236}">
                <a16:creationId xmlns:a16="http://schemas.microsoft.com/office/drawing/2014/main" id="{CF317D26-1653-7944-56D0-C8AF4A477D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094" y="3678947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52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49" y="1709738"/>
            <a:ext cx="8918438" cy="2852737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345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E58EFD-2E9D-1612-57AF-B39C21696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4" y="1564542"/>
            <a:ext cx="4382477" cy="40859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2B1D91-D3DC-68C0-FABC-315375F85EBA}"/>
              </a:ext>
            </a:extLst>
          </p:cNvPr>
          <p:cNvSpPr txBox="1"/>
          <p:nvPr/>
        </p:nvSpPr>
        <p:spPr>
          <a:xfrm>
            <a:off x="7532227" y="1284096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Plural Verb?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810E7-DBF0-E764-C16C-5E3ACCBFE975}"/>
              </a:ext>
            </a:extLst>
          </p:cNvPr>
          <p:cNvSpPr txBox="1"/>
          <p:nvPr/>
        </p:nvSpPr>
        <p:spPr>
          <a:xfrm>
            <a:off x="10208302" y="1284096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Use Singular Verb?</a:t>
            </a:r>
            <a:endParaRPr lang="en-IN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58030A-51C5-4E2C-94C0-BE4B19647EA3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743849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Look at the following sentences and find whether they are correct or not.</a:t>
            </a:r>
          </a:p>
          <a:p>
            <a:endParaRPr lang="en-US" sz="800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Prabha and Seema is here.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Kavish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Raj and </a:t>
            </a: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Reena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goes to the same school.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She and her friend has arrived.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He and I was playing in the garden.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</a:pPr>
            <a:r>
              <a:rPr lang="en-US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The above given sentences are wrong because the </a:t>
            </a:r>
            <a:r>
              <a:rPr lang="en-US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subject in each of sentences being plural need to have the plural verb.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Prabha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and </a:t>
            </a: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Seema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are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here.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Kavish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, Raj and </a:t>
            </a:r>
            <a:r>
              <a:rPr lang="en-US" sz="2200" spc="75" dirty="0" err="1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Reena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go 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to the same school.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She and her friend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have 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arrived.</a:t>
            </a:r>
          </a:p>
          <a:p>
            <a:pPr marL="887412" lvl="1" indent="-342900">
              <a:lnSpc>
                <a:spcPct val="100000"/>
              </a:lnSpc>
              <a:spcBef>
                <a:spcPts val="0"/>
              </a:spcBef>
            </a:pP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He and I </a:t>
            </a:r>
            <a:r>
              <a:rPr lang="en-US" sz="2200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were</a:t>
            </a:r>
            <a:r>
              <a:rPr lang="en-US" sz="2200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playing in the garden.</a:t>
            </a:r>
          </a:p>
          <a:p>
            <a:pPr marL="342900" indent="-342900">
              <a:lnSpc>
                <a:spcPct val="100000"/>
              </a:lnSpc>
              <a:spcAft>
                <a:spcPts val="800"/>
              </a:spcAft>
            </a:pPr>
            <a:r>
              <a:rPr lang="en-IN" b="1" dirty="0"/>
              <a:t>A verb must agree with its subject in number and person.</a:t>
            </a:r>
            <a:endParaRPr lang="en-US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</a:pPr>
            <a:endParaRPr lang="en-US" sz="2600" b="1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544512" lvl="1" indent="0">
              <a:buFont typeface="Wingdings" panose="05000000000000000000" pitchFamily="2" charset="2"/>
              <a:buNone/>
            </a:pPr>
            <a:endParaRPr lang="en-US" dirty="0"/>
          </a:p>
          <a:p>
            <a:pPr marL="0" indent="0">
              <a:buFont typeface="Wingdings 3" panose="05040102010807070707" pitchFamily="18" charset="2"/>
              <a:buNone/>
            </a:pPr>
            <a:r>
              <a:rPr lang="en-US" dirty="0"/>
              <a:t> </a:t>
            </a:r>
            <a:endParaRPr lang="en-US" b="1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  <a:p>
            <a:endParaRPr lang="en-US" sz="28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830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0" y="711200"/>
            <a:ext cx="12027877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Rule 1 : </a:t>
            </a:r>
            <a:r>
              <a:rPr lang="en-IN" b="1" dirty="0"/>
              <a:t>Singular</a:t>
            </a:r>
            <a:r>
              <a:rPr lang="en-IN" dirty="0"/>
              <a:t> subject takes </a:t>
            </a:r>
            <a:r>
              <a:rPr lang="en-IN" b="1" dirty="0"/>
              <a:t>singular verb.</a:t>
            </a:r>
          </a:p>
          <a:p>
            <a:pPr lvl="1"/>
            <a:r>
              <a:rPr lang="en-US" dirty="0"/>
              <a:t>My brother </a:t>
            </a:r>
            <a:r>
              <a:rPr lang="en-US" b="1" dirty="0"/>
              <a:t>plays</a:t>
            </a:r>
            <a:r>
              <a:rPr lang="en-US" dirty="0"/>
              <a:t> football well.</a:t>
            </a:r>
          </a:p>
          <a:p>
            <a:pPr lvl="1"/>
            <a:r>
              <a:rPr lang="en-US" dirty="0"/>
              <a:t>Rina </a:t>
            </a:r>
            <a:r>
              <a:rPr lang="en-US" b="1" dirty="0"/>
              <a:t>works</a:t>
            </a:r>
            <a:r>
              <a:rPr lang="en-US" dirty="0"/>
              <a:t> at a bank.</a:t>
            </a:r>
          </a:p>
          <a:p>
            <a:pPr lvl="1"/>
            <a:r>
              <a:rPr lang="en-US" dirty="0"/>
              <a:t>A bird </a:t>
            </a:r>
            <a:r>
              <a:rPr lang="en-US" b="1" dirty="0"/>
              <a:t>sings</a:t>
            </a:r>
            <a:r>
              <a:rPr lang="en-US" dirty="0"/>
              <a:t> in the morning.</a:t>
            </a:r>
          </a:p>
          <a:p>
            <a:pPr lvl="1"/>
            <a:endParaRPr lang="en-US" sz="2400" dirty="0"/>
          </a:p>
          <a:p>
            <a:pPr lvl="0"/>
            <a:r>
              <a:rPr lang="en-US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Rule 2: </a:t>
            </a:r>
            <a:r>
              <a:rPr lang="en-IN" dirty="0"/>
              <a:t>Singular subjects joined by certain </a:t>
            </a:r>
            <a:r>
              <a:rPr lang="en-IN" b="1" dirty="0"/>
              <a:t>connectors</a:t>
            </a:r>
            <a:r>
              <a:rPr lang="en-IN" dirty="0"/>
              <a:t> takes </a:t>
            </a:r>
            <a:r>
              <a:rPr lang="en-IN" b="1" dirty="0"/>
              <a:t>singular verb. </a:t>
            </a:r>
            <a:r>
              <a:rPr lang="en-IN" dirty="0"/>
              <a:t>i.e. </a:t>
            </a:r>
            <a:r>
              <a:rPr lang="en-IN" b="1" dirty="0"/>
              <a:t>as well as</a:t>
            </a:r>
            <a:r>
              <a:rPr lang="en-IN" dirty="0"/>
              <a:t>, </a:t>
            </a:r>
            <a:r>
              <a:rPr lang="en-IN" b="1" dirty="0"/>
              <a:t>along with, together with, accompanied by.</a:t>
            </a:r>
          </a:p>
          <a:p>
            <a:pPr lvl="1"/>
            <a:r>
              <a:rPr lang="en-US" dirty="0"/>
              <a:t>Ravi, </a:t>
            </a:r>
            <a:r>
              <a:rPr lang="en-US" b="1" dirty="0"/>
              <a:t>as well as </a:t>
            </a:r>
            <a:r>
              <a:rPr lang="en-US" dirty="0"/>
              <a:t>his brother, plays the guitar.</a:t>
            </a:r>
          </a:p>
          <a:p>
            <a:pPr lvl="1"/>
            <a:r>
              <a:rPr lang="en-US" dirty="0"/>
              <a:t>The cat, </a:t>
            </a:r>
            <a:r>
              <a:rPr lang="en-US" b="1" dirty="0"/>
              <a:t>along with </a:t>
            </a:r>
            <a:r>
              <a:rPr lang="en-US" dirty="0"/>
              <a:t>its kitten, is hiding under the bed.</a:t>
            </a:r>
          </a:p>
          <a:p>
            <a:pPr lvl="1"/>
            <a:r>
              <a:rPr lang="en-US" dirty="0"/>
              <a:t>The manager, </a:t>
            </a:r>
            <a:r>
              <a:rPr lang="en-US" b="1" dirty="0"/>
              <a:t>together with</a:t>
            </a:r>
            <a:r>
              <a:rPr lang="en-US" dirty="0"/>
              <a:t> his team, is working on the project.</a:t>
            </a:r>
          </a:p>
          <a:p>
            <a:pPr lvl="1"/>
            <a:r>
              <a:rPr lang="en-US" dirty="0"/>
              <a:t>The principal, </a:t>
            </a:r>
            <a:r>
              <a:rPr lang="en-US" b="1" dirty="0"/>
              <a:t>accompanied by </a:t>
            </a:r>
            <a:r>
              <a:rPr lang="en-US" dirty="0"/>
              <a:t>his staff, visits the classrooms.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GB" sz="22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7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-1" y="711200"/>
            <a:ext cx="1197292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Rule 3 : </a:t>
            </a:r>
            <a:r>
              <a:rPr lang="en-GB" dirty="0"/>
              <a:t>Singular subjects joined by, </a:t>
            </a:r>
            <a:r>
              <a:rPr lang="en-GB" b="1" dirty="0"/>
              <a:t>‘either...or’, ‘neither...nor’ </a:t>
            </a:r>
            <a:r>
              <a:rPr lang="en-GB" dirty="0"/>
              <a:t>take a singular verb. </a:t>
            </a:r>
            <a:r>
              <a:rPr lang="en-GB" b="1" dirty="0"/>
              <a:t>Plural subject joined by these connectors take plural verb</a:t>
            </a:r>
            <a:r>
              <a:rPr lang="en-GB" dirty="0"/>
              <a:t>.</a:t>
            </a:r>
          </a:p>
          <a:p>
            <a:endParaRPr lang="en-GB" sz="400" dirty="0"/>
          </a:p>
          <a:p>
            <a:pPr lvl="1" algn="l"/>
            <a:r>
              <a:rPr lang="en-US" b="1" dirty="0"/>
              <a:t>Either Asha or Anjali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bringing the cake for the party.</a:t>
            </a:r>
            <a:br>
              <a:rPr lang="en-US" dirty="0"/>
            </a:br>
            <a:r>
              <a:rPr lang="en-US" i="1" dirty="0"/>
              <a:t>(Both subjects are singular, so we use the singular verb “is.”)</a:t>
            </a:r>
          </a:p>
          <a:p>
            <a:pPr lvl="1" algn="l"/>
            <a:r>
              <a:rPr lang="en-US" b="1" dirty="0"/>
              <a:t>Neither the boys nor the girls</a:t>
            </a:r>
            <a:r>
              <a:rPr lang="en-US" dirty="0"/>
              <a:t> </a:t>
            </a:r>
            <a:r>
              <a:rPr lang="en-US" b="1" dirty="0"/>
              <a:t>were</a:t>
            </a:r>
            <a:r>
              <a:rPr lang="en-US" dirty="0"/>
              <a:t> interested in the activity.</a:t>
            </a:r>
            <a:br>
              <a:rPr lang="en-US" dirty="0"/>
            </a:br>
            <a:r>
              <a:rPr lang="en-US" i="1" dirty="0"/>
              <a:t>(Plural subjects take the plural verb “were.”)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2FB662-495C-49DC-87A5-7A5E3544F0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73" y="3009379"/>
            <a:ext cx="8087854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-1" y="711200"/>
            <a:ext cx="1197292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spc="75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Rule 4: </a:t>
            </a:r>
            <a:r>
              <a:rPr lang="en-GB" dirty="0"/>
              <a:t>When singular and plural subjects are joined by, </a:t>
            </a:r>
            <a:r>
              <a:rPr lang="en-GB" b="1" dirty="0"/>
              <a:t>‘either…or’, ‘neither…nor’</a:t>
            </a:r>
            <a:r>
              <a:rPr lang="en-GB" dirty="0"/>
              <a:t> the verb agrees with the nearest subject. If the nearest </a:t>
            </a:r>
            <a:r>
              <a:rPr lang="en-GB" b="1" dirty="0"/>
              <a:t>subject is plural, </a:t>
            </a:r>
            <a:r>
              <a:rPr lang="en-GB" dirty="0"/>
              <a:t>the verb will be </a:t>
            </a:r>
            <a:r>
              <a:rPr lang="en-GB" b="1" dirty="0"/>
              <a:t>plural. </a:t>
            </a:r>
            <a:r>
              <a:rPr lang="en-GB" dirty="0"/>
              <a:t>If the </a:t>
            </a:r>
            <a:r>
              <a:rPr lang="en-GB" b="1" dirty="0"/>
              <a:t>nearest subject is singular</a:t>
            </a:r>
            <a:r>
              <a:rPr lang="en-GB" dirty="0"/>
              <a:t>, the verb will be </a:t>
            </a:r>
            <a:r>
              <a:rPr lang="en-GB" b="1" dirty="0"/>
              <a:t>singular.</a:t>
            </a:r>
            <a:endParaRPr lang="en-GB" sz="400" b="1" dirty="0"/>
          </a:p>
          <a:p>
            <a:pPr lvl="1"/>
            <a:r>
              <a:rPr lang="en-US" dirty="0"/>
              <a:t>Either the </a:t>
            </a:r>
            <a:r>
              <a:rPr lang="en-US" b="1" dirty="0"/>
              <a:t>teacher</a:t>
            </a:r>
            <a:r>
              <a:rPr lang="en-US" dirty="0"/>
              <a:t> or the </a:t>
            </a:r>
            <a:r>
              <a:rPr lang="en-US" b="1" dirty="0"/>
              <a:t>students </a:t>
            </a:r>
            <a:r>
              <a:rPr lang="en-US" dirty="0"/>
              <a:t>are going to arrange the program.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students</a:t>
            </a:r>
            <a:r>
              <a:rPr lang="en-US" dirty="0"/>
              <a:t> → plural → </a:t>
            </a:r>
            <a:r>
              <a:rPr lang="en-US" b="1" dirty="0"/>
              <a:t>are</a:t>
            </a:r>
          </a:p>
          <a:p>
            <a:pPr lvl="2"/>
            <a:endParaRPr lang="en-US" b="1" dirty="0"/>
          </a:p>
          <a:p>
            <a:pPr lvl="1"/>
            <a:r>
              <a:rPr lang="en-US" dirty="0"/>
              <a:t>Either the </a:t>
            </a:r>
            <a:r>
              <a:rPr lang="en-US" b="1" dirty="0"/>
              <a:t>students</a:t>
            </a:r>
            <a:r>
              <a:rPr lang="en-US" dirty="0"/>
              <a:t> or the </a:t>
            </a:r>
            <a:r>
              <a:rPr lang="en-US" b="1" dirty="0"/>
              <a:t>teacher </a:t>
            </a:r>
            <a:r>
              <a:rPr lang="en-US" dirty="0"/>
              <a:t>is responsible for this mistake.	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teacher</a:t>
            </a:r>
            <a:r>
              <a:rPr lang="en-US" dirty="0"/>
              <a:t> → singular → </a:t>
            </a:r>
            <a:r>
              <a:rPr lang="en-US" b="1" dirty="0"/>
              <a:t>is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Neither the </a:t>
            </a:r>
            <a:r>
              <a:rPr lang="en-US" b="1" dirty="0"/>
              <a:t>manager </a:t>
            </a:r>
            <a:r>
              <a:rPr lang="en-US" dirty="0"/>
              <a:t>nor the </a:t>
            </a:r>
            <a:r>
              <a:rPr lang="en-US" b="1" dirty="0"/>
              <a:t>workers</a:t>
            </a:r>
            <a:r>
              <a:rPr lang="en-US" dirty="0"/>
              <a:t> are willing to accept the proposal.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workers</a:t>
            </a:r>
            <a:r>
              <a:rPr lang="en-US" dirty="0"/>
              <a:t> → plural → </a:t>
            </a:r>
            <a:r>
              <a:rPr lang="en-US" b="1" dirty="0"/>
              <a:t>are</a:t>
            </a:r>
            <a:r>
              <a:rPr lang="en-US" dirty="0"/>
              <a:t>	</a:t>
            </a:r>
          </a:p>
          <a:p>
            <a:pPr lvl="2"/>
            <a:endParaRPr lang="en-US" dirty="0"/>
          </a:p>
          <a:p>
            <a:pPr lvl="1"/>
            <a:r>
              <a:rPr lang="en-GB" dirty="0"/>
              <a:t>Either</a:t>
            </a:r>
            <a:r>
              <a:rPr lang="en-GB" b="1" dirty="0"/>
              <a:t> Manjit </a:t>
            </a:r>
            <a:r>
              <a:rPr lang="en-GB" dirty="0"/>
              <a:t>or his</a:t>
            </a:r>
            <a:r>
              <a:rPr lang="en-GB" b="1" dirty="0"/>
              <a:t> brothers</a:t>
            </a:r>
            <a:r>
              <a:rPr lang="en-GB" b="1" dirty="0">
                <a:solidFill>
                  <a:srgbClr val="7030A0"/>
                </a:solidFill>
              </a:rPr>
              <a:t> </a:t>
            </a:r>
            <a:r>
              <a:rPr lang="en-GB" b="1" dirty="0"/>
              <a:t>have </a:t>
            </a:r>
            <a:r>
              <a:rPr lang="en-GB" dirty="0"/>
              <a:t>broken the window glass.</a:t>
            </a:r>
          </a:p>
          <a:p>
            <a:pPr lvl="2"/>
            <a:r>
              <a:rPr lang="en-US" dirty="0"/>
              <a:t>nearest subject = brothers → plural → </a:t>
            </a:r>
            <a:r>
              <a:rPr lang="en-US" b="1" dirty="0"/>
              <a:t>have</a:t>
            </a:r>
          </a:p>
          <a:p>
            <a:pPr lvl="2"/>
            <a:endParaRPr lang="en-US" b="1" dirty="0"/>
          </a:p>
          <a:p>
            <a:pPr lvl="1"/>
            <a:r>
              <a:rPr lang="en-GB" dirty="0"/>
              <a:t>Neither the </a:t>
            </a:r>
            <a:r>
              <a:rPr lang="en-GB" b="1" dirty="0"/>
              <a:t>tractors</a:t>
            </a:r>
            <a:r>
              <a:rPr lang="en-GB" dirty="0"/>
              <a:t> nor </a:t>
            </a:r>
            <a:r>
              <a:rPr lang="en-GB" b="1" dirty="0"/>
              <a:t>the trailer</a:t>
            </a:r>
            <a:r>
              <a:rPr lang="en-GB" dirty="0"/>
              <a:t> was sold.</a:t>
            </a:r>
          </a:p>
          <a:p>
            <a:pPr lvl="2"/>
            <a:r>
              <a:rPr lang="en-US" dirty="0"/>
              <a:t>nearest subject = </a:t>
            </a:r>
            <a:r>
              <a:rPr lang="en-US" i="1" dirty="0"/>
              <a:t>trailer</a:t>
            </a:r>
            <a:r>
              <a:rPr lang="en-US" dirty="0"/>
              <a:t> → singular → </a:t>
            </a:r>
            <a:r>
              <a:rPr lang="en-US" b="1" dirty="0"/>
              <a:t>was</a:t>
            </a:r>
          </a:p>
          <a:p>
            <a:pPr lvl="2"/>
            <a:endParaRPr lang="en-US" b="1" dirty="0"/>
          </a:p>
          <a:p>
            <a:pPr lvl="2"/>
            <a:endParaRPr lang="en-GB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02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A202-75BF-CBAF-FA61-84A31008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E4C94AE-E286-A751-6604-2C11F780B01F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219200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Rule 5: </a:t>
            </a:r>
            <a:r>
              <a:rPr lang="en-GB" dirty="0"/>
              <a:t>Subjects joined by </a:t>
            </a:r>
            <a:r>
              <a:rPr lang="en-GB" b="1" dirty="0"/>
              <a:t>‘and’ take a plural verb</a:t>
            </a:r>
            <a:r>
              <a:rPr lang="en-GB" dirty="0"/>
              <a:t>.</a:t>
            </a:r>
          </a:p>
          <a:p>
            <a:pPr lvl="1" algn="l"/>
            <a:r>
              <a:rPr lang="en-US" dirty="0"/>
              <a:t>Ram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Shyam</a:t>
            </a:r>
            <a:r>
              <a:rPr lang="en-US" dirty="0"/>
              <a:t> are good friends.</a:t>
            </a:r>
          </a:p>
          <a:p>
            <a:pPr lvl="2" algn="l"/>
            <a:r>
              <a:rPr lang="en-US" dirty="0"/>
              <a:t>two subjects joined by </a:t>
            </a:r>
            <a:r>
              <a:rPr lang="en-US" i="1" dirty="0"/>
              <a:t>and</a:t>
            </a:r>
            <a:r>
              <a:rPr lang="en-US" dirty="0"/>
              <a:t> → plural verb </a:t>
            </a:r>
            <a:r>
              <a:rPr lang="en-US" b="1" dirty="0"/>
              <a:t>are</a:t>
            </a:r>
          </a:p>
          <a:p>
            <a:pPr lvl="2" algn="l"/>
            <a:endParaRPr lang="en-US" b="1" dirty="0"/>
          </a:p>
          <a:p>
            <a:pPr lvl="1" algn="l"/>
            <a:r>
              <a:rPr lang="en-US" dirty="0"/>
              <a:t>The teacher</a:t>
            </a:r>
            <a:r>
              <a:rPr lang="en-US" b="1" dirty="0"/>
              <a:t> and </a:t>
            </a:r>
            <a:r>
              <a:rPr lang="en-US" dirty="0"/>
              <a:t>the students were present in the meeting.</a:t>
            </a:r>
          </a:p>
          <a:p>
            <a:pPr lvl="2" algn="l"/>
            <a:r>
              <a:rPr lang="en-US" i="1" dirty="0"/>
              <a:t>teacher</a:t>
            </a:r>
            <a:r>
              <a:rPr lang="en-US" dirty="0"/>
              <a:t> + </a:t>
            </a:r>
            <a:r>
              <a:rPr lang="en-US" i="1" dirty="0"/>
              <a:t>students</a:t>
            </a:r>
            <a:r>
              <a:rPr lang="en-US" dirty="0"/>
              <a:t> → plural verb </a:t>
            </a:r>
            <a:r>
              <a:rPr lang="en-US" b="1" dirty="0"/>
              <a:t>were</a:t>
            </a:r>
          </a:p>
          <a:p>
            <a:pPr lvl="2" algn="l"/>
            <a:endParaRPr lang="en-US" b="1" dirty="0"/>
          </a:p>
          <a:p>
            <a:pPr lvl="1" algn="l"/>
            <a:r>
              <a:rPr lang="en-US" dirty="0"/>
              <a:t>Honesty </a:t>
            </a:r>
            <a:r>
              <a:rPr lang="en-US" b="1" dirty="0"/>
              <a:t>and </a:t>
            </a:r>
            <a:r>
              <a:rPr lang="en-US" dirty="0"/>
              <a:t>hard work bring success.</a:t>
            </a:r>
          </a:p>
          <a:p>
            <a:pPr lvl="2" algn="l"/>
            <a:r>
              <a:rPr lang="en-US" dirty="0"/>
              <a:t>two qualities joined by </a:t>
            </a:r>
            <a:r>
              <a:rPr lang="en-US" i="1" dirty="0"/>
              <a:t>and</a:t>
            </a:r>
            <a:r>
              <a:rPr lang="en-US" dirty="0"/>
              <a:t> → plural verb </a:t>
            </a:r>
            <a:r>
              <a:rPr lang="en-US" b="1" dirty="0"/>
              <a:t>bring</a:t>
            </a:r>
          </a:p>
          <a:p>
            <a:pPr lvl="2" algn="l"/>
            <a:endParaRPr lang="en-US" b="1" dirty="0"/>
          </a:p>
          <a:p>
            <a:pPr lvl="1" algn="l"/>
            <a:r>
              <a:rPr lang="en-US" dirty="0"/>
              <a:t>My brother and I are going to the market.</a:t>
            </a:r>
            <a:endParaRPr lang="en-US" b="1" dirty="0"/>
          </a:p>
          <a:p>
            <a:pPr lvl="2" algn="l"/>
            <a:r>
              <a:rPr lang="en-US" i="1" dirty="0"/>
              <a:t>brother</a:t>
            </a:r>
            <a:r>
              <a:rPr lang="en-US" dirty="0"/>
              <a:t> + </a:t>
            </a:r>
            <a:r>
              <a:rPr lang="en-US" i="1" dirty="0"/>
              <a:t>I</a:t>
            </a:r>
            <a:r>
              <a:rPr lang="en-US" dirty="0"/>
              <a:t> → plural verb </a:t>
            </a:r>
            <a:r>
              <a:rPr lang="en-US" b="1" dirty="0"/>
              <a:t>are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 singer and the musician </a:t>
            </a:r>
            <a:r>
              <a:rPr lang="en-US" b="1" dirty="0"/>
              <a:t>have</a:t>
            </a:r>
            <a:r>
              <a:rPr lang="en-US" dirty="0"/>
              <a:t> arrived for the program.</a:t>
            </a:r>
          </a:p>
          <a:p>
            <a:pPr lvl="2"/>
            <a:r>
              <a:rPr lang="en-US" dirty="0"/>
              <a:t>Two persons → plural verb </a:t>
            </a:r>
            <a:r>
              <a:rPr lang="en-US" b="1" dirty="0"/>
              <a:t>have</a:t>
            </a:r>
          </a:p>
          <a:p>
            <a:pPr marL="457200" lvl="1" indent="0">
              <a:buNone/>
            </a:pPr>
            <a:r>
              <a:rPr lang="en-US" dirty="0"/>
              <a:t>	</a:t>
            </a:r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57C0C-D580-913A-153D-5EB32BCB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BED7D8-7ED3-9AE8-EFCD-C17603B9D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76" y="1577485"/>
            <a:ext cx="5700766" cy="3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95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A202-75BF-CBAF-FA61-84A31008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4E852C-A9CD-4F9F-B343-A58CB77D9F4E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219200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b="1" dirty="0"/>
              <a:t>Rule 6: </a:t>
            </a:r>
            <a:r>
              <a:rPr lang="en-US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Singular </a:t>
            </a:r>
            <a:r>
              <a:rPr lang="en-GB" dirty="0"/>
              <a:t>subjects </a:t>
            </a:r>
            <a:r>
              <a:rPr lang="en-GB" b="1" dirty="0"/>
              <a:t>joined by ‘and’ and preceded by ‘every’ </a:t>
            </a:r>
            <a:r>
              <a:rPr lang="en-GB" dirty="0"/>
              <a:t>take a </a:t>
            </a:r>
            <a:r>
              <a:rPr lang="en-GB" b="1" dirty="0"/>
              <a:t>singular verb</a:t>
            </a:r>
            <a:r>
              <a:rPr lang="en-GB" dirty="0"/>
              <a:t>.</a:t>
            </a:r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 </a:t>
            </a:r>
            <a:r>
              <a:rPr lang="en-US" dirty="0"/>
              <a:t>boy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girl </a:t>
            </a:r>
            <a:r>
              <a:rPr lang="en-US" b="1" dirty="0"/>
              <a:t>is</a:t>
            </a:r>
            <a:r>
              <a:rPr lang="en-US" dirty="0"/>
              <a:t> invited to the function.</a:t>
            </a:r>
          </a:p>
          <a:p>
            <a:pPr lvl="2" algn="l"/>
            <a:r>
              <a:rPr lang="en-US" dirty="0"/>
              <a:t>each subject is considered separately → singular verb </a:t>
            </a:r>
            <a:r>
              <a:rPr lang="en-US" b="1" dirty="0"/>
              <a:t>is</a:t>
            </a:r>
          </a:p>
          <a:p>
            <a:pPr lvl="2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teacher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student</a:t>
            </a:r>
            <a:r>
              <a:rPr lang="en-US" b="1" dirty="0"/>
              <a:t> has </a:t>
            </a:r>
            <a:r>
              <a:rPr lang="en-US" dirty="0"/>
              <a:t>to attend the seminar.</a:t>
            </a:r>
          </a:p>
          <a:p>
            <a:pPr lvl="2" algn="l"/>
            <a:r>
              <a:rPr lang="en-US" dirty="0"/>
              <a:t>treated as individual responsibility → singular verb </a:t>
            </a:r>
            <a:r>
              <a:rPr lang="en-US" b="1" dirty="0"/>
              <a:t>has</a:t>
            </a:r>
          </a:p>
          <a:p>
            <a:pPr lvl="2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pen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notebook </a:t>
            </a:r>
            <a:r>
              <a:rPr lang="en-US" b="1" dirty="0"/>
              <a:t>belongs</a:t>
            </a:r>
            <a:r>
              <a:rPr lang="en-US" dirty="0"/>
              <a:t> to the library.</a:t>
            </a:r>
          </a:p>
          <a:p>
            <a:pPr lvl="2" algn="l"/>
            <a:r>
              <a:rPr lang="en-US" dirty="0"/>
              <a:t>singular ownership → singular verb </a:t>
            </a:r>
            <a:r>
              <a:rPr lang="en-US" b="1" dirty="0"/>
              <a:t>belongs</a:t>
            </a:r>
          </a:p>
          <a:p>
            <a:pPr lvl="1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table and </a:t>
            </a:r>
            <a:r>
              <a:rPr lang="en-US" b="1" dirty="0"/>
              <a:t>every </a:t>
            </a:r>
            <a:r>
              <a:rPr lang="en-US" dirty="0"/>
              <a:t>chair </a:t>
            </a:r>
            <a:r>
              <a:rPr lang="en-US" b="1" dirty="0"/>
              <a:t>was</a:t>
            </a:r>
            <a:r>
              <a:rPr lang="en-US" dirty="0"/>
              <a:t> arranged neatly in the hall.</a:t>
            </a:r>
          </a:p>
          <a:p>
            <a:pPr lvl="2" algn="l"/>
            <a:r>
              <a:rPr lang="en-US" dirty="0"/>
              <a:t>Focus is on each single object one by one → singular verb </a:t>
            </a:r>
            <a:r>
              <a:rPr lang="en-US" b="1" dirty="0"/>
              <a:t>was</a:t>
            </a:r>
          </a:p>
          <a:p>
            <a:pPr lvl="1" algn="l"/>
            <a:endParaRPr lang="en-US" dirty="0"/>
          </a:p>
          <a:p>
            <a:pPr lvl="1" algn="l"/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parent and </a:t>
            </a:r>
            <a:r>
              <a:rPr lang="en-US" b="1" dirty="0">
                <a:solidFill>
                  <a:srgbClr val="002060"/>
                </a:solidFill>
              </a:rPr>
              <a:t>every</a:t>
            </a:r>
            <a:r>
              <a:rPr lang="en-US" dirty="0"/>
              <a:t> guardian </a:t>
            </a:r>
            <a:r>
              <a:rPr lang="en-US" b="1" dirty="0"/>
              <a:t>cares</a:t>
            </a:r>
            <a:r>
              <a:rPr lang="en-US" dirty="0"/>
              <a:t> for the child.</a:t>
            </a:r>
          </a:p>
          <a:p>
            <a:pPr lvl="2" algn="l"/>
            <a:r>
              <a:rPr lang="en-US" dirty="0"/>
              <a:t>Treated as individual responsibility → singular verb </a:t>
            </a:r>
            <a:r>
              <a:rPr lang="en-US" b="1" dirty="0"/>
              <a:t>cares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57C0C-D580-913A-153D-5EB32BCB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9E04FC-F82E-9D8E-B917-AA2C5F3DF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548" y="1193495"/>
            <a:ext cx="5159207" cy="308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9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3BF9D-0E58-E873-0015-AC0922E3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BC6582B-C079-8220-B7DD-0F34F75F7233}"/>
              </a:ext>
            </a:extLst>
          </p:cNvPr>
          <p:cNvSpPr txBox="1">
            <a:spLocks/>
          </p:cNvSpPr>
          <p:nvPr/>
        </p:nvSpPr>
        <p:spPr>
          <a:xfrm>
            <a:off x="0" y="711200"/>
            <a:ext cx="11965354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7: ‘Each’, ‘every’, ‘each one’, ‘each of’, ‘every one’, ‘everybody’, ‘either of’, ‘neither of’ </a:t>
            </a:r>
            <a:r>
              <a:rPr lang="en-GB" dirty="0"/>
              <a:t>take </a:t>
            </a:r>
            <a:r>
              <a:rPr lang="en-US" dirty="0"/>
              <a:t>a singular verb.</a:t>
            </a:r>
            <a:endParaRPr lang="en-US" sz="5400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lvl="1"/>
            <a:r>
              <a:rPr lang="en-US" b="1" dirty="0"/>
              <a:t>Each</a:t>
            </a:r>
            <a:r>
              <a:rPr lang="en-US" dirty="0"/>
              <a:t> student </a:t>
            </a:r>
            <a:r>
              <a:rPr lang="en-US" b="1" dirty="0"/>
              <a:t>is</a:t>
            </a:r>
            <a:r>
              <a:rPr lang="en-US" dirty="0"/>
              <a:t> responsible for their own work. </a:t>
            </a:r>
          </a:p>
          <a:p>
            <a:pPr lvl="1"/>
            <a:r>
              <a:rPr lang="en-US" b="1" dirty="0"/>
              <a:t>Every</a:t>
            </a:r>
            <a:r>
              <a:rPr lang="en-US" dirty="0"/>
              <a:t> bird </a:t>
            </a:r>
            <a:r>
              <a:rPr lang="en-US" b="1" dirty="0"/>
              <a:t>is</a:t>
            </a:r>
            <a:r>
              <a:rPr lang="en-US" dirty="0"/>
              <a:t> sitting on a different branch.</a:t>
            </a:r>
          </a:p>
          <a:p>
            <a:pPr lvl="1"/>
            <a:r>
              <a:rPr lang="en-US" b="1" dirty="0"/>
              <a:t>Each one </a:t>
            </a:r>
            <a:r>
              <a:rPr lang="en-US" dirty="0"/>
              <a:t>of the flowers </a:t>
            </a:r>
            <a:r>
              <a:rPr lang="en-US" b="1" dirty="0"/>
              <a:t>is</a:t>
            </a:r>
            <a:r>
              <a:rPr lang="en-US" dirty="0"/>
              <a:t> blooming beautifully.</a:t>
            </a:r>
            <a:endParaRPr lang="en-US" sz="4600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lvl="1"/>
            <a:r>
              <a:rPr lang="en-US" b="1" dirty="0"/>
              <a:t>Each of </a:t>
            </a:r>
            <a:r>
              <a:rPr lang="en-US" dirty="0"/>
              <a:t>the answers </a:t>
            </a:r>
            <a:r>
              <a:rPr lang="en-US" b="1" dirty="0"/>
              <a:t>is</a:t>
            </a:r>
            <a:r>
              <a:rPr lang="en-US" dirty="0"/>
              <a:t> correct.</a:t>
            </a:r>
          </a:p>
          <a:p>
            <a:pPr lvl="1"/>
            <a:r>
              <a:rPr lang="en-US" b="1" dirty="0"/>
              <a:t>Every one </a:t>
            </a:r>
            <a:r>
              <a:rPr lang="en-US" dirty="0"/>
              <a:t>of the letters </a:t>
            </a:r>
            <a:r>
              <a:rPr lang="en-US" b="1" dirty="0"/>
              <a:t>has</a:t>
            </a:r>
            <a:r>
              <a:rPr lang="en-US" dirty="0"/>
              <a:t> been delivered.</a:t>
            </a:r>
          </a:p>
          <a:p>
            <a:pPr lvl="1"/>
            <a:r>
              <a:rPr lang="en-US" b="1" dirty="0"/>
              <a:t>Everybody</a:t>
            </a:r>
            <a:r>
              <a:rPr lang="en-US" dirty="0"/>
              <a:t> </a:t>
            </a:r>
            <a:r>
              <a:rPr lang="en-US" b="1" dirty="0"/>
              <a:t>enjoys</a:t>
            </a:r>
            <a:r>
              <a:rPr lang="en-US" dirty="0"/>
              <a:t> the annual college festival.</a:t>
            </a:r>
          </a:p>
          <a:p>
            <a:pPr lvl="1"/>
            <a:r>
              <a:rPr lang="en-US" b="1" dirty="0"/>
              <a:t>Either of </a:t>
            </a:r>
            <a:r>
              <a:rPr lang="en-US" dirty="0"/>
              <a:t>the options </a:t>
            </a:r>
            <a:r>
              <a:rPr lang="en-US" b="1" dirty="0"/>
              <a:t>is</a:t>
            </a:r>
            <a:r>
              <a:rPr lang="en-US" dirty="0"/>
              <a:t> fine with me.</a:t>
            </a:r>
          </a:p>
          <a:p>
            <a:pPr lvl="1"/>
            <a:r>
              <a:rPr lang="en-US" b="1" dirty="0"/>
              <a:t>Neither of </a:t>
            </a:r>
            <a:r>
              <a:rPr lang="en-US" dirty="0"/>
              <a:t>the boys </a:t>
            </a:r>
            <a:r>
              <a:rPr lang="en-US" b="1" dirty="0"/>
              <a:t>is</a:t>
            </a:r>
            <a:r>
              <a:rPr lang="en-US" dirty="0"/>
              <a:t> ready for the match.</a:t>
            </a:r>
          </a:p>
          <a:p>
            <a:pPr marL="457200" lvl="1" indent="0">
              <a:buNone/>
            </a:pPr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08E80-966B-25C0-9F81-9056BBF7C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A56A7B-8DA7-F102-FD6C-8491869C54C6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322631-D0B2-D536-B89E-2CEC4133B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998" y="1075544"/>
            <a:ext cx="4994031" cy="33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763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30B17C7-C44E-8097-221D-616C97032C76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703875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Rule 8: </a:t>
            </a:r>
            <a:r>
              <a:rPr lang="en-GB" dirty="0"/>
              <a:t>If the two nouns are joined by </a:t>
            </a:r>
            <a:r>
              <a:rPr lang="en-GB" b="1" dirty="0"/>
              <a:t>‘and’ </a:t>
            </a:r>
            <a:r>
              <a:rPr lang="en-GB" dirty="0"/>
              <a:t>refer to the same person or thing the verb is singular not plural.</a:t>
            </a:r>
            <a:endParaRPr lang="en-US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Our doctor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family friend </a:t>
            </a:r>
            <a:r>
              <a:rPr lang="en-US" b="1" dirty="0"/>
              <a:t>is</a:t>
            </a:r>
            <a:r>
              <a:rPr lang="en-US" dirty="0"/>
              <a:t> visiting us today.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The principal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headmaster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addressing the students.</a:t>
            </a:r>
            <a:endParaRPr lang="gu-IN" dirty="0"/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The poet </a:t>
            </a:r>
            <a:r>
              <a:rPr lang="en-US" dirty="0"/>
              <a:t>and </a:t>
            </a:r>
            <a:r>
              <a:rPr lang="en-US" b="1" dirty="0">
                <a:solidFill>
                  <a:srgbClr val="002060"/>
                </a:solidFill>
              </a:rPr>
              <a:t>philosopher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speaking at the event.</a:t>
            </a:r>
            <a:endParaRPr lang="gu-IN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2060"/>
                </a:solidFill>
              </a:rPr>
              <a:t>owner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manager</a:t>
            </a:r>
            <a:r>
              <a:rPr lang="en-US" dirty="0"/>
              <a:t> of this shop </a:t>
            </a:r>
            <a:r>
              <a:rPr lang="en-US" b="1" dirty="0"/>
              <a:t>is</a:t>
            </a:r>
            <a:r>
              <a:rPr lang="en-US" dirty="0"/>
              <a:t> very polite.</a:t>
            </a:r>
            <a:endParaRPr lang="gu-IN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2060"/>
                </a:solidFill>
              </a:rPr>
              <a:t>singer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dancer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performing tonight.</a:t>
            </a:r>
            <a:endParaRPr lang="gu-IN" dirty="0"/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002060"/>
                </a:solidFill>
              </a:rPr>
              <a:t>chairman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director</a:t>
            </a:r>
            <a:r>
              <a:rPr lang="en-US" dirty="0"/>
              <a:t> of the company </a:t>
            </a:r>
            <a:r>
              <a:rPr lang="en-US" b="1" dirty="0"/>
              <a:t>is</a:t>
            </a:r>
            <a:r>
              <a:rPr lang="en-US" dirty="0"/>
              <a:t> arriving soon.</a:t>
            </a:r>
            <a:endParaRPr lang="gu-IN" dirty="0"/>
          </a:p>
          <a:p>
            <a:pPr lvl="1"/>
            <a:r>
              <a:rPr lang="en-US" dirty="0"/>
              <a:t>Our </a:t>
            </a:r>
            <a:r>
              <a:rPr lang="en-US" b="1" dirty="0">
                <a:solidFill>
                  <a:srgbClr val="002060"/>
                </a:solidFill>
              </a:rPr>
              <a:t>neighbor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friend</a:t>
            </a:r>
            <a:r>
              <a:rPr lang="en-US" dirty="0"/>
              <a:t> </a:t>
            </a:r>
            <a:r>
              <a:rPr lang="en-US" b="1" dirty="0"/>
              <a:t>is</a:t>
            </a:r>
            <a:r>
              <a:rPr lang="en-US" dirty="0"/>
              <a:t> moving to Delhi.</a:t>
            </a:r>
            <a:endParaRPr lang="gu-IN" dirty="0"/>
          </a:p>
          <a:p>
            <a:pPr lvl="1"/>
            <a:r>
              <a:rPr lang="en-US" dirty="0"/>
              <a:t>My </a:t>
            </a:r>
            <a:r>
              <a:rPr lang="en-US" b="1" dirty="0">
                <a:solidFill>
                  <a:srgbClr val="002060"/>
                </a:solidFill>
              </a:rPr>
              <a:t>teacher</a:t>
            </a:r>
            <a:r>
              <a:rPr lang="en-US" dirty="0"/>
              <a:t> and </a:t>
            </a:r>
            <a:r>
              <a:rPr lang="en-US" b="1" dirty="0">
                <a:solidFill>
                  <a:srgbClr val="002060"/>
                </a:solidFill>
              </a:rPr>
              <a:t>guide</a:t>
            </a:r>
            <a:r>
              <a:rPr lang="en-US" dirty="0"/>
              <a:t> </a:t>
            </a:r>
            <a:r>
              <a:rPr lang="en-US" b="1" dirty="0"/>
              <a:t>has</a:t>
            </a:r>
            <a:r>
              <a:rPr lang="en-US" dirty="0"/>
              <a:t> encouraged me a lot. 	</a:t>
            </a:r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57F3C-41BB-8FD8-D25A-E750EEF573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023" y="830998"/>
            <a:ext cx="5509295" cy="381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060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BF29B-A99F-5FCD-99A5-B84B773A2454}"/>
              </a:ext>
            </a:extLst>
          </p:cNvPr>
          <p:cNvSpPr txBox="1"/>
          <p:nvPr/>
        </p:nvSpPr>
        <p:spPr>
          <a:xfrm>
            <a:off x="0" y="679301"/>
            <a:ext cx="1213905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Rule 9: Introductory ‘there’ in the beginning of a sentence 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can have 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singular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or 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plural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verb form. It 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depends 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on the</a:t>
            </a: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subject 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which follow the verb</a:t>
            </a:r>
            <a:r>
              <a:rPr lang="en-GB" sz="2400" dirty="0"/>
              <a:t>. </a:t>
            </a:r>
            <a:endParaRPr lang="en-US" sz="2400" b="1" spc="75" dirty="0"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pen on the table.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two books on the table.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student waiting outside.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many students in the library.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problem with this computer.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several errors in your answer sheet.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is a bird sitting on the branch.</a:t>
            </a:r>
          </a:p>
          <a:p>
            <a:pPr marL="800100" lvl="1" indent="-342900">
              <a:buClr>
                <a:srgbClr val="C00000"/>
              </a:buClr>
              <a:buFont typeface="Wingdings 3" panose="05040102010807070707" pitchFamily="18" charset="2"/>
              <a:buChar char=""/>
            </a:pPr>
            <a:r>
              <a:rPr lang="en-US" sz="2000" b="1" dirty="0"/>
              <a:t>There</a:t>
            </a:r>
            <a:r>
              <a:rPr lang="en-US" sz="2000" dirty="0"/>
              <a:t> are birds flying in the sky.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1492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5232-1937-284E-7352-678BD097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9A9AFA-0672-A2F4-339E-BF8D4E67C67D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711318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10: </a:t>
            </a:r>
            <a:r>
              <a:rPr lang="en-GB" dirty="0"/>
              <a:t>When the subject is </a:t>
            </a:r>
            <a:r>
              <a:rPr lang="en-GB" b="1" dirty="0"/>
              <a:t>title of a book </a:t>
            </a:r>
            <a:r>
              <a:rPr lang="en-GB" dirty="0"/>
              <a:t>or a </a:t>
            </a:r>
            <a:r>
              <a:rPr lang="en-GB" b="1" dirty="0"/>
              <a:t>journal, </a:t>
            </a:r>
            <a:r>
              <a:rPr lang="en-GB" dirty="0"/>
              <a:t>a quotation </a:t>
            </a:r>
            <a:r>
              <a:rPr lang="en-GB" b="1" dirty="0"/>
              <a:t>expressing a single idea, </a:t>
            </a:r>
            <a:r>
              <a:rPr lang="en-GB" dirty="0"/>
              <a:t>the verb is</a:t>
            </a:r>
            <a:r>
              <a:rPr lang="en-GB" b="1" dirty="0"/>
              <a:t> singular. </a:t>
            </a:r>
            <a:r>
              <a:rPr lang="en-US" dirty="0"/>
              <a:t> 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“Friends” </a:t>
            </a:r>
            <a:r>
              <a:rPr lang="en-US" b="1" dirty="0"/>
              <a:t>is</a:t>
            </a:r>
            <a:r>
              <a:rPr lang="en-US" dirty="0"/>
              <a:t> my favorite TV show.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“Statistics for Beginners” </a:t>
            </a:r>
            <a:r>
              <a:rPr lang="en-US" b="1" dirty="0"/>
              <a:t>is</a:t>
            </a:r>
            <a:r>
              <a:rPr lang="en-US" dirty="0"/>
              <a:t> a helpful book.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“Time is money” </a:t>
            </a:r>
            <a:r>
              <a:rPr lang="en-US" b="1" dirty="0"/>
              <a:t>is</a:t>
            </a:r>
            <a:r>
              <a:rPr lang="en-US" dirty="0"/>
              <a:t> something my teacher always says.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“The World of Science” </a:t>
            </a:r>
            <a:r>
              <a:rPr lang="en-US" b="1" dirty="0"/>
              <a:t>is</a:t>
            </a:r>
            <a:r>
              <a:rPr lang="en-US" dirty="0"/>
              <a:t> a useful journal for students.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“Unity is strength” </a:t>
            </a:r>
            <a:r>
              <a:rPr lang="en-US" b="1" dirty="0"/>
              <a:t>is</a:t>
            </a:r>
            <a:r>
              <a:rPr lang="en-US" dirty="0"/>
              <a:t> an old saying.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“Honesty is the best policy” </a:t>
            </a:r>
            <a:r>
              <a:rPr lang="en-US" b="1" dirty="0"/>
              <a:t>is</a:t>
            </a:r>
            <a:r>
              <a:rPr lang="en-US" dirty="0"/>
              <a:t> what my parents taught me.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“The Hindustan Times” </a:t>
            </a:r>
            <a:r>
              <a:rPr lang="en-US" b="1" dirty="0"/>
              <a:t>is</a:t>
            </a:r>
            <a:r>
              <a:rPr lang="en-US" dirty="0"/>
              <a:t> widely read across India.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“The Bhagavad Gita” </a:t>
            </a:r>
            <a:r>
              <a:rPr lang="en-US" b="1" dirty="0"/>
              <a:t>is</a:t>
            </a:r>
            <a:r>
              <a:rPr lang="en-US" dirty="0"/>
              <a:t> a sacred text of Hinduism.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“Knowledge is power” </a:t>
            </a:r>
            <a:r>
              <a:rPr lang="en-US" b="1" dirty="0"/>
              <a:t>is</a:t>
            </a:r>
            <a:r>
              <a:rPr lang="en-US" dirty="0"/>
              <a:t> a truth we cannot deny.</a:t>
            </a:r>
          </a:p>
          <a:p>
            <a:pPr lvl="1"/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5569D4-39E1-F598-B846-5B92C6CEF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31073-1FB7-BF89-1033-A027BE6F7A33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7AAB3-235E-6715-20E4-E952F9BFA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515" y="752379"/>
            <a:ext cx="5618485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6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F40B8-5A76-1499-8B95-7F18A1A2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961A24-484C-D5E3-F4A8-EA5D83650908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11: </a:t>
            </a:r>
            <a:r>
              <a:rPr lang="en-US" dirty="0"/>
              <a:t>Some nouns are always </a:t>
            </a:r>
            <a:r>
              <a:rPr lang="en-US" b="1" dirty="0"/>
              <a:t>used in the plural form </a:t>
            </a:r>
            <a:r>
              <a:rPr lang="en-US" dirty="0"/>
              <a:t>because </a:t>
            </a:r>
            <a:r>
              <a:rPr lang="en-US" b="1" dirty="0"/>
              <a:t>they naturally refer to objects made of two parts</a:t>
            </a:r>
            <a:r>
              <a:rPr lang="en-US" dirty="0"/>
              <a:t>, </a:t>
            </a:r>
            <a:r>
              <a:rPr lang="en-US" b="1" dirty="0"/>
              <a:t>groups, or abstract ideas</a:t>
            </a:r>
            <a:r>
              <a:rPr lang="en-US" dirty="0"/>
              <a:t>. Since they are plural in form and meaning, they always take a plural verb.</a:t>
            </a:r>
          </a:p>
          <a:p>
            <a:pPr lvl="1"/>
            <a:r>
              <a:rPr lang="en-US" dirty="0"/>
              <a:t>Scissors </a:t>
            </a:r>
            <a:r>
              <a:rPr lang="en-US" b="1" dirty="0"/>
              <a:t>are</a:t>
            </a:r>
            <a:r>
              <a:rPr lang="en-US" dirty="0"/>
              <a:t> on the table.</a:t>
            </a:r>
          </a:p>
          <a:p>
            <a:pPr lvl="1"/>
            <a:r>
              <a:rPr lang="en-IN" dirty="0"/>
              <a:t>Trousers </a:t>
            </a:r>
            <a:r>
              <a:rPr lang="en-IN" b="1" dirty="0"/>
              <a:t>are</a:t>
            </a:r>
            <a:r>
              <a:rPr lang="en-IN" dirty="0"/>
              <a:t> dirty.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Spectacles </a:t>
            </a:r>
            <a:r>
              <a:rPr lang="en-US" b="1" dirty="0"/>
              <a:t>are</a:t>
            </a:r>
            <a:r>
              <a:rPr lang="en-US" dirty="0"/>
              <a:t> missing.</a:t>
            </a:r>
          </a:p>
          <a:p>
            <a:pPr lvl="1"/>
            <a:r>
              <a:rPr lang="en-US" dirty="0"/>
              <a:t>Shoes </a:t>
            </a:r>
            <a:r>
              <a:rPr lang="en-US" b="1" dirty="0"/>
              <a:t>are</a:t>
            </a:r>
            <a:r>
              <a:rPr lang="en-US" dirty="0"/>
              <a:t> lying at the door.</a:t>
            </a:r>
          </a:p>
          <a:p>
            <a:pPr lvl="1"/>
            <a:r>
              <a:rPr lang="en-US" dirty="0"/>
              <a:t>Jeans </a:t>
            </a:r>
            <a:r>
              <a:rPr lang="en-US" b="1" dirty="0"/>
              <a:t>are</a:t>
            </a:r>
            <a:r>
              <a:rPr lang="en-US" dirty="0"/>
              <a:t> popular among youngsters.</a:t>
            </a:r>
          </a:p>
          <a:p>
            <a:pPr lvl="1"/>
            <a:r>
              <a:rPr lang="en-US" dirty="0"/>
              <a:t>Shorts </a:t>
            </a:r>
            <a:r>
              <a:rPr lang="en-US" b="1" dirty="0"/>
              <a:t>are</a:t>
            </a:r>
            <a:r>
              <a:rPr lang="en-US" dirty="0"/>
              <a:t> in the cupboard.</a:t>
            </a:r>
          </a:p>
          <a:p>
            <a:pPr lvl="1"/>
            <a:r>
              <a:rPr lang="en-US" dirty="0"/>
              <a:t>Socks </a:t>
            </a:r>
            <a:r>
              <a:rPr lang="en-US" b="1" dirty="0"/>
              <a:t>are</a:t>
            </a:r>
            <a:r>
              <a:rPr lang="en-US" dirty="0"/>
              <a:t> hanging on the rope.</a:t>
            </a:r>
          </a:p>
          <a:p>
            <a:pPr lvl="1"/>
            <a:r>
              <a:rPr lang="en-US" dirty="0"/>
              <a:t>Binoculars </a:t>
            </a:r>
            <a:r>
              <a:rPr lang="en-US" b="1" dirty="0"/>
              <a:t>are</a:t>
            </a:r>
            <a:r>
              <a:rPr lang="en-US" dirty="0"/>
              <a:t> useful for bird watching.</a:t>
            </a:r>
          </a:p>
          <a:p>
            <a:pPr lvl="1"/>
            <a:r>
              <a:rPr lang="en-US" dirty="0"/>
              <a:t>Slippers </a:t>
            </a:r>
            <a:r>
              <a:rPr lang="en-US" b="1" dirty="0"/>
              <a:t>are</a:t>
            </a:r>
            <a:r>
              <a:rPr lang="en-US" dirty="0"/>
              <a:t> under the bed.</a:t>
            </a:r>
          </a:p>
          <a:p>
            <a:pPr lvl="1"/>
            <a:r>
              <a:rPr lang="en-US" dirty="0"/>
              <a:t>Goggles </a:t>
            </a:r>
            <a:r>
              <a:rPr lang="en-US" b="1" dirty="0"/>
              <a:t>are</a:t>
            </a:r>
            <a:r>
              <a:rPr lang="en-US" dirty="0"/>
              <a:t> fashionable these days.</a:t>
            </a:r>
          </a:p>
          <a:p>
            <a:pPr lvl="1"/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55E637-CE13-7611-50FB-24DF5DD36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25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933CE-C914-B74A-73B9-766C28EC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F63C45C-1E57-B4E8-B5B3-ECFA4FC65B64}"/>
              </a:ext>
            </a:extLst>
          </p:cNvPr>
          <p:cNvSpPr txBox="1">
            <a:spLocks/>
          </p:cNvSpPr>
          <p:nvPr/>
        </p:nvSpPr>
        <p:spPr>
          <a:xfrm>
            <a:off x="-1" y="711200"/>
            <a:ext cx="12192001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Rule 12: </a:t>
            </a:r>
            <a:r>
              <a:rPr lang="en-US" dirty="0"/>
              <a:t>When </a:t>
            </a:r>
            <a:r>
              <a:rPr lang="en-US" b="1" dirty="0"/>
              <a:t>fractions or percentages </a:t>
            </a:r>
            <a:r>
              <a:rPr lang="en-US" dirty="0"/>
              <a:t>are used </a:t>
            </a:r>
            <a:r>
              <a:rPr lang="en-US" b="1" dirty="0"/>
              <a:t>with </a:t>
            </a:r>
            <a:r>
              <a:rPr lang="en-US" b="1" i="1" dirty="0"/>
              <a:t>of</a:t>
            </a:r>
            <a:r>
              <a:rPr lang="en-US" dirty="0"/>
              <a:t>, </a:t>
            </a:r>
            <a:r>
              <a:rPr lang="en-US" b="1" dirty="0"/>
              <a:t>the verb depends on the noun that follows.</a:t>
            </a:r>
          </a:p>
          <a:p>
            <a:pPr lvl="1"/>
            <a:r>
              <a:rPr lang="en-US" dirty="0"/>
              <a:t>Fifty percent of the work is done.</a:t>
            </a:r>
          </a:p>
          <a:p>
            <a:pPr lvl="2"/>
            <a:r>
              <a:rPr lang="en-US" dirty="0"/>
              <a:t> work (uncountable) → singular verb is</a:t>
            </a:r>
          </a:p>
          <a:p>
            <a:pPr lvl="1"/>
            <a:r>
              <a:rPr lang="en-US" dirty="0"/>
              <a:t>Fifty percent of the people are absent. </a:t>
            </a:r>
          </a:p>
          <a:p>
            <a:pPr lvl="2"/>
            <a:r>
              <a:rPr lang="en-US" dirty="0"/>
              <a:t>people (countable plural) → plural verb are</a:t>
            </a:r>
          </a:p>
          <a:p>
            <a:pPr lvl="1"/>
            <a:r>
              <a:rPr lang="en-US" dirty="0"/>
              <a:t>One-third of the cake is missing. </a:t>
            </a:r>
          </a:p>
          <a:p>
            <a:pPr lvl="2"/>
            <a:r>
              <a:rPr lang="en-US" dirty="0"/>
              <a:t>cake (singular) → singular verb is</a:t>
            </a:r>
          </a:p>
          <a:p>
            <a:pPr lvl="1"/>
            <a:r>
              <a:rPr lang="en-US" dirty="0"/>
              <a:t>One-third of the students were late. </a:t>
            </a:r>
          </a:p>
          <a:p>
            <a:pPr lvl="2"/>
            <a:r>
              <a:rPr lang="en-US" dirty="0"/>
              <a:t>students (plural) → plural verb were</a:t>
            </a:r>
          </a:p>
          <a:p>
            <a:pPr lvl="1"/>
            <a:r>
              <a:rPr lang="en-US" dirty="0"/>
              <a:t>Some of the water is wasted. </a:t>
            </a:r>
          </a:p>
          <a:p>
            <a:pPr lvl="2"/>
            <a:r>
              <a:rPr lang="en-US" dirty="0"/>
              <a:t>water (uncountable) → singular verb is</a:t>
            </a:r>
          </a:p>
          <a:p>
            <a:pPr lvl="1"/>
            <a:r>
              <a:rPr lang="en-US" dirty="0"/>
              <a:t>Some of the books are old. </a:t>
            </a:r>
          </a:p>
          <a:p>
            <a:pPr lvl="2"/>
            <a:r>
              <a:rPr lang="en-US" dirty="0"/>
              <a:t>books (plural) → plural verb are</a:t>
            </a:r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E9D17E-593E-F243-04E4-98980D81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gu-IN" dirty="0"/>
              <a:t>Subject-Verb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80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48178" y="1709738"/>
            <a:ext cx="8918438" cy="2852737"/>
          </a:xfrm>
        </p:spPr>
        <p:txBody>
          <a:bodyPr/>
          <a:lstStyle/>
          <a:p>
            <a:r>
              <a:rPr lang="en-US" dirty="0"/>
              <a:t>Tips to solve Sentence Completion</a:t>
            </a:r>
          </a:p>
        </p:txBody>
      </p:sp>
    </p:spTree>
    <p:extLst>
      <p:ext uri="{BB962C8B-B14F-4D97-AF65-F5344CB8AC3E}">
        <p14:creationId xmlns:p14="http://schemas.microsoft.com/office/powerpoint/2010/main" val="334017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Tips to solve Sentence Completion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BF29B-A99F-5FCD-99A5-B84B773A2454}"/>
              </a:ext>
            </a:extLst>
          </p:cNvPr>
          <p:cNvSpPr txBox="1"/>
          <p:nvPr/>
        </p:nvSpPr>
        <p:spPr>
          <a:xfrm>
            <a:off x="0" y="939800"/>
            <a:ext cx="121390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Decoding Structure: 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Mastering Single and Double Blank logic.</a:t>
            </a:r>
          </a:p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Signpost Secrets: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Using "Direction" to predict missing words.</a:t>
            </a:r>
          </a:p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Vocabulary Alchemy: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The "Charge &amp; Tone" strategy for elimination.</a:t>
            </a:r>
          </a:p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r>
              <a:rPr lang="en-US" sz="2400" b="1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Trap Avoidance:</a:t>
            </a:r>
            <a:r>
              <a:rPr lang="en-US" sz="2400" spc="75" dirty="0">
                <a:ea typeface="Roboto Condensed" panose="02000000000000000000" pitchFamily="2" charset="0"/>
                <a:cs typeface="Roboto Condensed" panose="02000000000000000000" pitchFamily="2" charset="0"/>
              </a:rPr>
              <a:t> Sidestepping common examiner tricks.</a:t>
            </a:r>
          </a:p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endParaRPr lang="en-US" sz="2400" spc="75" dirty="0"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285750" indent="-285750" algn="just">
              <a:buClr>
                <a:srgbClr val="C00000"/>
              </a:buClr>
              <a:buFont typeface="Wingdings 3" panose="05040102010807070707" pitchFamily="18" charset="2"/>
              <a:buChar char="}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420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Core Sentence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6582B-C079-8220-B7DD-0F34F75F7233}"/>
              </a:ext>
            </a:extLst>
          </p:cNvPr>
          <p:cNvSpPr txBox="1">
            <a:spLocks/>
          </p:cNvSpPr>
          <p:nvPr/>
        </p:nvSpPr>
        <p:spPr>
          <a:xfrm>
            <a:off x="0" y="848209"/>
            <a:ext cx="11965354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Single-Blank Format</a:t>
            </a:r>
            <a:endParaRPr lang="en-US" sz="5400" spc="75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lvl="1"/>
            <a:r>
              <a:rPr lang="en-US" dirty="0"/>
              <a:t>Focus on a single missing element. The clue is always hidden within the sentence context.</a:t>
            </a:r>
          </a:p>
          <a:p>
            <a:r>
              <a:rPr lang="en-US" b="1" dirty="0"/>
              <a:t>Double-</a:t>
            </a:r>
            <a:r>
              <a:rPr lang="en-US" dirty="0"/>
              <a:t> </a:t>
            </a:r>
            <a:r>
              <a:rPr lang="en-IN" b="1" dirty="0"/>
              <a:t>Blank Format</a:t>
            </a:r>
          </a:p>
          <a:p>
            <a:pPr lvl="1"/>
            <a:r>
              <a:rPr lang="en-US" dirty="0"/>
              <a:t>The "Elimination Engine". Use the easier blank first to clear 50-75% of options instantly.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215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Secret Weapon: Signposts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6582B-C079-8220-B7DD-0F34F75F7233}"/>
              </a:ext>
            </a:extLst>
          </p:cNvPr>
          <p:cNvSpPr txBox="1">
            <a:spLocks/>
          </p:cNvSpPr>
          <p:nvPr/>
        </p:nvSpPr>
        <p:spPr>
          <a:xfrm>
            <a:off x="0" y="848209"/>
            <a:ext cx="11965354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Signpost</a:t>
            </a:r>
            <a:r>
              <a:rPr lang="en-US" b="1" dirty="0"/>
              <a:t> words act like </a:t>
            </a:r>
            <a:r>
              <a:rPr lang="en-US" b="1" dirty="0">
                <a:solidFill>
                  <a:srgbClr val="FF0000"/>
                </a:solidFill>
              </a:rPr>
              <a:t>traffic signals</a:t>
            </a:r>
            <a:r>
              <a:rPr lang="en-US" b="1" dirty="0"/>
              <a:t>. </a:t>
            </a:r>
          </a:p>
          <a:p>
            <a:r>
              <a:rPr lang="en-US" dirty="0"/>
              <a:t>They tell you which direction the sentence is moving before you even read the options.</a:t>
            </a:r>
          </a:p>
          <a:p>
            <a:r>
              <a:rPr lang="en-US" dirty="0"/>
              <a:t>Never read a sentence; decode it.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7734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Directional Categories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6582B-C079-8220-B7DD-0F34F75F7233}"/>
              </a:ext>
            </a:extLst>
          </p:cNvPr>
          <p:cNvSpPr txBox="1">
            <a:spLocks/>
          </p:cNvSpPr>
          <p:nvPr/>
        </p:nvSpPr>
        <p:spPr>
          <a:xfrm>
            <a:off x="0" y="848209"/>
            <a:ext cx="11965354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Contrast (U-Turn)</a:t>
            </a:r>
          </a:p>
          <a:p>
            <a:pPr lvl="1"/>
            <a:r>
              <a:rPr lang="en-US" dirty="0"/>
              <a:t>Words like Although, But, Yet, Despite. Part A ≠ Part B.</a:t>
            </a:r>
          </a:p>
          <a:p>
            <a:r>
              <a:rPr lang="en-US" b="1" dirty="0"/>
              <a:t>Cause/Effect</a:t>
            </a:r>
          </a:p>
          <a:p>
            <a:pPr lvl="1"/>
            <a:r>
              <a:rPr lang="en-US" dirty="0"/>
              <a:t>Words like Because, Thus, Resulting. Part A → Part B.</a:t>
            </a:r>
          </a:p>
          <a:p>
            <a:r>
              <a:rPr lang="en-US" b="1" dirty="0"/>
              <a:t>Similarity</a:t>
            </a:r>
          </a:p>
          <a:p>
            <a:pPr lvl="1"/>
            <a:r>
              <a:rPr lang="en-US" dirty="0"/>
              <a:t>Words like Just as, Similarly, Likewise. Part A = Part B.</a:t>
            </a:r>
          </a:p>
          <a:p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65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The Fail-Proof 3-Step Method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6582B-C079-8220-B7DD-0F34F75F7233}"/>
              </a:ext>
            </a:extLst>
          </p:cNvPr>
          <p:cNvSpPr txBox="1">
            <a:spLocks/>
          </p:cNvSpPr>
          <p:nvPr/>
        </p:nvSpPr>
        <p:spPr>
          <a:xfrm>
            <a:off x="0" y="848209"/>
            <a:ext cx="11965354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Identify the Signpost</a:t>
            </a:r>
          </a:p>
          <a:p>
            <a:pPr lvl="1"/>
            <a:r>
              <a:rPr lang="en-US" dirty="0"/>
              <a:t>Locate the traffic signal word (e.g., Although, Because, However) that defines the logical relationship between the clauses (Contrast vs. Continuation).</a:t>
            </a:r>
          </a:p>
          <a:p>
            <a:r>
              <a:rPr lang="en-IN" b="1" dirty="0"/>
              <a:t>Determine the 'Charge’</a:t>
            </a:r>
            <a:endParaRPr lang="en-US" b="1" dirty="0"/>
          </a:p>
          <a:p>
            <a:pPr lvl="1"/>
            <a:r>
              <a:rPr lang="en-US" dirty="0"/>
              <a:t>Predict whether the missing word needs to be Positive (+), Negative (-), or Neutral (0) based on the context clues surrounding the blank.</a:t>
            </a:r>
          </a:p>
          <a:p>
            <a:r>
              <a:rPr lang="en-US" b="1" dirty="0"/>
              <a:t>Filter &amp; Eliminate</a:t>
            </a:r>
          </a:p>
          <a:p>
            <a:pPr lvl="1"/>
            <a:r>
              <a:rPr lang="en-US" dirty="0"/>
              <a:t>Cross-examine the answer choices against your predicted charge. Eliminate options that have the wrong tone or break the sentence's logical direction before making your final selection.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97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078F0-E5B3-4507-4CFE-DC5E0E8F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AB821-1624-760A-665E-9DDA11E0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Examiner Traps to Avoid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56509-0CF2-149B-937B-7CCF69F04C0E}"/>
              </a:ext>
            </a:extLst>
          </p:cNvPr>
          <p:cNvSpPr txBox="1"/>
          <p:nvPr/>
        </p:nvSpPr>
        <p:spPr>
          <a:xfrm>
            <a:off x="6186117" y="752379"/>
            <a:ext cx="5931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C6582B-C079-8220-B7DD-0F34F75F7233}"/>
              </a:ext>
            </a:extLst>
          </p:cNvPr>
          <p:cNvSpPr txBox="1">
            <a:spLocks/>
          </p:cNvSpPr>
          <p:nvPr/>
        </p:nvSpPr>
        <p:spPr>
          <a:xfrm>
            <a:off x="0" y="848209"/>
            <a:ext cx="11965354" cy="575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The "Sounds Good" Trap:</a:t>
            </a:r>
            <a:r>
              <a:rPr lang="en-US" dirty="0"/>
              <a:t> Picking a fancy word that breaks the logic.</a:t>
            </a:r>
          </a:p>
          <a:p>
            <a:r>
              <a:rPr lang="en-US" b="1" dirty="0"/>
              <a:t>Partial Match: </a:t>
            </a:r>
            <a:r>
              <a:rPr lang="en-US" dirty="0"/>
              <a:t>First word fits, second word fails (Double Blanks).</a:t>
            </a:r>
          </a:p>
          <a:p>
            <a:r>
              <a:rPr lang="en-US" b="1" dirty="0"/>
              <a:t>The Obscure Mirage:</a:t>
            </a:r>
            <a:r>
              <a:rPr lang="en-US" dirty="0"/>
              <a:t> Choosing a word just because you don't know it.</a:t>
            </a:r>
          </a:p>
          <a:p>
            <a:pPr marL="457200" lvl="1" indent="0">
              <a:buNone/>
            </a:pPr>
            <a:endParaRPr lang="en-US" dirty="0"/>
          </a:p>
          <a:p>
            <a:endParaRPr lang="en-GB" sz="600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59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p8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/>
              <a:buNone/>
            </a:pPr>
            <a:r>
              <a:rPr lang="en-US" i="1" dirty="0"/>
              <a:t>Thank You</a:t>
            </a:r>
            <a:endParaRPr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23133</TotalTime>
  <Words>3162</Words>
  <Application>Microsoft Office PowerPoint</Application>
  <PresentationFormat>Widescreen</PresentationFormat>
  <Paragraphs>367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Roboto Condensed Light</vt:lpstr>
      <vt:lpstr>Calibri</vt:lpstr>
      <vt:lpstr>Wingdings 3</vt:lpstr>
      <vt:lpstr>Roboto</vt:lpstr>
      <vt:lpstr>Wingdings</vt:lpstr>
      <vt:lpstr>Arial</vt:lpstr>
      <vt:lpstr>Roboto Condensed</vt:lpstr>
      <vt:lpstr>1_Office Theme</vt:lpstr>
      <vt:lpstr> Essential Grammar  Sentence Completion &amp; Vocabulary Basics </vt:lpstr>
      <vt:lpstr>PowerPoint Presentation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Noun-Pronoun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Subject-Verb Agreement</vt:lpstr>
      <vt:lpstr>Tips to solve Sentence Completion</vt:lpstr>
      <vt:lpstr>Tips to solve Sentence Completion</vt:lpstr>
      <vt:lpstr>Core Sentence Types</vt:lpstr>
      <vt:lpstr>The Secret Weapon: Signposts</vt:lpstr>
      <vt:lpstr>The Directional Categories</vt:lpstr>
      <vt:lpstr>The Fail-Proof 3-Step Method</vt:lpstr>
      <vt:lpstr>Examiner Traps to Avoid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Chauhan</dc:creator>
  <cp:lastModifiedBy>prashant chauhan</cp:lastModifiedBy>
  <cp:revision>2266</cp:revision>
  <dcterms:created xsi:type="dcterms:W3CDTF">2020-06-11T07:03:50Z</dcterms:created>
  <dcterms:modified xsi:type="dcterms:W3CDTF">2026-08-07T03:50:40Z</dcterms:modified>
</cp:coreProperties>
</file>