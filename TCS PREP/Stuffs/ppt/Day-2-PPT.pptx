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51"/>
  </p:notesMasterIdLst>
  <p:handoutMasterIdLst>
    <p:handoutMasterId r:id="rId52"/>
  </p:handoutMasterIdLst>
  <p:sldIdLst>
    <p:sldId id="257" r:id="rId2"/>
    <p:sldId id="569" r:id="rId3"/>
    <p:sldId id="258" r:id="rId4"/>
    <p:sldId id="260" r:id="rId5"/>
    <p:sldId id="264" r:id="rId6"/>
    <p:sldId id="265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7" r:id="rId15"/>
    <p:sldId id="278" r:id="rId16"/>
    <p:sldId id="279" r:id="rId17"/>
    <p:sldId id="280" r:id="rId18"/>
    <p:sldId id="283" r:id="rId19"/>
    <p:sldId id="284" r:id="rId20"/>
    <p:sldId id="285" r:id="rId21"/>
    <p:sldId id="286" r:id="rId22"/>
    <p:sldId id="288" r:id="rId23"/>
    <p:sldId id="289" r:id="rId24"/>
    <p:sldId id="290" r:id="rId25"/>
    <p:sldId id="291" r:id="rId26"/>
    <p:sldId id="293" r:id="rId27"/>
    <p:sldId id="294" r:id="rId28"/>
    <p:sldId id="295" r:id="rId29"/>
    <p:sldId id="297" r:id="rId30"/>
    <p:sldId id="298" r:id="rId31"/>
    <p:sldId id="299" r:id="rId32"/>
    <p:sldId id="301" r:id="rId33"/>
    <p:sldId id="346" r:id="rId34"/>
    <p:sldId id="347" r:id="rId35"/>
    <p:sldId id="349" r:id="rId36"/>
    <p:sldId id="302" r:id="rId37"/>
    <p:sldId id="303" r:id="rId38"/>
    <p:sldId id="305" r:id="rId39"/>
    <p:sldId id="306" r:id="rId40"/>
    <p:sldId id="307" r:id="rId41"/>
    <p:sldId id="308" r:id="rId42"/>
    <p:sldId id="310" r:id="rId43"/>
    <p:sldId id="311" r:id="rId44"/>
    <p:sldId id="312" r:id="rId45"/>
    <p:sldId id="314" r:id="rId46"/>
    <p:sldId id="339" r:id="rId47"/>
    <p:sldId id="343" r:id="rId48"/>
    <p:sldId id="345" r:id="rId49"/>
    <p:sldId id="337" r:id="rId50"/>
  </p:sldIdLst>
  <p:sldSz cx="12192000" cy="6858000"/>
  <p:notesSz cx="6858000" cy="9144000"/>
  <p:embeddedFontLst>
    <p:embeddedFont>
      <p:font typeface="Agency FB" panose="020B0503020202020204" pitchFamily="34" charset="0"/>
      <p:regular r:id="rId53"/>
      <p:bold r:id="rId54"/>
    </p:embeddedFon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Noto Sans Symbols" panose="020B0604020202020204" charset="0"/>
      <p:regular r:id="rId59"/>
      <p:bold r:id="rId60"/>
    </p:embeddedFont>
    <p:embeddedFont>
      <p:font typeface="Roboto Condensed" panose="02000000000000000000" pitchFamily="2" charset="0"/>
      <p:regular r:id="rId61"/>
      <p:bold r:id="rId62"/>
      <p:italic r:id="rId63"/>
      <p:boldItalic r:id="rId64"/>
    </p:embeddedFont>
    <p:embeddedFont>
      <p:font typeface="Roboto Condensed Light" panose="02000000000000000000" pitchFamily="2" charset="0"/>
      <p:regular r:id="rId65"/>
      <p:italic r:id="rId66"/>
    </p:embeddedFont>
    <p:embeddedFont>
      <p:font typeface="Teko" panose="020B0604020202020204" charset="0"/>
      <p:regular r:id="rId67"/>
      <p:bold r:id="rId68"/>
    </p:embeddedFont>
    <p:embeddedFont>
      <p:font typeface="Wingdings 3" panose="05040102010807070707" pitchFamily="18" charset="2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5KjAfLRQV8oNbdDb1dxU0g==" hashData="iejCdqgDX3ouPpYEwLtbEG9MEbZpapgqT8nZF27nOBqAYUo+ySH6h2xC8COHOyGhpK9655NfXtKVx1wFQPQJlA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2060"/>
    <a:srgbClr val="2981C0"/>
    <a:srgbClr val="C00000"/>
    <a:srgbClr val="0C77C3"/>
    <a:srgbClr val="A0C061"/>
    <a:srgbClr val="3572EB"/>
    <a:srgbClr val="B9B9B9"/>
    <a:srgbClr val="95DDE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3883" autoAdjust="0"/>
  </p:normalViewPr>
  <p:slideViewPr>
    <p:cSldViewPr snapToGrid="0">
      <p:cViewPr varScale="1">
        <p:scale>
          <a:sx n="79" d="100"/>
          <a:sy n="79" d="100"/>
        </p:scale>
        <p:origin x="859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reference : https://www.vectorstock.com/royalty-free-vector/blue-round-english-subject-concept-vector-18370284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41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Gif Reference: https://tenor.com/view/tkthpsharma-gif-23317246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022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224" name="Google Shape;2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455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Gif Reference: https://tenor.com/view/tkthpsharma-gif-23317246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" name="Google Shape;32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0502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27" name="Google Shape;32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362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23" name="Google Shape;42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3528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" name="Google Shape;47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471" name="Google Shape;47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1319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492" name="Google Shape;49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8623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48" name="Google Shape;54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455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05" name="Google Shape;60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362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5" name="Google Shape;62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28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32" name="Google Shape;63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0563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1" name="Google Shape;68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82" name="Google Shape;68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229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2" name="Google Shape;7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733" name="Google Shape;73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652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392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61" name="Google Shape;76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883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0" name="Google Shape;84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41" name="Google Shape;84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541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93" name="Google Shape;893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639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5" name="Google Shape;91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6759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1" name="Google Shape;92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922" name="Google Shape;92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859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3" name="Google Shape;97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4" name="Google Shape;97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2491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6" name="Google Shape;102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27" name="Google Shape;102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1005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0" name="Google Shape;105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65882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6" name="Google Shape;105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57" name="Google Shape;1057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27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2" name="Google Shape;112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23" name="Google Shape;1123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97508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0" name="Google Shape;114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0899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6" name="Google Shape;114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7" name="Google Shape;1147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2325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3" name="Google Shape;121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14" name="Google Shape;1214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823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80155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8" name="Google Shape;123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39" name="Google Shape;1239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35537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0" name="Google Shape;1310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11" name="Google Shape;1311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0679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20228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1" name="Google Shape;92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22" name="Google Shape;92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4284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6" name="Google Shape;102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27" name="Google Shape;102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39926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0" name="Google Shape;133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6283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6" name="Google Shape;133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37" name="Google Shape;1337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70499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8" name="Google Shape;137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379" name="Google Shape;1379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07627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5" name="Google Shape;142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26" name="Google Shape;142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6842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3" name="Google Shape;144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86494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9" name="Google Shape;1449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50" name="Google Shape;1450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4642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9" name="Google Shape;1519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20" name="Google Shape;1520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0273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8" name="Google Shape;153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9337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4" name="Google Shape;1544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45" name="Google Shape;1545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00854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6" name="Google Shape;1616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17" name="Google Shape;1617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5470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8" name="Google Shape;153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Gif Reference: https://tenor.com/view/tkthpsharma-gif-23317246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20440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1" name="Google Shape;92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22" name="Google Shape;92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51659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6" name="Google Shape;102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27" name="Google Shape;1027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57703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0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091A0F9-E982-4628-917B-83D717083CB1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90113755-4A44-4BF4-9A82-F785C780BD67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C7091E0F-6173-4627-B4E1-6952601FE94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  <p:sp>
        <p:nvSpPr>
          <p:cNvPr id="23" name="Date Placeholder 1">
            <a:extLst>
              <a:ext uri="{FF2B5EF4-FFF2-40B4-BE49-F238E27FC236}">
                <a16:creationId xmlns:a16="http://schemas.microsoft.com/office/drawing/2014/main" id="{B706BF50-E58A-4998-983B-C83D684E371D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3148561-3C85-4C47-88FF-33BA4D474A3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10042366-122B-48E3-B814-5544185E357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D179574B-6059-4727-9F82-B6F33C279C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33B767C-6A40-4ECB-8DAD-034008765E5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DF581D5A-8666-4AD2-8FBA-1A8EC69C27C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9691D16C-D507-4213-B49D-EB814F436A1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62BA2FDC-6D52-4506-92B4-F9D595D5D2A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46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1" name="Footer Placeholder 2">
            <a:extLst>
              <a:ext uri="{FF2B5EF4-FFF2-40B4-BE49-F238E27FC236}">
                <a16:creationId xmlns:a16="http://schemas.microsoft.com/office/drawing/2014/main" id="{54957E19-D936-457A-814C-81C7D1E4EE7E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53C7F36E-C69B-4E47-90D4-81E46BA53331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1CA7CCF-6554-46CA-99A5-BB5DBF88BE0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302867" y="6613198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4062" y="660343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Nitin Chauhan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2104357-BD4D-4298-8DE3-3349F91BF7C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1_Title and Content - Logo on B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6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6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" name="Google Shape;47;p86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Teko"/>
                <a:ea typeface="Teko"/>
                <a:cs typeface="Teko"/>
                <a:sym typeface="Teko"/>
              </a:rPr>
              <a:t>Prof. Jay R Dhamsaniya</a:t>
            </a:r>
            <a:endParaRPr sz="1200">
              <a:solidFill>
                <a:srgbClr val="363636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48" name="Google Shape;48;p86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Teko"/>
                <a:ea typeface="Teko"/>
                <a:cs typeface="Teko"/>
                <a:sym typeface="Teko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Teko"/>
                <a:ea typeface="Teko"/>
                <a:cs typeface="Teko"/>
                <a:sym typeface="Teko"/>
              </a:rPr>
              <a:t>   Unit 1 – Basic Probability</a:t>
            </a:r>
            <a:endParaRPr/>
          </a:p>
        </p:txBody>
      </p:sp>
      <p:sp>
        <p:nvSpPr>
          <p:cNvPr id="49" name="Google Shape;49;p86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0" name="Google Shape;50;p86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8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" name="Google Shape;53;p86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" name="Google Shape;54;p86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5" name="Google Shape;55;p86"/>
          <p:cNvSpPr txBox="1"/>
          <p:nvPr/>
        </p:nvSpPr>
        <p:spPr>
          <a:xfrm>
            <a:off x="8601547" y="6617319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6" name="Google Shape;56;p86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8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8" name="Google Shape;58;p86"/>
          <p:cNvGrpSpPr/>
          <p:nvPr/>
        </p:nvGrpSpPr>
        <p:grpSpPr>
          <a:xfrm>
            <a:off x="10386566" y="5852733"/>
            <a:ext cx="1649043" cy="501287"/>
            <a:chOff x="10721798" y="852808"/>
            <a:chExt cx="1339023" cy="407045"/>
          </a:xfrm>
        </p:grpSpPr>
        <p:pic>
          <p:nvPicPr>
            <p:cNvPr id="59" name="Google Shape;59;p8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86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cxnSp>
        <p:nvCxnSpPr>
          <p:cNvPr id="61" name="Google Shape;61;p86"/>
          <p:cNvCxnSpPr/>
          <p:nvPr/>
        </p:nvCxnSpPr>
        <p:spPr>
          <a:xfrm>
            <a:off x="9053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86"/>
          <p:cNvSpPr txBox="1"/>
          <p:nvPr/>
        </p:nvSpPr>
        <p:spPr>
          <a:xfrm>
            <a:off x="156927" y="6610097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Dr. Nitin Chauhan</a:t>
            </a:r>
            <a:endParaRPr sz="1200" dirty="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1F0C6DEE-08D7-4808-BA42-5072B0C4FAB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76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2 – Tenses and Linking Words</a:t>
            </a:r>
          </a:p>
        </p:txBody>
      </p:sp>
    </p:spTree>
    <p:extLst>
      <p:ext uri="{BB962C8B-B14F-4D97-AF65-F5344CB8AC3E}">
        <p14:creationId xmlns:p14="http://schemas.microsoft.com/office/powerpoint/2010/main" val="2149102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Agency FB" panose="020B0503020202020204" pitchFamily="34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Agency FB" panose="020B0503020202020204" pitchFamily="34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Humanities and Science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394651-6B93-E441-B6C2-855C25240D2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244" y="1679510"/>
            <a:ext cx="3704253" cy="354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9" r:id="rId15"/>
    <p:sldLayoutId id="214748373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699" y="1495555"/>
            <a:ext cx="7035300" cy="2578780"/>
          </a:xfrm>
        </p:spPr>
        <p:txBody>
          <a:bodyPr/>
          <a:lstStyle/>
          <a:p>
            <a:br>
              <a:rPr lang="en-US" b="0" dirty="0">
                <a:latin typeface="+mn-lt"/>
                <a:ea typeface="Roboto Condensed Light" panose="02000000000000000000" pitchFamily="2" charset="0"/>
              </a:rPr>
            </a:b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Tenses</a:t>
            </a:r>
            <a:br>
              <a:rPr lang="en-US" dirty="0">
                <a:latin typeface="+mn-lt"/>
              </a:rPr>
            </a:br>
            <a:br>
              <a:rPr lang="en-US" b="0" dirty="0">
                <a:latin typeface="+mn-lt"/>
                <a:ea typeface="Roboto Condensed Light" panose="02000000000000000000" pitchFamily="2" charset="0"/>
              </a:rPr>
            </a:br>
            <a:endParaRPr lang="en-US" sz="1800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latin typeface="+mn-lt"/>
              </a:rPr>
              <a:t>nitin.chauhan@darshan.ac.in</a:t>
            </a:r>
            <a:r>
              <a:rPr lang="en-US" dirty="0">
                <a:latin typeface="+mn-lt"/>
              </a:rPr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9016705547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Nitin H. Chauhan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2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29572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340029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Topics </a:t>
            </a:r>
          </a:p>
          <a:p>
            <a:pPr marL="461963" lvl="1" indent="227013">
              <a:buFont typeface="Arial" panose="020B0604020202020204" pitchFamily="34" charset="0"/>
              <a:buChar char="•"/>
            </a:pPr>
            <a:r>
              <a:rPr lang="en-US" sz="2000" dirty="0"/>
              <a:t>Types of Tense</a:t>
            </a:r>
            <a:endParaRPr lang="en-IN" sz="20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Present Tense</a:t>
            </a:r>
            <a:endParaRPr lang="en-IN" sz="20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Past Tense</a:t>
            </a:r>
            <a:endParaRPr lang="en-IN" sz="20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Future Tense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Forms of Tense</a:t>
            </a:r>
            <a:endParaRPr lang="en-IN" sz="20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Simple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Continuous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Perfect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sz="2000" dirty="0"/>
              <a:t>Perfect Continuous </a:t>
            </a:r>
          </a:p>
          <a:p>
            <a:pPr marL="714375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41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spcBef>
                <a:spcPts val="0"/>
              </a:spcBef>
              <a:buClr>
                <a:srgbClr val="1D3064"/>
              </a:buClr>
              <a:buSzPts val="6000"/>
            </a:pPr>
            <a:r>
              <a:rPr lang="en-US" dirty="0"/>
              <a:t>Types and Forms of Tenses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Types and Forms of Tense</a:t>
            </a:r>
            <a:endParaRPr dirty="0"/>
          </a:p>
        </p:txBody>
      </p:sp>
      <p:sp>
        <p:nvSpPr>
          <p:cNvPr id="227" name="Google Shape;227;p5"/>
          <p:cNvSpPr txBox="1">
            <a:spLocks noGrp="1"/>
          </p:cNvSpPr>
          <p:nvPr>
            <p:ph type="body" idx="1"/>
          </p:nvPr>
        </p:nvSpPr>
        <p:spPr>
          <a:xfrm>
            <a:off x="131180" y="863445"/>
            <a:ext cx="11929641" cy="5590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249" name="Google Shape;249;p5"/>
          <p:cNvSpPr/>
          <p:nvPr/>
        </p:nvSpPr>
        <p:spPr>
          <a:xfrm>
            <a:off x="6561374" y="965415"/>
            <a:ext cx="5003312" cy="832104"/>
          </a:xfrm>
          <a:prstGeom prst="wedgeRoundRectCallout">
            <a:avLst>
              <a:gd name="adj1" fmla="val 61456"/>
              <a:gd name="adj2" fmla="val 19672"/>
              <a:gd name="adj3" fmla="val 16667"/>
            </a:avLst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:- Action has already completed. </a:t>
            </a:r>
            <a:endParaRPr dirty="0"/>
          </a:p>
        </p:txBody>
      </p:sp>
      <p:sp>
        <p:nvSpPr>
          <p:cNvPr id="250" name="Google Shape;250;p5"/>
          <p:cNvSpPr/>
          <p:nvPr/>
        </p:nvSpPr>
        <p:spPr>
          <a:xfrm>
            <a:off x="443913" y="1009413"/>
            <a:ext cx="5003312" cy="829340"/>
          </a:xfrm>
          <a:prstGeom prst="wedgeRoundRectCallout">
            <a:avLst>
              <a:gd name="adj1" fmla="val 61092"/>
              <a:gd name="adj2" fmla="val 25042"/>
              <a:gd name="adj3" fmla="val 16667"/>
            </a:avLst>
          </a:prstGeom>
          <a:gradFill>
            <a:gsLst>
              <a:gs pos="0">
                <a:srgbClr val="9AE1F3"/>
              </a:gs>
              <a:gs pos="50000">
                <a:srgbClr val="8DD7E9"/>
              </a:gs>
              <a:gs pos="100000">
                <a:srgbClr val="78D6EB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082675" marR="0" lvl="0" indent="-10826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 :- Action is happening now or                happens regularly. </a:t>
            </a:r>
            <a:endParaRPr sz="20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360973" y="1984721"/>
            <a:ext cx="5003312" cy="839972"/>
          </a:xfrm>
          <a:prstGeom prst="wedgeRoundRectCallout">
            <a:avLst>
              <a:gd name="adj1" fmla="val 61345"/>
              <a:gd name="adj2" fmla="val 11621"/>
              <a:gd name="adj3" fmla="val 16667"/>
            </a:avLst>
          </a:prstGeom>
          <a:gradFill>
            <a:gsLst>
              <a:gs pos="0">
                <a:srgbClr val="D8A6A4"/>
              </a:gs>
              <a:gs pos="50000">
                <a:srgbClr val="D29896"/>
              </a:gs>
              <a:gs pos="100000">
                <a:srgbClr val="CF8583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:- Action will happen, not yet occurred.</a:t>
            </a:r>
            <a:endParaRPr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131181" y="2970661"/>
            <a:ext cx="12060820" cy="3397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Each of these three tenses can be </a:t>
            </a:r>
            <a:r>
              <a:rPr lang="en-GB" b="1"/>
              <a:t>sub categorized </a:t>
            </a:r>
            <a:r>
              <a:rPr lang="en-GB"/>
              <a:t>into </a:t>
            </a:r>
            <a:r>
              <a:rPr lang="en-GB" b="1"/>
              <a:t>four forms</a:t>
            </a:r>
            <a:r>
              <a:rPr lang="en-GB"/>
              <a:t>. </a:t>
            </a:r>
            <a:endParaRPr lang="en-US"/>
          </a:p>
          <a:p>
            <a:pPr>
              <a:buClr>
                <a:srgbClr val="C00000"/>
              </a:buClr>
            </a:pPr>
            <a:r>
              <a:rPr lang="en-US" b="1"/>
              <a:t>Forms</a:t>
            </a:r>
            <a:endParaRPr lang="en-US"/>
          </a:p>
          <a:p>
            <a:pPr marL="887412" lvl="1" indent="-342900">
              <a:buClr>
                <a:srgbClr val="C00000"/>
              </a:buClr>
            </a:pPr>
            <a:r>
              <a:rPr lang="en-US" b="1"/>
              <a:t>Simple 						</a:t>
            </a:r>
          </a:p>
          <a:p>
            <a:pPr marL="887412" lvl="1" indent="-342900">
              <a:buClr>
                <a:srgbClr val="C00000"/>
              </a:buClr>
            </a:pPr>
            <a:r>
              <a:rPr lang="en-US" b="1"/>
              <a:t>Continuous </a:t>
            </a:r>
          </a:p>
          <a:p>
            <a:pPr marL="887412" lvl="1" indent="-342900">
              <a:buClr>
                <a:srgbClr val="C00000"/>
              </a:buClr>
            </a:pPr>
            <a:r>
              <a:rPr lang="en-US" b="1"/>
              <a:t>Perfect</a:t>
            </a:r>
          </a:p>
          <a:p>
            <a:pPr marL="887412" lvl="1" indent="-342900">
              <a:buClr>
                <a:srgbClr val="C00000"/>
              </a:buClr>
            </a:pPr>
            <a:r>
              <a:rPr lang="en-US" b="1"/>
              <a:t>Perfect Continuous </a:t>
            </a:r>
            <a:endParaRPr lang="en-US"/>
          </a:p>
          <a:p>
            <a:endParaRPr lang="en-US" sz="280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/>
          </a:p>
          <a:p>
            <a:endParaRPr lang="en-US" sz="280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dirty="0"/>
              <a:t>Simple Present Tense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Simple Present Tense</a:t>
            </a:r>
            <a:endParaRPr dirty="0"/>
          </a:p>
        </p:txBody>
      </p:sp>
      <p:sp>
        <p:nvSpPr>
          <p:cNvPr id="344" name="Google Shape;344;p10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simple present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express routine, habitual/repeated actions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To express general truth</a:t>
            </a:r>
            <a:endParaRPr lang="en-US" dirty="0">
              <a:ea typeface="Roboto Condensed"/>
              <a:cs typeface="Roboto Condensed"/>
              <a:sym typeface="Roboto Condensed"/>
            </a:endParaRP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To express a future event that is part of a fixed time table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To narrate story, as substitute for the simple past</a:t>
            </a:r>
            <a:endParaRPr sz="20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 algn="just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77887" lvl="2" indent="0" algn="just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b="1" dirty="0"/>
              <a:t>Sentence pattern for simple present tense:</a:t>
            </a:r>
            <a:endParaRPr dirty="0"/>
          </a:p>
          <a:p>
            <a:pPr marL="265113" lvl="0" indent="-2587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"/>
              <a:buNone/>
            </a:pPr>
            <a:endParaRPr sz="1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 Affirmative Sentence</a:t>
            </a: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28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sz="28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  <a:endParaRPr lang="en-US" dirty="0"/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28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sz="28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77887" lvl="2" indent="0" algn="just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i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426" name="Google Shape;426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Simple Present Tense</a:t>
            </a:r>
            <a:endParaRPr dirty="0"/>
          </a:p>
        </p:txBody>
      </p:sp>
      <p:sp>
        <p:nvSpPr>
          <p:cNvPr id="441" name="Google Shape;441;p14"/>
          <p:cNvSpPr/>
          <p:nvPr/>
        </p:nvSpPr>
        <p:spPr>
          <a:xfrm>
            <a:off x="446447" y="1884409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2020851" y="1883715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Verb/-s/es/</a:t>
            </a:r>
            <a:r>
              <a:rPr lang="en-US" sz="2400" b="1" dirty="0" err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1417367" y="181013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3468764" y="183140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4083672" y="188573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5052331" y="180152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5658076" y="188573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46447" y="338662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2020851" y="3375988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Do/Does not</a:t>
            </a:r>
            <a:endParaRPr/>
          </a:p>
        </p:txBody>
      </p:sp>
      <p:sp>
        <p:nvSpPr>
          <p:cNvPr id="450" name="Google Shape;450;p14"/>
          <p:cNvSpPr txBox="1"/>
          <p:nvPr/>
        </p:nvSpPr>
        <p:spPr>
          <a:xfrm>
            <a:off x="1417367" y="330241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3468764" y="332367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4083672" y="337800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453" name="Google Shape;453;p14"/>
          <p:cNvSpPr txBox="1"/>
          <p:nvPr/>
        </p:nvSpPr>
        <p:spPr>
          <a:xfrm>
            <a:off x="5052331" y="329379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658076" y="337800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55" name="Google Shape;455;p14"/>
          <p:cNvSpPr txBox="1"/>
          <p:nvPr/>
        </p:nvSpPr>
        <p:spPr>
          <a:xfrm>
            <a:off x="6660236" y="328022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7265981" y="336443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2511960" y="487810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446447" y="4878399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 + Do/Does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9" name="Google Shape;459;p14"/>
          <p:cNvSpPr txBox="1"/>
          <p:nvPr/>
        </p:nvSpPr>
        <p:spPr>
          <a:xfrm>
            <a:off x="1920782" y="483534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0" name="Google Shape;460;p14"/>
          <p:cNvSpPr txBox="1"/>
          <p:nvPr/>
        </p:nvSpPr>
        <p:spPr>
          <a:xfrm>
            <a:off x="3468764" y="482633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4083672" y="488066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462" name="Google Shape;462;p14"/>
          <p:cNvSpPr txBox="1"/>
          <p:nvPr/>
        </p:nvSpPr>
        <p:spPr>
          <a:xfrm>
            <a:off x="5052331" y="479645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658076" y="488066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64" name="Google Shape;464;p14"/>
          <p:cNvSpPr txBox="1"/>
          <p:nvPr/>
        </p:nvSpPr>
        <p:spPr>
          <a:xfrm>
            <a:off x="6660236" y="478288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7265981" y="486709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466" name="Google Shape;466;p14"/>
          <p:cNvSpPr txBox="1"/>
          <p:nvPr/>
        </p:nvSpPr>
        <p:spPr>
          <a:xfrm>
            <a:off x="8268141" y="479645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8875244" y="4878107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Present Tense</a:t>
            </a:r>
            <a:endParaRPr/>
          </a:p>
        </p:txBody>
      </p:sp>
      <p:sp>
        <p:nvSpPr>
          <p:cNvPr id="488" name="Google Shape;488;p15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b="1" dirty="0">
              <a:solidFill>
                <a:srgbClr val="301B92"/>
              </a:solidFill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His brother </a:t>
            </a:r>
            <a:r>
              <a:rPr lang="en-US" sz="2300" b="1" dirty="0"/>
              <a:t>wants</a:t>
            </a:r>
            <a:r>
              <a:rPr lang="en-US" sz="2300" dirty="0"/>
              <a:t> to become a doctor.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The train </a:t>
            </a:r>
            <a:r>
              <a:rPr lang="en-US" sz="2300" b="1" dirty="0"/>
              <a:t>leaves</a:t>
            </a:r>
            <a:r>
              <a:rPr lang="en-US" sz="2300" dirty="0"/>
              <a:t> every morning at 10:00 A.M.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I </a:t>
            </a:r>
            <a:r>
              <a:rPr lang="en-US" sz="2300" b="1" dirty="0"/>
              <a:t>do not </a:t>
            </a:r>
            <a:r>
              <a:rPr lang="en-US" sz="2300" dirty="0"/>
              <a:t>usually wake up at 8 o’clock.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Vegetarians </a:t>
            </a:r>
            <a:r>
              <a:rPr lang="en-US" sz="2300" b="1" dirty="0"/>
              <a:t>do not </a:t>
            </a:r>
            <a:r>
              <a:rPr lang="en-US" sz="2300" dirty="0"/>
              <a:t>eat meat.</a:t>
            </a:r>
            <a:endParaRPr dirty="0"/>
          </a:p>
          <a:p>
            <a:pPr marL="315913" lvl="0" indent="-315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 </a:t>
            </a:r>
            <a:r>
              <a:rPr lang="en-US" sz="2300" b="1" dirty="0"/>
              <a:t>Do</a:t>
            </a:r>
            <a:r>
              <a:rPr lang="en-US" sz="2300" dirty="0"/>
              <a:t> they work in bakery</a:t>
            </a:r>
            <a:r>
              <a:rPr lang="en-US" sz="2300" b="1" dirty="0"/>
              <a:t>?</a:t>
            </a:r>
            <a:endParaRPr dirty="0"/>
          </a:p>
          <a:p>
            <a:pPr marL="315913" lvl="0" indent="-315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 </a:t>
            </a:r>
            <a:r>
              <a:rPr lang="en-US" sz="2300" b="1" dirty="0"/>
              <a:t>Where</a:t>
            </a:r>
            <a:r>
              <a:rPr lang="en-US" sz="2300" dirty="0"/>
              <a:t> </a:t>
            </a:r>
            <a:r>
              <a:rPr lang="en-US" sz="2300" b="1" dirty="0"/>
              <a:t>does</a:t>
            </a:r>
            <a:r>
              <a:rPr lang="en-US" sz="2300" dirty="0"/>
              <a:t> she go for a walk daily</a:t>
            </a:r>
            <a:r>
              <a:rPr lang="en-US" sz="2300" b="1" dirty="0"/>
              <a:t>?</a:t>
            </a:r>
            <a:endParaRPr dirty="0"/>
          </a:p>
          <a:p>
            <a:pPr marL="809625" lvl="1" indent="-2000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Present Tense</a:t>
            </a:r>
            <a:endParaRPr/>
          </a:p>
        </p:txBody>
      </p:sp>
      <p:sp>
        <p:nvSpPr>
          <p:cNvPr id="509" name="Google Shape;509;p16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3093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We use</a:t>
            </a:r>
            <a:r>
              <a:rPr lang="en-US" b="1" u="sng" dirty="0"/>
              <a:t> often, always, never, sometimes, usually, every day,</a:t>
            </a:r>
            <a:r>
              <a:rPr lang="en-US" b="1" dirty="0"/>
              <a:t> </a:t>
            </a:r>
            <a:r>
              <a:rPr lang="en-US" dirty="0"/>
              <a:t>etc., to indicate the routine actions.</a:t>
            </a:r>
            <a:endParaRPr dirty="0"/>
          </a:p>
          <a:p>
            <a:pPr marL="265113" lvl="0" indent="-2016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oto Sans Symbols"/>
              <a:buNone/>
            </a:pPr>
            <a:endParaRPr sz="10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If the subject is </a:t>
            </a:r>
            <a:r>
              <a:rPr lang="en-US" b="1" dirty="0"/>
              <a:t>third-person singular, </a:t>
            </a:r>
            <a:r>
              <a:rPr lang="en-US" dirty="0"/>
              <a:t>then we need to add </a:t>
            </a:r>
            <a:r>
              <a:rPr lang="en-US" b="1" i="1" dirty="0">
                <a:solidFill>
                  <a:srgbClr val="FF0000"/>
                </a:solidFill>
              </a:rPr>
              <a:t>-s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to the base form of verb i.e., 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</a:pPr>
            <a:endParaRPr sz="4800" b="1"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If verb ends with </a:t>
            </a:r>
            <a:r>
              <a:rPr lang="en-US" b="1" dirty="0"/>
              <a:t>-o,</a:t>
            </a:r>
            <a:r>
              <a:rPr lang="en-US" dirty="0"/>
              <a:t> </a:t>
            </a:r>
            <a:r>
              <a:rPr lang="en-US" b="1" dirty="0"/>
              <a:t>-x,</a:t>
            </a:r>
            <a:r>
              <a:rPr lang="en-US" dirty="0"/>
              <a:t> </a:t>
            </a:r>
            <a:r>
              <a:rPr lang="en-US" b="1" dirty="0"/>
              <a:t>-</a:t>
            </a:r>
            <a:r>
              <a:rPr lang="en-US" b="1" dirty="0" err="1"/>
              <a:t>sh</a:t>
            </a:r>
            <a:r>
              <a:rPr lang="en-US" dirty="0"/>
              <a:t>, </a:t>
            </a:r>
            <a:r>
              <a:rPr lang="en-US" b="1" i="1" dirty="0"/>
              <a:t>-</a:t>
            </a:r>
            <a:r>
              <a:rPr lang="en-US" b="1" i="1" dirty="0" err="1"/>
              <a:t>ch</a:t>
            </a:r>
            <a:r>
              <a:rPr lang="en-US" i="1" dirty="0"/>
              <a:t>, </a:t>
            </a:r>
            <a:r>
              <a:rPr lang="en-US" b="1" i="1" dirty="0"/>
              <a:t>-s,</a:t>
            </a:r>
            <a:r>
              <a:rPr lang="en-US" i="1" dirty="0"/>
              <a:t> </a:t>
            </a:r>
            <a:r>
              <a:rPr lang="en-US" b="1" i="1" dirty="0"/>
              <a:t>-</a:t>
            </a:r>
            <a:r>
              <a:rPr lang="en-US" b="1" i="1" dirty="0" err="1"/>
              <a:t>ss</a:t>
            </a:r>
            <a:r>
              <a:rPr lang="en-US" b="1" i="1" dirty="0"/>
              <a:t>, -z </a:t>
            </a:r>
            <a:r>
              <a:rPr lang="en-US" i="1" dirty="0"/>
              <a:t>or </a:t>
            </a:r>
            <a:r>
              <a:rPr lang="en-US" b="1" i="1" dirty="0"/>
              <a:t>-</a:t>
            </a:r>
            <a:r>
              <a:rPr lang="en-US" b="1" i="1" dirty="0" err="1"/>
              <a:t>zz</a:t>
            </a:r>
            <a:r>
              <a:rPr lang="en-US" b="1" dirty="0"/>
              <a:t> </a:t>
            </a:r>
            <a:r>
              <a:rPr lang="en-US" dirty="0"/>
              <a:t>form the third-person singular by adding </a:t>
            </a:r>
            <a:r>
              <a:rPr lang="en-US" i="1" dirty="0"/>
              <a:t>–</a:t>
            </a:r>
            <a:r>
              <a:rPr lang="en-US" i="1" dirty="0" err="1"/>
              <a:t>es</a:t>
            </a:r>
            <a:r>
              <a:rPr lang="en-US" dirty="0"/>
              <a:t> i.e., 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510" name="Google Shape;510;p16"/>
          <p:cNvSpPr/>
          <p:nvPr/>
        </p:nvSpPr>
        <p:spPr>
          <a:xfrm>
            <a:off x="2396656" y="2583422"/>
            <a:ext cx="146304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Sing</a:t>
            </a:r>
            <a:r>
              <a:rPr lang="en-US" sz="28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8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4028661" y="2583422"/>
            <a:ext cx="146304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Give</a:t>
            </a:r>
            <a:r>
              <a:rPr lang="en-US" sz="28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8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5660666" y="2583422"/>
            <a:ext cx="1463040" cy="7315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</a:t>
            </a:r>
            <a:r>
              <a:rPr lang="en-US" sz="28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8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569740" y="4281428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446104" y="4284811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Fix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565533" y="4814581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Wash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929469" y="4373986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5806001" y="4393810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1925295" y="4943404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2838773" y="4281428"/>
            <a:ext cx="1234909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6719479" y="4281428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Fix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2838773" y="4819358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Wash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4446104" y="4823997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Teach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5806001" y="4932996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719479" y="4820614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Teach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565533" y="5357316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Focus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1925295" y="5486139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2838773" y="5362093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Focus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4446104" y="5366732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5806001" y="5475731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6719479" y="5363349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Pass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562449" y="5893955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Glitz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1922346" y="6002954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2835824" y="5890572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Glitz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2720674" y="3452988"/>
            <a:ext cx="36576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3078674" y="3445193"/>
            <a:ext cx="45720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3514026" y="3437376"/>
            <a:ext cx="54864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4100223" y="3434422"/>
            <a:ext cx="45720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4587702" y="3428034"/>
            <a:ext cx="36576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5034546" y="3434422"/>
            <a:ext cx="45720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4449417" y="5866402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Buzz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5809314" y="5975401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6722792" y="5863019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Buzz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5522428" y="3427874"/>
            <a:ext cx="36576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6187902" y="3437208"/>
            <a:ext cx="457200" cy="36576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000"/>
                            </p:stCondLst>
                            <p:childTnLst>
                              <p:par>
                                <p:cTn id="15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5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3000"/>
                            </p:stCondLst>
                            <p:childTnLst>
                              <p:par>
                                <p:cTn id="1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000"/>
                            </p:stCondLst>
                            <p:childTnLst>
                              <p:par>
                                <p:cTn id="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500"/>
                            </p:stCondLst>
                            <p:childTnLst>
                              <p:par>
                                <p:cTn id="1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Present Tense</a:t>
            </a:r>
            <a:endParaRPr/>
          </a:p>
        </p:txBody>
      </p:sp>
      <p:sp>
        <p:nvSpPr>
          <p:cNvPr id="565" name="Google Shape;565;p17"/>
          <p:cNvSpPr txBox="1">
            <a:spLocks noGrp="1"/>
          </p:cNvSpPr>
          <p:nvPr>
            <p:ph type="body" idx="1"/>
          </p:nvPr>
        </p:nvSpPr>
        <p:spPr>
          <a:xfrm>
            <a:off x="94408" y="817653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If verb ends with </a:t>
            </a:r>
            <a:r>
              <a:rPr lang="en-US" b="1" dirty="0">
                <a:solidFill>
                  <a:srgbClr val="C00000"/>
                </a:solidFill>
              </a:rPr>
              <a:t>a consonant + </a:t>
            </a:r>
            <a:r>
              <a:rPr lang="en-US" b="1" i="1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/>
              <a:t>such as </a:t>
            </a:r>
            <a:r>
              <a:rPr lang="en-US" b="1" i="1" dirty="0"/>
              <a:t>try</a:t>
            </a:r>
            <a:r>
              <a:rPr lang="en-US" dirty="0"/>
              <a:t>) form the verb of the third-person singular by changing the </a:t>
            </a:r>
            <a:r>
              <a:rPr lang="en-US" b="1" i="1" dirty="0">
                <a:solidFill>
                  <a:srgbClr val="301B92"/>
                </a:solidFill>
              </a:rPr>
              <a:t>y</a:t>
            </a:r>
            <a:r>
              <a:rPr lang="en-US" b="1" dirty="0">
                <a:solidFill>
                  <a:srgbClr val="301B92"/>
                </a:solidFill>
              </a:rPr>
              <a:t> to </a:t>
            </a:r>
            <a:r>
              <a:rPr lang="en-US" b="1" i="1" dirty="0" err="1">
                <a:solidFill>
                  <a:srgbClr val="301B92"/>
                </a:solidFill>
              </a:rPr>
              <a:t>i</a:t>
            </a:r>
            <a:r>
              <a:rPr lang="en-US" b="1" dirty="0">
                <a:solidFill>
                  <a:srgbClr val="301B92"/>
                </a:solidFill>
              </a:rPr>
              <a:t> </a:t>
            </a:r>
            <a:r>
              <a:rPr lang="en-US" dirty="0"/>
              <a:t>and adding </a:t>
            </a:r>
            <a:r>
              <a:rPr lang="en-US" b="1" i="1" dirty="0">
                <a:solidFill>
                  <a:srgbClr val="301B92"/>
                </a:solidFill>
              </a:rPr>
              <a:t>-</a:t>
            </a:r>
            <a:r>
              <a:rPr lang="en-US" b="1" i="1" dirty="0" err="1">
                <a:solidFill>
                  <a:srgbClr val="301B92"/>
                </a:solidFill>
              </a:rPr>
              <a:t>es</a:t>
            </a:r>
            <a:r>
              <a:rPr lang="en-US" b="1" dirty="0">
                <a:solidFill>
                  <a:srgbClr val="301B92"/>
                </a:solidFill>
              </a:rPr>
              <a:t>.</a:t>
            </a:r>
            <a:endParaRPr dirty="0"/>
          </a:p>
          <a:p>
            <a:pPr marL="265113" lvl="0" indent="-2016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oto Sans Symbols"/>
              <a:buNone/>
            </a:pPr>
            <a:endParaRPr sz="10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</a:pPr>
            <a:endParaRPr sz="4800" b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2270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Noto Sans Symbols"/>
              <a:buNone/>
            </a:pPr>
            <a:endParaRPr sz="600"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 3" panose="05040102010807070707" pitchFamily="18" charset="2"/>
              <a:buChar char="}"/>
            </a:pPr>
            <a:r>
              <a:rPr lang="en-US" b="1" dirty="0"/>
              <a:t>Exception: </a:t>
            </a:r>
            <a:r>
              <a:rPr lang="en-US" dirty="0"/>
              <a:t>if there is a </a:t>
            </a:r>
            <a:r>
              <a:rPr lang="en-US" b="1" dirty="0"/>
              <a:t>vowel </a:t>
            </a:r>
            <a:r>
              <a:rPr lang="en-US" dirty="0"/>
              <a:t>before the </a:t>
            </a:r>
            <a:r>
              <a:rPr lang="en-US" b="1" dirty="0"/>
              <a:t>–y </a:t>
            </a:r>
            <a:r>
              <a:rPr lang="en-US" dirty="0"/>
              <a:t>just put </a:t>
            </a:r>
            <a:r>
              <a:rPr lang="en-US" b="1" dirty="0"/>
              <a:t>‘</a:t>
            </a:r>
            <a:r>
              <a:rPr lang="en-US" b="1" dirty="0">
                <a:solidFill>
                  <a:srgbClr val="301B92"/>
                </a:solidFill>
              </a:rPr>
              <a:t>s’ </a:t>
            </a:r>
            <a:r>
              <a:rPr lang="en-US" dirty="0"/>
              <a:t>at the end of the verb</a:t>
            </a:r>
            <a:r>
              <a:rPr lang="en-US" b="1" dirty="0">
                <a:solidFill>
                  <a:srgbClr val="301B92"/>
                </a:solidFill>
              </a:rPr>
              <a:t>.</a:t>
            </a:r>
            <a:endParaRPr sz="2800" b="1" dirty="0">
              <a:solidFill>
                <a:srgbClr val="301B92"/>
              </a:solidFill>
            </a:endParaRPr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566" name="Google Shape;566;p17"/>
          <p:cNvSpPr/>
          <p:nvPr/>
        </p:nvSpPr>
        <p:spPr>
          <a:xfrm>
            <a:off x="988580" y="1707193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Hurry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4864944" y="1710576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984373" y="2240346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Fly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2348309" y="1799751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6224841" y="1819575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2344135" y="2369169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3257613" y="1707193"/>
            <a:ext cx="1234909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Hurr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7138319" y="1707193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3257613" y="2245123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4864944" y="2249762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Marry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6224841" y="2358761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7138319" y="2246379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Marr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984373" y="2783081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Cry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2344135" y="2911904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3257613" y="2787858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4864944" y="2792497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Reply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6224841" y="2901496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7138319" y="2789114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Repl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981289" y="3319720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2341186" y="3428719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3254664" y="3316337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4868257" y="3292167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Worry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6228154" y="3401166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7141632" y="3288784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Worr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ies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981289" y="4680862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Play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4857653" y="4684245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Pray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2341018" y="4773420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6217550" y="4793244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3250322" y="4680862"/>
            <a:ext cx="1234909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Play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7131028" y="4680862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Pray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981289" y="5249655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Buy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4857653" y="5253038"/>
            <a:ext cx="1234440" cy="4297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Enjoy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2341018" y="5342213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6217550" y="5362037"/>
            <a:ext cx="731520" cy="2117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8181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3250322" y="5249655"/>
            <a:ext cx="1234909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Buy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7131028" y="5249655"/>
            <a:ext cx="1234440" cy="4331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Enjoy</a:t>
            </a: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Present Tense</a:t>
            </a:r>
            <a:endParaRPr/>
          </a:p>
        </p:txBody>
      </p:sp>
      <p:sp>
        <p:nvSpPr>
          <p:cNvPr id="622" name="Google Shape;622;p18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We use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/>
              <a:t>and </a:t>
            </a:r>
            <a:r>
              <a:rPr lang="en-US" b="1" i="1" dirty="0">
                <a:solidFill>
                  <a:srgbClr val="C00000"/>
                </a:solidFill>
              </a:rPr>
              <a:t>does</a:t>
            </a:r>
            <a:r>
              <a:rPr lang="en-US" dirty="0"/>
              <a:t> to make </a:t>
            </a:r>
            <a:r>
              <a:rPr lang="en-US" b="1" dirty="0"/>
              <a:t>interrogative</a:t>
            </a:r>
            <a:r>
              <a:rPr lang="en-US" dirty="0"/>
              <a:t> and</a:t>
            </a:r>
            <a:r>
              <a:rPr lang="en-US" b="1" dirty="0"/>
              <a:t> negative </a:t>
            </a:r>
            <a:r>
              <a:rPr lang="en-US" dirty="0"/>
              <a:t>sentence in present simple tense. 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We use </a:t>
            </a:r>
            <a:r>
              <a:rPr lang="en-US" b="1" i="1" dirty="0">
                <a:solidFill>
                  <a:srgbClr val="C00000"/>
                </a:solidFill>
              </a:rPr>
              <a:t>does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for the third person singular </a:t>
            </a:r>
            <a:r>
              <a:rPr lang="en-US" dirty="0"/>
              <a:t>and </a:t>
            </a:r>
            <a:r>
              <a:rPr lang="en-US" b="1" i="1" dirty="0">
                <a:solidFill>
                  <a:srgbClr val="301B92"/>
                </a:solidFill>
              </a:rPr>
              <a:t>do</a:t>
            </a:r>
            <a:r>
              <a:rPr lang="en-US" b="1" dirty="0">
                <a:solidFill>
                  <a:srgbClr val="301B92"/>
                </a:solidFill>
              </a:rPr>
              <a:t> </a:t>
            </a:r>
            <a:r>
              <a:rPr lang="en-US" b="1" dirty="0"/>
              <a:t>for the others.</a:t>
            </a: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 dirty="0">
              <a:solidFill>
                <a:srgbClr val="301B92"/>
              </a:solidFill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He </a:t>
            </a:r>
            <a:r>
              <a:rPr lang="en-US" sz="2300" b="1" dirty="0"/>
              <a:t>does</a:t>
            </a:r>
            <a:r>
              <a:rPr lang="en-US" sz="2300" dirty="0"/>
              <a:t> not want ice cream. </a:t>
            </a:r>
            <a:endParaRPr sz="2300" dirty="0"/>
          </a:p>
          <a:p>
            <a:pPr marL="315913" lvl="0" indent="-315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 </a:t>
            </a:r>
            <a:r>
              <a:rPr lang="en-US" sz="2300" b="1" dirty="0"/>
              <a:t>Does </a:t>
            </a:r>
            <a:r>
              <a:rPr lang="en-US" sz="2300" dirty="0"/>
              <a:t>he want strawberry? </a:t>
            </a:r>
            <a:endParaRPr sz="2300" dirty="0"/>
          </a:p>
          <a:p>
            <a:pPr marL="315913" lvl="0" indent="-315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 </a:t>
            </a:r>
            <a:r>
              <a:rPr lang="en-US" sz="2300" b="1" dirty="0"/>
              <a:t>Do </a:t>
            </a:r>
            <a:r>
              <a:rPr lang="en-US" sz="2300" dirty="0"/>
              <a:t>they want American nuts? 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AutoNum type="arabicPeriod"/>
            </a:pPr>
            <a:r>
              <a:rPr lang="en-US" sz="2300" dirty="0"/>
              <a:t>They </a:t>
            </a:r>
            <a:r>
              <a:rPr lang="en-US" sz="2300" b="1" dirty="0"/>
              <a:t>do</a:t>
            </a:r>
            <a:r>
              <a:rPr lang="en-US" sz="2300" dirty="0"/>
              <a:t> not want vanilla.</a:t>
            </a:r>
            <a:endParaRPr sz="2300" b="1" dirty="0"/>
          </a:p>
          <a:p>
            <a:pPr marL="369888" lvl="0" indent="-22383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Roboto Condensed"/>
              <a:buNone/>
            </a:pPr>
            <a:endParaRPr sz="2300" b="1" dirty="0"/>
          </a:p>
          <a:p>
            <a:pPr marL="809625" lvl="1" indent="-2000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Continuous Present Tense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Present Tense</a:t>
            </a:r>
            <a:endParaRPr/>
          </a:p>
        </p:txBody>
      </p:sp>
      <p:sp>
        <p:nvSpPr>
          <p:cNvPr id="649" name="Google Shape;649;p20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continuous present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For an action going on at the time of speaking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For a temporary action which may not be actually happening at the time of speaking</a:t>
            </a:r>
            <a:endParaRPr dirty="0"/>
          </a:p>
          <a:p>
            <a:pPr marL="887412" lvl="1" indent="-2032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77887" lvl="2" indent="0" algn="just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2"/>
          <p:cNvSpPr txBox="1">
            <a:spLocks noGrp="1"/>
          </p:cNvSpPr>
          <p:nvPr>
            <p:ph type="body" idx="1"/>
          </p:nvPr>
        </p:nvSpPr>
        <p:spPr>
          <a:xfrm>
            <a:off x="19583" y="760546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b="1" dirty="0"/>
              <a:t>Sentence pattern for continuous present tense:</a:t>
            </a:r>
            <a:endParaRPr dirty="0"/>
          </a:p>
          <a:p>
            <a:pPr marL="265113" lvl="0" indent="-2587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"/>
              <a:buNone/>
            </a:pPr>
            <a:endParaRPr sz="1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NOTE: P.P. refers to Present Participle  (Verb + -</a:t>
            </a:r>
            <a:r>
              <a:rPr lang="en-US" dirty="0" err="1"/>
              <a:t>ing</a:t>
            </a:r>
            <a:r>
              <a:rPr lang="en-US" dirty="0"/>
              <a:t>)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i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685" name="Google Shape;685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Present Tense</a:t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446447" y="337668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2020851" y="3375988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Am/is/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not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8" name="Google Shape;688;p22"/>
          <p:cNvSpPr txBox="1"/>
          <p:nvPr/>
        </p:nvSpPr>
        <p:spPr>
          <a:xfrm>
            <a:off x="1417367" y="330241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9" name="Google Shape;689;p22"/>
          <p:cNvSpPr txBox="1"/>
          <p:nvPr/>
        </p:nvSpPr>
        <p:spPr>
          <a:xfrm>
            <a:off x="3468764" y="332367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4083672" y="337800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P.P.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1" name="Google Shape;691;p22"/>
          <p:cNvSpPr txBox="1"/>
          <p:nvPr/>
        </p:nvSpPr>
        <p:spPr>
          <a:xfrm>
            <a:off x="5052331" y="329379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5658076" y="337800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693" name="Google Shape;693;p22"/>
          <p:cNvSpPr txBox="1"/>
          <p:nvPr/>
        </p:nvSpPr>
        <p:spPr>
          <a:xfrm>
            <a:off x="6660236" y="328022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7265981" y="336443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 dirty="0"/>
          </a:p>
        </p:txBody>
      </p:sp>
      <p:sp>
        <p:nvSpPr>
          <p:cNvPr id="695" name="Google Shape;695;p22"/>
          <p:cNvSpPr/>
          <p:nvPr/>
        </p:nvSpPr>
        <p:spPr>
          <a:xfrm>
            <a:off x="2492998" y="502294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450661" y="5026755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Am/ is/Are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7" name="Google Shape;697;p22"/>
          <p:cNvSpPr txBox="1"/>
          <p:nvPr/>
        </p:nvSpPr>
        <p:spPr>
          <a:xfrm>
            <a:off x="1901820" y="498018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8" name="Google Shape;698;p22"/>
          <p:cNvSpPr txBox="1"/>
          <p:nvPr/>
        </p:nvSpPr>
        <p:spPr>
          <a:xfrm>
            <a:off x="3449802" y="497117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4064710" y="502550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P.P.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0" name="Google Shape;700;p22"/>
          <p:cNvSpPr txBox="1"/>
          <p:nvPr/>
        </p:nvSpPr>
        <p:spPr>
          <a:xfrm>
            <a:off x="5033369" y="494129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5639114" y="502550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702" name="Google Shape;702;p22"/>
          <p:cNvSpPr txBox="1"/>
          <p:nvPr/>
        </p:nvSpPr>
        <p:spPr>
          <a:xfrm>
            <a:off x="6641274" y="492772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7247019" y="501193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 dirty="0"/>
          </a:p>
        </p:txBody>
      </p:sp>
      <p:sp>
        <p:nvSpPr>
          <p:cNvPr id="704" name="Google Shape;704;p22"/>
          <p:cNvSpPr txBox="1"/>
          <p:nvPr/>
        </p:nvSpPr>
        <p:spPr>
          <a:xfrm>
            <a:off x="8249179" y="494129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8856282" y="5022942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427846" y="178758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3599733" y="1786138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8" name="Google Shape;708;p22"/>
          <p:cNvSpPr txBox="1"/>
          <p:nvPr/>
        </p:nvSpPr>
        <p:spPr>
          <a:xfrm>
            <a:off x="1417367" y="172555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09" name="Google Shape;709;p22"/>
          <p:cNvSpPr txBox="1"/>
          <p:nvPr/>
        </p:nvSpPr>
        <p:spPr>
          <a:xfrm>
            <a:off x="2992377" y="170895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10" name="Google Shape;710;p22"/>
          <p:cNvSpPr/>
          <p:nvPr/>
        </p:nvSpPr>
        <p:spPr>
          <a:xfrm>
            <a:off x="2017149" y="178758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Am/is/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11" name="Google Shape;711;p22"/>
          <p:cNvSpPr txBox="1"/>
          <p:nvPr/>
        </p:nvSpPr>
        <p:spPr>
          <a:xfrm>
            <a:off x="5052331" y="171694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12" name="Google Shape;712;p22"/>
          <p:cNvSpPr/>
          <p:nvPr/>
        </p:nvSpPr>
        <p:spPr>
          <a:xfrm>
            <a:off x="5658076" y="180115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713" name="Google Shape;713;p22"/>
          <p:cNvSpPr txBox="1"/>
          <p:nvPr/>
        </p:nvSpPr>
        <p:spPr>
          <a:xfrm>
            <a:off x="6660236" y="170337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7265981" y="178758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Present Tense</a:t>
            </a:r>
            <a:endParaRPr/>
          </a:p>
        </p:txBody>
      </p:sp>
      <p:sp>
        <p:nvSpPr>
          <p:cNvPr id="736" name="Google Shape;736;p23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b="1" dirty="0">
              <a:solidFill>
                <a:srgbClr val="301B92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 dirty="0">
              <a:solidFill>
                <a:srgbClr val="301B92"/>
              </a:solidFill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Rima </a:t>
            </a:r>
            <a:r>
              <a:rPr lang="en-US" b="1" dirty="0"/>
              <a:t>is cooking </a:t>
            </a:r>
            <a:r>
              <a:rPr lang="en-US" dirty="0"/>
              <a:t>in the kitchen.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She </a:t>
            </a:r>
            <a:r>
              <a:rPr lang="en-US" b="1" dirty="0"/>
              <a:t>is drinking </a:t>
            </a:r>
            <a:r>
              <a:rPr lang="en-US" dirty="0"/>
              <a:t>coffee.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We </a:t>
            </a:r>
            <a:r>
              <a:rPr lang="en-US" b="1" dirty="0"/>
              <a:t>are doing </a:t>
            </a:r>
            <a:r>
              <a:rPr lang="en-US" dirty="0"/>
              <a:t>the exercise </a:t>
            </a:r>
            <a:r>
              <a:rPr lang="en-US" b="1" dirty="0"/>
              <a:t>at the moment</a:t>
            </a:r>
            <a:r>
              <a:rPr lang="en-US" dirty="0"/>
              <a:t>.</a:t>
            </a:r>
            <a:endParaRPr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He </a:t>
            </a:r>
            <a:r>
              <a:rPr lang="en-US" b="1" dirty="0"/>
              <a:t>is not teaching </a:t>
            </a:r>
            <a:r>
              <a:rPr lang="en-US" dirty="0"/>
              <a:t>right now.</a:t>
            </a:r>
            <a:endParaRPr dirty="0"/>
          </a:p>
          <a:p>
            <a:pPr marL="255588" lvl="0" indent="-2555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Are </a:t>
            </a:r>
            <a:r>
              <a:rPr lang="en-US" dirty="0"/>
              <a:t>they </a:t>
            </a:r>
            <a:r>
              <a:rPr lang="en-US" b="1" dirty="0"/>
              <a:t>cooking</a:t>
            </a:r>
            <a:r>
              <a:rPr lang="en-US" dirty="0"/>
              <a:t> food in the kitchen</a:t>
            </a:r>
            <a:r>
              <a:rPr lang="en-US" b="1" dirty="0"/>
              <a:t>?</a:t>
            </a:r>
            <a:endParaRPr dirty="0"/>
          </a:p>
          <a:p>
            <a:pPr marL="255588" lvl="0" indent="-2555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Who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laughing at my joke</a:t>
            </a:r>
            <a:r>
              <a:rPr lang="en-US" b="1" dirty="0"/>
              <a:t>?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Perfect Present Tense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Present Tense</a:t>
            </a:r>
            <a:endParaRPr/>
          </a:p>
        </p:txBody>
      </p:sp>
      <p:sp>
        <p:nvSpPr>
          <p:cNvPr id="778" name="Google Shape;778;p25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perfect present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indicate completed activities in the immediate past (with </a:t>
            </a:r>
            <a:r>
              <a:rPr lang="en-US" b="1" i="1" dirty="0"/>
              <a:t>just/recently)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To express past actions whose time is not given and not definite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To describe past events when we think more of their effect in the present than of the action itself</a:t>
            </a:r>
          </a:p>
          <a:p>
            <a:pPr marL="1001712" lvl="1" indent="-457200">
              <a:buFont typeface="Roboto Condensed"/>
              <a:buAutoNum type="arabicPeriod"/>
            </a:pPr>
            <a:endParaRPr dirty="0"/>
          </a:p>
          <a:p>
            <a:pPr marL="877887" lvl="2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8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b="1" dirty="0"/>
              <a:t>Sentence pattern for prefect present tense:</a:t>
            </a:r>
            <a:endParaRPr sz="1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28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sz="28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NOTE: Past Participle refers to third form of Verb.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i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844" name="Google Shape;844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Present Tense</a:t>
            </a:r>
            <a:endParaRPr/>
          </a:p>
        </p:txBody>
      </p:sp>
      <p:sp>
        <p:nvSpPr>
          <p:cNvPr id="845" name="Google Shape;845;p28"/>
          <p:cNvSpPr/>
          <p:nvPr/>
        </p:nvSpPr>
        <p:spPr>
          <a:xfrm>
            <a:off x="470864" y="3049710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6" name="Google Shape;846;p28"/>
          <p:cNvSpPr/>
          <p:nvPr/>
        </p:nvSpPr>
        <p:spPr>
          <a:xfrm>
            <a:off x="2045268" y="3049016"/>
            <a:ext cx="118872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 not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7" name="Google Shape;847;p28"/>
          <p:cNvSpPr txBox="1"/>
          <p:nvPr/>
        </p:nvSpPr>
        <p:spPr>
          <a:xfrm>
            <a:off x="1441784" y="297544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8" name="Google Shape;848;p28"/>
          <p:cNvSpPr txBox="1"/>
          <p:nvPr/>
        </p:nvSpPr>
        <p:spPr>
          <a:xfrm>
            <a:off x="3028001" y="296682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3625176" y="3049016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0" name="Google Shape;850;p28"/>
          <p:cNvSpPr txBox="1"/>
          <p:nvPr/>
        </p:nvSpPr>
        <p:spPr>
          <a:xfrm>
            <a:off x="4788140" y="295103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5458625" y="3042218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852" name="Google Shape;852;p28"/>
          <p:cNvSpPr txBox="1"/>
          <p:nvPr/>
        </p:nvSpPr>
        <p:spPr>
          <a:xfrm>
            <a:off x="6460785" y="294443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7066530" y="3028647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854" name="Google Shape;854;p28"/>
          <p:cNvSpPr/>
          <p:nvPr/>
        </p:nvSpPr>
        <p:spPr>
          <a:xfrm>
            <a:off x="2348865" y="456376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469894" y="4561745"/>
            <a:ext cx="1490472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Have/Has 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6" name="Google Shape;856;p28"/>
          <p:cNvSpPr txBox="1"/>
          <p:nvPr/>
        </p:nvSpPr>
        <p:spPr>
          <a:xfrm>
            <a:off x="1752589" y="447201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7" name="Google Shape;857;p28"/>
          <p:cNvSpPr txBox="1"/>
          <p:nvPr/>
        </p:nvSpPr>
        <p:spPr>
          <a:xfrm>
            <a:off x="3317569" y="447955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8" name="Google Shape;858;p28"/>
          <p:cNvSpPr/>
          <p:nvPr/>
        </p:nvSpPr>
        <p:spPr>
          <a:xfrm>
            <a:off x="3924233" y="4560492"/>
            <a:ext cx="137160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Participle</a:t>
            </a:r>
            <a:endParaRPr/>
          </a:p>
        </p:txBody>
      </p:sp>
      <p:sp>
        <p:nvSpPr>
          <p:cNvPr id="859" name="Google Shape;859;p28"/>
          <p:cNvSpPr txBox="1"/>
          <p:nvPr/>
        </p:nvSpPr>
        <p:spPr>
          <a:xfrm>
            <a:off x="5072480" y="447628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5675797" y="455247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861" name="Google Shape;861;p28"/>
          <p:cNvSpPr txBox="1"/>
          <p:nvPr/>
        </p:nvSpPr>
        <p:spPr>
          <a:xfrm>
            <a:off x="6660507" y="446271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2" name="Google Shape;862;p28"/>
          <p:cNvSpPr/>
          <p:nvPr/>
        </p:nvSpPr>
        <p:spPr>
          <a:xfrm>
            <a:off x="7266252" y="454692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863" name="Google Shape;863;p28"/>
          <p:cNvSpPr txBox="1"/>
          <p:nvPr/>
        </p:nvSpPr>
        <p:spPr>
          <a:xfrm>
            <a:off x="8268412" y="447628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8875515" y="4557932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5" name="Google Shape;865;p28"/>
          <p:cNvSpPr/>
          <p:nvPr/>
        </p:nvSpPr>
        <p:spPr>
          <a:xfrm>
            <a:off x="432100" y="162776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6" name="Google Shape;866;p28"/>
          <p:cNvSpPr/>
          <p:nvPr/>
        </p:nvSpPr>
        <p:spPr>
          <a:xfrm>
            <a:off x="3603987" y="1626319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7" name="Google Shape;867;p28"/>
          <p:cNvSpPr txBox="1"/>
          <p:nvPr/>
        </p:nvSpPr>
        <p:spPr>
          <a:xfrm>
            <a:off x="1421621" y="156573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8" name="Google Shape;868;p28"/>
          <p:cNvSpPr txBox="1"/>
          <p:nvPr/>
        </p:nvSpPr>
        <p:spPr>
          <a:xfrm>
            <a:off x="2996631" y="154913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9" name="Google Shape;869;p28"/>
          <p:cNvSpPr/>
          <p:nvPr/>
        </p:nvSpPr>
        <p:spPr>
          <a:xfrm>
            <a:off x="2021403" y="162776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0" name="Google Shape;870;p28"/>
          <p:cNvSpPr txBox="1"/>
          <p:nvPr/>
        </p:nvSpPr>
        <p:spPr>
          <a:xfrm>
            <a:off x="4770403" y="154211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5423240" y="1626319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872" name="Google Shape;872;p28"/>
          <p:cNvSpPr txBox="1"/>
          <p:nvPr/>
        </p:nvSpPr>
        <p:spPr>
          <a:xfrm>
            <a:off x="6425400" y="152853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3" name="Google Shape;873;p28"/>
          <p:cNvSpPr/>
          <p:nvPr/>
        </p:nvSpPr>
        <p:spPr>
          <a:xfrm>
            <a:off x="7031145" y="161274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Present Tense</a:t>
            </a:r>
            <a:endParaRPr/>
          </a:p>
        </p:txBody>
      </p:sp>
      <p:sp>
        <p:nvSpPr>
          <p:cNvPr id="896" name="Google Shape;896;p29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b="1" dirty="0">
              <a:solidFill>
                <a:srgbClr val="301B92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 dirty="0">
              <a:solidFill>
                <a:srgbClr val="301B92"/>
              </a:solidFill>
            </a:endParaRPr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We </a:t>
            </a:r>
            <a:r>
              <a:rPr lang="en-US" b="1" dirty="0"/>
              <a:t>have seen </a:t>
            </a:r>
            <a:r>
              <a:rPr lang="en-US" dirty="0"/>
              <a:t>the movie </a:t>
            </a:r>
            <a:r>
              <a:rPr lang="en-US" b="1" dirty="0"/>
              <a:t>recently</a:t>
            </a:r>
            <a:r>
              <a:rPr lang="en-US" dirty="0"/>
              <a:t>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 err="1"/>
              <a:t>Radha</a:t>
            </a:r>
            <a:r>
              <a:rPr lang="en-US" dirty="0"/>
              <a:t> </a:t>
            </a:r>
            <a:r>
              <a:rPr lang="en-US" b="1" dirty="0"/>
              <a:t>has just returned </a:t>
            </a:r>
            <a:r>
              <a:rPr lang="en-US" dirty="0"/>
              <a:t>from her friend’s house.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Rakesh </a:t>
            </a:r>
            <a:r>
              <a:rPr lang="en-US" b="1" dirty="0"/>
              <a:t>has</a:t>
            </a:r>
            <a:r>
              <a:rPr lang="en-US" dirty="0"/>
              <a:t>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seen</a:t>
            </a:r>
            <a:r>
              <a:rPr lang="en-US" dirty="0"/>
              <a:t> the movie yet.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He </a:t>
            </a:r>
            <a:r>
              <a:rPr lang="en-US" b="1" dirty="0"/>
              <a:t>has</a:t>
            </a:r>
            <a:r>
              <a:rPr lang="en-US" dirty="0"/>
              <a:t>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gone</a:t>
            </a:r>
            <a:r>
              <a:rPr lang="en-US" dirty="0"/>
              <a:t> to the library.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 </a:t>
            </a:r>
            <a:r>
              <a:rPr lang="en-US" b="1" dirty="0"/>
              <a:t>Which </a:t>
            </a:r>
            <a:r>
              <a:rPr lang="en-US" dirty="0"/>
              <a:t>movie </a:t>
            </a:r>
            <a:r>
              <a:rPr lang="en-US" b="1" dirty="0"/>
              <a:t>has</a:t>
            </a:r>
            <a:r>
              <a:rPr lang="en-US" dirty="0"/>
              <a:t> she watched</a:t>
            </a:r>
            <a:r>
              <a:rPr lang="en-US" b="1" dirty="0"/>
              <a:t>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 </a:t>
            </a:r>
            <a:r>
              <a:rPr lang="en-US" b="1" dirty="0"/>
              <a:t>Have </a:t>
            </a:r>
            <a:r>
              <a:rPr lang="en-US" dirty="0"/>
              <a:t>you bought the television</a:t>
            </a:r>
            <a:r>
              <a:rPr lang="en-US" b="1" dirty="0"/>
              <a:t>?</a:t>
            </a:r>
            <a:endParaRPr b="1"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0"/>
          <p:cNvSpPr txBox="1">
            <a:spLocks noGrp="1"/>
          </p:cNvSpPr>
          <p:nvPr>
            <p:ph type="title"/>
          </p:nvPr>
        </p:nvSpPr>
        <p:spPr>
          <a:xfrm>
            <a:off x="831849" y="1709738"/>
            <a:ext cx="810687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dirty="0"/>
              <a:t>Perfect Continuous Present Tense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Present Perfect Continuous Tense</a:t>
            </a:r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present perfect continuous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For an action which began at some time in the past and is still continuous.</a:t>
            </a:r>
            <a:endParaRPr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1" name="Google Shape;966;p32"/>
          <p:cNvSpPr txBox="1">
            <a:spLocks/>
          </p:cNvSpPr>
          <p:nvPr/>
        </p:nvSpPr>
        <p:spPr>
          <a:xfrm>
            <a:off x="262359" y="1452633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dirty="0"/>
              <a:t>Note: For Present Perfect Continuous Tense, </a:t>
            </a:r>
            <a:r>
              <a:rPr lang="en-US" b="1" dirty="0"/>
              <a:t>‘since’ </a:t>
            </a:r>
            <a:r>
              <a:rPr lang="en-US" dirty="0"/>
              <a:t>and </a:t>
            </a:r>
            <a:r>
              <a:rPr lang="en-US" b="1" dirty="0"/>
              <a:t>‘for’ </a:t>
            </a:r>
            <a:r>
              <a:rPr lang="en-US" dirty="0"/>
              <a:t>are key words in the sentences.</a:t>
            </a:r>
          </a:p>
          <a:p>
            <a:pPr marL="0" indent="0">
              <a:buFont typeface="Noto Sans Symbols"/>
              <a:buNone/>
            </a:pPr>
            <a:r>
              <a:rPr lang="en-US" dirty="0"/>
              <a:t> </a:t>
            </a:r>
            <a:endParaRPr lang="en-US" b="1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graphicFrame>
        <p:nvGraphicFramePr>
          <p:cNvPr id="12" name="Google Shape;967;p32"/>
          <p:cNvGraphicFramePr/>
          <p:nvPr>
            <p:extLst>
              <p:ext uri="{D42A27DB-BD31-4B8C-83A1-F6EECF244321}">
                <p14:modId xmlns:p14="http://schemas.microsoft.com/office/powerpoint/2010/main" val="1249103293"/>
              </p:ext>
            </p:extLst>
          </p:nvPr>
        </p:nvGraphicFramePr>
        <p:xfrm>
          <a:off x="1287625" y="2407297"/>
          <a:ext cx="8610122" cy="36576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6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/>
                        <a:t>For </a:t>
                      </a:r>
                      <a:endParaRPr sz="24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Since</a:t>
                      </a:r>
                      <a:endParaRPr sz="24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i="1" u="none" strike="noStrike" cap="none" dirty="0"/>
                        <a:t>‘For’ </a:t>
                      </a:r>
                      <a:r>
                        <a:rPr lang="en-US" sz="2400" u="none" strike="noStrike" cap="none" dirty="0"/>
                        <a:t>is used with a </a:t>
                      </a:r>
                      <a:r>
                        <a:rPr lang="en-US" sz="2400" b="1" u="none" strike="noStrike" cap="none" dirty="0"/>
                        <a:t>period of time. </a:t>
                      </a:r>
                      <a:endParaRPr sz="2400" b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Roboto Condensed"/>
                        <a:buNone/>
                      </a:pPr>
                      <a:r>
                        <a:rPr lang="en-US" sz="2400" i="1" dirty="0"/>
                        <a:t>‘Since’ </a:t>
                      </a:r>
                      <a:r>
                        <a:rPr lang="en-US" sz="2400" dirty="0"/>
                        <a:t>is used to refer to a </a:t>
                      </a:r>
                      <a:r>
                        <a:rPr lang="en-US" sz="2400" b="1" dirty="0"/>
                        <a:t>specific point in time. 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3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Roboto Condensed"/>
                        <a:buNone/>
                      </a:pPr>
                      <a:r>
                        <a:rPr lang="en-US" sz="2400" dirty="0"/>
                        <a:t>Duration of time – for 1 Hour, Days, Year, ever.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Roboto Condensed"/>
                        <a:buNone/>
                      </a:pPr>
                      <a:r>
                        <a:rPr lang="en-US" sz="2400" dirty="0"/>
                        <a:t>Point of time – 9 A.M, Monday, January.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3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Roboto Condensed"/>
                        <a:buNone/>
                      </a:pPr>
                      <a:r>
                        <a:rPr lang="en-US" sz="2400" dirty="0"/>
                        <a:t>I have been walking </a:t>
                      </a:r>
                      <a:r>
                        <a:rPr lang="en-US" sz="2400" b="1" i="1" dirty="0">
                          <a:solidFill>
                            <a:srgbClr val="C00000"/>
                          </a:solidFill>
                        </a:rPr>
                        <a:t>for </a:t>
                      </a:r>
                      <a:r>
                        <a:rPr lang="en-US" sz="2400" dirty="0"/>
                        <a:t>five hours.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Roboto Condensed"/>
                        <a:buNone/>
                      </a:pPr>
                      <a:r>
                        <a:rPr lang="en-US" sz="2400" dirty="0"/>
                        <a:t>I have been walking </a:t>
                      </a:r>
                      <a:r>
                        <a:rPr lang="en-US" sz="2400" b="1" i="1" dirty="0">
                          <a:solidFill>
                            <a:srgbClr val="301B92"/>
                          </a:solidFill>
                        </a:rPr>
                        <a:t>since</a:t>
                      </a:r>
                      <a:r>
                        <a:rPr lang="en-US" sz="2400" i="1" dirty="0"/>
                        <a:t> </a:t>
                      </a:r>
                      <a:r>
                        <a:rPr lang="en-US" sz="2400" dirty="0"/>
                        <a:t>10 p.m.</a:t>
                      </a:r>
                      <a:endParaRPr sz="2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3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b="1" dirty="0"/>
              <a:t>Sentence pattern for prefect present continuous tense: </a:t>
            </a:r>
            <a:endParaRPr sz="100" b="1" dirty="0"/>
          </a:p>
          <a:p>
            <a:pPr marL="265113" lvl="0" indent="-2587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"/>
              <a:buNone/>
            </a:pPr>
            <a:endParaRPr sz="1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6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6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6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6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6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sz="6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sz="600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3538" lvl="0" indent="-36353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50"/>
              <a:buNone/>
            </a:pPr>
            <a:endParaRPr sz="105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i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977" name="Google Shape;977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Present Perfect Continuous Tense</a:t>
            </a:r>
            <a:endParaRPr/>
          </a:p>
        </p:txBody>
      </p:sp>
      <p:sp>
        <p:nvSpPr>
          <p:cNvPr id="978" name="Google Shape;978;p33"/>
          <p:cNvSpPr/>
          <p:nvPr/>
        </p:nvSpPr>
        <p:spPr>
          <a:xfrm>
            <a:off x="446447" y="3376682"/>
            <a:ext cx="118872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79" name="Google Shape;979;p33"/>
          <p:cNvSpPr/>
          <p:nvPr/>
        </p:nvSpPr>
        <p:spPr>
          <a:xfrm>
            <a:off x="2020851" y="3375988"/>
            <a:ext cx="137160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 not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0" name="Google Shape;980;p33"/>
          <p:cNvSpPr txBox="1"/>
          <p:nvPr/>
        </p:nvSpPr>
        <p:spPr>
          <a:xfrm>
            <a:off x="1422023" y="347083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1" name="Google Shape;981;p33"/>
          <p:cNvSpPr txBox="1"/>
          <p:nvPr/>
        </p:nvSpPr>
        <p:spPr>
          <a:xfrm>
            <a:off x="3187142" y="346221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3779661" y="3375988"/>
            <a:ext cx="146304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Been Present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3" name="Google Shape;983;p33"/>
          <p:cNvSpPr txBox="1"/>
          <p:nvPr/>
        </p:nvSpPr>
        <p:spPr>
          <a:xfrm>
            <a:off x="5028154" y="349083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4" name="Google Shape;984;p33"/>
          <p:cNvSpPr/>
          <p:nvPr/>
        </p:nvSpPr>
        <p:spPr>
          <a:xfrm>
            <a:off x="5662805" y="3369190"/>
            <a:ext cx="118872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985" name="Google Shape;985;p33"/>
          <p:cNvSpPr txBox="1"/>
          <p:nvPr/>
        </p:nvSpPr>
        <p:spPr>
          <a:xfrm>
            <a:off x="6669621" y="343982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6" name="Google Shape;986;p33"/>
          <p:cNvSpPr/>
          <p:nvPr/>
        </p:nvSpPr>
        <p:spPr>
          <a:xfrm>
            <a:off x="7270710" y="3355619"/>
            <a:ext cx="118872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987" name="Google Shape;987;p33"/>
          <p:cNvSpPr/>
          <p:nvPr/>
        </p:nvSpPr>
        <p:spPr>
          <a:xfrm>
            <a:off x="2328669" y="5102603"/>
            <a:ext cx="118872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8" name="Google Shape;988;p33"/>
          <p:cNvSpPr/>
          <p:nvPr/>
        </p:nvSpPr>
        <p:spPr>
          <a:xfrm>
            <a:off x="449698" y="5100583"/>
            <a:ext cx="1490472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Have/Has 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9" name="Google Shape;989;p33"/>
          <p:cNvSpPr txBox="1"/>
          <p:nvPr/>
        </p:nvSpPr>
        <p:spPr>
          <a:xfrm>
            <a:off x="1711893" y="518300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0" name="Google Shape;990;p33"/>
          <p:cNvSpPr txBox="1"/>
          <p:nvPr/>
        </p:nvSpPr>
        <p:spPr>
          <a:xfrm>
            <a:off x="3297691" y="51872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1" name="Google Shape;991;p33"/>
          <p:cNvSpPr/>
          <p:nvPr/>
        </p:nvSpPr>
        <p:spPr>
          <a:xfrm>
            <a:off x="3904037" y="5099330"/>
            <a:ext cx="146304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Been Present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2" name="Google Shape;992;p33"/>
          <p:cNvSpPr txBox="1"/>
          <p:nvPr/>
        </p:nvSpPr>
        <p:spPr>
          <a:xfrm>
            <a:off x="5121235" y="51872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5727602" y="5099330"/>
            <a:ext cx="118872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994" name="Google Shape;994;p33"/>
          <p:cNvSpPr txBox="1"/>
          <p:nvPr/>
        </p:nvSpPr>
        <p:spPr>
          <a:xfrm>
            <a:off x="6709262" y="517370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5" name="Google Shape;995;p33"/>
          <p:cNvSpPr/>
          <p:nvPr/>
        </p:nvSpPr>
        <p:spPr>
          <a:xfrm>
            <a:off x="7335507" y="5085759"/>
            <a:ext cx="118872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996" name="Google Shape;996;p33"/>
          <p:cNvSpPr txBox="1"/>
          <p:nvPr/>
        </p:nvSpPr>
        <p:spPr>
          <a:xfrm>
            <a:off x="8317167" y="51872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7" name="Google Shape;997;p33"/>
          <p:cNvSpPr/>
          <p:nvPr/>
        </p:nvSpPr>
        <p:spPr>
          <a:xfrm>
            <a:off x="8944770" y="5096770"/>
            <a:ext cx="365760" cy="10972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8" name="Google Shape;998;p33"/>
          <p:cNvSpPr/>
          <p:nvPr/>
        </p:nvSpPr>
        <p:spPr>
          <a:xfrm>
            <a:off x="427846" y="178758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9" name="Google Shape;999;p33"/>
          <p:cNvSpPr/>
          <p:nvPr/>
        </p:nvSpPr>
        <p:spPr>
          <a:xfrm>
            <a:off x="3778635" y="1786138"/>
            <a:ext cx="146304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0" name="Google Shape;1000;p33"/>
          <p:cNvSpPr txBox="1"/>
          <p:nvPr/>
        </p:nvSpPr>
        <p:spPr>
          <a:xfrm>
            <a:off x="1417367" y="172555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1" name="Google Shape;1001;p33"/>
          <p:cNvSpPr txBox="1"/>
          <p:nvPr/>
        </p:nvSpPr>
        <p:spPr>
          <a:xfrm>
            <a:off x="3171279" y="170895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2" name="Google Shape;1002;p33"/>
          <p:cNvSpPr/>
          <p:nvPr/>
        </p:nvSpPr>
        <p:spPr>
          <a:xfrm>
            <a:off x="2017149" y="1787581"/>
            <a:ext cx="137160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Has been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5032361" y="173185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4" name="Google Shape;1004;p33"/>
          <p:cNvSpPr/>
          <p:nvPr/>
        </p:nvSpPr>
        <p:spPr>
          <a:xfrm>
            <a:off x="5667461" y="178613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005" name="Google Shape;1005;p33"/>
          <p:cNvSpPr txBox="1"/>
          <p:nvPr/>
        </p:nvSpPr>
        <p:spPr>
          <a:xfrm>
            <a:off x="6669621" y="168835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6" name="Google Shape;1006;p33"/>
          <p:cNvSpPr/>
          <p:nvPr/>
        </p:nvSpPr>
        <p:spPr>
          <a:xfrm>
            <a:off x="7275366" y="177256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Present Perfect Continuous Tense</a:t>
            </a:r>
            <a:endParaRPr/>
          </a:p>
        </p:txBody>
      </p:sp>
      <p:sp>
        <p:nvSpPr>
          <p:cNvPr id="1030" name="Google Shape;1030;p34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265113" lvl="0" indent="-188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200" b="1" dirty="0">
              <a:solidFill>
                <a:srgbClr val="301B92"/>
              </a:solidFill>
            </a:endParaRPr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Rahul </a:t>
            </a:r>
            <a:r>
              <a:rPr lang="en-US" b="1" dirty="0"/>
              <a:t>has been teaching </a:t>
            </a:r>
            <a:r>
              <a:rPr lang="en-US" dirty="0"/>
              <a:t>at the university </a:t>
            </a:r>
            <a:r>
              <a:rPr lang="en-US" b="1" dirty="0"/>
              <a:t>since June 2018</a:t>
            </a:r>
            <a:r>
              <a:rPr lang="en-US" dirty="0"/>
              <a:t>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You </a:t>
            </a:r>
            <a:r>
              <a:rPr lang="en-US" b="1" dirty="0"/>
              <a:t>have been shopping </a:t>
            </a:r>
            <a:r>
              <a:rPr lang="en-US" dirty="0"/>
              <a:t>in that market </a:t>
            </a:r>
            <a:r>
              <a:rPr lang="en-US" b="1" dirty="0"/>
              <a:t>for three hours</a:t>
            </a:r>
            <a:r>
              <a:rPr lang="en-US" dirty="0"/>
              <a:t>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He </a:t>
            </a:r>
            <a:r>
              <a:rPr lang="en-US" b="1" dirty="0"/>
              <a:t>has not been sleeping </a:t>
            </a:r>
            <a:r>
              <a:rPr lang="en-US" dirty="0"/>
              <a:t>well </a:t>
            </a:r>
            <a:r>
              <a:rPr lang="en-US" b="1" dirty="0"/>
              <a:t>for the last two months</a:t>
            </a:r>
            <a:r>
              <a:rPr lang="en-US" dirty="0"/>
              <a:t>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You </a:t>
            </a:r>
            <a:r>
              <a:rPr lang="en-US" b="1" dirty="0"/>
              <a:t>have not been attending </a:t>
            </a:r>
            <a:r>
              <a:rPr lang="en-US" dirty="0"/>
              <a:t>college </a:t>
            </a:r>
            <a:r>
              <a:rPr lang="en-US" b="1" dirty="0"/>
              <a:t>since 16th November</a:t>
            </a:r>
            <a:r>
              <a:rPr lang="en-US" dirty="0"/>
              <a:t>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 </a:t>
            </a:r>
            <a:r>
              <a:rPr lang="en-US" b="1" dirty="0"/>
              <a:t>Has </a:t>
            </a:r>
            <a:r>
              <a:rPr lang="en-US" dirty="0"/>
              <a:t>he </a:t>
            </a:r>
            <a:r>
              <a:rPr lang="en-US" b="1" dirty="0"/>
              <a:t>been</a:t>
            </a:r>
            <a:r>
              <a:rPr lang="en-US" dirty="0"/>
              <a:t> </a:t>
            </a:r>
            <a:r>
              <a:rPr lang="en-US" b="1" dirty="0"/>
              <a:t>living</a:t>
            </a:r>
            <a:r>
              <a:rPr lang="en-US" dirty="0"/>
              <a:t> in London </a:t>
            </a:r>
            <a:r>
              <a:rPr lang="en-US" b="1" dirty="0"/>
              <a:t>since 2010?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dirty="0"/>
              <a:t> </a:t>
            </a: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b="1" dirty="0"/>
              <a:t>has</a:t>
            </a:r>
            <a:r>
              <a:rPr lang="en-US" dirty="0"/>
              <a:t> she </a:t>
            </a:r>
            <a:r>
              <a:rPr lang="en-US" b="1" dirty="0"/>
              <a:t>been</a:t>
            </a:r>
            <a:r>
              <a:rPr lang="en-US" dirty="0"/>
              <a:t> </a:t>
            </a:r>
            <a:r>
              <a:rPr lang="en-US" b="1" dirty="0"/>
              <a:t>teaching</a:t>
            </a:r>
            <a:r>
              <a:rPr lang="en-US" dirty="0"/>
              <a:t> students </a:t>
            </a:r>
            <a:r>
              <a:rPr lang="en-US" b="1" dirty="0"/>
              <a:t>for three years?</a:t>
            </a:r>
            <a:endParaRPr b="1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Simple Past Tense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Past Tense</a:t>
            </a:r>
            <a:endParaRPr/>
          </a:p>
        </p:txBody>
      </p:sp>
      <p:sp>
        <p:nvSpPr>
          <p:cNvPr id="1071" name="Google Shape;1071;p36"/>
          <p:cNvSpPr txBox="1">
            <a:spLocks noGrp="1"/>
          </p:cNvSpPr>
          <p:nvPr>
            <p:ph type="body" idx="1"/>
          </p:nvPr>
        </p:nvSpPr>
        <p:spPr>
          <a:xfrm>
            <a:off x="-1" y="711200"/>
            <a:ext cx="11840067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simple past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indicate an action completed in the past, mostly there are words describing past like yesterday, week ago, last year. </a:t>
            </a: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9" name="Google Shape;1080;p37"/>
          <p:cNvSpPr txBox="1">
            <a:spLocks/>
          </p:cNvSpPr>
          <p:nvPr/>
        </p:nvSpPr>
        <p:spPr>
          <a:xfrm>
            <a:off x="236279" y="164736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fr-FR" b="1" dirty="0"/>
              <a:t>Sentence pattern for simple </a:t>
            </a:r>
            <a:r>
              <a:rPr lang="fr-FR" b="1" dirty="0" err="1"/>
              <a:t>past</a:t>
            </a:r>
            <a:r>
              <a:rPr lang="fr-FR" b="1" dirty="0"/>
              <a:t> </a:t>
            </a:r>
            <a:r>
              <a:rPr lang="fr-FR" b="1" dirty="0" err="1"/>
              <a:t>tense</a:t>
            </a:r>
            <a:r>
              <a:rPr lang="fr-FR" b="1" dirty="0"/>
              <a:t>:</a:t>
            </a:r>
            <a:endParaRPr lang="fr-FR" dirty="0"/>
          </a:p>
          <a:p>
            <a:pPr marL="265113" indent="-258763">
              <a:buSzPts val="100"/>
              <a:buFont typeface="Noto Sans Symbols"/>
              <a:buNone/>
            </a:pPr>
            <a:endParaRPr lang="fr-FR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fr-FR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fr-FR" b="1" dirty="0"/>
          </a:p>
          <a:p>
            <a:pPr marL="369888" indent="-369888">
              <a:buFont typeface="Roboto Condensed"/>
              <a:buAutoNum type="arabicPeriod"/>
            </a:pPr>
            <a:endParaRPr lang="fr-FR" dirty="0"/>
          </a:p>
          <a:p>
            <a:pPr marL="369888" indent="-369888">
              <a:buFont typeface="Roboto Condensed"/>
              <a:buAutoNum type="arabicPeriod"/>
            </a:pPr>
            <a:r>
              <a:rPr lang="fr-FR" b="1" dirty="0" err="1">
                <a:latin typeface="Roboto Condensed"/>
                <a:ea typeface="Roboto Condensed"/>
                <a:cs typeface="Roboto Condensed"/>
                <a:sym typeface="Roboto Condensed"/>
              </a:rPr>
              <a:t>Negative</a:t>
            </a:r>
            <a:r>
              <a:rPr lang="fr-FR" b="1" dirty="0">
                <a:latin typeface="Roboto Condensed"/>
                <a:ea typeface="Roboto Condensed"/>
                <a:cs typeface="Roboto Condensed"/>
                <a:sym typeface="Roboto Condensed"/>
              </a:rPr>
              <a:t> Sentence</a:t>
            </a:r>
          </a:p>
          <a:p>
            <a:pPr marL="369888" indent="-369888">
              <a:buFont typeface="Roboto Condensed"/>
              <a:buAutoNum type="arabicPeriod"/>
            </a:pPr>
            <a:endParaRPr lang="fr-FR" b="1" dirty="0"/>
          </a:p>
          <a:p>
            <a:pPr marL="369888" indent="-369888">
              <a:buFont typeface="Roboto Condensed"/>
              <a:buAutoNum type="arabicPeriod"/>
            </a:pPr>
            <a:endParaRPr lang="fr-FR" dirty="0"/>
          </a:p>
          <a:p>
            <a:pPr marL="369888" indent="-369888">
              <a:buFont typeface="Roboto Condensed"/>
              <a:buAutoNum type="arabicPeriod"/>
            </a:pPr>
            <a:r>
              <a:rPr lang="fr-FR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fr-FR" dirty="0"/>
          </a:p>
          <a:p>
            <a:pPr marL="0" indent="0">
              <a:buSzPts val="2800"/>
              <a:buFont typeface="Noto Sans Symbols"/>
              <a:buNone/>
            </a:pPr>
            <a:endParaRPr lang="fr-FR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>
              <a:lnSpc>
                <a:spcPct val="115000"/>
              </a:lnSpc>
              <a:buSzPts val="2200"/>
              <a:buFont typeface="Noto Sans Symbols"/>
              <a:buNone/>
            </a:pPr>
            <a:endParaRPr lang="fr-FR"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77887" lvl="2" indent="0">
              <a:spcBef>
                <a:spcPts val="1300"/>
              </a:spcBef>
              <a:buFont typeface="Noto Sans Symbols"/>
              <a:buNone/>
            </a:pPr>
            <a:endParaRPr lang="fr-FR" dirty="0"/>
          </a:p>
          <a:p>
            <a:pPr marL="0" indent="0">
              <a:buFont typeface="Noto Sans Symbols"/>
              <a:buNone/>
            </a:pPr>
            <a:r>
              <a:rPr lang="fr-FR" dirty="0"/>
              <a:t> </a:t>
            </a:r>
            <a:endParaRPr lang="fr-FR" b="1" i="1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0" indent="0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0" indent="0">
              <a:buSzPts val="2800"/>
              <a:buFont typeface="Noto Sans Symbols"/>
              <a:buNone/>
            </a:pPr>
            <a:endParaRPr lang="fr-FR" sz="2800" dirty="0"/>
          </a:p>
          <a:p>
            <a:pPr marL="0" indent="0">
              <a:buSzPts val="2800"/>
              <a:buFont typeface="Noto Sans Symbols"/>
              <a:buNone/>
            </a:pPr>
            <a:endParaRPr lang="fr-FR" sz="2800" dirty="0"/>
          </a:p>
          <a:p>
            <a:pPr marL="265113" indent="-87313">
              <a:buSzPts val="2800"/>
              <a:buFont typeface="Noto Sans Symbols"/>
              <a:buNone/>
            </a:pPr>
            <a:endParaRPr lang="fr-FR" sz="2800" dirty="0"/>
          </a:p>
          <a:p>
            <a:pPr marL="0" indent="0">
              <a:buSzPts val="2800"/>
              <a:buFont typeface="Noto Sans Symbols"/>
              <a:buNone/>
            </a:pPr>
            <a:endParaRPr lang="fr-FR" sz="2800" dirty="0"/>
          </a:p>
        </p:txBody>
      </p:sp>
      <p:sp>
        <p:nvSpPr>
          <p:cNvPr id="35" name="Google Shape;1082;p37"/>
          <p:cNvSpPr/>
          <p:nvPr/>
        </p:nvSpPr>
        <p:spPr>
          <a:xfrm>
            <a:off x="446447" y="276880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083;p37"/>
          <p:cNvSpPr/>
          <p:nvPr/>
        </p:nvSpPr>
        <p:spPr>
          <a:xfrm>
            <a:off x="2020851" y="2768111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form of verb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084;p37"/>
          <p:cNvSpPr txBox="1"/>
          <p:nvPr/>
        </p:nvSpPr>
        <p:spPr>
          <a:xfrm>
            <a:off x="1417367" y="269453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085;p37"/>
          <p:cNvSpPr txBox="1"/>
          <p:nvPr/>
        </p:nvSpPr>
        <p:spPr>
          <a:xfrm>
            <a:off x="3468764" y="271580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" name="Google Shape;1086;p37"/>
          <p:cNvSpPr/>
          <p:nvPr/>
        </p:nvSpPr>
        <p:spPr>
          <a:xfrm>
            <a:off x="4083672" y="277013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087;p37"/>
          <p:cNvSpPr txBox="1"/>
          <p:nvPr/>
        </p:nvSpPr>
        <p:spPr>
          <a:xfrm>
            <a:off x="5052331" y="268592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1088;p37"/>
          <p:cNvSpPr/>
          <p:nvPr/>
        </p:nvSpPr>
        <p:spPr>
          <a:xfrm>
            <a:off x="5658076" y="277013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" name="Google Shape;1089;p37"/>
          <p:cNvSpPr/>
          <p:nvPr/>
        </p:nvSpPr>
        <p:spPr>
          <a:xfrm>
            <a:off x="446447" y="409128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3" name="Google Shape;1090;p37"/>
          <p:cNvSpPr/>
          <p:nvPr/>
        </p:nvSpPr>
        <p:spPr>
          <a:xfrm>
            <a:off x="2020852" y="4080649"/>
            <a:ext cx="1272498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Did not</a:t>
            </a:r>
            <a:endParaRPr/>
          </a:p>
        </p:txBody>
      </p:sp>
      <p:sp>
        <p:nvSpPr>
          <p:cNvPr id="44" name="Google Shape;1091;p37"/>
          <p:cNvSpPr txBox="1"/>
          <p:nvPr/>
        </p:nvSpPr>
        <p:spPr>
          <a:xfrm>
            <a:off x="1417367" y="40070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" name="Google Shape;1092;p37"/>
          <p:cNvSpPr txBox="1"/>
          <p:nvPr/>
        </p:nvSpPr>
        <p:spPr>
          <a:xfrm>
            <a:off x="3064127" y="403695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" name="Google Shape;1093;p37"/>
          <p:cNvSpPr/>
          <p:nvPr/>
        </p:nvSpPr>
        <p:spPr>
          <a:xfrm>
            <a:off x="3679035" y="418461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47" name="Google Shape;1094;p37"/>
          <p:cNvSpPr txBox="1"/>
          <p:nvPr/>
        </p:nvSpPr>
        <p:spPr>
          <a:xfrm>
            <a:off x="4647694" y="40070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8" name="Google Shape;1095;p37"/>
          <p:cNvSpPr/>
          <p:nvPr/>
        </p:nvSpPr>
        <p:spPr>
          <a:xfrm>
            <a:off x="5253439" y="418461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9" name="Google Shape;1096;p37"/>
          <p:cNvSpPr txBox="1"/>
          <p:nvPr/>
        </p:nvSpPr>
        <p:spPr>
          <a:xfrm>
            <a:off x="6255599" y="408683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" name="Google Shape;1097;p37"/>
          <p:cNvSpPr/>
          <p:nvPr/>
        </p:nvSpPr>
        <p:spPr>
          <a:xfrm>
            <a:off x="6861344" y="417104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51" name="Google Shape;1098;p37"/>
          <p:cNvSpPr/>
          <p:nvPr/>
        </p:nvSpPr>
        <p:spPr>
          <a:xfrm>
            <a:off x="2027821" y="540874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" name="Google Shape;1099;p37"/>
          <p:cNvSpPr/>
          <p:nvPr/>
        </p:nvSpPr>
        <p:spPr>
          <a:xfrm>
            <a:off x="446448" y="5419835"/>
            <a:ext cx="118872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Did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" name="Google Shape;1100;p37"/>
          <p:cNvSpPr txBox="1"/>
          <p:nvPr/>
        </p:nvSpPr>
        <p:spPr>
          <a:xfrm>
            <a:off x="1436643" y="536598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" name="Google Shape;1101;p37"/>
          <p:cNvSpPr txBox="1"/>
          <p:nvPr/>
        </p:nvSpPr>
        <p:spPr>
          <a:xfrm>
            <a:off x="2984625" y="535697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5" name="Google Shape;1102;p37"/>
          <p:cNvSpPr/>
          <p:nvPr/>
        </p:nvSpPr>
        <p:spPr>
          <a:xfrm>
            <a:off x="3599533" y="541130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56" name="Google Shape;1103;p37"/>
          <p:cNvSpPr txBox="1"/>
          <p:nvPr/>
        </p:nvSpPr>
        <p:spPr>
          <a:xfrm>
            <a:off x="4568192" y="532709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" name="Google Shape;1104;p37"/>
          <p:cNvSpPr/>
          <p:nvPr/>
        </p:nvSpPr>
        <p:spPr>
          <a:xfrm>
            <a:off x="5173937" y="541130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58" name="Google Shape;1105;p37"/>
          <p:cNvSpPr txBox="1"/>
          <p:nvPr/>
        </p:nvSpPr>
        <p:spPr>
          <a:xfrm>
            <a:off x="6176097" y="531352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" name="Google Shape;1106;p37"/>
          <p:cNvSpPr/>
          <p:nvPr/>
        </p:nvSpPr>
        <p:spPr>
          <a:xfrm>
            <a:off x="6781842" y="539773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60" name="Google Shape;1107;p37"/>
          <p:cNvSpPr txBox="1"/>
          <p:nvPr/>
        </p:nvSpPr>
        <p:spPr>
          <a:xfrm>
            <a:off x="7784002" y="532709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" name="Google Shape;1108;p37"/>
          <p:cNvSpPr/>
          <p:nvPr/>
        </p:nvSpPr>
        <p:spPr>
          <a:xfrm>
            <a:off x="8391105" y="5408742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Past Tense</a:t>
            </a:r>
            <a:endParaRPr/>
          </a:p>
        </p:txBody>
      </p:sp>
      <p:sp>
        <p:nvSpPr>
          <p:cNvPr id="1126" name="Google Shape;1126;p38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265113" lvl="0" indent="-188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200" b="1" dirty="0">
              <a:solidFill>
                <a:srgbClr val="301B92"/>
              </a:solidFill>
            </a:endParaRPr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We </a:t>
            </a:r>
            <a:r>
              <a:rPr lang="en-US" b="1" dirty="0"/>
              <a:t>played</a:t>
            </a:r>
            <a:r>
              <a:rPr lang="en-US" dirty="0"/>
              <a:t> cricket </a:t>
            </a:r>
            <a:r>
              <a:rPr lang="en-US" b="1" dirty="0"/>
              <a:t>in the morning.</a:t>
            </a:r>
            <a:endParaRPr b="1"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My mother </a:t>
            </a:r>
            <a:r>
              <a:rPr lang="en-US" b="1" dirty="0"/>
              <a:t>cooked </a:t>
            </a:r>
            <a:r>
              <a:rPr lang="en-US" dirty="0"/>
              <a:t>delicious food </a:t>
            </a:r>
            <a:r>
              <a:rPr lang="en-US" b="1" dirty="0"/>
              <a:t>yesterday.</a:t>
            </a:r>
            <a:endParaRPr b="1"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Hitesh </a:t>
            </a:r>
            <a:r>
              <a:rPr lang="en-US" b="1" dirty="0"/>
              <a:t>did not wash </a:t>
            </a:r>
            <a:r>
              <a:rPr lang="en-US" dirty="0"/>
              <a:t>his hair</a:t>
            </a:r>
            <a:r>
              <a:rPr lang="en-US" b="1" dirty="0"/>
              <a:t> two days ago</a:t>
            </a:r>
            <a:r>
              <a:rPr lang="en-US" dirty="0"/>
              <a:t>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Did </a:t>
            </a:r>
            <a:r>
              <a:rPr lang="en-US" dirty="0"/>
              <a:t>you </a:t>
            </a:r>
            <a:r>
              <a:rPr lang="en-US" b="1" dirty="0"/>
              <a:t>visit your </a:t>
            </a:r>
            <a:r>
              <a:rPr lang="en-US" dirty="0"/>
              <a:t>grandparents </a:t>
            </a:r>
            <a:r>
              <a:rPr lang="en-US" b="1" dirty="0"/>
              <a:t>last week</a:t>
            </a:r>
            <a:r>
              <a:rPr lang="en-US" dirty="0"/>
              <a:t>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Did </a:t>
            </a:r>
            <a:r>
              <a:rPr lang="en-US" dirty="0"/>
              <a:t>he </a:t>
            </a:r>
            <a:r>
              <a:rPr lang="en-US" b="1" dirty="0"/>
              <a:t>enjoy</a:t>
            </a:r>
            <a:r>
              <a:rPr lang="en-US" dirty="0"/>
              <a:t> the party </a:t>
            </a:r>
            <a:r>
              <a:rPr lang="en-US" b="1" dirty="0"/>
              <a:t>last Saturday</a:t>
            </a:r>
            <a:r>
              <a:rPr lang="en-US" dirty="0"/>
              <a:t>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Who opened</a:t>
            </a:r>
            <a:r>
              <a:rPr lang="en-US" dirty="0"/>
              <a:t> the door?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Continuous Past Tense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Past Tense</a:t>
            </a:r>
            <a:endParaRPr/>
          </a:p>
        </p:txBody>
      </p:sp>
      <p:sp>
        <p:nvSpPr>
          <p:cNvPr id="1161" name="Google Shape;1161;p40"/>
          <p:cNvSpPr txBox="1">
            <a:spLocks noGrp="1"/>
          </p:cNvSpPr>
          <p:nvPr>
            <p:ph type="body" idx="1"/>
          </p:nvPr>
        </p:nvSpPr>
        <p:spPr>
          <a:xfrm>
            <a:off x="2074" y="711200"/>
            <a:ext cx="11963275" cy="42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continuous past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indicate an action going on at some time in the past. The time of the action may or may not be indicated.  </a:t>
            </a:r>
            <a:endParaRPr lang="en-GB"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lang="en-GB"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0" name="Google Shape;1168;p41"/>
          <p:cNvSpPr txBox="1">
            <a:spLocks/>
          </p:cNvSpPr>
          <p:nvPr/>
        </p:nvSpPr>
        <p:spPr>
          <a:xfrm>
            <a:off x="122400" y="168278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b="1" dirty="0"/>
              <a:t>Sentence pattern for continuous past tense:</a:t>
            </a:r>
            <a:endParaRPr lang="en-US" dirty="0"/>
          </a:p>
          <a:p>
            <a:pPr marL="265113" indent="-258763">
              <a:buSzPts val="100"/>
              <a:buFont typeface="Noto Sans Symbols"/>
              <a:buNone/>
            </a:pPr>
            <a:endParaRPr lang="en-US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endParaRPr lang="en-US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endParaRPr lang="en-US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>
              <a:lnSpc>
                <a:spcPct val="115000"/>
              </a:lnSpc>
              <a:buSzPts val="2200"/>
              <a:buFont typeface="Noto Sans Symbols"/>
              <a:buNone/>
            </a:pPr>
            <a:endParaRPr lang="en-US"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indent="0">
              <a:buFont typeface="Noto Sans Symbols"/>
              <a:buNone/>
            </a:pPr>
            <a:r>
              <a:rPr lang="en-US" dirty="0"/>
              <a:t> </a:t>
            </a:r>
            <a:endParaRPr lang="en-US" b="1" i="1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11" name="Google Shape;1170;p41"/>
          <p:cNvSpPr/>
          <p:nvPr/>
        </p:nvSpPr>
        <p:spPr>
          <a:xfrm>
            <a:off x="446447" y="416026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1171;p41"/>
          <p:cNvSpPr/>
          <p:nvPr/>
        </p:nvSpPr>
        <p:spPr>
          <a:xfrm>
            <a:off x="2009145" y="4159574"/>
            <a:ext cx="1477163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Was/Were not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1172;p41"/>
          <p:cNvSpPr txBox="1"/>
          <p:nvPr/>
        </p:nvSpPr>
        <p:spPr>
          <a:xfrm>
            <a:off x="1417367" y="408599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173;p41"/>
          <p:cNvSpPr txBox="1"/>
          <p:nvPr/>
        </p:nvSpPr>
        <p:spPr>
          <a:xfrm>
            <a:off x="3275568" y="407763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174;p41"/>
          <p:cNvSpPr/>
          <p:nvPr/>
        </p:nvSpPr>
        <p:spPr>
          <a:xfrm>
            <a:off x="3881495" y="417020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P.P.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175;p41"/>
          <p:cNvSpPr txBox="1"/>
          <p:nvPr/>
        </p:nvSpPr>
        <p:spPr>
          <a:xfrm>
            <a:off x="4850154" y="408599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176;p41"/>
          <p:cNvSpPr/>
          <p:nvPr/>
        </p:nvSpPr>
        <p:spPr>
          <a:xfrm>
            <a:off x="5455899" y="417020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9" name="Google Shape;1177;p41"/>
          <p:cNvSpPr txBox="1"/>
          <p:nvPr/>
        </p:nvSpPr>
        <p:spPr>
          <a:xfrm>
            <a:off x="6436693" y="407763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1178;p41"/>
          <p:cNvSpPr/>
          <p:nvPr/>
        </p:nvSpPr>
        <p:spPr>
          <a:xfrm>
            <a:off x="7063804" y="415663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24" name="Google Shape;1179;p41"/>
          <p:cNvSpPr/>
          <p:nvPr/>
        </p:nvSpPr>
        <p:spPr>
          <a:xfrm>
            <a:off x="2493359" y="556249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180;p41"/>
          <p:cNvSpPr/>
          <p:nvPr/>
        </p:nvSpPr>
        <p:spPr>
          <a:xfrm>
            <a:off x="451022" y="5566306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Was/Were</a:t>
            </a:r>
            <a:endParaRPr dirty="0"/>
          </a:p>
        </p:txBody>
      </p:sp>
      <p:sp>
        <p:nvSpPr>
          <p:cNvPr id="26" name="Google Shape;1181;p41"/>
          <p:cNvSpPr txBox="1"/>
          <p:nvPr/>
        </p:nvSpPr>
        <p:spPr>
          <a:xfrm>
            <a:off x="1885860" y="551133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1182;p41"/>
          <p:cNvSpPr txBox="1"/>
          <p:nvPr/>
        </p:nvSpPr>
        <p:spPr>
          <a:xfrm>
            <a:off x="3459144" y="548905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183;p41"/>
          <p:cNvSpPr/>
          <p:nvPr/>
        </p:nvSpPr>
        <p:spPr>
          <a:xfrm>
            <a:off x="4065071" y="556505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P.P.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" name="Google Shape;1184;p41"/>
          <p:cNvSpPr txBox="1"/>
          <p:nvPr/>
        </p:nvSpPr>
        <p:spPr>
          <a:xfrm>
            <a:off x="5033730" y="548084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" name="Google Shape;1185;p41"/>
          <p:cNvSpPr/>
          <p:nvPr/>
        </p:nvSpPr>
        <p:spPr>
          <a:xfrm>
            <a:off x="5639475" y="556505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31" name="Google Shape;1186;p41"/>
          <p:cNvSpPr txBox="1"/>
          <p:nvPr/>
        </p:nvSpPr>
        <p:spPr>
          <a:xfrm>
            <a:off x="6641635" y="54672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" name="Google Shape;1187;p41"/>
          <p:cNvSpPr/>
          <p:nvPr/>
        </p:nvSpPr>
        <p:spPr>
          <a:xfrm>
            <a:off x="7247380" y="555148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3" name="Google Shape;1188;p41"/>
          <p:cNvSpPr txBox="1"/>
          <p:nvPr/>
        </p:nvSpPr>
        <p:spPr>
          <a:xfrm>
            <a:off x="8249540" y="548084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Google Shape;1189;p41"/>
          <p:cNvSpPr/>
          <p:nvPr/>
        </p:nvSpPr>
        <p:spPr>
          <a:xfrm>
            <a:off x="8856643" y="5562493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Google Shape;1190;p41"/>
          <p:cNvSpPr/>
          <p:nvPr/>
        </p:nvSpPr>
        <p:spPr>
          <a:xfrm>
            <a:off x="416140" y="280461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191;p41"/>
          <p:cNvSpPr/>
          <p:nvPr/>
        </p:nvSpPr>
        <p:spPr>
          <a:xfrm>
            <a:off x="3588027" y="2803175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192;p41"/>
          <p:cNvSpPr txBox="1"/>
          <p:nvPr/>
        </p:nvSpPr>
        <p:spPr>
          <a:xfrm>
            <a:off x="1374421" y="273855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193;p41"/>
          <p:cNvSpPr txBox="1"/>
          <p:nvPr/>
        </p:nvSpPr>
        <p:spPr>
          <a:xfrm>
            <a:off x="2980671" y="272598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" name="Google Shape;1194;p41"/>
          <p:cNvSpPr/>
          <p:nvPr/>
        </p:nvSpPr>
        <p:spPr>
          <a:xfrm>
            <a:off x="2005443" y="280461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Was/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195;p41"/>
          <p:cNvSpPr txBox="1"/>
          <p:nvPr/>
        </p:nvSpPr>
        <p:spPr>
          <a:xfrm>
            <a:off x="5040625" y="273398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1196;p41"/>
          <p:cNvSpPr/>
          <p:nvPr/>
        </p:nvSpPr>
        <p:spPr>
          <a:xfrm>
            <a:off x="5646370" y="2818189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2" name="Google Shape;1197;p41"/>
          <p:cNvSpPr txBox="1"/>
          <p:nvPr/>
        </p:nvSpPr>
        <p:spPr>
          <a:xfrm>
            <a:off x="6648530" y="272040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3" name="Google Shape;1198;p41"/>
          <p:cNvSpPr/>
          <p:nvPr/>
        </p:nvSpPr>
        <p:spPr>
          <a:xfrm>
            <a:off x="7254275" y="280461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Past Tense</a:t>
            </a:r>
            <a:endParaRPr/>
          </a:p>
        </p:txBody>
      </p:sp>
      <p:sp>
        <p:nvSpPr>
          <p:cNvPr id="1228" name="Google Shape;1228;p42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265113" lvl="0" indent="-188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200" b="1" dirty="0">
              <a:solidFill>
                <a:srgbClr val="301B92"/>
              </a:solidFill>
            </a:endParaRPr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They </a:t>
            </a:r>
            <a:r>
              <a:rPr lang="en-US" b="1" dirty="0"/>
              <a:t>were going </a:t>
            </a:r>
            <a:r>
              <a:rPr lang="en-US" dirty="0"/>
              <a:t>to the library.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I </a:t>
            </a:r>
            <a:r>
              <a:rPr lang="en-US" b="1" dirty="0"/>
              <a:t>was working </a:t>
            </a:r>
            <a:r>
              <a:rPr lang="en-US" dirty="0"/>
              <a:t>from 8 A.M to 5 P.M. 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He </a:t>
            </a:r>
            <a:r>
              <a:rPr lang="en-US" b="1" dirty="0"/>
              <a:t>wasn’t watching </a:t>
            </a:r>
            <a:r>
              <a:rPr lang="en-US" dirty="0"/>
              <a:t>a movie in the morning.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They </a:t>
            </a:r>
            <a:r>
              <a:rPr lang="en-US" b="1" dirty="0"/>
              <a:t>were not speaking</a:t>
            </a:r>
            <a:r>
              <a:rPr lang="en-US" dirty="0"/>
              <a:t> English today.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Were </a:t>
            </a:r>
            <a:r>
              <a:rPr lang="en-US" dirty="0"/>
              <a:t>they </a:t>
            </a:r>
            <a:r>
              <a:rPr lang="en-US" b="1" dirty="0"/>
              <a:t>eating </a:t>
            </a:r>
            <a:r>
              <a:rPr lang="en-US" dirty="0"/>
              <a:t>pizza when you reached there?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Who was sleeping </a:t>
            </a:r>
            <a:r>
              <a:rPr lang="en-US" dirty="0"/>
              <a:t>at 11 A.M?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Perfect Past Tense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Past Tense</a:t>
            </a:r>
            <a:endParaRPr/>
          </a:p>
        </p:txBody>
      </p:sp>
      <p:sp>
        <p:nvSpPr>
          <p:cNvPr id="1253" name="Google Shape;1253;p44"/>
          <p:cNvSpPr txBox="1">
            <a:spLocks noGrp="1"/>
          </p:cNvSpPr>
          <p:nvPr>
            <p:ph type="body" idx="1"/>
          </p:nvPr>
        </p:nvSpPr>
        <p:spPr>
          <a:xfrm>
            <a:off x="0" y="711200"/>
            <a:ext cx="12047456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perfect past tense shows </a:t>
            </a:r>
            <a:r>
              <a:rPr lang="en-US" b="1" dirty="0"/>
              <a:t>two actions happened in the past</a:t>
            </a:r>
            <a:r>
              <a:rPr lang="en-US" dirty="0"/>
              <a:t>, and it may be </a:t>
            </a:r>
            <a:r>
              <a:rPr lang="en-US" b="1" dirty="0"/>
              <a:t>necessary to show which actions happened earlier than others</a:t>
            </a:r>
            <a:r>
              <a:rPr lang="en-US" dirty="0"/>
              <a:t>. 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</a:t>
            </a:r>
            <a:r>
              <a:rPr lang="en-US" b="1" dirty="0"/>
              <a:t>simple past</a:t>
            </a:r>
            <a:r>
              <a:rPr lang="en-US" dirty="0"/>
              <a:t> is used in </a:t>
            </a:r>
            <a:r>
              <a:rPr lang="en-US" b="1" dirty="0"/>
              <a:t>one clause</a:t>
            </a:r>
            <a:r>
              <a:rPr lang="en-US" dirty="0"/>
              <a:t> and the </a:t>
            </a:r>
            <a:r>
              <a:rPr lang="en-US" b="1" dirty="0"/>
              <a:t>perfect past in the other</a:t>
            </a:r>
            <a:r>
              <a:rPr lang="en-US" dirty="0"/>
              <a:t>.</a:t>
            </a:r>
            <a:endParaRPr sz="22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2" name="Google Shape;1264;p45"/>
          <p:cNvSpPr txBox="1">
            <a:spLocks/>
          </p:cNvSpPr>
          <p:nvPr/>
        </p:nvSpPr>
        <p:spPr>
          <a:xfrm>
            <a:off x="0" y="200002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b="1" dirty="0"/>
              <a:t>Sentence pattern for the perfect past tense:</a:t>
            </a:r>
            <a:endParaRPr lang="en-US" dirty="0"/>
          </a:p>
          <a:p>
            <a:pPr marL="265113" indent="-258763">
              <a:buSzPts val="100"/>
              <a:buFont typeface="Noto Sans Symbols"/>
              <a:buNone/>
            </a:pPr>
            <a:endParaRPr lang="en-US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endParaRPr lang="en-US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endParaRPr lang="en-US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>
              <a:lnSpc>
                <a:spcPct val="115000"/>
              </a:lnSpc>
              <a:buSzPts val="2200"/>
              <a:buFont typeface="Noto Sans Symbols"/>
              <a:buNone/>
            </a:pPr>
            <a:endParaRPr lang="en-US"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indent="0">
              <a:buFont typeface="Noto Sans Symbols"/>
              <a:buNone/>
            </a:pPr>
            <a:r>
              <a:rPr lang="en-US" dirty="0"/>
              <a:t> </a:t>
            </a:r>
            <a:endParaRPr lang="en-US" b="1" i="1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13" name="Google Shape;1266;p45"/>
          <p:cNvSpPr/>
          <p:nvPr/>
        </p:nvSpPr>
        <p:spPr>
          <a:xfrm>
            <a:off x="427846" y="4424400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267;p45"/>
          <p:cNvSpPr/>
          <p:nvPr/>
        </p:nvSpPr>
        <p:spPr>
          <a:xfrm>
            <a:off x="2002250" y="4423706"/>
            <a:ext cx="118872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Had not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268;p45"/>
          <p:cNvSpPr txBox="1"/>
          <p:nvPr/>
        </p:nvSpPr>
        <p:spPr>
          <a:xfrm>
            <a:off x="1398766" y="435013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269;p45"/>
          <p:cNvSpPr txBox="1"/>
          <p:nvPr/>
        </p:nvSpPr>
        <p:spPr>
          <a:xfrm>
            <a:off x="2984983" y="434151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270;p45"/>
          <p:cNvSpPr/>
          <p:nvPr/>
        </p:nvSpPr>
        <p:spPr>
          <a:xfrm>
            <a:off x="3582158" y="4423706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1271;p45"/>
          <p:cNvSpPr txBox="1"/>
          <p:nvPr/>
        </p:nvSpPr>
        <p:spPr>
          <a:xfrm>
            <a:off x="4775892" y="434232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" name="Google Shape;1272;p45"/>
          <p:cNvSpPr/>
          <p:nvPr/>
        </p:nvSpPr>
        <p:spPr>
          <a:xfrm>
            <a:off x="5415607" y="4416908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24" name="Google Shape;1273;p45"/>
          <p:cNvSpPr txBox="1"/>
          <p:nvPr/>
        </p:nvSpPr>
        <p:spPr>
          <a:xfrm>
            <a:off x="6417767" y="431912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274;p45"/>
          <p:cNvSpPr/>
          <p:nvPr/>
        </p:nvSpPr>
        <p:spPr>
          <a:xfrm>
            <a:off x="7023512" y="4403337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26" name="Google Shape;1275;p45"/>
          <p:cNvSpPr/>
          <p:nvPr/>
        </p:nvSpPr>
        <p:spPr>
          <a:xfrm>
            <a:off x="2306817" y="581193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1276;p45"/>
          <p:cNvSpPr/>
          <p:nvPr/>
        </p:nvSpPr>
        <p:spPr>
          <a:xfrm>
            <a:off x="427846" y="5809911"/>
            <a:ext cx="1490472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Had 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277;p45"/>
          <p:cNvSpPr txBox="1"/>
          <p:nvPr/>
        </p:nvSpPr>
        <p:spPr>
          <a:xfrm>
            <a:off x="1710541" y="572018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" name="Google Shape;1278;p45"/>
          <p:cNvSpPr txBox="1"/>
          <p:nvPr/>
        </p:nvSpPr>
        <p:spPr>
          <a:xfrm>
            <a:off x="3296339" y="572444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" name="Google Shape;1279;p45"/>
          <p:cNvSpPr/>
          <p:nvPr/>
        </p:nvSpPr>
        <p:spPr>
          <a:xfrm>
            <a:off x="3882185" y="5808658"/>
            <a:ext cx="137160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Participle</a:t>
            </a:r>
            <a:endParaRPr/>
          </a:p>
        </p:txBody>
      </p:sp>
      <p:sp>
        <p:nvSpPr>
          <p:cNvPr id="31" name="Google Shape;1280;p45"/>
          <p:cNvSpPr txBox="1"/>
          <p:nvPr/>
        </p:nvSpPr>
        <p:spPr>
          <a:xfrm>
            <a:off x="5030432" y="572444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" name="Google Shape;1281;p45"/>
          <p:cNvSpPr/>
          <p:nvPr/>
        </p:nvSpPr>
        <p:spPr>
          <a:xfrm>
            <a:off x="5616299" y="580865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33" name="Google Shape;1282;p45"/>
          <p:cNvSpPr txBox="1"/>
          <p:nvPr/>
        </p:nvSpPr>
        <p:spPr>
          <a:xfrm>
            <a:off x="6593182" y="571087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Google Shape;1283;p45"/>
          <p:cNvSpPr/>
          <p:nvPr/>
        </p:nvSpPr>
        <p:spPr>
          <a:xfrm>
            <a:off x="7224204" y="579508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5" name="Google Shape;1284;p45"/>
          <p:cNvSpPr txBox="1"/>
          <p:nvPr/>
        </p:nvSpPr>
        <p:spPr>
          <a:xfrm>
            <a:off x="8225257" y="570667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285;p45"/>
          <p:cNvSpPr/>
          <p:nvPr/>
        </p:nvSpPr>
        <p:spPr>
          <a:xfrm>
            <a:off x="8833467" y="5806098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286;p45"/>
          <p:cNvSpPr/>
          <p:nvPr/>
        </p:nvSpPr>
        <p:spPr>
          <a:xfrm>
            <a:off x="427846" y="300685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287;p45"/>
          <p:cNvSpPr/>
          <p:nvPr/>
        </p:nvSpPr>
        <p:spPr>
          <a:xfrm>
            <a:off x="3599733" y="2999113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" name="Google Shape;1288;p45"/>
          <p:cNvSpPr txBox="1"/>
          <p:nvPr/>
        </p:nvSpPr>
        <p:spPr>
          <a:xfrm>
            <a:off x="1417367" y="294483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289;p45"/>
          <p:cNvSpPr txBox="1"/>
          <p:nvPr/>
        </p:nvSpPr>
        <p:spPr>
          <a:xfrm>
            <a:off x="2992377" y="292192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1290;p45"/>
          <p:cNvSpPr/>
          <p:nvPr/>
        </p:nvSpPr>
        <p:spPr>
          <a:xfrm>
            <a:off x="2017149" y="300055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Had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" name="Google Shape;1291;p45"/>
          <p:cNvSpPr txBox="1"/>
          <p:nvPr/>
        </p:nvSpPr>
        <p:spPr>
          <a:xfrm>
            <a:off x="4783886" y="294483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3" name="Google Shape;1292;p45"/>
          <p:cNvSpPr/>
          <p:nvPr/>
        </p:nvSpPr>
        <p:spPr>
          <a:xfrm>
            <a:off x="5418986" y="299911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4" name="Google Shape;1293;p45"/>
          <p:cNvSpPr txBox="1"/>
          <p:nvPr/>
        </p:nvSpPr>
        <p:spPr>
          <a:xfrm>
            <a:off x="6421146" y="290133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" name="Google Shape;1294;p45"/>
          <p:cNvSpPr/>
          <p:nvPr/>
        </p:nvSpPr>
        <p:spPr>
          <a:xfrm>
            <a:off x="7026891" y="298554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Past Tense</a:t>
            </a:r>
            <a:endParaRPr/>
          </a:p>
        </p:txBody>
      </p:sp>
      <p:sp>
        <p:nvSpPr>
          <p:cNvPr id="1314" name="Google Shape;1314;p46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He </a:t>
            </a:r>
            <a:r>
              <a:rPr lang="en-US" b="1" dirty="0"/>
              <a:t>had finished </a:t>
            </a:r>
            <a:r>
              <a:rPr lang="en-US" dirty="0"/>
              <a:t>his homework before he </a:t>
            </a:r>
            <a:r>
              <a:rPr lang="en-US" b="1" dirty="0"/>
              <a:t>went </a:t>
            </a:r>
            <a:r>
              <a:rPr lang="en-US" dirty="0"/>
              <a:t>to bed.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She </a:t>
            </a:r>
            <a:r>
              <a:rPr lang="en-US" b="1" dirty="0"/>
              <a:t>had</a:t>
            </a:r>
            <a:r>
              <a:rPr lang="en-US" dirty="0"/>
              <a:t> </a:t>
            </a:r>
            <a:r>
              <a:rPr lang="en-US" b="1" dirty="0"/>
              <a:t>eaten </a:t>
            </a:r>
            <a:r>
              <a:rPr lang="en-US" dirty="0"/>
              <a:t>dinner when I </a:t>
            </a:r>
            <a:r>
              <a:rPr lang="en-US" b="1" dirty="0"/>
              <a:t>arrived.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They </a:t>
            </a:r>
            <a:r>
              <a:rPr lang="en-US" b="1" dirty="0"/>
              <a:t>had left </a:t>
            </a:r>
            <a:r>
              <a:rPr lang="en-US" dirty="0"/>
              <a:t>for the airport by the time we </a:t>
            </a:r>
            <a:r>
              <a:rPr lang="en-US" b="1" dirty="0"/>
              <a:t>reached</a:t>
            </a:r>
            <a:r>
              <a:rPr lang="en-US" dirty="0"/>
              <a:t> their house.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I </a:t>
            </a:r>
            <a:r>
              <a:rPr lang="en-US" b="1" dirty="0"/>
              <a:t>hadn't studied</a:t>
            </a:r>
            <a:r>
              <a:rPr lang="en-US" dirty="0"/>
              <a:t> French before I </a:t>
            </a:r>
            <a:r>
              <a:rPr lang="en-US" b="1" dirty="0"/>
              <a:t>travelled</a:t>
            </a:r>
            <a:r>
              <a:rPr lang="en-US" dirty="0"/>
              <a:t> to Paris.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Had</a:t>
            </a:r>
            <a:r>
              <a:rPr lang="en-US" dirty="0"/>
              <a:t> they </a:t>
            </a:r>
            <a:r>
              <a:rPr lang="en-US" b="1" dirty="0"/>
              <a:t>left</a:t>
            </a:r>
            <a:r>
              <a:rPr lang="en-US" dirty="0"/>
              <a:t> for the airport when we </a:t>
            </a:r>
            <a:r>
              <a:rPr lang="en-US" b="1" dirty="0"/>
              <a:t>reached </a:t>
            </a:r>
            <a:r>
              <a:rPr lang="en-US" dirty="0"/>
              <a:t>their house?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Who had finished</a:t>
            </a:r>
            <a:r>
              <a:rPr lang="en-US" dirty="0"/>
              <a:t> homework before teacher </a:t>
            </a:r>
            <a:r>
              <a:rPr lang="en-US" b="1" dirty="0"/>
              <a:t>came?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785495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dirty="0"/>
              <a:t>Perfect Continuous Past Tense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4343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Perfect Continuous Past Tense</a:t>
            </a:r>
            <a:endParaRPr dirty="0"/>
          </a:p>
        </p:txBody>
      </p:sp>
      <p:sp>
        <p:nvSpPr>
          <p:cNvPr id="939" name="Google Shape;939;p31"/>
          <p:cNvSpPr txBox="1">
            <a:spLocks noGrp="1"/>
          </p:cNvSpPr>
          <p:nvPr>
            <p:ph type="body" idx="1"/>
          </p:nvPr>
        </p:nvSpPr>
        <p:spPr>
          <a:xfrm>
            <a:off x="59031" y="760546"/>
            <a:ext cx="11838470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perfect continuous past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Describe an action which began before a certain time in the past and continued up to some time in past.</a:t>
            </a:r>
          </a:p>
          <a:p>
            <a:pPr marL="1458912" lvl="2" indent="-457200">
              <a:buSzPts val="2000"/>
              <a:buFont typeface="Wingdings" panose="05000000000000000000" pitchFamily="2" charset="2"/>
              <a:buChar char="§"/>
            </a:pPr>
            <a:r>
              <a:rPr lang="en-US" dirty="0"/>
              <a:t>It’s often</a:t>
            </a:r>
            <a:r>
              <a:rPr lang="en-US" b="1" dirty="0"/>
              <a:t> used with the words: </a:t>
            </a:r>
            <a:r>
              <a:rPr lang="en-US" b="1" i="1" dirty="0"/>
              <a:t>when</a:t>
            </a:r>
            <a:r>
              <a:rPr lang="en-US" b="1" dirty="0"/>
              <a:t>, </a:t>
            </a:r>
            <a:r>
              <a:rPr lang="en-US" b="1" i="1" dirty="0"/>
              <a:t>until</a:t>
            </a:r>
            <a:r>
              <a:rPr lang="en-US" b="1" dirty="0"/>
              <a:t>,</a:t>
            </a:r>
            <a:r>
              <a:rPr lang="en-US" dirty="0"/>
              <a:t> and </a:t>
            </a:r>
            <a:r>
              <a:rPr lang="en-US" b="1" i="1" dirty="0"/>
              <a:t>before</a:t>
            </a:r>
            <a:r>
              <a:rPr lang="en-US" dirty="0"/>
              <a:t> to connect it to another past action. </a:t>
            </a:r>
            <a:endParaRPr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1" name="Google Shape;1570;p58"/>
          <p:cNvSpPr txBox="1">
            <a:spLocks/>
          </p:cNvSpPr>
          <p:nvPr/>
        </p:nvSpPr>
        <p:spPr>
          <a:xfrm>
            <a:off x="59031" y="185073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b="1" dirty="0"/>
              <a:t>Sentence pattern for past perfect continuous tense:</a:t>
            </a:r>
            <a:endParaRPr lang="en-US" dirty="0"/>
          </a:p>
          <a:p>
            <a:pPr marL="265113" indent="-258763">
              <a:buSzPts val="100"/>
              <a:buFont typeface="Noto Sans Symbols"/>
              <a:buNone/>
            </a:pPr>
            <a:endParaRPr lang="en-US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  <a:endParaRPr lang="en-US" dirty="0"/>
          </a:p>
          <a:p>
            <a:pPr marL="369888" indent="-369888">
              <a:buFont typeface="Roboto Condensed"/>
              <a:buAutoNum type="arabicPeriod"/>
            </a:pP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  <a:endParaRPr lang="en-US" dirty="0"/>
          </a:p>
          <a:p>
            <a:pPr marL="369888" indent="-369888">
              <a:buFont typeface="Roboto Condensed"/>
              <a:buAutoNum type="arabicPeriod"/>
            </a:pP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12" name="Google Shape;1592;p58"/>
          <p:cNvSpPr/>
          <p:nvPr/>
        </p:nvSpPr>
        <p:spPr>
          <a:xfrm>
            <a:off x="488462" y="284458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1593;p58"/>
          <p:cNvSpPr/>
          <p:nvPr/>
        </p:nvSpPr>
        <p:spPr>
          <a:xfrm>
            <a:off x="3881172" y="2829111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Participle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594;p58"/>
          <p:cNvSpPr txBox="1"/>
          <p:nvPr/>
        </p:nvSpPr>
        <p:spPr>
          <a:xfrm>
            <a:off x="1477983" y="278255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595;p58"/>
          <p:cNvSpPr txBox="1"/>
          <p:nvPr/>
        </p:nvSpPr>
        <p:spPr>
          <a:xfrm>
            <a:off x="3273816" y="275192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596;p58"/>
          <p:cNvSpPr/>
          <p:nvPr/>
        </p:nvSpPr>
        <p:spPr>
          <a:xfrm>
            <a:off x="2077765" y="2844581"/>
            <a:ext cx="1384222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Been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597;p58"/>
          <p:cNvSpPr txBox="1"/>
          <p:nvPr/>
        </p:nvSpPr>
        <p:spPr>
          <a:xfrm>
            <a:off x="5065325" y="277482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1598;p58"/>
          <p:cNvSpPr/>
          <p:nvPr/>
        </p:nvSpPr>
        <p:spPr>
          <a:xfrm>
            <a:off x="5700425" y="282911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9" name="Google Shape;1599;p58"/>
          <p:cNvSpPr txBox="1"/>
          <p:nvPr/>
        </p:nvSpPr>
        <p:spPr>
          <a:xfrm>
            <a:off x="6702585" y="273133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" name="Google Shape;1600;p58"/>
          <p:cNvSpPr/>
          <p:nvPr/>
        </p:nvSpPr>
        <p:spPr>
          <a:xfrm>
            <a:off x="7308330" y="2815540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21" name="Google Shape;1572;p58"/>
          <p:cNvSpPr/>
          <p:nvPr/>
        </p:nvSpPr>
        <p:spPr>
          <a:xfrm>
            <a:off x="458403" y="422563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" name="Google Shape;1573;p58"/>
          <p:cNvSpPr/>
          <p:nvPr/>
        </p:nvSpPr>
        <p:spPr>
          <a:xfrm>
            <a:off x="2032806" y="4224942"/>
            <a:ext cx="147105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Had not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been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1574;p58"/>
          <p:cNvSpPr txBox="1"/>
          <p:nvPr/>
        </p:nvSpPr>
        <p:spPr>
          <a:xfrm>
            <a:off x="1429323" y="415136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575;p58"/>
          <p:cNvSpPr txBox="1"/>
          <p:nvPr/>
        </p:nvSpPr>
        <p:spPr>
          <a:xfrm>
            <a:off x="3340054" y="416142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" name="Google Shape;1576;p58"/>
          <p:cNvSpPr/>
          <p:nvPr/>
        </p:nvSpPr>
        <p:spPr>
          <a:xfrm>
            <a:off x="3937229" y="4243615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 Participle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" name="Google Shape;1577;p58"/>
          <p:cNvSpPr txBox="1"/>
          <p:nvPr/>
        </p:nvSpPr>
        <p:spPr>
          <a:xfrm>
            <a:off x="5131371" y="419003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Google Shape;1578;p58"/>
          <p:cNvSpPr/>
          <p:nvPr/>
        </p:nvSpPr>
        <p:spPr>
          <a:xfrm>
            <a:off x="5770678" y="4236817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32" name="Google Shape;1579;p58"/>
          <p:cNvSpPr txBox="1"/>
          <p:nvPr/>
        </p:nvSpPr>
        <p:spPr>
          <a:xfrm>
            <a:off x="6772838" y="413903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" name="Google Shape;1580;p58"/>
          <p:cNvSpPr/>
          <p:nvPr/>
        </p:nvSpPr>
        <p:spPr>
          <a:xfrm>
            <a:off x="7378583" y="4223246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4" name="Google Shape;1581;p58"/>
          <p:cNvSpPr/>
          <p:nvPr/>
        </p:nvSpPr>
        <p:spPr>
          <a:xfrm>
            <a:off x="1863633" y="560491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Google Shape;1582;p58"/>
          <p:cNvSpPr/>
          <p:nvPr/>
        </p:nvSpPr>
        <p:spPr>
          <a:xfrm>
            <a:off x="436173" y="5616465"/>
            <a:ext cx="989521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Had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583;p58"/>
          <p:cNvSpPr txBox="1"/>
          <p:nvPr/>
        </p:nvSpPr>
        <p:spPr>
          <a:xfrm>
            <a:off x="1257418" y="551316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584;p58"/>
          <p:cNvSpPr txBox="1"/>
          <p:nvPr/>
        </p:nvSpPr>
        <p:spPr>
          <a:xfrm>
            <a:off x="2843216" y="551743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585;p58"/>
          <p:cNvSpPr/>
          <p:nvPr/>
        </p:nvSpPr>
        <p:spPr>
          <a:xfrm>
            <a:off x="3471538" y="5615212"/>
            <a:ext cx="1922733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Been Present Participle</a:t>
            </a:r>
            <a:endParaRPr sz="2300" dirty="0"/>
          </a:p>
        </p:txBody>
      </p:sp>
      <p:sp>
        <p:nvSpPr>
          <p:cNvPr id="39" name="Google Shape;1586;p58"/>
          <p:cNvSpPr txBox="1"/>
          <p:nvPr/>
        </p:nvSpPr>
        <p:spPr>
          <a:xfrm>
            <a:off x="5202357" y="553100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587;p58"/>
          <p:cNvSpPr/>
          <p:nvPr/>
        </p:nvSpPr>
        <p:spPr>
          <a:xfrm>
            <a:off x="5792067" y="5632900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1" name="Google Shape;1588;p58"/>
          <p:cNvSpPr txBox="1"/>
          <p:nvPr/>
        </p:nvSpPr>
        <p:spPr>
          <a:xfrm>
            <a:off x="6784288" y="553512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" name="Google Shape;1589;p58"/>
          <p:cNvSpPr/>
          <p:nvPr/>
        </p:nvSpPr>
        <p:spPr>
          <a:xfrm>
            <a:off x="7378583" y="560202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 dirty="0"/>
          </a:p>
        </p:txBody>
      </p:sp>
      <p:sp>
        <p:nvSpPr>
          <p:cNvPr id="43" name="Google Shape;1590;p58"/>
          <p:cNvSpPr txBox="1"/>
          <p:nvPr/>
        </p:nvSpPr>
        <p:spPr>
          <a:xfrm>
            <a:off x="8315815" y="553100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" name="Google Shape;1591;p58"/>
          <p:cNvSpPr/>
          <p:nvPr/>
        </p:nvSpPr>
        <p:spPr>
          <a:xfrm>
            <a:off x="8932857" y="5612652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81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0"/>
                            </p:stCondLst>
                            <p:childTnLst>
                              <p:par>
                                <p:cTn id="1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Perfect Continuous Past Tense</a:t>
            </a:r>
            <a:endParaRPr dirty="0"/>
          </a:p>
        </p:txBody>
      </p:sp>
      <p:sp>
        <p:nvSpPr>
          <p:cNvPr id="1030" name="Google Shape;1030;p34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8856515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265113" lvl="0" indent="-188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200" b="1" dirty="0">
              <a:solidFill>
                <a:srgbClr val="301B92"/>
              </a:solidFill>
            </a:endParaRPr>
          </a:p>
          <a:p>
            <a:pPr lvl="0" indent="-457200">
              <a:buAutoNum type="arabicPeriod"/>
            </a:pPr>
            <a:r>
              <a:rPr lang="en-US" dirty="0"/>
              <a:t>She </a:t>
            </a:r>
            <a:r>
              <a:rPr lang="en-US" b="1" dirty="0"/>
              <a:t>had been studying</a:t>
            </a:r>
            <a:r>
              <a:rPr lang="en-US" dirty="0"/>
              <a:t> all night before the exam started.</a:t>
            </a:r>
          </a:p>
          <a:p>
            <a:pPr lvl="0" indent="-457200">
              <a:buAutoNum type="arabicPeriod"/>
            </a:pPr>
            <a:r>
              <a:rPr lang="en-US" dirty="0"/>
              <a:t>We </a:t>
            </a:r>
            <a:r>
              <a:rPr lang="en-US" b="1" dirty="0"/>
              <a:t>had been talking</a:t>
            </a:r>
            <a:r>
              <a:rPr lang="en-US" dirty="0"/>
              <a:t> for hours before we realised the time.</a:t>
            </a:r>
          </a:p>
          <a:p>
            <a:pPr lvl="0" indent="-457200">
              <a:buAutoNum type="arabicPeriod"/>
            </a:pPr>
            <a:r>
              <a:rPr lang="en-US" dirty="0"/>
              <a:t>They </a:t>
            </a:r>
            <a:r>
              <a:rPr lang="en-US" b="1" dirty="0"/>
              <a:t>had not been living</a:t>
            </a:r>
            <a:r>
              <a:rPr lang="en-US" dirty="0"/>
              <a:t> there long before they had to leave.</a:t>
            </a:r>
          </a:p>
          <a:p>
            <a:pPr lvl="0" indent="-457200">
              <a:buAutoNum type="arabicPeriod"/>
            </a:pPr>
            <a:r>
              <a:rPr lang="en-US" dirty="0"/>
              <a:t>I </a:t>
            </a:r>
            <a:r>
              <a:rPr lang="en-US" b="1" dirty="0"/>
              <a:t>had not been sleeping</a:t>
            </a:r>
            <a:r>
              <a:rPr lang="en-US" dirty="0"/>
              <a:t> well for weeks before the doctor’s visit.</a:t>
            </a:r>
          </a:p>
          <a:p>
            <a:pPr lvl="0" indent="-457200">
              <a:buAutoNum type="arabicPeriod"/>
            </a:pPr>
            <a:r>
              <a:rPr lang="en-US" dirty="0"/>
              <a:t> </a:t>
            </a:r>
            <a:r>
              <a:rPr lang="en-US" b="1" dirty="0"/>
              <a:t>Had they been living</a:t>
            </a:r>
            <a:r>
              <a:rPr lang="en-US" dirty="0"/>
              <a:t> in the same house for long?</a:t>
            </a:r>
          </a:p>
          <a:p>
            <a:pPr lvl="0" indent="-457200">
              <a:buAutoNum type="arabicPeriod"/>
            </a:pPr>
            <a:r>
              <a:rPr lang="en-US" dirty="0"/>
              <a:t> </a:t>
            </a:r>
            <a:r>
              <a:rPr lang="en-US" b="1" dirty="0"/>
              <a:t>Had we been waiting</a:t>
            </a:r>
            <a:r>
              <a:rPr lang="en-US" dirty="0"/>
              <a:t> too long when the gate finally opened?</a:t>
            </a: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392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4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Simple Future Tense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Future Tense</a:t>
            </a:r>
            <a:endParaRPr/>
          </a:p>
        </p:txBody>
      </p:sp>
      <p:sp>
        <p:nvSpPr>
          <p:cNvPr id="1351" name="Google Shape;1351;p48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11634172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simple future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talk about what we think or believe will happen in the future or to show an action which will occur in the future.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Also ‘am/is/are + going to’ construction is also used if the action is already decided or preparations have been made.</a:t>
            </a:r>
            <a:endParaRPr lang="en-US"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endParaRPr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50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b="1" dirty="0"/>
              <a:t>Sentence pattern for simple future tense:</a:t>
            </a:r>
            <a:endParaRPr dirty="0"/>
          </a:p>
          <a:p>
            <a:pPr marL="265113" lvl="0" indent="-25876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"/>
              <a:buNone/>
            </a:pPr>
            <a:endParaRPr sz="100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b="1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endParaRPr lang="en-US" dirty="0"/>
          </a:p>
          <a:p>
            <a:pPr marL="369888" lvl="0" indent="-369888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endParaRPr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77887" lvl="2" indent="0" algn="just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</a:t>
            </a:r>
            <a:endParaRPr b="1" i="1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382" name="Google Shape;1382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Future Tense</a:t>
            </a:r>
            <a:endParaRPr/>
          </a:p>
        </p:txBody>
      </p:sp>
      <p:sp>
        <p:nvSpPr>
          <p:cNvPr id="1383" name="Google Shape;1383;p50"/>
          <p:cNvSpPr/>
          <p:nvPr/>
        </p:nvSpPr>
        <p:spPr>
          <a:xfrm>
            <a:off x="446447" y="320981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84" name="Google Shape;1384;p50"/>
          <p:cNvSpPr/>
          <p:nvPr/>
        </p:nvSpPr>
        <p:spPr>
          <a:xfrm>
            <a:off x="2020851" y="3199183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Shall/Will not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85" name="Google Shape;1385;p50"/>
          <p:cNvSpPr txBox="1"/>
          <p:nvPr/>
        </p:nvSpPr>
        <p:spPr>
          <a:xfrm>
            <a:off x="1417367" y="312560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86" name="Google Shape;1386;p50"/>
          <p:cNvSpPr txBox="1"/>
          <p:nvPr/>
        </p:nvSpPr>
        <p:spPr>
          <a:xfrm>
            <a:off x="3465541" y="312560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87" name="Google Shape;1387;p50"/>
          <p:cNvSpPr/>
          <p:nvPr/>
        </p:nvSpPr>
        <p:spPr>
          <a:xfrm>
            <a:off x="4083672" y="320120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1388" name="Google Shape;1388;p50"/>
          <p:cNvSpPr txBox="1"/>
          <p:nvPr/>
        </p:nvSpPr>
        <p:spPr>
          <a:xfrm>
            <a:off x="5052564" y="310342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89" name="Google Shape;1389;p50"/>
          <p:cNvSpPr/>
          <p:nvPr/>
        </p:nvSpPr>
        <p:spPr>
          <a:xfrm>
            <a:off x="5658076" y="320120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390" name="Google Shape;1390;p50"/>
          <p:cNvSpPr txBox="1"/>
          <p:nvPr/>
        </p:nvSpPr>
        <p:spPr>
          <a:xfrm>
            <a:off x="6660236" y="310342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91" name="Google Shape;1391;p50"/>
          <p:cNvSpPr/>
          <p:nvPr/>
        </p:nvSpPr>
        <p:spPr>
          <a:xfrm>
            <a:off x="7265981" y="318763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1392" name="Google Shape;1392;p50"/>
          <p:cNvSpPr/>
          <p:nvPr/>
        </p:nvSpPr>
        <p:spPr>
          <a:xfrm>
            <a:off x="2507216" y="453882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93" name="Google Shape;1393;p50"/>
          <p:cNvSpPr/>
          <p:nvPr/>
        </p:nvSpPr>
        <p:spPr>
          <a:xfrm>
            <a:off x="446447" y="4538609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Shall/Will</a:t>
            </a:r>
            <a:endParaRPr dirty="0"/>
          </a:p>
        </p:txBody>
      </p:sp>
      <p:sp>
        <p:nvSpPr>
          <p:cNvPr id="1394" name="Google Shape;1394;p50"/>
          <p:cNvSpPr txBox="1"/>
          <p:nvPr/>
        </p:nvSpPr>
        <p:spPr>
          <a:xfrm>
            <a:off x="1916038" y="449606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95" name="Google Shape;1395;p50"/>
          <p:cNvSpPr txBox="1"/>
          <p:nvPr/>
        </p:nvSpPr>
        <p:spPr>
          <a:xfrm>
            <a:off x="3464020" y="448705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96" name="Google Shape;1396;p50"/>
          <p:cNvSpPr/>
          <p:nvPr/>
        </p:nvSpPr>
        <p:spPr>
          <a:xfrm>
            <a:off x="4078928" y="454138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1397" name="Google Shape;1397;p50"/>
          <p:cNvSpPr txBox="1"/>
          <p:nvPr/>
        </p:nvSpPr>
        <p:spPr>
          <a:xfrm>
            <a:off x="5047587" y="445717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98" name="Google Shape;1398;p50"/>
          <p:cNvSpPr/>
          <p:nvPr/>
        </p:nvSpPr>
        <p:spPr>
          <a:xfrm>
            <a:off x="5653332" y="454138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399" name="Google Shape;1399;p50"/>
          <p:cNvSpPr txBox="1"/>
          <p:nvPr/>
        </p:nvSpPr>
        <p:spPr>
          <a:xfrm>
            <a:off x="6655492" y="444360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0" name="Google Shape;1400;p50"/>
          <p:cNvSpPr/>
          <p:nvPr/>
        </p:nvSpPr>
        <p:spPr>
          <a:xfrm>
            <a:off x="7261237" y="452781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1401" name="Google Shape;1401;p50"/>
          <p:cNvSpPr txBox="1"/>
          <p:nvPr/>
        </p:nvSpPr>
        <p:spPr>
          <a:xfrm>
            <a:off x="8263397" y="445717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2" name="Google Shape;1402;p50"/>
          <p:cNvSpPr/>
          <p:nvPr/>
        </p:nvSpPr>
        <p:spPr>
          <a:xfrm>
            <a:off x="8870500" y="4538828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3" name="Google Shape;1403;p50"/>
          <p:cNvSpPr/>
          <p:nvPr/>
        </p:nvSpPr>
        <p:spPr>
          <a:xfrm>
            <a:off x="446447" y="179982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4" name="Google Shape;1404;p50"/>
          <p:cNvSpPr/>
          <p:nvPr/>
        </p:nvSpPr>
        <p:spPr>
          <a:xfrm>
            <a:off x="2020851" y="1799132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Shall/Will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5" name="Google Shape;1405;p50"/>
          <p:cNvSpPr txBox="1"/>
          <p:nvPr/>
        </p:nvSpPr>
        <p:spPr>
          <a:xfrm>
            <a:off x="1417367" y="172555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6" name="Google Shape;1406;p50"/>
          <p:cNvSpPr txBox="1"/>
          <p:nvPr/>
        </p:nvSpPr>
        <p:spPr>
          <a:xfrm>
            <a:off x="3468764" y="174682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7" name="Google Shape;1407;p50"/>
          <p:cNvSpPr/>
          <p:nvPr/>
        </p:nvSpPr>
        <p:spPr>
          <a:xfrm>
            <a:off x="4083672" y="180115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1408" name="Google Shape;1408;p50"/>
          <p:cNvSpPr txBox="1"/>
          <p:nvPr/>
        </p:nvSpPr>
        <p:spPr>
          <a:xfrm>
            <a:off x="5052331" y="171694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9" name="Google Shape;1409;p50"/>
          <p:cNvSpPr/>
          <p:nvPr/>
        </p:nvSpPr>
        <p:spPr>
          <a:xfrm>
            <a:off x="5658076" y="180115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410" name="Google Shape;1410;p50"/>
          <p:cNvSpPr txBox="1"/>
          <p:nvPr/>
        </p:nvSpPr>
        <p:spPr>
          <a:xfrm>
            <a:off x="6660236" y="170337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11" name="Google Shape;1411;p50"/>
          <p:cNvSpPr/>
          <p:nvPr/>
        </p:nvSpPr>
        <p:spPr>
          <a:xfrm>
            <a:off x="7265981" y="178758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4" name="Google Shape;1381;p50">
            <a:extLst>
              <a:ext uri="{FF2B5EF4-FFF2-40B4-BE49-F238E27FC236}">
                <a16:creationId xmlns:a16="http://schemas.microsoft.com/office/drawing/2014/main" id="{EB7B6353-D904-4988-A856-182DADAEA389}"/>
              </a:ext>
            </a:extLst>
          </p:cNvPr>
          <p:cNvSpPr txBox="1">
            <a:spLocks/>
          </p:cNvSpPr>
          <p:nvPr/>
        </p:nvSpPr>
        <p:spPr>
          <a:xfrm>
            <a:off x="262358" y="5254569"/>
            <a:ext cx="9095001" cy="13662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7200">
              <a:buFont typeface="+mj-lt"/>
              <a:buAutoNum type="arabicPeriod" startAt="4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 (</a:t>
            </a:r>
            <a:r>
              <a:rPr lang="en-US" b="1" dirty="0"/>
              <a:t>if the action is already decided)</a:t>
            </a: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45" name="Google Shape;1403;p50">
            <a:extLst>
              <a:ext uri="{FF2B5EF4-FFF2-40B4-BE49-F238E27FC236}">
                <a16:creationId xmlns:a16="http://schemas.microsoft.com/office/drawing/2014/main" id="{26FF13AD-8629-4C36-86F7-70F60D07A309}"/>
              </a:ext>
            </a:extLst>
          </p:cNvPr>
          <p:cNvSpPr/>
          <p:nvPr/>
        </p:nvSpPr>
        <p:spPr>
          <a:xfrm>
            <a:off x="549180" y="578657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" name="Google Shape;1404;p50">
            <a:extLst>
              <a:ext uri="{FF2B5EF4-FFF2-40B4-BE49-F238E27FC236}">
                <a16:creationId xmlns:a16="http://schemas.microsoft.com/office/drawing/2014/main" id="{94E36CA8-6889-4415-ACCF-57DC43EDEC17}"/>
              </a:ext>
            </a:extLst>
          </p:cNvPr>
          <p:cNvSpPr/>
          <p:nvPr/>
        </p:nvSpPr>
        <p:spPr>
          <a:xfrm>
            <a:off x="2123584" y="5785884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Am/is/are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going to</a:t>
            </a:r>
          </a:p>
        </p:txBody>
      </p:sp>
      <p:sp>
        <p:nvSpPr>
          <p:cNvPr id="47" name="Google Shape;1405;p50">
            <a:extLst>
              <a:ext uri="{FF2B5EF4-FFF2-40B4-BE49-F238E27FC236}">
                <a16:creationId xmlns:a16="http://schemas.microsoft.com/office/drawing/2014/main" id="{328322C6-085E-46AF-8E63-0821080E29D1}"/>
              </a:ext>
            </a:extLst>
          </p:cNvPr>
          <p:cNvSpPr txBox="1"/>
          <p:nvPr/>
        </p:nvSpPr>
        <p:spPr>
          <a:xfrm>
            <a:off x="1520100" y="571230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8" name="Google Shape;1406;p50">
            <a:extLst>
              <a:ext uri="{FF2B5EF4-FFF2-40B4-BE49-F238E27FC236}">
                <a16:creationId xmlns:a16="http://schemas.microsoft.com/office/drawing/2014/main" id="{76D50ACA-9564-475D-880C-C2B988BBBE9F}"/>
              </a:ext>
            </a:extLst>
          </p:cNvPr>
          <p:cNvSpPr txBox="1"/>
          <p:nvPr/>
        </p:nvSpPr>
        <p:spPr>
          <a:xfrm>
            <a:off x="3571497" y="573357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9" name="Google Shape;1407;p50">
            <a:extLst>
              <a:ext uri="{FF2B5EF4-FFF2-40B4-BE49-F238E27FC236}">
                <a16:creationId xmlns:a16="http://schemas.microsoft.com/office/drawing/2014/main" id="{59C57F43-93F7-4A8A-8005-9596E101CB2D}"/>
              </a:ext>
            </a:extLst>
          </p:cNvPr>
          <p:cNvSpPr/>
          <p:nvPr/>
        </p:nvSpPr>
        <p:spPr>
          <a:xfrm>
            <a:off x="4186405" y="578790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Verb</a:t>
            </a:r>
            <a:endParaRPr/>
          </a:p>
        </p:txBody>
      </p:sp>
      <p:sp>
        <p:nvSpPr>
          <p:cNvPr id="50" name="Google Shape;1408;p50">
            <a:extLst>
              <a:ext uri="{FF2B5EF4-FFF2-40B4-BE49-F238E27FC236}">
                <a16:creationId xmlns:a16="http://schemas.microsoft.com/office/drawing/2014/main" id="{D0F29FAF-1B8B-402E-9B22-F9764AE484C9}"/>
              </a:ext>
            </a:extLst>
          </p:cNvPr>
          <p:cNvSpPr txBox="1"/>
          <p:nvPr/>
        </p:nvSpPr>
        <p:spPr>
          <a:xfrm>
            <a:off x="5155064" y="570369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" name="Google Shape;1409;p50">
            <a:extLst>
              <a:ext uri="{FF2B5EF4-FFF2-40B4-BE49-F238E27FC236}">
                <a16:creationId xmlns:a16="http://schemas.microsoft.com/office/drawing/2014/main" id="{82003C8F-F794-4879-88F7-98A609A72134}"/>
              </a:ext>
            </a:extLst>
          </p:cNvPr>
          <p:cNvSpPr/>
          <p:nvPr/>
        </p:nvSpPr>
        <p:spPr>
          <a:xfrm>
            <a:off x="5760809" y="578790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52" name="Google Shape;1410;p50">
            <a:extLst>
              <a:ext uri="{FF2B5EF4-FFF2-40B4-BE49-F238E27FC236}">
                <a16:creationId xmlns:a16="http://schemas.microsoft.com/office/drawing/2014/main" id="{00B6392B-59C1-40F4-99D2-693ABD6E1A23}"/>
              </a:ext>
            </a:extLst>
          </p:cNvPr>
          <p:cNvSpPr txBox="1"/>
          <p:nvPr/>
        </p:nvSpPr>
        <p:spPr>
          <a:xfrm>
            <a:off x="6762969" y="569012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" name="Google Shape;1411;p50">
            <a:extLst>
              <a:ext uri="{FF2B5EF4-FFF2-40B4-BE49-F238E27FC236}">
                <a16:creationId xmlns:a16="http://schemas.microsoft.com/office/drawing/2014/main" id="{A10321D8-90A6-47C4-9037-80A64CAA7094}"/>
              </a:ext>
            </a:extLst>
          </p:cNvPr>
          <p:cNvSpPr/>
          <p:nvPr/>
        </p:nvSpPr>
        <p:spPr>
          <a:xfrm>
            <a:off x="7368714" y="577433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0"/>
                            </p:stCondLst>
                            <p:childTnLst>
                              <p:par>
                                <p:cTn id="1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000"/>
                            </p:stCondLst>
                            <p:childTnLst>
                              <p:par>
                                <p:cTn id="1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500"/>
                            </p:stCondLst>
                            <p:childTnLst>
                              <p:par>
                                <p:cTn id="1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000"/>
                            </p:stCondLst>
                            <p:childTnLst>
                              <p:par>
                                <p:cTn id="1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Simple Future Tense</a:t>
            </a:r>
            <a:endParaRPr/>
          </a:p>
        </p:txBody>
      </p:sp>
      <p:sp>
        <p:nvSpPr>
          <p:cNvPr id="1429" name="Google Shape;1429;p51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The officer </a:t>
            </a:r>
            <a:r>
              <a:rPr lang="en-US" b="1" dirty="0"/>
              <a:t>will visit </a:t>
            </a:r>
            <a:r>
              <a:rPr lang="en-US" dirty="0"/>
              <a:t>after half an hour. 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My mother </a:t>
            </a:r>
            <a:r>
              <a:rPr lang="en-US" b="1" dirty="0"/>
              <a:t>will buy </a:t>
            </a:r>
            <a:r>
              <a:rPr lang="en-US" dirty="0"/>
              <a:t>a new shirt for me.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We </a:t>
            </a:r>
            <a:r>
              <a:rPr lang="en-US" b="1" dirty="0"/>
              <a:t>shall not organize </a:t>
            </a:r>
            <a:r>
              <a:rPr lang="en-US" dirty="0"/>
              <a:t>the college tour in December.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Mihir </a:t>
            </a:r>
            <a:r>
              <a:rPr lang="en-US" b="1" dirty="0"/>
              <a:t>will not buy </a:t>
            </a:r>
            <a:r>
              <a:rPr lang="en-US" dirty="0"/>
              <a:t>new clothes.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Will </a:t>
            </a:r>
            <a:r>
              <a:rPr lang="en-US" dirty="0"/>
              <a:t>you </a:t>
            </a:r>
            <a:r>
              <a:rPr lang="en-US" b="1" dirty="0"/>
              <a:t>send</a:t>
            </a:r>
            <a:r>
              <a:rPr lang="en-US" dirty="0"/>
              <a:t> him a message?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Whom will </a:t>
            </a:r>
            <a:r>
              <a:rPr lang="en-US" dirty="0"/>
              <a:t>you </a:t>
            </a:r>
            <a:r>
              <a:rPr lang="en-US" b="1" dirty="0"/>
              <a:t>send </a:t>
            </a:r>
            <a:r>
              <a:rPr lang="en-US" dirty="0"/>
              <a:t>the invitation?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Continuous Future Tense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Future Tense</a:t>
            </a:r>
            <a:endParaRPr/>
          </a:p>
        </p:txBody>
      </p:sp>
      <p:sp>
        <p:nvSpPr>
          <p:cNvPr id="1464" name="Google Shape;1464;p53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continuous future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talk about actions which will be in progress at a time in the future.</a:t>
            </a:r>
            <a:endParaRPr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9" name="Google Shape;1474;p54"/>
          <p:cNvSpPr txBox="1">
            <a:spLocks/>
          </p:cNvSpPr>
          <p:nvPr/>
        </p:nvSpPr>
        <p:spPr>
          <a:xfrm>
            <a:off x="262358" y="1443303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b="1" dirty="0"/>
              <a:t>Sentence pattern for continuous future tense:</a:t>
            </a:r>
            <a:endParaRPr lang="en-US" dirty="0"/>
          </a:p>
          <a:p>
            <a:pPr marL="265113" indent="-258763">
              <a:buSzPts val="100"/>
              <a:buFont typeface="Noto Sans Symbols"/>
              <a:buNone/>
            </a:pPr>
            <a:endParaRPr lang="en-US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endParaRPr lang="en-US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endParaRPr lang="en-US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10" name="Google Shape;1476;p54"/>
          <p:cNvSpPr/>
          <p:nvPr/>
        </p:nvSpPr>
        <p:spPr>
          <a:xfrm>
            <a:off x="446447" y="394284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1477;p54"/>
          <p:cNvSpPr/>
          <p:nvPr/>
        </p:nvSpPr>
        <p:spPr>
          <a:xfrm>
            <a:off x="2020851" y="3785847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Shall not be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/Will not be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1478;p54"/>
          <p:cNvSpPr txBox="1"/>
          <p:nvPr/>
        </p:nvSpPr>
        <p:spPr>
          <a:xfrm>
            <a:off x="1417367" y="386857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1479;p54"/>
          <p:cNvSpPr txBox="1"/>
          <p:nvPr/>
        </p:nvSpPr>
        <p:spPr>
          <a:xfrm>
            <a:off x="3468764" y="373353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480;p54"/>
          <p:cNvSpPr/>
          <p:nvPr/>
        </p:nvSpPr>
        <p:spPr>
          <a:xfrm>
            <a:off x="4083672" y="378786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P.P.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481;p54"/>
          <p:cNvSpPr txBox="1"/>
          <p:nvPr/>
        </p:nvSpPr>
        <p:spPr>
          <a:xfrm>
            <a:off x="5052331" y="370365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482;p54"/>
          <p:cNvSpPr/>
          <p:nvPr/>
        </p:nvSpPr>
        <p:spPr>
          <a:xfrm>
            <a:off x="5658076" y="3787867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7" name="Google Shape;1483;p54"/>
          <p:cNvSpPr txBox="1"/>
          <p:nvPr/>
        </p:nvSpPr>
        <p:spPr>
          <a:xfrm>
            <a:off x="6660236" y="369008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1484;p54"/>
          <p:cNvSpPr/>
          <p:nvPr/>
        </p:nvSpPr>
        <p:spPr>
          <a:xfrm>
            <a:off x="7265981" y="377429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23" name="Google Shape;1485;p54"/>
          <p:cNvSpPr/>
          <p:nvPr/>
        </p:nvSpPr>
        <p:spPr>
          <a:xfrm>
            <a:off x="2470183" y="515874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" name="Google Shape;1486;p54"/>
          <p:cNvSpPr/>
          <p:nvPr/>
        </p:nvSpPr>
        <p:spPr>
          <a:xfrm>
            <a:off x="427846" y="5318865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Shall/Will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487;p54"/>
          <p:cNvSpPr txBox="1"/>
          <p:nvPr/>
        </p:nvSpPr>
        <p:spPr>
          <a:xfrm>
            <a:off x="1879005" y="527229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Google Shape;1488;p54"/>
          <p:cNvSpPr txBox="1"/>
          <p:nvPr/>
        </p:nvSpPr>
        <p:spPr>
          <a:xfrm>
            <a:off x="3426987" y="510697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1489;p54"/>
          <p:cNvSpPr/>
          <p:nvPr/>
        </p:nvSpPr>
        <p:spPr>
          <a:xfrm>
            <a:off x="4041895" y="516130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 + P.P.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490;p54"/>
          <p:cNvSpPr txBox="1"/>
          <p:nvPr/>
        </p:nvSpPr>
        <p:spPr>
          <a:xfrm>
            <a:off x="5010554" y="507709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" name="Google Shape;1491;p54"/>
          <p:cNvSpPr/>
          <p:nvPr/>
        </p:nvSpPr>
        <p:spPr>
          <a:xfrm>
            <a:off x="5616299" y="516130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30" name="Google Shape;1492;p54"/>
          <p:cNvSpPr txBox="1"/>
          <p:nvPr/>
        </p:nvSpPr>
        <p:spPr>
          <a:xfrm>
            <a:off x="6618459" y="506352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Google Shape;1493;p54"/>
          <p:cNvSpPr/>
          <p:nvPr/>
        </p:nvSpPr>
        <p:spPr>
          <a:xfrm>
            <a:off x="7224204" y="514773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2" name="Google Shape;1494;p54"/>
          <p:cNvSpPr txBox="1"/>
          <p:nvPr/>
        </p:nvSpPr>
        <p:spPr>
          <a:xfrm>
            <a:off x="8226364" y="507709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" name="Google Shape;1495;p54"/>
          <p:cNvSpPr/>
          <p:nvPr/>
        </p:nvSpPr>
        <p:spPr>
          <a:xfrm>
            <a:off x="8833467" y="5158745"/>
            <a:ext cx="483474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Google Shape;1496;p54"/>
          <p:cNvSpPr/>
          <p:nvPr/>
        </p:nvSpPr>
        <p:spPr>
          <a:xfrm>
            <a:off x="427846" y="253170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Google Shape;1497;p54"/>
          <p:cNvSpPr/>
          <p:nvPr/>
        </p:nvSpPr>
        <p:spPr>
          <a:xfrm>
            <a:off x="3599733" y="2373958"/>
            <a:ext cx="167713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498;p54"/>
          <p:cNvSpPr txBox="1"/>
          <p:nvPr/>
        </p:nvSpPr>
        <p:spPr>
          <a:xfrm>
            <a:off x="1417367" y="246968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499;p54"/>
          <p:cNvSpPr txBox="1"/>
          <p:nvPr/>
        </p:nvSpPr>
        <p:spPr>
          <a:xfrm>
            <a:off x="2992377" y="229677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500;p54"/>
          <p:cNvSpPr/>
          <p:nvPr/>
        </p:nvSpPr>
        <p:spPr>
          <a:xfrm>
            <a:off x="2017149" y="253170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Shall be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/Will be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" name="Google Shape;1501;p54"/>
          <p:cNvSpPr txBox="1"/>
          <p:nvPr/>
        </p:nvSpPr>
        <p:spPr>
          <a:xfrm>
            <a:off x="5052331" y="230476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502;p54"/>
          <p:cNvSpPr/>
          <p:nvPr/>
        </p:nvSpPr>
        <p:spPr>
          <a:xfrm>
            <a:off x="5658076" y="238897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1" name="Google Shape;1503;p54"/>
          <p:cNvSpPr txBox="1"/>
          <p:nvPr/>
        </p:nvSpPr>
        <p:spPr>
          <a:xfrm>
            <a:off x="6660236" y="229119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" name="Google Shape;1504;p54"/>
          <p:cNvSpPr/>
          <p:nvPr/>
        </p:nvSpPr>
        <p:spPr>
          <a:xfrm>
            <a:off x="7265981" y="2375401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Continuous Future Tense</a:t>
            </a:r>
            <a:endParaRPr/>
          </a:p>
        </p:txBody>
      </p:sp>
      <p:sp>
        <p:nvSpPr>
          <p:cNvPr id="1523" name="Google Shape;1523;p55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I </a:t>
            </a:r>
            <a:r>
              <a:rPr lang="en-US" b="1" dirty="0"/>
              <a:t>will be studying </a:t>
            </a:r>
            <a:r>
              <a:rPr lang="en-US" dirty="0"/>
              <a:t>for my final exams tomorrow afternoon.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He </a:t>
            </a:r>
            <a:r>
              <a:rPr lang="en-US" b="1" dirty="0"/>
              <a:t>will be attending </a:t>
            </a:r>
            <a:r>
              <a:rPr lang="en-US" dirty="0"/>
              <a:t>a conference next month.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She </a:t>
            </a:r>
            <a:r>
              <a:rPr lang="en-US" b="1" dirty="0"/>
              <a:t>will not be working </a:t>
            </a:r>
            <a:r>
              <a:rPr lang="en-US" dirty="0"/>
              <a:t>on the project all day on Friday.</a:t>
            </a:r>
            <a:endParaRPr dirty="0"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They </a:t>
            </a:r>
            <a:r>
              <a:rPr lang="en-US" b="1" dirty="0"/>
              <a:t>will not be traveling </a:t>
            </a:r>
            <a:r>
              <a:rPr lang="en-US" dirty="0"/>
              <a:t>to Europe next summer.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Will</a:t>
            </a:r>
            <a:r>
              <a:rPr lang="en-US" dirty="0"/>
              <a:t> we </a:t>
            </a:r>
            <a:r>
              <a:rPr lang="en-US" b="1" dirty="0"/>
              <a:t>be celebrating </a:t>
            </a:r>
            <a:r>
              <a:rPr lang="en-US" dirty="0"/>
              <a:t>her birthday with a big party on Saturday?</a:t>
            </a:r>
            <a:endParaRPr dirty="0"/>
          </a:p>
          <a:p>
            <a:pPr marL="396875" lvl="0" indent="-39687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</a:t>
            </a:r>
            <a:r>
              <a:rPr lang="en-US" b="1" dirty="0"/>
              <a:t>What will </a:t>
            </a:r>
            <a:r>
              <a:rPr lang="en-US" dirty="0"/>
              <a:t>you</a:t>
            </a:r>
            <a:r>
              <a:rPr lang="en-US" b="1" dirty="0"/>
              <a:t> be doing </a:t>
            </a:r>
            <a:r>
              <a:rPr lang="en-US" dirty="0"/>
              <a:t>tomorrow evening?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671965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Perfect Future Tense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Future Tense</a:t>
            </a:r>
            <a:endParaRPr/>
          </a:p>
        </p:txBody>
      </p:sp>
      <p:sp>
        <p:nvSpPr>
          <p:cNvPr id="1559" name="Google Shape;1559;p57"/>
          <p:cNvSpPr txBox="1">
            <a:spLocks noGrp="1"/>
          </p:cNvSpPr>
          <p:nvPr>
            <p:ph type="body" idx="1"/>
          </p:nvPr>
        </p:nvSpPr>
        <p:spPr>
          <a:xfrm>
            <a:off x="265657" y="711200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The perfect future tense is used:</a:t>
            </a:r>
            <a:endParaRPr dirty="0"/>
          </a:p>
          <a:p>
            <a:pPr marL="1001712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 b="1" dirty="0"/>
              <a:t>To talk about actions that will be completed by a certain time in future.</a:t>
            </a:r>
            <a:endParaRPr b="1" dirty="0"/>
          </a:p>
          <a:p>
            <a:pPr marL="877887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1000" b="1" dirty="0"/>
          </a:p>
          <a:p>
            <a:pPr marL="877887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1000" b="1" dirty="0"/>
          </a:p>
          <a:p>
            <a:pPr marL="877887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1000" b="1" dirty="0"/>
          </a:p>
          <a:p>
            <a:pPr marL="877887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1000" b="1" dirty="0"/>
          </a:p>
          <a:p>
            <a:pPr marL="877887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1000" b="1" dirty="0"/>
          </a:p>
          <a:p>
            <a:pPr marL="877887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lang="en-US" sz="2000" dirty="0"/>
          </a:p>
          <a:p>
            <a:pPr marL="1220787" lvl="2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endParaRPr sz="2000"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 3" panose="05040102010807070707" pitchFamily="18" charset="2"/>
              <a:buChar char="}"/>
            </a:pPr>
            <a:endParaRPr lang="en-US" dirty="0"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Wingdings 3" panose="05040102010807070707" pitchFamily="18" charset="2"/>
              <a:buChar char="}"/>
            </a:pPr>
            <a:r>
              <a:rPr lang="en-US" sz="2000" dirty="0"/>
              <a:t>Note: We </a:t>
            </a:r>
            <a:r>
              <a:rPr lang="en-US" sz="2000" b="1" dirty="0"/>
              <a:t>don't use 'shall' in modern English</a:t>
            </a:r>
            <a:r>
              <a:rPr lang="en-US" sz="2000" dirty="0"/>
              <a:t> because it's old-fashioned.</a:t>
            </a:r>
            <a:endParaRPr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0" name="Google Shape;1570;p58"/>
          <p:cNvSpPr txBox="1">
            <a:spLocks/>
          </p:cNvSpPr>
          <p:nvPr/>
        </p:nvSpPr>
        <p:spPr>
          <a:xfrm>
            <a:off x="178384" y="1422400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b="1" dirty="0"/>
              <a:t>Sentence pattern for perfect future tense:</a:t>
            </a:r>
            <a:endParaRPr lang="en-US" dirty="0"/>
          </a:p>
          <a:p>
            <a:pPr marL="265113" indent="-258763">
              <a:buSzPts val="100"/>
              <a:buFont typeface="Noto Sans Symbols"/>
              <a:buNone/>
            </a:pPr>
            <a:endParaRPr lang="en-US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  <a:endParaRPr lang="en-US" dirty="0"/>
          </a:p>
          <a:p>
            <a:pPr marL="369888" indent="-369888">
              <a:buFont typeface="Roboto Condensed"/>
              <a:buAutoNum type="arabicPeriod"/>
            </a:pP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  <a:endParaRPr lang="en-US" dirty="0"/>
          </a:p>
          <a:p>
            <a:pPr marL="369888" indent="-369888">
              <a:buFont typeface="Roboto Condensed"/>
              <a:buAutoNum type="arabicPeriod"/>
            </a:pP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87412" lvl="1" indent="-203200">
              <a:lnSpc>
                <a:spcPct val="115000"/>
              </a:lnSpc>
              <a:buSzPts val="2200"/>
              <a:buFont typeface="Noto Sans Symbols"/>
              <a:buNone/>
            </a:pPr>
            <a:endParaRPr lang="en-US" sz="22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indent="0">
              <a:buFont typeface="Noto Sans Symbols"/>
              <a:buNone/>
            </a:pPr>
            <a:r>
              <a:rPr lang="en-US" dirty="0"/>
              <a:t> </a:t>
            </a:r>
            <a:endParaRPr lang="en-US" b="1" i="1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11" name="Google Shape;1572;p58"/>
          <p:cNvSpPr/>
          <p:nvPr/>
        </p:nvSpPr>
        <p:spPr>
          <a:xfrm>
            <a:off x="631074" y="383375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1573;p58"/>
          <p:cNvSpPr/>
          <p:nvPr/>
        </p:nvSpPr>
        <p:spPr>
          <a:xfrm>
            <a:off x="2205478" y="3833061"/>
            <a:ext cx="118872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 not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1574;p58"/>
          <p:cNvSpPr txBox="1"/>
          <p:nvPr/>
        </p:nvSpPr>
        <p:spPr>
          <a:xfrm>
            <a:off x="1601994" y="375948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575;p58"/>
          <p:cNvSpPr txBox="1"/>
          <p:nvPr/>
        </p:nvSpPr>
        <p:spPr>
          <a:xfrm>
            <a:off x="3188211" y="375087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576;p58"/>
          <p:cNvSpPr/>
          <p:nvPr/>
        </p:nvSpPr>
        <p:spPr>
          <a:xfrm>
            <a:off x="3785386" y="3833061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 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577;p58"/>
          <p:cNvSpPr txBox="1"/>
          <p:nvPr/>
        </p:nvSpPr>
        <p:spPr>
          <a:xfrm>
            <a:off x="4968590" y="373507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578;p58"/>
          <p:cNvSpPr/>
          <p:nvPr/>
        </p:nvSpPr>
        <p:spPr>
          <a:xfrm>
            <a:off x="5618835" y="3826263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8" name="Google Shape;1579;p58"/>
          <p:cNvSpPr txBox="1"/>
          <p:nvPr/>
        </p:nvSpPr>
        <p:spPr>
          <a:xfrm>
            <a:off x="6620995" y="372848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" name="Google Shape;1580;p58"/>
          <p:cNvSpPr/>
          <p:nvPr/>
        </p:nvSpPr>
        <p:spPr>
          <a:xfrm>
            <a:off x="7226740" y="3812692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23" name="Google Shape;1581;p58"/>
          <p:cNvSpPr/>
          <p:nvPr/>
        </p:nvSpPr>
        <p:spPr>
          <a:xfrm>
            <a:off x="2307013" y="521843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" name="Google Shape;1582;p58"/>
          <p:cNvSpPr/>
          <p:nvPr/>
        </p:nvSpPr>
        <p:spPr>
          <a:xfrm>
            <a:off x="608844" y="5224584"/>
            <a:ext cx="1298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Google Shape;1583;p58"/>
          <p:cNvSpPr txBox="1"/>
          <p:nvPr/>
        </p:nvSpPr>
        <p:spPr>
          <a:xfrm>
            <a:off x="1700798" y="512668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1584;p58"/>
          <p:cNvSpPr txBox="1"/>
          <p:nvPr/>
        </p:nvSpPr>
        <p:spPr>
          <a:xfrm>
            <a:off x="3286596" y="513095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585;p58"/>
          <p:cNvSpPr/>
          <p:nvPr/>
        </p:nvSpPr>
        <p:spPr>
          <a:xfrm>
            <a:off x="3882381" y="5215159"/>
            <a:ext cx="146304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 Past Participle</a:t>
            </a:r>
            <a:endParaRPr dirty="0"/>
          </a:p>
        </p:txBody>
      </p:sp>
      <p:sp>
        <p:nvSpPr>
          <p:cNvPr id="29" name="Google Shape;1586;p58"/>
          <p:cNvSpPr txBox="1"/>
          <p:nvPr/>
        </p:nvSpPr>
        <p:spPr>
          <a:xfrm>
            <a:off x="5120079" y="513095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" name="Google Shape;1587;p58"/>
          <p:cNvSpPr/>
          <p:nvPr/>
        </p:nvSpPr>
        <p:spPr>
          <a:xfrm>
            <a:off x="5715885" y="5215159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31" name="Google Shape;1588;p58"/>
          <p:cNvSpPr txBox="1"/>
          <p:nvPr/>
        </p:nvSpPr>
        <p:spPr>
          <a:xfrm>
            <a:off x="6708106" y="5117379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" name="Google Shape;1589;p58"/>
          <p:cNvSpPr/>
          <p:nvPr/>
        </p:nvSpPr>
        <p:spPr>
          <a:xfrm>
            <a:off x="7323790" y="520158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3" name="Google Shape;1590;p58"/>
          <p:cNvSpPr txBox="1"/>
          <p:nvPr/>
        </p:nvSpPr>
        <p:spPr>
          <a:xfrm>
            <a:off x="8135013" y="513095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Google Shape;1591;p58"/>
          <p:cNvSpPr/>
          <p:nvPr/>
        </p:nvSpPr>
        <p:spPr>
          <a:xfrm>
            <a:off x="8752055" y="5212599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Google Shape;1592;p58"/>
          <p:cNvSpPr/>
          <p:nvPr/>
        </p:nvSpPr>
        <p:spPr>
          <a:xfrm>
            <a:off x="612550" y="242206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593;p58"/>
          <p:cNvSpPr/>
          <p:nvPr/>
        </p:nvSpPr>
        <p:spPr>
          <a:xfrm>
            <a:off x="3784437" y="2420625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Participle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594;p58"/>
          <p:cNvSpPr txBox="1"/>
          <p:nvPr/>
        </p:nvSpPr>
        <p:spPr>
          <a:xfrm>
            <a:off x="1602071" y="2360043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595;p58"/>
          <p:cNvSpPr txBox="1"/>
          <p:nvPr/>
        </p:nvSpPr>
        <p:spPr>
          <a:xfrm>
            <a:off x="3177081" y="234343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" name="Google Shape;1596;p58"/>
          <p:cNvSpPr/>
          <p:nvPr/>
        </p:nvSpPr>
        <p:spPr>
          <a:xfrm>
            <a:off x="2201853" y="242206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 Have</a:t>
            </a:r>
            <a:endParaRPr sz="2400" b="1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597;p58"/>
          <p:cNvSpPr txBox="1"/>
          <p:nvPr/>
        </p:nvSpPr>
        <p:spPr>
          <a:xfrm>
            <a:off x="4968590" y="2366342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1598;p58"/>
          <p:cNvSpPr/>
          <p:nvPr/>
        </p:nvSpPr>
        <p:spPr>
          <a:xfrm>
            <a:off x="5599984" y="242062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2" name="Google Shape;1599;p58"/>
          <p:cNvSpPr txBox="1"/>
          <p:nvPr/>
        </p:nvSpPr>
        <p:spPr>
          <a:xfrm>
            <a:off x="6602144" y="232284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3" name="Google Shape;1600;p58"/>
          <p:cNvSpPr/>
          <p:nvPr/>
        </p:nvSpPr>
        <p:spPr>
          <a:xfrm>
            <a:off x="7207889" y="240705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0"/>
                            </p:stCondLst>
                            <p:childTnLst>
                              <p:par>
                                <p:cTn id="1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Perfect Future Tense</a:t>
            </a:r>
            <a:endParaRPr/>
          </a:p>
        </p:txBody>
      </p:sp>
      <p:sp>
        <p:nvSpPr>
          <p:cNvPr id="1631" name="Google Shape;1631;p59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88925" lvl="0" indent="-28892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She </a:t>
            </a:r>
            <a:r>
              <a:rPr lang="en-US" b="1" dirty="0"/>
              <a:t>will have written </a:t>
            </a:r>
            <a:r>
              <a:rPr lang="en-US" dirty="0"/>
              <a:t>her novel by the end of this year.</a:t>
            </a:r>
            <a:endParaRPr dirty="0"/>
          </a:p>
          <a:p>
            <a:pPr marL="288925" lvl="0" indent="-28892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Vishal </a:t>
            </a:r>
            <a:r>
              <a:rPr lang="en-US" b="1" dirty="0"/>
              <a:t>will have completed </a:t>
            </a:r>
            <a:r>
              <a:rPr lang="en-US" dirty="0"/>
              <a:t>his degree by next year.</a:t>
            </a:r>
            <a:endParaRPr dirty="0"/>
          </a:p>
          <a:p>
            <a:pPr marL="288925" lvl="0" indent="-28892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They </a:t>
            </a:r>
            <a:r>
              <a:rPr lang="en-US" b="1" dirty="0"/>
              <a:t>will not have painted </a:t>
            </a:r>
            <a:r>
              <a:rPr lang="en-US" dirty="0"/>
              <a:t>the entire house by next week.</a:t>
            </a:r>
            <a:endParaRPr dirty="0"/>
          </a:p>
          <a:p>
            <a:pPr marL="288925" lvl="0" indent="-28892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He </a:t>
            </a:r>
            <a:r>
              <a:rPr lang="en-US" b="1" dirty="0"/>
              <a:t>will not have fixed </a:t>
            </a:r>
            <a:r>
              <a:rPr lang="en-US" dirty="0"/>
              <a:t>the car by tomorrow.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 </a:t>
            </a:r>
            <a:r>
              <a:rPr lang="en-US" b="1" dirty="0"/>
              <a:t>Will </a:t>
            </a:r>
            <a:r>
              <a:rPr lang="en-US" dirty="0"/>
              <a:t>the team </a:t>
            </a:r>
            <a:r>
              <a:rPr lang="en-US" b="1" dirty="0"/>
              <a:t>have won </a:t>
            </a:r>
            <a:r>
              <a:rPr lang="en-US" dirty="0"/>
              <a:t>the championship by the time you return?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AutoNum type="arabicPeriod"/>
            </a:pPr>
            <a:r>
              <a:rPr lang="en-US" dirty="0"/>
              <a:t>  </a:t>
            </a:r>
            <a:r>
              <a:rPr lang="en-US" b="1" dirty="0"/>
              <a:t>Which</a:t>
            </a:r>
            <a:r>
              <a:rPr lang="en-US" dirty="0"/>
              <a:t> car </a:t>
            </a:r>
            <a:r>
              <a:rPr lang="en-US" b="1" dirty="0"/>
              <a:t>will he have </a:t>
            </a:r>
            <a:r>
              <a:rPr lang="en-US" dirty="0"/>
              <a:t>fixed by tomorrow?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10886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dirty="0"/>
              <a:t>Perfect Continuous Future Tense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14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Perfect Continuous Future Tense</a:t>
            </a:r>
            <a:endParaRPr dirty="0"/>
          </a:p>
        </p:txBody>
      </p:sp>
      <p:sp>
        <p:nvSpPr>
          <p:cNvPr id="939" name="Google Shape;939;p31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11229007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dirty="0"/>
              <a:t>The perfect continuous future tense is used:</a:t>
            </a:r>
          </a:p>
          <a:p>
            <a:pPr marL="1001712" lvl="1" indent="-457200">
              <a:buFont typeface="Roboto Condensed"/>
              <a:buAutoNum type="arabicPeriod"/>
            </a:pPr>
            <a:r>
              <a:rPr lang="en-US" b="1" dirty="0"/>
              <a:t>To describe an action that will be in progress over a period of time and will be completed at a specific point in the future.</a:t>
            </a:r>
            <a:endParaRPr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  <a:p>
            <a:pPr marL="265113" lvl="0" indent="-873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None/>
            </a:pPr>
            <a:endParaRPr sz="28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/>
          </a:p>
        </p:txBody>
      </p:sp>
      <p:sp>
        <p:nvSpPr>
          <p:cNvPr id="11" name="Google Shape;1570;p58"/>
          <p:cNvSpPr txBox="1">
            <a:spLocks/>
          </p:cNvSpPr>
          <p:nvPr/>
        </p:nvSpPr>
        <p:spPr>
          <a:xfrm>
            <a:off x="262359" y="1733910"/>
            <a:ext cx="9095001" cy="5590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810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lvl="1" indent="-355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lvl="3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lvl="4" indent="-330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Wingdings 3" panose="05040102010807070707" pitchFamily="18" charset="2"/>
              <a:buChar char="}"/>
            </a:pPr>
            <a:r>
              <a:rPr lang="en-US" b="1" dirty="0"/>
              <a:t>Sentence pattern for perfect continuous future tense:</a:t>
            </a:r>
            <a:endParaRPr lang="en-US" dirty="0"/>
          </a:p>
          <a:p>
            <a:pPr marL="265113" indent="-258763">
              <a:buSzPts val="100"/>
              <a:buFont typeface="Noto Sans Symbols"/>
              <a:buNone/>
            </a:pPr>
            <a:endParaRPr lang="en-US" sz="100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Affirmative Sentence</a:t>
            </a:r>
            <a:endParaRPr lang="en-US" dirty="0"/>
          </a:p>
          <a:p>
            <a:pPr marL="369888" indent="-369888">
              <a:buFont typeface="Roboto Condensed"/>
              <a:buAutoNum type="arabicPeriod"/>
            </a:pP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Negative Sentence</a:t>
            </a:r>
            <a:endParaRPr lang="en-US" dirty="0"/>
          </a:p>
          <a:p>
            <a:pPr marL="369888" indent="-369888">
              <a:buFont typeface="Roboto Condensed"/>
              <a:buAutoNum type="arabicPeriod"/>
            </a:pPr>
            <a:endParaRPr lang="en-US"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69888" indent="-369888">
              <a:buFont typeface="Roboto Condensed"/>
              <a:buAutoNum type="arabicPeriod"/>
            </a:pPr>
            <a:endParaRPr lang="en-US" b="1" dirty="0"/>
          </a:p>
          <a:p>
            <a:pPr marL="369888" indent="-369888">
              <a:buFont typeface="Roboto Condensed"/>
              <a:buAutoNum type="arabicPeriod"/>
            </a:pPr>
            <a:r>
              <a:rPr lang="en-US" b="1" dirty="0">
                <a:latin typeface="Roboto Condensed"/>
                <a:ea typeface="Roboto Condensed"/>
                <a:cs typeface="Roboto Condensed"/>
                <a:sym typeface="Roboto Condensed"/>
              </a:rPr>
              <a:t>Interrogative Sentence</a:t>
            </a:r>
            <a:endParaRPr lang="en-US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  <a:p>
            <a:pPr marL="265113" indent="-87313">
              <a:buSzPts val="2800"/>
              <a:buFont typeface="Noto Sans Symbols"/>
              <a:buNone/>
            </a:pPr>
            <a:endParaRPr lang="en-US" sz="2800" dirty="0"/>
          </a:p>
          <a:p>
            <a:pPr marL="0" indent="0">
              <a:buSzPts val="2800"/>
              <a:buFont typeface="Noto Sans Symbols"/>
              <a:buNone/>
            </a:pPr>
            <a:endParaRPr lang="en-US" sz="2800" dirty="0"/>
          </a:p>
        </p:txBody>
      </p:sp>
      <p:sp>
        <p:nvSpPr>
          <p:cNvPr id="12" name="Google Shape;1592;p58"/>
          <p:cNvSpPr/>
          <p:nvPr/>
        </p:nvSpPr>
        <p:spPr>
          <a:xfrm>
            <a:off x="427846" y="2743772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1593;p58"/>
          <p:cNvSpPr/>
          <p:nvPr/>
        </p:nvSpPr>
        <p:spPr>
          <a:xfrm>
            <a:off x="3820556" y="2758934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Participle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594;p58"/>
          <p:cNvSpPr txBox="1"/>
          <p:nvPr/>
        </p:nvSpPr>
        <p:spPr>
          <a:xfrm>
            <a:off x="1417367" y="268174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595;p58"/>
          <p:cNvSpPr txBox="1"/>
          <p:nvPr/>
        </p:nvSpPr>
        <p:spPr>
          <a:xfrm>
            <a:off x="3213200" y="2681747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596;p58"/>
          <p:cNvSpPr/>
          <p:nvPr/>
        </p:nvSpPr>
        <p:spPr>
          <a:xfrm>
            <a:off x="2017149" y="2743772"/>
            <a:ext cx="1384222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 Have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Been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597;p58"/>
          <p:cNvSpPr txBox="1"/>
          <p:nvPr/>
        </p:nvSpPr>
        <p:spPr>
          <a:xfrm>
            <a:off x="5004709" y="2704651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1598;p58"/>
          <p:cNvSpPr/>
          <p:nvPr/>
        </p:nvSpPr>
        <p:spPr>
          <a:xfrm>
            <a:off x="5639809" y="2758934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19" name="Google Shape;1599;p58"/>
          <p:cNvSpPr txBox="1"/>
          <p:nvPr/>
        </p:nvSpPr>
        <p:spPr>
          <a:xfrm>
            <a:off x="6641969" y="2661154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" name="Google Shape;1600;p58"/>
          <p:cNvSpPr/>
          <p:nvPr/>
        </p:nvSpPr>
        <p:spPr>
          <a:xfrm>
            <a:off x="7247714" y="274536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21" name="Google Shape;1572;p58"/>
          <p:cNvSpPr/>
          <p:nvPr/>
        </p:nvSpPr>
        <p:spPr>
          <a:xfrm>
            <a:off x="450076" y="4085676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" name="Google Shape;1573;p58"/>
          <p:cNvSpPr/>
          <p:nvPr/>
        </p:nvSpPr>
        <p:spPr>
          <a:xfrm>
            <a:off x="2024479" y="4084982"/>
            <a:ext cx="1471057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 not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 been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1574;p58"/>
          <p:cNvSpPr txBox="1"/>
          <p:nvPr/>
        </p:nvSpPr>
        <p:spPr>
          <a:xfrm>
            <a:off x="1420996" y="401140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575;p58"/>
          <p:cNvSpPr txBox="1"/>
          <p:nvPr/>
        </p:nvSpPr>
        <p:spPr>
          <a:xfrm>
            <a:off x="3331727" y="402146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Google Shape;1576;p58"/>
          <p:cNvSpPr/>
          <p:nvPr/>
        </p:nvSpPr>
        <p:spPr>
          <a:xfrm>
            <a:off x="3928902" y="4103655"/>
            <a:ext cx="1371600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 Participle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" name="Google Shape;1577;p58"/>
          <p:cNvSpPr txBox="1"/>
          <p:nvPr/>
        </p:nvSpPr>
        <p:spPr>
          <a:xfrm>
            <a:off x="5115507" y="401140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Google Shape;1578;p58"/>
          <p:cNvSpPr/>
          <p:nvPr/>
        </p:nvSpPr>
        <p:spPr>
          <a:xfrm>
            <a:off x="5762351" y="4166640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32" name="Google Shape;1579;p58"/>
          <p:cNvSpPr txBox="1"/>
          <p:nvPr/>
        </p:nvSpPr>
        <p:spPr>
          <a:xfrm>
            <a:off x="6764511" y="4068860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" name="Google Shape;1580;p58"/>
          <p:cNvSpPr/>
          <p:nvPr/>
        </p:nvSpPr>
        <p:spPr>
          <a:xfrm>
            <a:off x="7370256" y="4153069"/>
            <a:ext cx="1188720" cy="7680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/>
          </a:p>
        </p:txBody>
      </p:sp>
      <p:sp>
        <p:nvSpPr>
          <p:cNvPr id="34" name="Google Shape;1581;p58"/>
          <p:cNvSpPr/>
          <p:nvPr/>
        </p:nvSpPr>
        <p:spPr>
          <a:xfrm>
            <a:off x="1818584" y="5475468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Google Shape;1582;p58"/>
          <p:cNvSpPr/>
          <p:nvPr/>
        </p:nvSpPr>
        <p:spPr>
          <a:xfrm>
            <a:off x="427846" y="5476505"/>
            <a:ext cx="989521" cy="7589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Wh.+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Will</a:t>
            </a:r>
            <a:endParaRPr sz="2400" b="1" dirty="0">
              <a:solidFill>
                <a:srgbClr val="301B9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" name="Google Shape;1583;p58"/>
          <p:cNvSpPr txBox="1"/>
          <p:nvPr/>
        </p:nvSpPr>
        <p:spPr>
          <a:xfrm>
            <a:off x="1212369" y="538371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" name="Google Shape;1584;p58"/>
          <p:cNvSpPr txBox="1"/>
          <p:nvPr/>
        </p:nvSpPr>
        <p:spPr>
          <a:xfrm>
            <a:off x="2798167" y="5387986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" name="Google Shape;1585;p58"/>
          <p:cNvSpPr/>
          <p:nvPr/>
        </p:nvSpPr>
        <p:spPr>
          <a:xfrm>
            <a:off x="3426490" y="5485766"/>
            <a:ext cx="1606584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Have Been P.P.</a:t>
            </a:r>
            <a:endParaRPr sz="2300" dirty="0"/>
          </a:p>
        </p:txBody>
      </p:sp>
      <p:sp>
        <p:nvSpPr>
          <p:cNvPr id="39" name="Google Shape;1586;p58"/>
          <p:cNvSpPr txBox="1"/>
          <p:nvPr/>
        </p:nvSpPr>
        <p:spPr>
          <a:xfrm>
            <a:off x="4845267" y="538371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" name="Google Shape;1587;p58"/>
          <p:cNvSpPr/>
          <p:nvPr/>
        </p:nvSpPr>
        <p:spPr>
          <a:xfrm>
            <a:off x="5434977" y="5485615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</a:t>
            </a:r>
            <a:endParaRPr/>
          </a:p>
        </p:txBody>
      </p:sp>
      <p:sp>
        <p:nvSpPr>
          <p:cNvPr id="41" name="Google Shape;1588;p58"/>
          <p:cNvSpPr txBox="1"/>
          <p:nvPr/>
        </p:nvSpPr>
        <p:spPr>
          <a:xfrm>
            <a:off x="6427198" y="5387835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" name="Google Shape;1589;p58"/>
          <p:cNvSpPr/>
          <p:nvPr/>
        </p:nvSpPr>
        <p:spPr>
          <a:xfrm>
            <a:off x="7021493" y="5454743"/>
            <a:ext cx="118872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Words</a:t>
            </a:r>
            <a:endParaRPr dirty="0"/>
          </a:p>
        </p:txBody>
      </p:sp>
      <p:sp>
        <p:nvSpPr>
          <p:cNvPr id="43" name="Google Shape;1590;p58"/>
          <p:cNvSpPr txBox="1"/>
          <p:nvPr/>
        </p:nvSpPr>
        <p:spPr>
          <a:xfrm>
            <a:off x="7986926" y="5383718"/>
            <a:ext cx="8175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+</a:t>
            </a:r>
            <a:endParaRPr sz="54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" name="Google Shape;1591;p58"/>
          <p:cNvSpPr/>
          <p:nvPr/>
        </p:nvSpPr>
        <p:spPr>
          <a:xfrm>
            <a:off x="8575767" y="5465367"/>
            <a:ext cx="365760" cy="7549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?</a:t>
            </a:r>
            <a:endParaRPr sz="2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06756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Perfect Continuous Future Tense</a:t>
            </a:r>
            <a:endParaRPr dirty="0"/>
          </a:p>
        </p:txBody>
      </p:sp>
      <p:sp>
        <p:nvSpPr>
          <p:cNvPr id="1030" name="Google Shape;1030;p34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8862787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 3" panose="05040102010807070707" pitchFamily="18" charset="2"/>
              <a:buChar char="}"/>
            </a:pPr>
            <a:r>
              <a:rPr lang="en-US" dirty="0"/>
              <a:t>Examples of </a:t>
            </a:r>
            <a:r>
              <a:rPr lang="en-US" b="1" dirty="0"/>
              <a:t>Affirmative, Negative </a:t>
            </a:r>
            <a:r>
              <a:rPr lang="en-US" dirty="0"/>
              <a:t>and </a:t>
            </a:r>
            <a:r>
              <a:rPr lang="en-US" b="1" dirty="0"/>
              <a:t>Interrogative.</a:t>
            </a:r>
            <a:endParaRPr sz="1400" b="1" dirty="0">
              <a:solidFill>
                <a:srgbClr val="301B92"/>
              </a:solidFill>
            </a:endParaRPr>
          </a:p>
          <a:p>
            <a:pPr marL="265113" lvl="0" indent="-1889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200" b="1" dirty="0">
              <a:solidFill>
                <a:srgbClr val="301B92"/>
              </a:solidFill>
            </a:endParaRPr>
          </a:p>
          <a:p>
            <a:pPr lvl="0" indent="-457200">
              <a:buAutoNum type="arabicPeriod"/>
            </a:pPr>
            <a:r>
              <a:rPr lang="en-US" dirty="0"/>
              <a:t>I </a:t>
            </a:r>
            <a:r>
              <a:rPr lang="en-US" b="1" dirty="0"/>
              <a:t>will have been studying</a:t>
            </a:r>
            <a:r>
              <a:rPr lang="en-US" dirty="0"/>
              <a:t> for six hours by the time you arrive.</a:t>
            </a:r>
          </a:p>
          <a:p>
            <a:pPr lvl="0" indent="-457200">
              <a:buAutoNum type="arabicPeriod"/>
            </a:pPr>
            <a:r>
              <a:rPr lang="en-US" dirty="0"/>
              <a:t>He </a:t>
            </a:r>
            <a:r>
              <a:rPr lang="en-US" b="1" dirty="0"/>
              <a:t>will have been living</a:t>
            </a:r>
            <a:r>
              <a:rPr lang="en-US" dirty="0"/>
              <a:t> in Mumbai for a decade by the end of this year.</a:t>
            </a:r>
          </a:p>
          <a:p>
            <a:pPr lvl="0" indent="-457200">
              <a:buAutoNum type="arabicPeriod"/>
            </a:pPr>
            <a:r>
              <a:rPr lang="en-US" dirty="0"/>
              <a:t>They </a:t>
            </a:r>
            <a:r>
              <a:rPr lang="en-US" b="1" dirty="0"/>
              <a:t>will not have been waiting</a:t>
            </a:r>
            <a:r>
              <a:rPr lang="en-US" dirty="0"/>
              <a:t> for too long when the bus arrives.</a:t>
            </a:r>
          </a:p>
          <a:p>
            <a:pPr lvl="0" indent="-457200">
              <a:buAutoNum type="arabicPeriod"/>
            </a:pPr>
            <a:r>
              <a:rPr lang="en-US" dirty="0"/>
              <a:t>She </a:t>
            </a:r>
            <a:r>
              <a:rPr lang="en-US" b="1" dirty="0"/>
              <a:t>will not have been working</a:t>
            </a:r>
            <a:r>
              <a:rPr lang="en-US" dirty="0"/>
              <a:t> there for long when the promotion comes.</a:t>
            </a:r>
          </a:p>
          <a:p>
            <a:pPr marL="355600" lvl="0" indent="-355600">
              <a:buAutoNum type="arabicPeriod"/>
            </a:pPr>
            <a:r>
              <a:rPr lang="en-US" dirty="0"/>
              <a:t> </a:t>
            </a:r>
            <a:r>
              <a:rPr lang="en-US" b="1" dirty="0"/>
              <a:t>Will you have been studying</a:t>
            </a:r>
            <a:r>
              <a:rPr lang="en-US" dirty="0"/>
              <a:t> for long when the exam starts?</a:t>
            </a:r>
          </a:p>
          <a:p>
            <a:pPr marL="355600" lvl="0" indent="-355600">
              <a:buAutoNum type="arabicPeriod"/>
            </a:pPr>
            <a:r>
              <a:rPr lang="en-US" dirty="0"/>
              <a:t> </a:t>
            </a:r>
            <a:r>
              <a:rPr lang="en-US" b="1" dirty="0"/>
              <a:t>Who</a:t>
            </a:r>
            <a:r>
              <a:rPr lang="en-US" dirty="0"/>
              <a:t> </a:t>
            </a:r>
            <a:r>
              <a:rPr lang="en-US" b="1" dirty="0"/>
              <a:t>will have been helping </a:t>
            </a:r>
            <a:r>
              <a:rPr lang="en-US" dirty="0"/>
              <a:t>you with your assignments by then?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592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24806</TotalTime>
  <Words>3025</Words>
  <Application>Microsoft Office PowerPoint</Application>
  <PresentationFormat>Widescreen</PresentationFormat>
  <Paragraphs>1228</Paragraphs>
  <Slides>49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Wingdings 3</vt:lpstr>
      <vt:lpstr>Roboto Condensed Light</vt:lpstr>
      <vt:lpstr>Calibri</vt:lpstr>
      <vt:lpstr>Teko</vt:lpstr>
      <vt:lpstr>Wingdings</vt:lpstr>
      <vt:lpstr>Noto Sans Symbols</vt:lpstr>
      <vt:lpstr>Arial</vt:lpstr>
      <vt:lpstr>Agency FB</vt:lpstr>
      <vt:lpstr>Roboto Condensed</vt:lpstr>
      <vt:lpstr>1_Office Theme</vt:lpstr>
      <vt:lpstr> Tenses  </vt:lpstr>
      <vt:lpstr>PowerPoint Presentation</vt:lpstr>
      <vt:lpstr>Types and Forms of Tenses</vt:lpstr>
      <vt:lpstr>Types and Forms of Tense</vt:lpstr>
      <vt:lpstr>Simple Present Tense</vt:lpstr>
      <vt:lpstr>Simple Present Tense</vt:lpstr>
      <vt:lpstr>Simple Present Tense</vt:lpstr>
      <vt:lpstr>Simple Present Tense</vt:lpstr>
      <vt:lpstr>Simple Present Tense</vt:lpstr>
      <vt:lpstr>Simple Present Tense</vt:lpstr>
      <vt:lpstr>Simple Present Tense</vt:lpstr>
      <vt:lpstr>Continuous Present Tense</vt:lpstr>
      <vt:lpstr>Continuous Present Tense</vt:lpstr>
      <vt:lpstr>Continuous Present Tense</vt:lpstr>
      <vt:lpstr>Continuous Present Tense</vt:lpstr>
      <vt:lpstr>Perfect Present Tense</vt:lpstr>
      <vt:lpstr>Perfect Present Tense</vt:lpstr>
      <vt:lpstr>Perfect Present Tense</vt:lpstr>
      <vt:lpstr>Perfect Present Tense</vt:lpstr>
      <vt:lpstr>Perfect Continuous Present Tense</vt:lpstr>
      <vt:lpstr>Present Perfect Continuous Tense</vt:lpstr>
      <vt:lpstr>Present Perfect Continuous Tense</vt:lpstr>
      <vt:lpstr>Present Perfect Continuous Tense</vt:lpstr>
      <vt:lpstr>Simple Past Tense</vt:lpstr>
      <vt:lpstr>Simple Past Tense</vt:lpstr>
      <vt:lpstr>Simple Past Tense</vt:lpstr>
      <vt:lpstr>Continuous Past Tense</vt:lpstr>
      <vt:lpstr>Continuous Past Tense</vt:lpstr>
      <vt:lpstr>Continuous Past Tense</vt:lpstr>
      <vt:lpstr>Perfect Past Tense</vt:lpstr>
      <vt:lpstr>Perfect Past Tense</vt:lpstr>
      <vt:lpstr>Perfect Past Tense</vt:lpstr>
      <vt:lpstr>Perfect Continuous Past Tense</vt:lpstr>
      <vt:lpstr>Perfect Continuous Past Tense</vt:lpstr>
      <vt:lpstr>Perfect Continuous Past Tense</vt:lpstr>
      <vt:lpstr>Simple Future Tense</vt:lpstr>
      <vt:lpstr>Simple Future Tense</vt:lpstr>
      <vt:lpstr>Simple Future Tense</vt:lpstr>
      <vt:lpstr>Simple Future Tense</vt:lpstr>
      <vt:lpstr>Continuous Future Tense</vt:lpstr>
      <vt:lpstr>Continuous Future Tense</vt:lpstr>
      <vt:lpstr>Continuous Future Tense</vt:lpstr>
      <vt:lpstr>Perfect Future Tense</vt:lpstr>
      <vt:lpstr>Perfect Future Tense</vt:lpstr>
      <vt:lpstr>Perfect Future Tense</vt:lpstr>
      <vt:lpstr>Perfect Continuous Future Tense</vt:lpstr>
      <vt:lpstr>Perfect Continuous Future Tense</vt:lpstr>
      <vt:lpstr>Perfect Continuous Future Tense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2286</cp:revision>
  <dcterms:created xsi:type="dcterms:W3CDTF">2020-06-11T07:03:50Z</dcterms:created>
  <dcterms:modified xsi:type="dcterms:W3CDTF">2026-08-07T03:51:08Z</dcterms:modified>
</cp:coreProperties>
</file>