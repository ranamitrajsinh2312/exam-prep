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257" r:id="rId2"/>
    <p:sldId id="459" r:id="rId3"/>
    <p:sldId id="694" r:id="rId4"/>
    <p:sldId id="736" r:id="rId5"/>
    <p:sldId id="738" r:id="rId6"/>
    <p:sldId id="740" r:id="rId7"/>
    <p:sldId id="741" r:id="rId8"/>
    <p:sldId id="742" r:id="rId9"/>
    <p:sldId id="337" r:id="rId10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Condensed Light" panose="02000000000000000000" pitchFamily="2" charset="0"/>
      <p:regular r:id="rId25"/>
      <p:italic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+hXepVk3xX2+JgeXb4XVnQ==" hashData="pdhCwQ1p+9ON+H5KwmLopHJ/G6aPqD5/bbbZns6WK6dqGJGUy33hzNi4HnENlgBzCdLAU2IfwbQ4zJo5eUacu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 Chauhan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#2501HS102 (English)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Wingdings" panose="05000000000000000000" pitchFamily="2" charset="2"/>
                <a:ea typeface="Roboto Condensed Light" panose="02000000000000000000" pitchFamily="2" charset="0"/>
                <a:cs typeface="+mn-cs"/>
              </a:rPr>
              <a:t>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- 4 – 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Para Jumble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nitin.chauhan@darshan.ac.in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9016705547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Nitin H. Chauhan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9B32553-06B4-F721-2DD8-3BE81916D6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2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23952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Techniques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Para Jumble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09AC03-D49D-4C97-A70A-C54368E7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68671" cy="559056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Anchor Rule: Finding the Opening</a:t>
            </a:r>
            <a:endParaRPr lang="en-US" dirty="0"/>
          </a:p>
          <a:p>
            <a:pPr algn="l"/>
            <a:r>
              <a:rPr lang="en-US" b="1" dirty="0"/>
              <a:t>Independent Statement:</a:t>
            </a:r>
            <a:r>
              <a:rPr lang="en-US" dirty="0"/>
              <a:t> Always introduces the topic without referring to previous data.</a:t>
            </a:r>
          </a:p>
          <a:p>
            <a:r>
              <a:rPr lang="en-US" b="1" dirty="0"/>
              <a:t>Avoid Connectors:</a:t>
            </a:r>
            <a:r>
              <a:rPr lang="en-US" dirty="0"/>
              <a:t> Never starts with "However", "Therefore", or "Consequently".</a:t>
            </a:r>
          </a:p>
          <a:p>
            <a:r>
              <a:rPr lang="en-US" b="1" dirty="0"/>
              <a:t>Full Forms:</a:t>
            </a:r>
            <a:r>
              <a:rPr lang="en-US" dirty="0"/>
              <a:t> Acronyms (e.g., TCS) follow full names (Tata Consultancy Services).</a:t>
            </a:r>
          </a:p>
          <a:p>
            <a:pPr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C84C4-CA70-4F74-86DB-4F05FDBA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Logic</a:t>
            </a:r>
            <a:endParaRPr lang="en-IN" dirty="0"/>
          </a:p>
        </p:txBody>
      </p:sp>
      <p:sp>
        <p:nvSpPr>
          <p:cNvPr id="6" name="AutoShape 2" descr="image.png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AutoShape 6" descr="image.png"/>
          <p:cNvSpPr>
            <a:spLocks noChangeAspect="1" noChangeArrowheads="1"/>
          </p:cNvSpPr>
          <p:nvPr/>
        </p:nvSpPr>
        <p:spPr bwMode="auto">
          <a:xfrm>
            <a:off x="6284233" y="39757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127B47-0FF8-4DC7-B0E4-D72A1AD6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4105"/>
            <a:ext cx="11881526" cy="5590565"/>
          </a:xfrm>
        </p:spPr>
        <p:txBody>
          <a:bodyPr/>
          <a:lstStyle/>
          <a:p>
            <a:r>
              <a:rPr lang="en-IN" b="1" dirty="0"/>
              <a:t>The Glue: Mandatory Pairs</a:t>
            </a:r>
            <a:endParaRPr lang="en-IN" dirty="0"/>
          </a:p>
          <a:p>
            <a:r>
              <a:rPr lang="en-IN" b="1" dirty="0"/>
              <a:t>Cause &amp; Effect</a:t>
            </a:r>
          </a:p>
          <a:p>
            <a:pPr lvl="1"/>
            <a:r>
              <a:rPr lang="en-US" dirty="0"/>
              <a:t>Identify pairs where one sentence states a premise and the other provides the result. Look for "Since", "Due to", "As a result".</a:t>
            </a:r>
          </a:p>
          <a:p>
            <a:pPr algn="l"/>
            <a:endParaRPr lang="en-US" sz="100" dirty="0"/>
          </a:p>
          <a:p>
            <a:r>
              <a:rPr lang="en-IN" b="1" dirty="0"/>
              <a:t>Chronological Flow</a:t>
            </a:r>
          </a:p>
          <a:p>
            <a:pPr lvl="1"/>
            <a:r>
              <a:rPr lang="en-US" dirty="0"/>
              <a:t>Time markers like "In 1990", "Then", "Later", and "Current Status" must follow a logical timeline.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8D2F9-6B35-4B16-89E8-E66DD27C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Reading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10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63882-9046-416F-84C6-C45C22EA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Pronoun Reference Logic</a:t>
            </a:r>
          </a:p>
          <a:p>
            <a:pPr algn="l"/>
            <a:r>
              <a:rPr lang="en-IN" sz="2000" b="1" dirty="0"/>
              <a:t>Noun → Pronoun Path</a:t>
            </a:r>
            <a:endParaRPr lang="en-IN" sz="2000" dirty="0"/>
          </a:p>
          <a:p>
            <a:pPr lvl="1"/>
            <a:r>
              <a:rPr lang="en-US" dirty="0"/>
              <a:t>A sentence with a pronoun (It, They, He, This, These) **cannot** precede the sentence containing the original noun.</a:t>
            </a:r>
          </a:p>
          <a:p>
            <a:r>
              <a:rPr lang="en-IN" b="1" dirty="0"/>
              <a:t>Signposts: Linking Words</a:t>
            </a:r>
            <a:endParaRPr lang="en-IN" dirty="0"/>
          </a:p>
          <a:p>
            <a:r>
              <a:rPr lang="en-US" b="1" dirty="0"/>
              <a:t>Contrast:</a:t>
            </a:r>
            <a:r>
              <a:rPr lang="en-US" dirty="0"/>
              <a:t> "But", "Yet", "However", "Nonetheless" signal a shift in logic.</a:t>
            </a:r>
          </a:p>
          <a:p>
            <a:r>
              <a:rPr lang="en-US" b="1" dirty="0"/>
              <a:t>Addition:</a:t>
            </a:r>
            <a:r>
              <a:rPr lang="en-US" dirty="0"/>
              <a:t> "Moreover", "Furthermore", "Also" indicate continuation.</a:t>
            </a:r>
          </a:p>
          <a:p>
            <a:r>
              <a:rPr lang="en-US" b="1" dirty="0"/>
              <a:t>Conclusion:</a:t>
            </a:r>
            <a:r>
              <a:rPr lang="en-US" dirty="0"/>
              <a:t> "Finally", "Hence", "Thus" usually point to the closing statement.</a:t>
            </a:r>
          </a:p>
          <a:p>
            <a:pPr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F0627-DC6D-49C0-8ED3-B732D9B1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78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5534BB-37D9-4C3E-AD3E-6A0B9B0C7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US" b="1" dirty="0"/>
              <a:t>Predict First:</a:t>
            </a:r>
            <a:r>
              <a:rPr lang="en-US" dirty="0"/>
              <a:t> Guess the end before reading options.</a:t>
            </a:r>
          </a:p>
          <a:p>
            <a:r>
              <a:rPr lang="en-US" b="1" dirty="0"/>
              <a:t>Maintain Tone:</a:t>
            </a:r>
            <a:r>
              <a:rPr lang="en-US" dirty="0"/>
              <a:t> Match the register (Formal vs Informal).</a:t>
            </a:r>
          </a:p>
          <a:p>
            <a:r>
              <a:rPr lang="en-US" b="1" dirty="0"/>
              <a:t>Scope Check:</a:t>
            </a:r>
            <a:r>
              <a:rPr lang="en-US" dirty="0"/>
              <a:t> Ensure the ending doesn't add new, unrelated info.</a:t>
            </a:r>
          </a:p>
          <a:p>
            <a:pPr algn="l"/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3BA061-C687-4612-A00F-8133BCA3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Strategy-</a:t>
            </a:r>
            <a:r>
              <a:rPr lang="en-IN" dirty="0"/>
              <a:t>Para-Completion</a:t>
            </a:r>
          </a:p>
        </p:txBody>
      </p:sp>
    </p:spTree>
    <p:extLst>
      <p:ext uri="{BB962C8B-B14F-4D97-AF65-F5344CB8AC3E}">
        <p14:creationId xmlns:p14="http://schemas.microsoft.com/office/powerpoint/2010/main" val="10232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C23806-D300-4725-B7B6-792D6172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962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Quick Recap: Quick Reference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C65805-6385-4096-ADE0-2C6399F05C32}"/>
              </a:ext>
            </a:extLst>
          </p:cNvPr>
          <p:cNvSpPr/>
          <p:nvPr/>
        </p:nvSpPr>
        <p:spPr>
          <a:xfrm>
            <a:off x="4290275" y="3134667"/>
            <a:ext cx="5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236655"/>
              </p:ext>
            </p:extLst>
          </p:nvPr>
        </p:nvGraphicFramePr>
        <p:xfrm>
          <a:off x="541637" y="1390935"/>
          <a:ext cx="11008311" cy="4332301"/>
        </p:xfrm>
        <a:graphic>
          <a:graphicData uri="http://schemas.openxmlformats.org/drawingml/2006/table">
            <a:tbl>
              <a:tblPr/>
              <a:tblGrid>
                <a:gridCol w="2006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3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892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 dirty="0">
                          <a:solidFill>
                            <a:srgbClr val="64FFDA"/>
                          </a:solidFill>
                          <a:effectLst/>
                          <a:latin typeface="+mn-lt"/>
                        </a:rPr>
                        <a:t>Technique</a:t>
                      </a:r>
                      <a:endParaRPr lang="en-IN" sz="2800" dirty="0"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 dirty="0">
                          <a:solidFill>
                            <a:srgbClr val="64FFDA"/>
                          </a:solidFill>
                          <a:effectLst/>
                          <a:latin typeface="+mn-lt"/>
                        </a:rPr>
                        <a:t>Do This</a:t>
                      </a:r>
                      <a:endParaRPr lang="en-IN" sz="2800" dirty="0"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>
                          <a:solidFill>
                            <a:srgbClr val="64FFDA"/>
                          </a:solidFill>
                          <a:effectLst/>
                          <a:latin typeface="+mn-lt"/>
                        </a:rPr>
                        <a:t>Avoid This</a:t>
                      </a:r>
                      <a:endParaRPr lang="en-IN" sz="2800"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92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Options</a:t>
                      </a:r>
                      <a:endParaRPr lang="en-IN" sz="2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Work with options early to find pairs.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Ordering all sentences mentally first.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92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Pairs</a:t>
                      </a:r>
                      <a:endParaRPr lang="en-IN" sz="2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Identify at least ONE mandatory pair.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Reading for general story context only.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55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Tone</a:t>
                      </a:r>
                      <a:endParaRPr lang="en-IN" sz="2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Match the ending to the passage's voice.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Choosing "smart-sounding" endings that shift topic.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676400" y="3006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8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23168</TotalTime>
  <Words>356</Words>
  <Application>Microsoft Office PowerPoint</Application>
  <PresentationFormat>Widescreen</PresentationFormat>
  <Paragraphs>54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1_Office Theme</vt:lpstr>
      <vt:lpstr>Para Jumble</vt:lpstr>
      <vt:lpstr>PowerPoint Presentation</vt:lpstr>
      <vt:lpstr>Para Jumble</vt:lpstr>
      <vt:lpstr>Reading Logic</vt:lpstr>
      <vt:lpstr>Reading Logic</vt:lpstr>
      <vt:lpstr>Reading Logic</vt:lpstr>
      <vt:lpstr>Strategy-Para-Completion</vt:lpstr>
      <vt:lpstr>Quick Recap: Quick 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2268</cp:revision>
  <dcterms:created xsi:type="dcterms:W3CDTF">2020-06-11T07:03:50Z</dcterms:created>
  <dcterms:modified xsi:type="dcterms:W3CDTF">2026-08-07T03:52:42Z</dcterms:modified>
</cp:coreProperties>
</file>