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1" r:id="rId1"/>
  </p:sldMasterIdLst>
  <p:notesMasterIdLst>
    <p:notesMasterId r:id="rId11"/>
  </p:notesMasterIdLst>
  <p:handoutMasterIdLst>
    <p:handoutMasterId r:id="rId12"/>
  </p:handoutMasterIdLst>
  <p:sldIdLst>
    <p:sldId id="257" r:id="rId2"/>
    <p:sldId id="459" r:id="rId3"/>
    <p:sldId id="694" r:id="rId4"/>
    <p:sldId id="587" r:id="rId5"/>
    <p:sldId id="742" r:id="rId6"/>
    <p:sldId id="743" r:id="rId7"/>
    <p:sldId id="744" r:id="rId8"/>
    <p:sldId id="745" r:id="rId9"/>
    <p:sldId id="337" r:id="rId10"/>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Roboto" panose="02000000000000000000" pitchFamily="2" charset="0"/>
      <p:regular r:id="rId17"/>
      <p:bold r:id="rId18"/>
      <p:italic r:id="rId19"/>
      <p:boldItalic r:id="rId20"/>
    </p:embeddedFont>
    <p:embeddedFont>
      <p:font typeface="Roboto Condensed" panose="02000000000000000000" pitchFamily="2" charset="0"/>
      <p:regular r:id="rId21"/>
      <p:bold r:id="rId22"/>
      <p:italic r:id="rId23"/>
      <p:boldItalic r:id="rId24"/>
    </p:embeddedFont>
    <p:embeddedFont>
      <p:font typeface="Roboto Condensed Light" panose="02000000000000000000" pitchFamily="2" charset="0"/>
      <p:regular r:id="rId25"/>
      <p:italic r:id="rId26"/>
    </p:embeddedFont>
    <p:embeddedFont>
      <p:font typeface="Wingdings 3" panose="05040102010807070707" pitchFamily="18" charset="2"/>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fm6C2NKGTQJHzQgZ0n65Q==" hashData="kgDqF0M4KiNgWkGxVbVdumURV6duhcIAtyhqm+l9irs+jmI6Omkmu63mCuXqMunOnOQXkEQM2utV2d70NHjZSA=="/>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9FE"/>
    <a:srgbClr val="C00000"/>
    <a:srgbClr val="002060"/>
    <a:srgbClr val="2981C0"/>
    <a:srgbClr val="0C77C3"/>
    <a:srgbClr val="FFFFFF"/>
    <a:srgbClr val="A0C061"/>
    <a:srgbClr val="3572EB"/>
    <a:srgbClr val="B9B9B9"/>
    <a:srgbClr val="95DD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19" autoAdjust="0"/>
    <p:restoredTop sz="96091" autoAdjust="0"/>
  </p:normalViewPr>
  <p:slideViewPr>
    <p:cSldViewPr snapToGrid="0">
      <p:cViewPr varScale="1">
        <p:scale>
          <a:sx n="85" d="100"/>
          <a:sy n="85" d="100"/>
        </p:scale>
        <p:origin x="504" y="53"/>
      </p:cViewPr>
      <p:guideLst>
        <p:guide orient="horz" pos="2160"/>
        <p:guide pos="3840"/>
      </p:guideLst>
    </p:cSldViewPr>
  </p:slideViewPr>
  <p:outlineViewPr>
    <p:cViewPr>
      <p:scale>
        <a:sx n="33" d="100"/>
        <a:sy n="33" d="100"/>
      </p:scale>
      <p:origin x="0" y="-4640"/>
    </p:cViewPr>
  </p:outlineViewPr>
  <p:notesTextViewPr>
    <p:cViewPr>
      <p:scale>
        <a:sx n="75" d="100"/>
        <a:sy n="75" d="100"/>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C35693-2F5F-4C2C-AA37-8E54880345AD}" type="datetimeFigureOut">
              <a:rPr lang="en-US" smtClean="0"/>
              <a:t>8/7/2026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8E920D-5A96-474F-9B79-F5AA1EF5E51D}" type="slidenum">
              <a:rPr lang="en-US" smtClean="0"/>
              <a:t>‹#›</a:t>
            </a:fld>
            <a:endParaRPr lang="en-US"/>
          </a:p>
        </p:txBody>
      </p:sp>
    </p:spTree>
    <p:extLst>
      <p:ext uri="{BB962C8B-B14F-4D97-AF65-F5344CB8AC3E}">
        <p14:creationId xmlns:p14="http://schemas.microsoft.com/office/powerpoint/2010/main" val="2557931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BB180-F380-4DDD-8F5B-4775C6561492}" type="datetimeFigureOut">
              <a:rPr lang="en-IN" smtClean="0"/>
              <a:t>07-08-2026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E1D88-AA76-442E-88A9-1A7935C108D4}" type="slidenum">
              <a:rPr lang="en-IN" smtClean="0"/>
              <a:t>‹#›</a:t>
            </a:fld>
            <a:endParaRPr lang="en-IN"/>
          </a:p>
        </p:txBody>
      </p:sp>
    </p:spTree>
    <p:extLst>
      <p:ext uri="{BB962C8B-B14F-4D97-AF65-F5344CB8AC3E}">
        <p14:creationId xmlns:p14="http://schemas.microsoft.com/office/powerpoint/2010/main" val="1762014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D6B6-2896-E93A-2770-A9E1E0FB3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44C6B-9C83-166A-53A7-C0FF54B76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D68C7-A354-FE2D-EE8C-7131F17184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Gif</a:t>
            </a:r>
            <a:r>
              <a:rPr lang="en-US" baseline="0" dirty="0"/>
              <a:t> Reference: </a:t>
            </a:r>
            <a:r>
              <a:rPr lang="en-IN" dirty="0"/>
              <a:t>https://tenor.com/view/tkthpsharma-gif-23317246</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IN" dirty="0"/>
          </a:p>
        </p:txBody>
      </p:sp>
      <p:sp>
        <p:nvSpPr>
          <p:cNvPr id="4" name="Slide Number Placeholder 3">
            <a:extLst>
              <a:ext uri="{FF2B5EF4-FFF2-40B4-BE49-F238E27FC236}">
                <a16:creationId xmlns:a16="http://schemas.microsoft.com/office/drawing/2014/main" id="{F201C1CB-9946-033C-7871-48CB841981E3}"/>
              </a:ext>
            </a:extLst>
          </p:cNvPr>
          <p:cNvSpPr>
            <a:spLocks noGrp="1"/>
          </p:cNvSpPr>
          <p:nvPr>
            <p:ph type="sldNum" sz="quarter" idx="10"/>
          </p:nvPr>
        </p:nvSpPr>
        <p:spPr/>
        <p:txBody>
          <a:bodyPr/>
          <a:lstStyle/>
          <a:p>
            <a:fld id="{EFBE1D88-AA76-442E-88A9-1A7935C108D4}" type="slidenum">
              <a:rPr lang="en-IN" smtClean="0"/>
              <a:t>3</a:t>
            </a:fld>
            <a:endParaRPr lang="en-IN"/>
          </a:p>
        </p:txBody>
      </p:sp>
    </p:spTree>
    <p:extLst>
      <p:ext uri="{BB962C8B-B14F-4D97-AF65-F5344CB8AC3E}">
        <p14:creationId xmlns:p14="http://schemas.microsoft.com/office/powerpoint/2010/main" val="1175686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87F6-5070-25DD-D2E7-D65D731B8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44BEC-70FD-6B2D-4499-6C7EA9087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7E0E6-8CD0-A6CB-95B1-EB8D062B9C3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a:extLst>
              <a:ext uri="{FF2B5EF4-FFF2-40B4-BE49-F238E27FC236}">
                <a16:creationId xmlns:a16="http://schemas.microsoft.com/office/drawing/2014/main" id="{7BCBA5CE-E809-D23E-A902-78EC7CBFC6DB}"/>
              </a:ext>
            </a:extLst>
          </p:cNvPr>
          <p:cNvSpPr>
            <a:spLocks noGrp="1"/>
          </p:cNvSpPr>
          <p:nvPr>
            <p:ph type="sldNum" sz="quarter" idx="10"/>
          </p:nvPr>
        </p:nvSpPr>
        <p:spPr/>
        <p:txBody>
          <a:bodyPr/>
          <a:lstStyle/>
          <a:p>
            <a:fld id="{EFBE1D88-AA76-442E-88A9-1A7935C108D4}" type="slidenum">
              <a:rPr lang="en-IN" smtClean="0"/>
              <a:t>4</a:t>
            </a:fld>
            <a:endParaRPr lang="en-IN" dirty="0"/>
          </a:p>
        </p:txBody>
      </p:sp>
    </p:spTree>
    <p:extLst>
      <p:ext uri="{BB962C8B-B14F-4D97-AF65-F5344CB8AC3E}">
        <p14:creationId xmlns:p14="http://schemas.microsoft.com/office/powerpoint/2010/main" val="1983128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1"/>
        <p:cNvGrpSpPr/>
        <p:nvPr/>
      </p:nvGrpSpPr>
      <p:grpSpPr>
        <a:xfrm>
          <a:off x="0" y="0"/>
          <a:ext cx="0" cy="0"/>
          <a:chOff x="0" y="0"/>
          <a:chExt cx="0" cy="0"/>
        </a:xfrm>
      </p:grpSpPr>
      <p:sp>
        <p:nvSpPr>
          <p:cNvPr id="2092" name="Google Shape;2092;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3" name="Google Shape;2093;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021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2.png"/><Relationship Id="rId5" Type="http://schemas.openxmlformats.org/officeDocument/2006/relationships/image" Target="../media/image8.png"/><Relationship Id="rId10"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0" y="761866"/>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090100" y="962971"/>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2"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
        <p:nvSpPr>
          <p:cNvPr id="23"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#2301HS102</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(English)</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Unit 1 - Parts of Speech</a:t>
            </a:r>
          </a:p>
        </p:txBody>
      </p:sp>
    </p:spTree>
    <p:extLst>
      <p:ext uri="{BB962C8B-B14F-4D97-AF65-F5344CB8AC3E}">
        <p14:creationId xmlns:p14="http://schemas.microsoft.com/office/powerpoint/2010/main" val="265330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28104" y="5850944"/>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2" y="6858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#2301HS102</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(English)</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Unit 1 - Parts of Speech</a:t>
            </a:r>
          </a:p>
        </p:txBody>
      </p:sp>
      <p:sp>
        <p:nvSpPr>
          <p:cNvPr id="16"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2532317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08039" y="5952522"/>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8"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kern="1200" dirty="0">
                <a:solidFill>
                  <a:srgbClr val="212121">
                    <a:lumMod val="90000"/>
                    <a:lumOff val="10000"/>
                  </a:srgbClr>
                </a:solidFill>
                <a:latin typeface="+mn-lt"/>
                <a:ea typeface="Roboto Condensed Light" panose="02000000000000000000" pitchFamily="2" charset="0"/>
                <a:cs typeface="+mn-cs"/>
              </a:rPr>
              <a:t>#2501HS102</a:t>
            </a:r>
            <a:r>
              <a:rPr lang="en-US" sz="1200" kern="1200" baseline="0" dirty="0">
                <a:solidFill>
                  <a:srgbClr val="212121">
                    <a:lumMod val="90000"/>
                    <a:lumOff val="10000"/>
                  </a:srgbClr>
                </a:solidFill>
                <a:latin typeface="+mn-lt"/>
                <a:ea typeface="Roboto Condensed Light" panose="02000000000000000000" pitchFamily="2" charset="0"/>
                <a:cs typeface="+mn-cs"/>
              </a:rPr>
              <a:t> </a:t>
            </a:r>
            <a:r>
              <a:rPr lang="en-US" sz="1200" kern="1200" dirty="0">
                <a:solidFill>
                  <a:srgbClr val="212121">
                    <a:lumMod val="90000"/>
                    <a:lumOff val="10000"/>
                  </a:srgbClr>
                </a:solidFill>
                <a:latin typeface="+mn-lt"/>
                <a:ea typeface="Roboto Condensed Light" panose="02000000000000000000" pitchFamily="2" charset="0"/>
                <a:cs typeface="+mn-cs"/>
              </a:rPr>
              <a:t>(English)</a:t>
            </a:r>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Unit - 4 </a:t>
            </a:r>
            <a:r>
              <a:rPr lang="en-US" sz="1200" kern="1200" dirty="0">
                <a:solidFill>
                  <a:srgbClr val="212121">
                    <a:lumMod val="90000"/>
                    <a:lumOff val="10000"/>
                  </a:srgbClr>
                </a:solidFill>
                <a:latin typeface="+mn-lt"/>
                <a:ea typeface="Roboto Condensed Light" panose="02000000000000000000" pitchFamily="2" charset="0"/>
                <a:cs typeface="+mn-cs"/>
              </a:rPr>
              <a:t>Essential Grammar</a:t>
            </a: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Nitin Chauhan</a:t>
            </a:r>
          </a:p>
        </p:txBody>
      </p:sp>
    </p:spTree>
    <p:extLst>
      <p:ext uri="{BB962C8B-B14F-4D97-AF65-F5344CB8AC3E}">
        <p14:creationId xmlns:p14="http://schemas.microsoft.com/office/powerpoint/2010/main" val="2785172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08039" y="5952522"/>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#2501HS102</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(English)</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Unit - 4 </a:t>
            </a:r>
            <a:r>
              <a:rPr lang="en-US" dirty="0">
                <a:solidFill>
                  <a:srgbClr val="212121">
                    <a:lumMod val="90000"/>
                    <a:lumOff val="10000"/>
                  </a:srgbClr>
                </a:solidFill>
                <a:latin typeface="+mj-lt"/>
                <a:ea typeface="Roboto Condensed Light" panose="02000000000000000000" pitchFamily="2" charset="0"/>
              </a:rPr>
              <a:t>Essential Grammar</a:t>
            </a:r>
          </a:p>
        </p:txBody>
      </p:sp>
      <p:sp>
        <p:nvSpPr>
          <p:cNvPr id="13"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391484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1"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lumMod val="90000"/>
                    <a:lumOff val="10000"/>
                  </a:srgbClr>
                </a:solidFill>
                <a:effectLst/>
                <a:uLnTx/>
                <a:uFillTx/>
                <a:latin typeface="Roboto Condensed Light" panose="02000000000000000000" pitchFamily="2" charset="0"/>
                <a:ea typeface="Roboto Condensed Light" panose="02000000000000000000" pitchFamily="2" charset="0"/>
                <a:cs typeface="+mn-cs"/>
              </a:rPr>
              <a:t> </a:t>
            </a:r>
            <a:r>
              <a:rPr kumimoji="0" lang="en-US" sz="1200" b="0" i="0" u="none" strike="noStrike" kern="1200" cap="none" spc="0" normalizeH="0" baseline="0" noProof="0" dirty="0">
                <a:ln>
                  <a:noFill/>
                </a:ln>
                <a:solidFill>
                  <a:srgbClr val="212121">
                    <a:lumMod val="90000"/>
                    <a:lumOff val="10000"/>
                  </a:srgbClr>
                </a:solidFill>
                <a:effectLst/>
                <a:uLnTx/>
                <a:uFillTx/>
                <a:latin typeface="Roboto Condensed"/>
                <a:ea typeface="Roboto Condensed Light" panose="02000000000000000000" pitchFamily="2" charset="0"/>
                <a:cs typeface="+mn-cs"/>
              </a:rPr>
              <a:t>#2501HS102 (English)</a:t>
            </a:r>
            <a:r>
              <a:rPr kumimoji="0" lang="en-US" sz="1200" b="0" i="0" u="none" strike="noStrike" kern="1200" cap="none" spc="0" normalizeH="0" baseline="0" noProof="0" dirty="0">
                <a:ln>
                  <a:noFill/>
                </a:ln>
                <a:solidFill>
                  <a:srgbClr val="212121">
                    <a:lumMod val="90000"/>
                    <a:lumOff val="10000"/>
                  </a:srgbClr>
                </a:solidFill>
                <a:effectLst/>
                <a:uLnTx/>
                <a:uFillTx/>
                <a:latin typeface="Roboto Condensed Light" panose="02000000000000000000" pitchFamily="2" charset="0"/>
                <a:ea typeface="Roboto Condensed Light" panose="02000000000000000000" pitchFamily="2" charset="0"/>
                <a:cs typeface="+mn-cs"/>
              </a:rPr>
              <a:t> </a:t>
            </a:r>
            <a:r>
              <a:rPr kumimoji="0" lang="en-US" sz="1200" b="0" i="0" u="none" strike="noStrike" kern="1200" cap="none" spc="0" normalizeH="0" baseline="0" noProof="0" dirty="0">
                <a:ln>
                  <a:noFill/>
                </a:ln>
                <a:solidFill>
                  <a:srgbClr val="212121">
                    <a:lumMod val="90000"/>
                    <a:lumOff val="10000"/>
                  </a:srgbClr>
                </a:solidFill>
                <a:effectLst/>
                <a:uLnTx/>
                <a:uFillTx/>
                <a:latin typeface="Wingdings" panose="05000000000000000000" pitchFamily="2" charset="2"/>
                <a:ea typeface="Roboto Condensed Light" panose="02000000000000000000" pitchFamily="2" charset="0"/>
                <a:cs typeface="+mn-cs"/>
              </a:rPr>
              <a:t></a:t>
            </a:r>
            <a:r>
              <a:rPr kumimoji="0" lang="en-US" sz="1200" b="0" i="0" u="none" strike="noStrike" kern="1200" cap="none" spc="0" normalizeH="0" baseline="0" noProof="0" dirty="0">
                <a:ln>
                  <a:noFill/>
                </a:ln>
                <a:solidFill>
                  <a:srgbClr val="212121">
                    <a:lumMod val="90000"/>
                    <a:lumOff val="10000"/>
                  </a:srgbClr>
                </a:solidFill>
                <a:effectLst/>
                <a:uLnTx/>
                <a:uFillTx/>
                <a:latin typeface="Roboto Condensed Light" panose="02000000000000000000" pitchFamily="2" charset="0"/>
                <a:ea typeface="Roboto Condensed Light" panose="02000000000000000000" pitchFamily="2" charset="0"/>
                <a:cs typeface="+mn-cs"/>
              </a:rPr>
              <a:t> </a:t>
            </a:r>
            <a:r>
              <a:rPr kumimoji="0" lang="en-US" sz="1200" b="0" i="0" u="none" strike="noStrike" kern="1200" cap="none" spc="0" normalizeH="0" baseline="0" noProof="0" dirty="0">
                <a:ln>
                  <a:noFill/>
                </a:ln>
                <a:solidFill>
                  <a:srgbClr val="212121"/>
                </a:solidFill>
                <a:effectLst/>
                <a:uLnTx/>
                <a:uFillTx/>
                <a:latin typeface="Roboto Condensed" panose="02000000000000000000" pitchFamily="2" charset="0"/>
                <a:ea typeface="Roboto Condensed" panose="02000000000000000000" pitchFamily="2" charset="0"/>
                <a:cs typeface="Roboto Condensed" panose="02000000000000000000" pitchFamily="2" charset="0"/>
              </a:rPr>
              <a:t>Unit - 4 </a:t>
            </a:r>
            <a:r>
              <a:rPr kumimoji="0" lang="en-US" sz="1200" b="0" i="0" u="none" strike="noStrike" kern="1200" cap="none" spc="0" normalizeH="0" baseline="0" noProof="0" dirty="0">
                <a:ln>
                  <a:noFill/>
                </a:ln>
                <a:solidFill>
                  <a:srgbClr val="212121">
                    <a:lumMod val="90000"/>
                    <a:lumOff val="10000"/>
                  </a:srgbClr>
                </a:solidFill>
                <a:effectLst/>
                <a:uLnTx/>
                <a:uFillTx/>
                <a:latin typeface="Roboto Condensed"/>
                <a:ea typeface="Roboto Condensed Light" panose="02000000000000000000" pitchFamily="2" charset="0"/>
                <a:cs typeface="+mn-cs"/>
              </a:rPr>
              <a:t>Essential Grammar</a:t>
            </a:r>
          </a:p>
        </p:txBody>
      </p:sp>
      <p:sp>
        <p:nvSpPr>
          <p:cNvPr id="13"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141473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92111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34543" y="921114"/>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kern="1200" dirty="0">
                <a:solidFill>
                  <a:srgbClr val="212121">
                    <a:lumMod val="90000"/>
                    <a:lumOff val="10000"/>
                  </a:srgbClr>
                </a:solidFill>
                <a:latin typeface="+mn-lt"/>
                <a:ea typeface="Roboto Condensed Light" panose="02000000000000000000" pitchFamily="2" charset="0"/>
                <a:cs typeface="+mn-cs"/>
              </a:rPr>
              <a:t>#2501HS102</a:t>
            </a:r>
            <a:r>
              <a:rPr lang="en-US" sz="1200" kern="1200" baseline="0" dirty="0">
                <a:solidFill>
                  <a:srgbClr val="212121">
                    <a:lumMod val="90000"/>
                    <a:lumOff val="10000"/>
                  </a:srgbClr>
                </a:solidFill>
                <a:latin typeface="+mn-lt"/>
                <a:ea typeface="Roboto Condensed Light" panose="02000000000000000000" pitchFamily="2" charset="0"/>
                <a:cs typeface="+mn-cs"/>
              </a:rPr>
              <a:t> </a:t>
            </a:r>
            <a:r>
              <a:rPr lang="en-US" sz="1200" kern="1200" dirty="0">
                <a:solidFill>
                  <a:srgbClr val="212121">
                    <a:lumMod val="90000"/>
                    <a:lumOff val="10000"/>
                  </a:srgbClr>
                </a:solidFill>
                <a:latin typeface="+mn-lt"/>
                <a:ea typeface="Roboto Condensed Light" panose="02000000000000000000" pitchFamily="2" charset="0"/>
                <a:cs typeface="+mn-cs"/>
              </a:rPr>
              <a:t>(English)</a:t>
            </a:r>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kern="1200" dirty="0">
                <a:solidFill>
                  <a:srgbClr val="212121">
                    <a:lumMod val="90000"/>
                    <a:lumOff val="10000"/>
                  </a:srgbClr>
                </a:solidFill>
                <a:latin typeface="+mn-lt"/>
                <a:ea typeface="Roboto Condensed Light" panose="02000000000000000000" pitchFamily="2" charset="0"/>
                <a:cs typeface="+mn-cs"/>
              </a:rPr>
              <a:t>Unit - 4 Essential Grammar</a:t>
            </a:r>
          </a:p>
        </p:txBody>
      </p:sp>
      <p:sp>
        <p:nvSpPr>
          <p:cNvPr id="12"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294706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29"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cxnSp>
        <p:nvCxnSpPr>
          <p:cNvPr id="30" name="Straight Connector 2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86BF578-C91A-4942-95D5-11408C3CCACF}"/>
              </a:ext>
            </a:extLst>
          </p:cNvPr>
          <p:cNvCxnSpPr/>
          <p:nvPr userDrawn="1"/>
        </p:nvCxnSpPr>
        <p:spPr>
          <a:xfrm>
            <a:off x="9053"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33" name="Picture 32">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kern="1200" dirty="0">
                <a:solidFill>
                  <a:srgbClr val="212121">
                    <a:lumMod val="90000"/>
                    <a:lumOff val="10000"/>
                  </a:srgbClr>
                </a:solidFill>
                <a:latin typeface="+mn-lt"/>
                <a:ea typeface="Roboto Condensed Light" panose="02000000000000000000" pitchFamily="2" charset="0"/>
                <a:cs typeface="+mn-cs"/>
              </a:rPr>
              <a:t>#2501HS102</a:t>
            </a:r>
            <a:r>
              <a:rPr lang="en-US" sz="1200" kern="1200" baseline="0" dirty="0">
                <a:solidFill>
                  <a:srgbClr val="212121">
                    <a:lumMod val="90000"/>
                    <a:lumOff val="10000"/>
                  </a:srgbClr>
                </a:solidFill>
                <a:latin typeface="+mn-lt"/>
                <a:ea typeface="Roboto Condensed Light" panose="02000000000000000000" pitchFamily="2" charset="0"/>
                <a:cs typeface="+mn-cs"/>
              </a:rPr>
              <a:t> </a:t>
            </a:r>
            <a:r>
              <a:rPr lang="en-US" sz="1200" kern="1200" dirty="0">
                <a:solidFill>
                  <a:srgbClr val="212121">
                    <a:lumMod val="90000"/>
                    <a:lumOff val="10000"/>
                  </a:srgbClr>
                </a:solidFill>
                <a:latin typeface="+mn-lt"/>
                <a:ea typeface="Roboto Condensed Light" panose="02000000000000000000" pitchFamily="2" charset="0"/>
                <a:cs typeface="+mn-cs"/>
              </a:rPr>
              <a:t>(English)</a:t>
            </a:r>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sz="1200" kern="1200" dirty="0">
                <a:solidFill>
                  <a:srgbClr val="212121">
                    <a:lumMod val="90000"/>
                    <a:lumOff val="10000"/>
                  </a:srgbClr>
                </a:solidFill>
                <a:latin typeface="+mn-lt"/>
                <a:ea typeface="Roboto Condensed Light" panose="02000000000000000000" pitchFamily="2" charset="0"/>
                <a:cs typeface="+mn-cs"/>
              </a:rPr>
              <a:t>Unit - 4 Essential Grammar</a:t>
            </a:r>
          </a:p>
        </p:txBody>
      </p:sp>
      <p:sp>
        <p:nvSpPr>
          <p:cNvPr id="36" name="Date Placeholder 1">
            <a:extLst>
              <a:ext uri="{FF2B5EF4-FFF2-40B4-BE49-F238E27FC236}">
                <a16:creationId xmlns:a16="http://schemas.microsoft.com/office/drawing/2014/main" id="{CA463A36-7025-4394-9467-8A3EC3425B00}"/>
              </a:ext>
            </a:extLst>
          </p:cNvPr>
          <p:cNvSpPr txBox="1">
            <a:spLocks/>
          </p:cNvSpPr>
          <p:nvPr userDrawn="1"/>
        </p:nvSpPr>
        <p:spPr>
          <a:xfrm>
            <a:off x="847253" y="6608527"/>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1955476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77041" y="242508"/>
            <a:ext cx="1649043" cy="501287"/>
            <a:chOff x="10721798" y="852808"/>
            <a:chExt cx="1339023" cy="407045"/>
          </a:xfrm>
        </p:grpSpPr>
        <p:pic>
          <p:nvPicPr>
            <p:cNvPr id="16" name="Picture 15">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#2301HS102</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(English)</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Unit 1 - Parts of Speech</a:t>
            </a:r>
          </a:p>
        </p:txBody>
      </p:sp>
      <p:sp>
        <p:nvSpPr>
          <p:cNvPr id="10"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3795758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42441" y="5980196"/>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#2301HS102</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(English)</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Unit 1 - Parts of Speech</a:t>
            </a:r>
          </a:p>
        </p:txBody>
      </p:sp>
      <p:sp>
        <p:nvSpPr>
          <p:cNvPr id="10"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3391409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81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934152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7" name="Group 16">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8" name="Picture 17">
              <a:extLst>
                <a:ext uri="{FF2B5EF4-FFF2-40B4-BE49-F238E27FC236}">
                  <a16:creationId xmlns:a16="http://schemas.microsoft.com/office/drawing/2014/main" id="{538C9597-8AB6-41B2-8903-FB3D0B47ADD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6667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A1721-8CF9-09D4-7B12-699E396EF4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72E8E8-F1D1-9CEB-19A2-607B5CDC6290}"/>
              </a:ext>
            </a:extLst>
          </p:cNvPr>
          <p:cNvSpPr>
            <a:spLocks noGrp="1"/>
          </p:cNvSpPr>
          <p:nvPr>
            <p:ph type="dt" sz="half" idx="10"/>
          </p:nvPr>
        </p:nvSpPr>
        <p:spPr/>
        <p:txBody>
          <a:bodyPr/>
          <a:lstStyle/>
          <a:p>
            <a:fld id="{9CD21B45-1703-4330-B544-825BD8F37AF2}" type="datetimeFigureOut">
              <a:rPr lang="en-US" smtClean="0">
                <a:solidFill>
                  <a:srgbClr val="212121">
                    <a:tint val="75000"/>
                  </a:srgbClr>
                </a:solidFill>
              </a:rPr>
              <a:pPr/>
              <a:t>8/7/2026</a:t>
            </a:fld>
            <a:endParaRPr lang="en-US">
              <a:solidFill>
                <a:srgbClr val="212121">
                  <a:tint val="75000"/>
                </a:srgbClr>
              </a:solidFill>
            </a:endParaRPr>
          </a:p>
        </p:txBody>
      </p:sp>
      <p:sp>
        <p:nvSpPr>
          <p:cNvPr id="4" name="Footer Placeholder 3">
            <a:extLst>
              <a:ext uri="{FF2B5EF4-FFF2-40B4-BE49-F238E27FC236}">
                <a16:creationId xmlns:a16="http://schemas.microsoft.com/office/drawing/2014/main" id="{5F978542-39B3-1981-0439-143C4EAFD3F6}"/>
              </a:ext>
            </a:extLst>
          </p:cNvPr>
          <p:cNvSpPr>
            <a:spLocks noGrp="1"/>
          </p:cNvSpPr>
          <p:nvPr>
            <p:ph type="ftr" sz="quarter" idx="11"/>
          </p:nvPr>
        </p:nvSpPr>
        <p:spPr/>
        <p:txBody>
          <a:bodyPr/>
          <a:lstStyle/>
          <a:p>
            <a:endParaRPr lang="en-US">
              <a:solidFill>
                <a:srgbClr val="212121">
                  <a:tint val="75000"/>
                </a:srgbClr>
              </a:solidFill>
            </a:endParaRPr>
          </a:p>
        </p:txBody>
      </p:sp>
      <p:sp>
        <p:nvSpPr>
          <p:cNvPr id="5" name="Slide Number Placeholder 4">
            <a:extLst>
              <a:ext uri="{FF2B5EF4-FFF2-40B4-BE49-F238E27FC236}">
                <a16:creationId xmlns:a16="http://schemas.microsoft.com/office/drawing/2014/main" id="{746DC2D7-54FF-1FD8-3A27-F62D6E72FA31}"/>
              </a:ext>
            </a:extLst>
          </p:cNvPr>
          <p:cNvSpPr>
            <a:spLocks noGrp="1"/>
          </p:cNvSpPr>
          <p:nvPr>
            <p:ph type="sldNum" sz="quarter" idx="12"/>
          </p:nvPr>
        </p:nvSpPr>
        <p:spPr/>
        <p:txBody>
          <a:body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165114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52807"/>
            <a:ext cx="11929641" cy="5601201"/>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oogle Shape;60;p54"/>
          <p:cNvGrpSpPr/>
          <p:nvPr userDrawn="1"/>
        </p:nvGrpSpPr>
        <p:grpSpPr>
          <a:xfrm>
            <a:off x="10721798" y="852808"/>
            <a:ext cx="1339024" cy="407045"/>
            <a:chOff x="10721798" y="852808"/>
            <a:chExt cx="1339024" cy="407045"/>
          </a:xfrm>
        </p:grpSpPr>
        <p:pic>
          <p:nvPicPr>
            <p:cNvPr id="15" name="Google Shape;61;p54"/>
            <p:cNvPicPr preferRelativeResize="0"/>
            <p:nvPr/>
          </p:nvPicPr>
          <p:blipFill rotWithShape="1">
            <a:blip r:embed="rId3">
              <a:alphaModFix/>
            </a:blip>
            <a:srcRect/>
            <a:stretch/>
          </p:blipFill>
          <p:spPr>
            <a:xfrm>
              <a:off x="10721798" y="852808"/>
              <a:ext cx="1339022" cy="407045"/>
            </a:xfrm>
            <a:prstGeom prst="rect">
              <a:avLst/>
            </a:prstGeom>
            <a:noFill/>
            <a:ln>
              <a:noFill/>
            </a:ln>
          </p:spPr>
        </p:pic>
        <p:sp>
          <p:nvSpPr>
            <p:cNvPr id="21" name="Google Shape;62;p54"/>
            <p:cNvSpPr/>
            <p:nvPr/>
          </p:nvSpPr>
          <p:spPr>
            <a:xfrm>
              <a:off x="10721799" y="852808"/>
              <a:ext cx="1339022" cy="407044"/>
            </a:xfrm>
            <a:prstGeom prst="rect">
              <a:avLst/>
            </a:pr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gr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#2301HS102</a:t>
            </a:r>
            <a:r>
              <a:rPr lang="en-US" baseline="0" dirty="0">
                <a:solidFill>
                  <a:srgbClr val="212121">
                    <a:lumMod val="90000"/>
                    <a:lumOff val="10000"/>
                  </a:srgbClr>
                </a:solidFill>
                <a:latin typeface="+mj-lt"/>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(English)</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a:t>
            </a:r>
            <a:r>
              <a:rPr lang="en-US" dirty="0">
                <a:solidFill>
                  <a:srgbClr val="212121">
                    <a:lumMod val="90000"/>
                    <a:lumOff val="10000"/>
                  </a:srgbClr>
                </a:solidFill>
                <a:latin typeface="+mj-lt"/>
                <a:ea typeface="Roboto Condensed Light" panose="02000000000000000000" pitchFamily="2" charset="0"/>
              </a:rPr>
              <a:t>Unit - 4 – Essential Grammar</a:t>
            </a: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Dr. </a:t>
            </a:r>
            <a:r>
              <a:rPr lang="en-US" dirty="0" err="1">
                <a:solidFill>
                  <a:srgbClr val="212121">
                    <a:lumMod val="90000"/>
                    <a:lumOff val="10000"/>
                  </a:srgbClr>
                </a:solidFill>
                <a:latin typeface="+mj-lt"/>
                <a:ea typeface="Roboto Condensed Light" panose="02000000000000000000" pitchFamily="2" charset="0"/>
              </a:rPr>
              <a:t>Nitin</a:t>
            </a:r>
            <a:r>
              <a:rPr lang="en-US" dirty="0">
                <a:solidFill>
                  <a:srgbClr val="212121">
                    <a:lumMod val="90000"/>
                    <a:lumOff val="10000"/>
                  </a:srgbClr>
                </a:solidFill>
                <a:latin typeface="+mj-lt"/>
                <a:ea typeface="Roboto Condensed Light" panose="02000000000000000000" pitchFamily="2" charset="0"/>
              </a:rPr>
              <a:t> Chauhan</a:t>
            </a:r>
          </a:p>
        </p:txBody>
      </p:sp>
    </p:spTree>
    <p:extLst>
      <p:ext uri="{BB962C8B-B14F-4D97-AF65-F5344CB8AC3E}">
        <p14:creationId xmlns:p14="http://schemas.microsoft.com/office/powerpoint/2010/main" val="3062504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14088" y="-5993"/>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298272" y="1999976"/>
            <a:ext cx="2973402" cy="3211274"/>
          </a:xfrm>
          <a:prstGeom prst="rect">
            <a:avLst/>
          </a:prstGeom>
        </p:spPr>
      </p:pic>
    </p:spTree>
    <p:extLst>
      <p:ext uri="{BB962C8B-B14F-4D97-AF65-F5344CB8AC3E}">
        <p14:creationId xmlns:p14="http://schemas.microsoft.com/office/powerpoint/2010/main" val="3426436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8/7/2026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628999165"/>
      </p:ext>
    </p:extLst>
  </p:cSld>
  <p:clrMap bg1="lt1" tx1="dk1" bg2="lt2" tx2="dk2" accent1="accent1" accent2="accent2" accent3="accent3" accent4="accent4" accent5="accent5" accent6="accent6" hlink="hlink" folHlink="folHlink"/>
  <p:sldLayoutIdLst>
    <p:sldLayoutId id="2147483718" r:id="rId1"/>
    <p:sldLayoutId id="2147483725" r:id="rId2"/>
    <p:sldLayoutId id="2147483719" r:id="rId3"/>
    <p:sldLayoutId id="2147483724" r:id="rId4"/>
    <p:sldLayoutId id="2147483720" r:id="rId5"/>
    <p:sldLayoutId id="2147483663" r:id="rId6"/>
    <p:sldLayoutId id="2147483689" r:id="rId7"/>
    <p:sldLayoutId id="2147483667" r:id="rId8"/>
    <p:sldLayoutId id="2147483669" r:id="rId9"/>
    <p:sldLayoutId id="2147483670" r:id="rId10"/>
    <p:sldLayoutId id="2147483671" r:id="rId11"/>
    <p:sldLayoutId id="2147483705" r:id="rId12"/>
    <p:sldLayoutId id="2147483727" r:id="rId13"/>
    <p:sldLayoutId id="2147483726" r:id="rId14"/>
    <p:sldLayoutId id="214748372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mailto:Swati.sharma@darshan.ac.in" TargetMode="Externa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33F9D0-79AF-43AC-AF9D-363E78BA5BD3}"/>
              </a:ext>
            </a:extLst>
          </p:cNvPr>
          <p:cNvSpPr>
            <a:spLocks noGrp="1"/>
          </p:cNvSpPr>
          <p:nvPr>
            <p:ph type="ctrTitle"/>
          </p:nvPr>
        </p:nvSpPr>
        <p:spPr>
          <a:xfrm>
            <a:off x="789218" y="1327132"/>
            <a:ext cx="7276373" cy="2848166"/>
          </a:xfrm>
        </p:spPr>
        <p:txBody>
          <a:bodyPr/>
          <a:lstStyle/>
          <a:p>
            <a:r>
              <a:rPr lang="en-US" dirty="0">
                <a:ea typeface="Roboto Condensed Light" panose="02000000000000000000" pitchFamily="2" charset="0"/>
              </a:rPr>
              <a:t>Email Writing</a:t>
            </a:r>
            <a:br>
              <a:rPr lang="en-US" dirty="0">
                <a:ea typeface="Roboto Condensed Light" panose="02000000000000000000" pitchFamily="2" charset="0"/>
              </a:rPr>
            </a:br>
            <a:endParaRPr lang="en-US" sz="1800" dirty="0">
              <a:latin typeface="Roboto" panose="02000000000000000000" pitchFamily="2" charset="0"/>
              <a:ea typeface="Roboto" panose="02000000000000000000" pitchFamily="2" charset="0"/>
            </a:endParaRPr>
          </a:p>
        </p:txBody>
      </p:sp>
      <p:sp>
        <p:nvSpPr>
          <p:cNvPr id="10" name="Text Placeholder 9">
            <a:extLst>
              <a:ext uri="{FF2B5EF4-FFF2-40B4-BE49-F238E27FC236}">
                <a16:creationId xmlns:a16="http://schemas.microsoft.com/office/drawing/2014/main" id="{96EA47D8-8426-4DBD-BFF3-4005B9628AC4}"/>
              </a:ext>
            </a:extLst>
          </p:cNvPr>
          <p:cNvSpPr>
            <a:spLocks noGrp="1"/>
          </p:cNvSpPr>
          <p:nvPr>
            <p:ph type="body" sz="quarter" idx="11"/>
          </p:nvPr>
        </p:nvSpPr>
        <p:spPr/>
        <p:txBody>
          <a:bodyPr/>
          <a:lstStyle/>
          <a:p>
            <a:r>
              <a:rPr lang="en-US" dirty="0">
                <a:hlinkClick r:id="rId2"/>
              </a:rPr>
              <a:t>nitin.chauhan@darshan.ac.in</a:t>
            </a:r>
            <a:r>
              <a:rPr lang="en-US" dirty="0"/>
              <a:t>	</a:t>
            </a:r>
          </a:p>
        </p:txBody>
      </p:sp>
      <p:sp>
        <p:nvSpPr>
          <p:cNvPr id="11" name="Text Placeholder 10">
            <a:extLst>
              <a:ext uri="{FF2B5EF4-FFF2-40B4-BE49-F238E27FC236}">
                <a16:creationId xmlns:a16="http://schemas.microsoft.com/office/drawing/2014/main" id="{04B68CD4-73FE-4D9C-A25E-10B975B94733}"/>
              </a:ext>
            </a:extLst>
          </p:cNvPr>
          <p:cNvSpPr>
            <a:spLocks noGrp="1"/>
          </p:cNvSpPr>
          <p:nvPr>
            <p:ph type="body" sz="quarter" idx="12"/>
          </p:nvPr>
        </p:nvSpPr>
        <p:spPr/>
        <p:txBody>
          <a:bodyPr/>
          <a:lstStyle/>
          <a:p>
            <a:r>
              <a:rPr lang="en-IN" dirty="0"/>
              <a:t>9016705547</a:t>
            </a:r>
          </a:p>
        </p:txBody>
      </p:sp>
      <p:sp>
        <p:nvSpPr>
          <p:cNvPr id="12" name="Text Placeholder 11">
            <a:extLst>
              <a:ext uri="{FF2B5EF4-FFF2-40B4-BE49-F238E27FC236}">
                <a16:creationId xmlns:a16="http://schemas.microsoft.com/office/drawing/2014/main" id="{F3D8A79D-333F-44B3-B1A0-1780CA0E35EF}"/>
              </a:ext>
            </a:extLst>
          </p:cNvPr>
          <p:cNvSpPr>
            <a:spLocks noGrp="1"/>
          </p:cNvSpPr>
          <p:nvPr>
            <p:ph type="body" sz="quarter" idx="13"/>
          </p:nvPr>
        </p:nvSpPr>
        <p:spPr/>
        <p:txBody>
          <a:bodyPr/>
          <a:lstStyle/>
          <a:p>
            <a:r>
              <a:rPr lang="en-US" dirty="0"/>
              <a:t>Humanities and Science Department</a:t>
            </a:r>
          </a:p>
        </p:txBody>
      </p:sp>
      <p:sp>
        <p:nvSpPr>
          <p:cNvPr id="13" name="Text Placeholder 12">
            <a:extLst>
              <a:ext uri="{FF2B5EF4-FFF2-40B4-BE49-F238E27FC236}">
                <a16:creationId xmlns:a16="http://schemas.microsoft.com/office/drawing/2014/main" id="{D4423574-50B3-4C1F-BB03-4625B3BB7D07}"/>
              </a:ext>
            </a:extLst>
          </p:cNvPr>
          <p:cNvSpPr>
            <a:spLocks noGrp="1"/>
          </p:cNvSpPr>
          <p:nvPr>
            <p:ph type="body" sz="quarter" idx="14"/>
          </p:nvPr>
        </p:nvSpPr>
        <p:spPr/>
        <p:txBody>
          <a:bodyPr/>
          <a:lstStyle/>
          <a:p>
            <a:r>
              <a:rPr lang="en-US" dirty="0"/>
              <a:t>Dr. Nitin H. Chauhan</a:t>
            </a:r>
          </a:p>
        </p:txBody>
      </p:sp>
      <p:sp>
        <p:nvSpPr>
          <p:cNvPr id="14" name="Text Placeholder 13">
            <a:extLst>
              <a:ext uri="{FF2B5EF4-FFF2-40B4-BE49-F238E27FC236}">
                <a16:creationId xmlns:a16="http://schemas.microsoft.com/office/drawing/2014/main" id="{48C932FB-1928-4F3D-87A8-4A34E306175A}"/>
              </a:ext>
            </a:extLst>
          </p:cNvPr>
          <p:cNvSpPr>
            <a:spLocks noGrp="1"/>
          </p:cNvSpPr>
          <p:nvPr>
            <p:ph type="body" sz="quarter" idx="16"/>
          </p:nvPr>
        </p:nvSpPr>
        <p:spPr/>
        <p:txBody>
          <a:bodyPr/>
          <a:lstStyle/>
          <a:p>
            <a:pPr>
              <a:lnSpc>
                <a:spcPct val="100000"/>
              </a:lnSpc>
              <a:spcBef>
                <a:spcPts val="600"/>
              </a:spcBef>
            </a:pPr>
            <a:r>
              <a:rPr lang="en-US" dirty="0"/>
              <a:t>TCS Placement Practice</a:t>
            </a:r>
          </a:p>
        </p:txBody>
      </p:sp>
      <p:sp>
        <p:nvSpPr>
          <p:cNvPr id="4" name="Rectangle 3"/>
          <p:cNvSpPr/>
          <p:nvPr/>
        </p:nvSpPr>
        <p:spPr>
          <a:xfrm>
            <a:off x="6215961" y="1641307"/>
            <a:ext cx="6096000" cy="461665"/>
          </a:xfrm>
          <a:prstGeom prst="rect">
            <a:avLst/>
          </a:prstGeom>
        </p:spPr>
        <p:txBody>
          <a:bodyPr>
            <a:spAutoFit/>
          </a:bodyPr>
          <a:lstStyle/>
          <a:p>
            <a:r>
              <a:rPr lang="en-US" sz="2400" i="1" dirty="0">
                <a:solidFill>
                  <a:srgbClr val="FF0000"/>
                </a:solidFill>
                <a:latin typeface="+mj-lt"/>
              </a:rPr>
              <a:t> </a:t>
            </a:r>
          </a:p>
        </p:txBody>
      </p:sp>
      <p:pic>
        <p:nvPicPr>
          <p:cNvPr id="5" name="Picture Placeholder 4">
            <a:extLst>
              <a:ext uri="{FF2B5EF4-FFF2-40B4-BE49-F238E27FC236}">
                <a16:creationId xmlns:a16="http://schemas.microsoft.com/office/drawing/2014/main" id="{E9B32553-06B4-F721-2DD8-3BE81916D61E}"/>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l="249" r="249"/>
          <a:stretch>
            <a:fillRect/>
          </a:stretch>
        </p:blipFill>
        <p:spPr/>
      </p:pic>
    </p:spTree>
    <p:extLst>
      <p:ext uri="{BB962C8B-B14F-4D97-AF65-F5344CB8AC3E}">
        <p14:creationId xmlns:p14="http://schemas.microsoft.com/office/powerpoint/2010/main" val="3899380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31706"/>
            <a:ext cx="2105063" cy="2308324"/>
          </a:xfrm>
          <a:prstGeom prst="rect">
            <a:avLst/>
          </a:prstGeom>
          <a:noFill/>
        </p:spPr>
        <p:txBody>
          <a:bodyPr wrap="none" rtlCol="0">
            <a:spAutoFit/>
          </a:bodyPr>
          <a:lstStyle/>
          <a:p>
            <a:r>
              <a:rPr lang="en-US" sz="2400" b="1" dirty="0"/>
              <a:t>Topics </a:t>
            </a:r>
            <a:endParaRPr lang="en-US" sz="2400" dirty="0"/>
          </a:p>
          <a:p>
            <a:pPr marL="800100" lvl="1" indent="-342900">
              <a:buSzPct val="100000"/>
              <a:buFont typeface="Arial" panose="020B0604020202020204" pitchFamily="34" charset="0"/>
              <a:buChar char="•"/>
            </a:pPr>
            <a:r>
              <a:rPr lang="en-US" sz="2400" dirty="0"/>
              <a:t>Structure</a:t>
            </a:r>
          </a:p>
          <a:p>
            <a:pPr marL="800100" lvl="1" indent="-342900">
              <a:buSzPct val="100000"/>
              <a:buFont typeface="Arial" panose="020B0604020202020204" pitchFamily="34" charset="0"/>
              <a:buChar char="•"/>
            </a:pPr>
            <a:r>
              <a:rPr lang="en-US" sz="2400" dirty="0"/>
              <a:t>Practice</a:t>
            </a:r>
          </a:p>
          <a:p>
            <a:pPr marL="800100" lvl="1" indent="-342900">
              <a:buSzPct val="100000"/>
              <a:buFont typeface="Arial" panose="020B0604020202020204" pitchFamily="34" charset="0"/>
              <a:buChar char="•"/>
            </a:pPr>
            <a:endParaRPr lang="en-US" sz="2400" dirty="0"/>
          </a:p>
          <a:p>
            <a:pPr marL="428625" lvl="2"/>
            <a:endParaRPr lang="en-US" sz="2400" dirty="0"/>
          </a:p>
          <a:p>
            <a:endParaRPr lang="en-US" sz="2400" dirty="0">
              <a:solidFill>
                <a:schemeClr val="bg1">
                  <a:lumMod val="50000"/>
                </a:schemeClr>
              </a:solidFill>
            </a:endParaRPr>
          </a:p>
        </p:txBody>
      </p:sp>
    </p:spTree>
    <p:extLst>
      <p:ext uri="{BB962C8B-B14F-4D97-AF65-F5344CB8AC3E}">
        <p14:creationId xmlns:p14="http://schemas.microsoft.com/office/powerpoint/2010/main" val="394816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251DD-9690-C6A9-5387-18349EBC1B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5AF518-2ABE-6D6C-01A1-FF1E2071DF11}"/>
              </a:ext>
            </a:extLst>
          </p:cNvPr>
          <p:cNvSpPr>
            <a:spLocks noGrp="1"/>
          </p:cNvSpPr>
          <p:nvPr>
            <p:ph type="title"/>
          </p:nvPr>
        </p:nvSpPr>
        <p:spPr>
          <a:xfrm>
            <a:off x="831849" y="1709738"/>
            <a:ext cx="8918438" cy="2852737"/>
          </a:xfrm>
        </p:spPr>
        <p:txBody>
          <a:bodyPr/>
          <a:lstStyle/>
          <a:p>
            <a:r>
              <a:rPr lang="en-US" dirty="0">
                <a:ea typeface="Roboto Condensed Light" panose="02000000000000000000" pitchFamily="2" charset="0"/>
              </a:rPr>
              <a:t>Email Writing</a:t>
            </a:r>
            <a:endParaRPr lang="en-US" dirty="0"/>
          </a:p>
        </p:txBody>
      </p:sp>
    </p:spTree>
    <p:extLst>
      <p:ext uri="{BB962C8B-B14F-4D97-AF65-F5344CB8AC3E}">
        <p14:creationId xmlns:p14="http://schemas.microsoft.com/office/powerpoint/2010/main" val="43168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FFD0-C429-A5D3-A44A-BDEA00786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32EF7-32CD-9880-5B6C-5EAC5C63AD21}"/>
              </a:ext>
            </a:extLst>
          </p:cNvPr>
          <p:cNvSpPr>
            <a:spLocks noGrp="1"/>
          </p:cNvSpPr>
          <p:nvPr>
            <p:ph type="title"/>
          </p:nvPr>
        </p:nvSpPr>
        <p:spPr>
          <a:xfrm>
            <a:off x="0" y="0"/>
            <a:ext cx="12192000" cy="711200"/>
          </a:xfrm>
        </p:spPr>
        <p:txBody>
          <a:bodyPr>
            <a:normAutofit/>
          </a:bodyPr>
          <a:lstStyle/>
          <a:p>
            <a:r>
              <a:rPr lang="en-IN" dirty="0"/>
              <a:t>Components of Email Writing</a:t>
            </a:r>
            <a:endParaRPr lang="en-US" dirty="0"/>
          </a:p>
        </p:txBody>
      </p:sp>
      <p:sp>
        <p:nvSpPr>
          <p:cNvPr id="12" name="Rectangle 11">
            <a:extLst>
              <a:ext uri="{FF2B5EF4-FFF2-40B4-BE49-F238E27FC236}">
                <a16:creationId xmlns:a16="http://schemas.microsoft.com/office/drawing/2014/main" id="{F7BBFD37-94C2-AF70-194A-0BC43A7652FF}"/>
              </a:ext>
            </a:extLst>
          </p:cNvPr>
          <p:cNvSpPr/>
          <p:nvPr/>
        </p:nvSpPr>
        <p:spPr>
          <a:xfrm>
            <a:off x="289560" y="788670"/>
            <a:ext cx="2225040" cy="71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To/Recipient address</a:t>
            </a:r>
          </a:p>
        </p:txBody>
      </p:sp>
      <p:sp>
        <p:nvSpPr>
          <p:cNvPr id="18" name="Rectangle 17">
            <a:extLst>
              <a:ext uri="{FF2B5EF4-FFF2-40B4-BE49-F238E27FC236}">
                <a16:creationId xmlns:a16="http://schemas.microsoft.com/office/drawing/2014/main" id="{272619DE-72FE-85F5-2B86-D61B1606C085}"/>
              </a:ext>
            </a:extLst>
          </p:cNvPr>
          <p:cNvSpPr/>
          <p:nvPr/>
        </p:nvSpPr>
        <p:spPr>
          <a:xfrm>
            <a:off x="289560" y="1634490"/>
            <a:ext cx="2225040" cy="71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Subject Line</a:t>
            </a:r>
            <a:endParaRPr lang="en-IN" dirty="0"/>
          </a:p>
        </p:txBody>
      </p:sp>
      <p:sp>
        <p:nvSpPr>
          <p:cNvPr id="19" name="Rectangle 18">
            <a:extLst>
              <a:ext uri="{FF2B5EF4-FFF2-40B4-BE49-F238E27FC236}">
                <a16:creationId xmlns:a16="http://schemas.microsoft.com/office/drawing/2014/main" id="{16A4018A-2D9A-0C01-2552-8EC480BC64EB}"/>
              </a:ext>
            </a:extLst>
          </p:cNvPr>
          <p:cNvSpPr/>
          <p:nvPr/>
        </p:nvSpPr>
        <p:spPr>
          <a:xfrm>
            <a:off x="289560" y="2480310"/>
            <a:ext cx="2225040" cy="71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Greetings/Salutation</a:t>
            </a:r>
          </a:p>
        </p:txBody>
      </p:sp>
      <p:sp>
        <p:nvSpPr>
          <p:cNvPr id="20" name="Rectangle 19">
            <a:extLst>
              <a:ext uri="{FF2B5EF4-FFF2-40B4-BE49-F238E27FC236}">
                <a16:creationId xmlns:a16="http://schemas.microsoft.com/office/drawing/2014/main" id="{F084C374-B58A-DB4F-9DCE-552301CC8686}"/>
              </a:ext>
            </a:extLst>
          </p:cNvPr>
          <p:cNvSpPr/>
          <p:nvPr/>
        </p:nvSpPr>
        <p:spPr>
          <a:xfrm>
            <a:off x="289560" y="3463290"/>
            <a:ext cx="2225040" cy="71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Body Paragraph</a:t>
            </a:r>
            <a:endParaRPr lang="en-IN" dirty="0"/>
          </a:p>
        </p:txBody>
      </p:sp>
      <p:sp>
        <p:nvSpPr>
          <p:cNvPr id="21" name="Rectangle 20">
            <a:extLst>
              <a:ext uri="{FF2B5EF4-FFF2-40B4-BE49-F238E27FC236}">
                <a16:creationId xmlns:a16="http://schemas.microsoft.com/office/drawing/2014/main" id="{493ACCF6-05C4-EDBB-5423-6048AD65DA12}"/>
              </a:ext>
            </a:extLst>
          </p:cNvPr>
          <p:cNvSpPr/>
          <p:nvPr/>
        </p:nvSpPr>
        <p:spPr>
          <a:xfrm>
            <a:off x="289560" y="4346230"/>
            <a:ext cx="2225040" cy="71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Closing Salutation</a:t>
            </a:r>
            <a:endParaRPr lang="en-IN" dirty="0"/>
          </a:p>
        </p:txBody>
      </p:sp>
      <p:sp>
        <p:nvSpPr>
          <p:cNvPr id="22" name="Rectangle 21">
            <a:extLst>
              <a:ext uri="{FF2B5EF4-FFF2-40B4-BE49-F238E27FC236}">
                <a16:creationId xmlns:a16="http://schemas.microsoft.com/office/drawing/2014/main" id="{15E829A1-FC4E-A89A-316D-54F26C9F2B8D}"/>
              </a:ext>
            </a:extLst>
          </p:cNvPr>
          <p:cNvSpPr/>
          <p:nvPr/>
        </p:nvSpPr>
        <p:spPr>
          <a:xfrm>
            <a:off x="289560" y="5761842"/>
            <a:ext cx="2225040" cy="71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Signature</a:t>
            </a:r>
            <a:endParaRPr lang="en-IN" dirty="0"/>
          </a:p>
        </p:txBody>
      </p:sp>
      <p:sp>
        <p:nvSpPr>
          <p:cNvPr id="25" name="TextBox 24">
            <a:extLst>
              <a:ext uri="{FF2B5EF4-FFF2-40B4-BE49-F238E27FC236}">
                <a16:creationId xmlns:a16="http://schemas.microsoft.com/office/drawing/2014/main" id="{57889132-1905-AEFB-2365-546C3DE75459}"/>
              </a:ext>
            </a:extLst>
          </p:cNvPr>
          <p:cNvSpPr txBox="1"/>
          <p:nvPr/>
        </p:nvSpPr>
        <p:spPr>
          <a:xfrm>
            <a:off x="3634740" y="807145"/>
            <a:ext cx="8488680" cy="5909310"/>
          </a:xfrm>
          <a:prstGeom prst="rect">
            <a:avLst/>
          </a:prstGeom>
          <a:noFill/>
        </p:spPr>
        <p:txBody>
          <a:bodyPr wrap="square">
            <a:spAutoFit/>
          </a:bodyPr>
          <a:lstStyle/>
          <a:p>
            <a:pPr>
              <a:buClr>
                <a:srgbClr val="C00000"/>
              </a:buClr>
            </a:pPr>
            <a:r>
              <a:rPr lang="en-IN" dirty="0"/>
              <a:t>The email address of the person who will receive the message.</a:t>
            </a:r>
          </a:p>
          <a:p>
            <a:pPr>
              <a:buClr>
                <a:srgbClr val="C00000"/>
              </a:buClr>
            </a:pPr>
            <a:r>
              <a:rPr lang="en-IN" sz="1600" dirty="0"/>
              <a:t>For </a:t>
            </a:r>
            <a:r>
              <a:rPr lang="en-IN" sz="1600" dirty="0" err="1"/>
              <a:t>eg</a:t>
            </a:r>
            <a:r>
              <a:rPr lang="en-IN" sz="1600" dirty="0"/>
              <a:t> - abc123@gmail.com</a:t>
            </a:r>
            <a:endParaRPr lang="en-US" sz="1600" dirty="0"/>
          </a:p>
          <a:p>
            <a:pPr>
              <a:buClr>
                <a:srgbClr val="C00000"/>
              </a:buClr>
            </a:pPr>
            <a:endParaRPr lang="en-US" dirty="0"/>
          </a:p>
          <a:p>
            <a:pPr>
              <a:buClr>
                <a:srgbClr val="C00000"/>
              </a:buClr>
            </a:pPr>
            <a:r>
              <a:rPr lang="en-IN" dirty="0"/>
              <a:t>A brief title that summarizes the purpose of the email.</a:t>
            </a:r>
          </a:p>
          <a:p>
            <a:pPr>
              <a:buClr>
                <a:srgbClr val="C00000"/>
              </a:buClr>
            </a:pPr>
            <a:r>
              <a:rPr lang="en-IN" sz="1600" dirty="0"/>
              <a:t>For </a:t>
            </a:r>
            <a:r>
              <a:rPr lang="en-IN" sz="1600" dirty="0" err="1"/>
              <a:t>eg</a:t>
            </a:r>
            <a:r>
              <a:rPr lang="en-IN" sz="1600" dirty="0"/>
              <a:t> - Request for Leave on 15 July 2026</a:t>
            </a:r>
            <a:endParaRPr lang="en-US" sz="1600" dirty="0"/>
          </a:p>
          <a:p>
            <a:pPr>
              <a:buClr>
                <a:srgbClr val="C00000"/>
              </a:buClr>
            </a:pPr>
            <a:endParaRPr lang="en-US" sz="1800" dirty="0"/>
          </a:p>
          <a:p>
            <a:pPr>
              <a:buClr>
                <a:srgbClr val="C00000"/>
              </a:buClr>
            </a:pPr>
            <a:r>
              <a:rPr lang="en-IN" dirty="0"/>
              <a:t>A polite opening used to address the recipient, creating a professional and respectful first impression.</a:t>
            </a:r>
          </a:p>
          <a:p>
            <a:pPr>
              <a:buClr>
                <a:srgbClr val="C00000"/>
              </a:buClr>
            </a:pPr>
            <a:r>
              <a:rPr lang="en-IN" sz="1600" dirty="0"/>
              <a:t>For </a:t>
            </a:r>
            <a:r>
              <a:rPr lang="en-IN" sz="1600" dirty="0" err="1"/>
              <a:t>eg</a:t>
            </a:r>
            <a:r>
              <a:rPr lang="en-IN" sz="1600" dirty="0"/>
              <a:t> - </a:t>
            </a:r>
            <a:r>
              <a:rPr lang="en-US" sz="1600" dirty="0"/>
              <a:t>Dear Sir/Madam, Respected, Dear Committee Member, Dear Students, Dear Colleagues, To All Salesmen.</a:t>
            </a:r>
          </a:p>
          <a:p>
            <a:pPr>
              <a:buClr>
                <a:srgbClr val="C00000"/>
              </a:buClr>
            </a:pPr>
            <a:endParaRPr lang="en-IN" dirty="0"/>
          </a:p>
          <a:p>
            <a:pPr>
              <a:buClr>
                <a:srgbClr val="C00000"/>
              </a:buClr>
            </a:pPr>
            <a:r>
              <a:rPr lang="en-IN" dirty="0"/>
              <a:t>The main content of the email, where message is communicated. Follow P-D-R rule.</a:t>
            </a:r>
          </a:p>
          <a:p>
            <a:pPr>
              <a:buClr>
                <a:srgbClr val="C00000"/>
              </a:buClr>
            </a:pPr>
            <a:endParaRPr lang="en-US" sz="1800" dirty="0"/>
          </a:p>
          <a:p>
            <a:pPr>
              <a:buClr>
                <a:srgbClr val="C00000"/>
              </a:buClr>
            </a:pPr>
            <a:r>
              <a:rPr lang="en-IN" dirty="0"/>
              <a:t>A polite phrase used to conclude the email.</a:t>
            </a:r>
          </a:p>
          <a:p>
            <a:pPr>
              <a:buClr>
                <a:srgbClr val="C00000"/>
              </a:buClr>
            </a:pPr>
            <a:r>
              <a:rPr lang="en-IN" sz="1600" dirty="0"/>
              <a:t>For </a:t>
            </a:r>
            <a:r>
              <a:rPr lang="en-IN" sz="1600" dirty="0" err="1"/>
              <a:t>eg</a:t>
            </a:r>
            <a:r>
              <a:rPr lang="en-IN" sz="1600" dirty="0"/>
              <a:t> - </a:t>
            </a:r>
            <a:r>
              <a:rPr lang="en-GB" sz="1600" dirty="0"/>
              <a:t>Yours faithfully, </a:t>
            </a:r>
            <a:r>
              <a:rPr lang="en-US" sz="1600" dirty="0"/>
              <a:t>Yours truly, Yours respectfully, Yours sincerely, </a:t>
            </a:r>
            <a:endParaRPr lang="en-GB" sz="1600" dirty="0"/>
          </a:p>
          <a:p>
            <a:pPr>
              <a:buClr>
                <a:srgbClr val="C00000"/>
              </a:buClr>
            </a:pPr>
            <a:endParaRPr lang="en-IN" dirty="0"/>
          </a:p>
          <a:p>
            <a:pPr>
              <a:buClr>
                <a:srgbClr val="C00000"/>
              </a:buClr>
            </a:pPr>
            <a:endParaRPr lang="en-US" sz="1800" dirty="0"/>
          </a:p>
          <a:p>
            <a:pPr>
              <a:buClr>
                <a:srgbClr val="C00000"/>
              </a:buClr>
            </a:pPr>
            <a:r>
              <a:rPr lang="en-IN" dirty="0"/>
              <a:t>The sender's identification at the end of the email.</a:t>
            </a:r>
          </a:p>
          <a:p>
            <a:pPr>
              <a:buClr>
                <a:srgbClr val="C00000"/>
              </a:buClr>
            </a:pPr>
            <a:r>
              <a:rPr lang="en-IN" sz="1600" b="1" dirty="0"/>
              <a:t>XYZ</a:t>
            </a:r>
            <a:br>
              <a:rPr lang="en-IN" sz="1600" dirty="0"/>
            </a:br>
            <a:r>
              <a:rPr lang="en-IN" sz="1600" dirty="0"/>
              <a:t>Software Developer Intern,</a:t>
            </a:r>
          </a:p>
          <a:p>
            <a:pPr>
              <a:buClr>
                <a:srgbClr val="C00000"/>
              </a:buClr>
            </a:pPr>
            <a:r>
              <a:rPr lang="en-IN" sz="1600" dirty="0"/>
              <a:t>+91 98765 43210</a:t>
            </a:r>
            <a:br>
              <a:rPr lang="en-IN" sz="1600" dirty="0"/>
            </a:br>
            <a:r>
              <a:rPr lang="en-IN" sz="1600" dirty="0"/>
              <a:t>rahul.patel@email.com</a:t>
            </a:r>
          </a:p>
        </p:txBody>
      </p:sp>
      <p:sp>
        <p:nvSpPr>
          <p:cNvPr id="26" name="Right Arrow 2">
            <a:extLst>
              <a:ext uri="{FF2B5EF4-FFF2-40B4-BE49-F238E27FC236}">
                <a16:creationId xmlns:a16="http://schemas.microsoft.com/office/drawing/2014/main" id="{A744B005-D493-2763-1035-57676E4B21F5}"/>
              </a:ext>
            </a:extLst>
          </p:cNvPr>
          <p:cNvSpPr/>
          <p:nvPr/>
        </p:nvSpPr>
        <p:spPr>
          <a:xfrm>
            <a:off x="2628900" y="1016293"/>
            <a:ext cx="773723" cy="20417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7" name="Right Arrow 2">
            <a:extLst>
              <a:ext uri="{FF2B5EF4-FFF2-40B4-BE49-F238E27FC236}">
                <a16:creationId xmlns:a16="http://schemas.microsoft.com/office/drawing/2014/main" id="{0A39741C-417F-F0B8-B651-8BCED0B825DF}"/>
              </a:ext>
            </a:extLst>
          </p:cNvPr>
          <p:cNvSpPr/>
          <p:nvPr/>
        </p:nvSpPr>
        <p:spPr>
          <a:xfrm>
            <a:off x="2628899" y="1796219"/>
            <a:ext cx="773723" cy="20417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8" name="Right Arrow 2">
            <a:extLst>
              <a:ext uri="{FF2B5EF4-FFF2-40B4-BE49-F238E27FC236}">
                <a16:creationId xmlns:a16="http://schemas.microsoft.com/office/drawing/2014/main" id="{83BFC825-FDEA-1BA8-A01B-CF5018E2F1C8}"/>
              </a:ext>
            </a:extLst>
          </p:cNvPr>
          <p:cNvSpPr/>
          <p:nvPr/>
        </p:nvSpPr>
        <p:spPr>
          <a:xfrm>
            <a:off x="2657910" y="2733821"/>
            <a:ext cx="773723" cy="20417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9" name="Right Arrow 2">
            <a:extLst>
              <a:ext uri="{FF2B5EF4-FFF2-40B4-BE49-F238E27FC236}">
                <a16:creationId xmlns:a16="http://schemas.microsoft.com/office/drawing/2014/main" id="{82E7DBEC-1CA6-A094-21C5-4210F3A5F117}"/>
              </a:ext>
            </a:extLst>
          </p:cNvPr>
          <p:cNvSpPr/>
          <p:nvPr/>
        </p:nvSpPr>
        <p:spPr>
          <a:xfrm>
            <a:off x="2696603" y="3788556"/>
            <a:ext cx="773723" cy="20417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30" name="Right Arrow 2">
            <a:extLst>
              <a:ext uri="{FF2B5EF4-FFF2-40B4-BE49-F238E27FC236}">
                <a16:creationId xmlns:a16="http://schemas.microsoft.com/office/drawing/2014/main" id="{2E1CF58D-E182-C685-0958-37BA4B7FEA62}"/>
              </a:ext>
            </a:extLst>
          </p:cNvPr>
          <p:cNvSpPr/>
          <p:nvPr/>
        </p:nvSpPr>
        <p:spPr>
          <a:xfrm>
            <a:off x="2696603" y="4527549"/>
            <a:ext cx="773723" cy="20417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31" name="Right Arrow 2">
            <a:extLst>
              <a:ext uri="{FF2B5EF4-FFF2-40B4-BE49-F238E27FC236}">
                <a16:creationId xmlns:a16="http://schemas.microsoft.com/office/drawing/2014/main" id="{E14777A4-0685-989B-A252-7473DFBEAE80}"/>
              </a:ext>
            </a:extLst>
          </p:cNvPr>
          <p:cNvSpPr/>
          <p:nvPr/>
        </p:nvSpPr>
        <p:spPr>
          <a:xfrm>
            <a:off x="2696602" y="5913265"/>
            <a:ext cx="773723" cy="20417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023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19" grpId="0" animBg="1"/>
      <p:bldP spid="20" grpId="0" animBg="1"/>
      <p:bldP spid="21" grpId="0" animBg="1"/>
      <p:bldP spid="22" grpId="0" animBg="1"/>
      <p:bldP spid="25" grpId="0"/>
      <p:bldP spid="26" grpId="0" animBg="1"/>
      <p:bldP spid="27" grpId="0" animBg="1"/>
      <p:bldP spid="28" grpId="0" animBg="1"/>
      <p:bldP spid="29"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77FC-8BFE-B73A-1C2D-D26D2FD158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83FBDB-F8B1-22FB-0170-89895E64CD54}"/>
              </a:ext>
            </a:extLst>
          </p:cNvPr>
          <p:cNvSpPr>
            <a:spLocks noGrp="1"/>
          </p:cNvSpPr>
          <p:nvPr>
            <p:ph idx="1"/>
          </p:nvPr>
        </p:nvSpPr>
        <p:spPr>
          <a:xfrm>
            <a:off x="131180" y="863444"/>
            <a:ext cx="12060820" cy="5590565"/>
          </a:xfrm>
        </p:spPr>
        <p:txBody>
          <a:bodyPr/>
          <a:lstStyle/>
          <a:p>
            <a:r>
              <a:rPr lang="en-IN" dirty="0"/>
              <a:t>Write an email to all internal staff notifying them of the routine maintenance. Remind them to save their work and log out of the corporate network before 6:00 PM, and state that normal operations will resume on Saturday at 8:00 AM.</a:t>
            </a:r>
          </a:p>
          <a:p>
            <a:r>
              <a:rPr lang="en-IN" dirty="0"/>
              <a:t>Write an email to your regional sales division to introduce this new welcome kit. Explain the changes, share the positive impact on recent customer satisfaction scores, and instruct them to use this kit for all new clients immediately.</a:t>
            </a:r>
          </a:p>
          <a:p>
            <a:r>
              <a:rPr lang="en-IN" dirty="0"/>
              <a:t>Write an internal memo to all employees announcing the relocation. Explain the benefits of the new collaborative space, mention that a dedicated moving committee will handle the transition, and let them know that individual desk assignments will be shared next week.</a:t>
            </a:r>
          </a:p>
          <a:p>
            <a:r>
              <a:rPr lang="en-IN" dirty="0"/>
              <a:t>Write an email to all project tracks rescheduling the meeting. Emphasize that attendance is critical to finalize quarterly goals, ask unavailable leads to send a representative, and note that the new video link has been sent.</a:t>
            </a:r>
            <a:endParaRPr lang="en-US" dirty="0"/>
          </a:p>
        </p:txBody>
      </p:sp>
      <p:sp>
        <p:nvSpPr>
          <p:cNvPr id="3" name="Title 2">
            <a:extLst>
              <a:ext uri="{FF2B5EF4-FFF2-40B4-BE49-F238E27FC236}">
                <a16:creationId xmlns:a16="http://schemas.microsoft.com/office/drawing/2014/main" id="{EB0B63AE-F963-3346-1452-2FA10D18C9C8}"/>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115849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BAADE-F271-7FCD-9C23-DBDF6B16F7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578820-8AA0-4706-9145-2DE3758C98C0}"/>
              </a:ext>
            </a:extLst>
          </p:cNvPr>
          <p:cNvSpPr>
            <a:spLocks noGrp="1"/>
          </p:cNvSpPr>
          <p:nvPr>
            <p:ph idx="1"/>
          </p:nvPr>
        </p:nvSpPr>
        <p:spPr>
          <a:xfrm>
            <a:off x="131180" y="863444"/>
            <a:ext cx="12060820" cy="5590565"/>
          </a:xfrm>
        </p:spPr>
        <p:txBody>
          <a:bodyPr/>
          <a:lstStyle/>
          <a:p>
            <a:r>
              <a:rPr lang="en-IN" dirty="0"/>
              <a:t>Write an email to the marketing team requesting immediate submission of outstanding receipts. Firmly explain how late data creates an operational bottleneck for your budget projections and warn them that delayed submissions risk losing project funding.</a:t>
            </a:r>
          </a:p>
          <a:p>
            <a:r>
              <a:rPr lang="en-IN" dirty="0"/>
              <a:t>Write an escalation email to executive leadership. Apprise them of the technical dependency, outline how the team is working to rectify the bug, and emphasize why prioritizing system safety over speed is paramount before the global launch.</a:t>
            </a:r>
          </a:p>
          <a:p>
            <a:r>
              <a:rPr lang="en-IN" dirty="0"/>
              <a:t>Write an email to the Database Administration team. Detail the mismatch, propose a pragmatic plan to build a custom reconciliation script, and solicit their technical support to restore data symmetry without disrupting active customer orders.</a:t>
            </a:r>
          </a:p>
          <a:p>
            <a:r>
              <a:rPr lang="en-IN" dirty="0"/>
              <a:t>Write a company-wide directive email. Explain the critical need to </a:t>
            </a:r>
            <a:r>
              <a:rPr lang="en-IN" b="1" dirty="0"/>
              <a:t>curtail</a:t>
            </a:r>
            <a:r>
              <a:rPr lang="en-IN" dirty="0"/>
              <a:t> unauthorized access, outline the potential </a:t>
            </a:r>
            <a:r>
              <a:rPr lang="en-IN" b="1" dirty="0"/>
              <a:t>deleterious</a:t>
            </a:r>
            <a:r>
              <a:rPr lang="en-IN" dirty="0"/>
              <a:t> effects of non-compliance on consumer trust, and state the exact date the new configuration rules take effect.</a:t>
            </a:r>
            <a:endParaRPr lang="en-US" dirty="0"/>
          </a:p>
        </p:txBody>
      </p:sp>
      <p:sp>
        <p:nvSpPr>
          <p:cNvPr id="3" name="Title 2">
            <a:extLst>
              <a:ext uri="{FF2B5EF4-FFF2-40B4-BE49-F238E27FC236}">
                <a16:creationId xmlns:a16="http://schemas.microsoft.com/office/drawing/2014/main" id="{70F07571-4E37-15B0-A45D-4A68E46E24CB}"/>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38827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64F-DC36-FEEA-B43D-BAC4288C7F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F84339-E936-48BB-457A-39EC2B2CEE3F}"/>
              </a:ext>
            </a:extLst>
          </p:cNvPr>
          <p:cNvSpPr>
            <a:spLocks noGrp="1"/>
          </p:cNvSpPr>
          <p:nvPr>
            <p:ph idx="1"/>
          </p:nvPr>
        </p:nvSpPr>
        <p:spPr>
          <a:xfrm>
            <a:off x="131180" y="863444"/>
            <a:ext cx="12060820" cy="5590565"/>
          </a:xfrm>
        </p:spPr>
        <p:txBody>
          <a:bodyPr/>
          <a:lstStyle/>
          <a:p>
            <a:r>
              <a:rPr lang="en-IN" dirty="0"/>
              <a:t>Write a diplomatic response to the client. Validate their enthusiasm to expand features, but provide an explicit warning regarding resource constraints. Detail the prohibitive risks of diluted quality, and outline a pragmatic choice: move the extra items to a post-launch Phase 2 or execute a formal change request to extend the timeline.</a:t>
            </a:r>
          </a:p>
          <a:p>
            <a:r>
              <a:rPr lang="en-IN" dirty="0"/>
              <a:t>Write a formal response to the technology board. Argue against a purely quixotic shift, present a pragmatic </a:t>
            </a:r>
            <a:r>
              <a:rPr lang="en-IN" dirty="0" err="1"/>
              <a:t>defense</a:t>
            </a:r>
            <a:r>
              <a:rPr lang="en-IN" dirty="0"/>
              <a:t> of traditional, offline immutable archives as a prudent safeguard against ransomware, and advocate for a hybrid approach that anchors modern upgrades with empirical safety metrics.</a:t>
            </a:r>
          </a:p>
          <a:p>
            <a:r>
              <a:rPr lang="en-IN" dirty="0"/>
              <a:t>Write a critical status update to the Steering Committee. Outline the structural incompatibilities between the legacy platforms, apprise them of how your team is working in tandem with external consultants to resolve mismatches, and define the requisite steps needed to consolidate the information before the upcoming fiscal cycle.</a:t>
            </a:r>
          </a:p>
          <a:p>
            <a:endParaRPr lang="en-US" dirty="0"/>
          </a:p>
        </p:txBody>
      </p:sp>
      <p:sp>
        <p:nvSpPr>
          <p:cNvPr id="3" name="Title 2">
            <a:extLst>
              <a:ext uri="{FF2B5EF4-FFF2-40B4-BE49-F238E27FC236}">
                <a16:creationId xmlns:a16="http://schemas.microsoft.com/office/drawing/2014/main" id="{2C7CB9B5-A602-CD45-B59F-D07951E2D44E}"/>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73124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12622-201C-769D-D3BD-03D282CF1A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B31DDE-8FF3-1B5F-288E-268039C09C7B}"/>
              </a:ext>
            </a:extLst>
          </p:cNvPr>
          <p:cNvSpPr>
            <a:spLocks noGrp="1"/>
          </p:cNvSpPr>
          <p:nvPr>
            <p:ph idx="1"/>
          </p:nvPr>
        </p:nvSpPr>
        <p:spPr>
          <a:xfrm>
            <a:off x="131180" y="863444"/>
            <a:ext cx="12060820" cy="5590565"/>
          </a:xfrm>
        </p:spPr>
        <p:txBody>
          <a:bodyPr/>
          <a:lstStyle/>
          <a:p>
            <a:r>
              <a:rPr lang="en-IN" dirty="0"/>
              <a:t>Write a formal, high-impact warning letter to the vendor's account executive. Explicitly cite their clear departure from the stringent uptime metrics in the active Service Level Agreement (SLA), demand an immediate corrective action plan to rectify the architecture failures, and establish that failure to comply will lead to a premature termination of the contract.</a:t>
            </a:r>
          </a:p>
          <a:p>
            <a:endParaRPr lang="en-US" dirty="0"/>
          </a:p>
        </p:txBody>
      </p:sp>
      <p:sp>
        <p:nvSpPr>
          <p:cNvPr id="3" name="Title 2">
            <a:extLst>
              <a:ext uri="{FF2B5EF4-FFF2-40B4-BE49-F238E27FC236}">
                <a16:creationId xmlns:a16="http://schemas.microsoft.com/office/drawing/2014/main" id="{8CE6C72B-825E-1295-FF49-9CDE64B7EB46}"/>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9114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5" name="Google Shape;2095;p8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D3064"/>
              </a:buClr>
              <a:buSzPts val="6000"/>
              <a:buFont typeface="Roboto Condensed"/>
              <a:buNone/>
            </a:pPr>
            <a:r>
              <a:rPr lang="en-US" i="1" dirty="0"/>
              <a:t>Thank You</a:t>
            </a:r>
            <a:endParaRPr i="1" dirty="0"/>
          </a:p>
        </p:txBody>
      </p:sp>
    </p:spTree>
  </p:cSld>
  <p:clrMapOvr>
    <a:masterClrMapping/>
  </p:clrMapOvr>
</p:sld>
</file>

<file path=ppt/theme/theme1.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23288</TotalTime>
  <Words>768</Words>
  <Application>Microsoft Office PowerPoint</Application>
  <PresentationFormat>Widescreen</PresentationFormat>
  <Paragraphs>59</Paragraphs>
  <Slides>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Roboto</vt:lpstr>
      <vt:lpstr>Calibri</vt:lpstr>
      <vt:lpstr>Wingdings 3</vt:lpstr>
      <vt:lpstr>Roboto Condensed Light</vt:lpstr>
      <vt:lpstr>Wingdings</vt:lpstr>
      <vt:lpstr>Arial</vt:lpstr>
      <vt:lpstr>Roboto Condensed</vt:lpstr>
      <vt:lpstr>1_Office Theme</vt:lpstr>
      <vt:lpstr>Email Writing </vt:lpstr>
      <vt:lpstr>PowerPoint Presentation</vt:lpstr>
      <vt:lpstr>Email Writing</vt:lpstr>
      <vt:lpstr>Components of Email Writing</vt:lpstr>
      <vt:lpstr>Practice </vt:lpstr>
      <vt:lpstr>Practice </vt:lpstr>
      <vt:lpstr>Practice </vt:lpstr>
      <vt:lpstr>Practice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Chauhan</dc:creator>
  <cp:lastModifiedBy>prashant chauhan</cp:lastModifiedBy>
  <cp:revision>2271</cp:revision>
  <dcterms:created xsi:type="dcterms:W3CDTF">2020-06-11T07:03:50Z</dcterms:created>
  <dcterms:modified xsi:type="dcterms:W3CDTF">2026-08-07T03:53:34Z</dcterms:modified>
</cp:coreProperties>
</file>