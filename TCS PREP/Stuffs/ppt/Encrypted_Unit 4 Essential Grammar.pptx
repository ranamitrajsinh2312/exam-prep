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1" r:id="rId1"/>
  </p:sldMasterIdLst>
  <p:notesMasterIdLst>
    <p:notesMasterId r:id="rId82"/>
  </p:notesMasterIdLst>
  <p:handoutMasterIdLst>
    <p:handoutMasterId r:id="rId83"/>
  </p:handoutMasterIdLst>
  <p:sldIdLst>
    <p:sldId id="257" r:id="rId2"/>
    <p:sldId id="459" r:id="rId3"/>
    <p:sldId id="268" r:id="rId4"/>
    <p:sldId id="269" r:id="rId5"/>
    <p:sldId id="460" r:id="rId6"/>
    <p:sldId id="728" r:id="rId7"/>
    <p:sldId id="461" r:id="rId8"/>
    <p:sldId id="463" r:id="rId9"/>
    <p:sldId id="464" r:id="rId10"/>
    <p:sldId id="466" r:id="rId11"/>
    <p:sldId id="465" r:id="rId12"/>
    <p:sldId id="688" r:id="rId13"/>
    <p:sldId id="666" r:id="rId14"/>
    <p:sldId id="667" r:id="rId15"/>
    <p:sldId id="669" r:id="rId16"/>
    <p:sldId id="689" r:id="rId17"/>
    <p:sldId id="690" r:id="rId18"/>
    <p:sldId id="729" r:id="rId19"/>
    <p:sldId id="691" r:id="rId20"/>
    <p:sldId id="692" r:id="rId21"/>
    <p:sldId id="730" r:id="rId22"/>
    <p:sldId id="693" r:id="rId23"/>
    <p:sldId id="732" r:id="rId24"/>
    <p:sldId id="731" r:id="rId25"/>
    <p:sldId id="733" r:id="rId26"/>
    <p:sldId id="734" r:id="rId27"/>
    <p:sldId id="735" r:id="rId28"/>
    <p:sldId id="694" r:id="rId29"/>
    <p:sldId id="736" r:id="rId30"/>
    <p:sldId id="737" r:id="rId31"/>
    <p:sldId id="738" r:id="rId32"/>
    <p:sldId id="740" r:id="rId33"/>
    <p:sldId id="741" r:id="rId34"/>
    <p:sldId id="742" r:id="rId35"/>
    <p:sldId id="743" r:id="rId36"/>
    <p:sldId id="744" r:id="rId37"/>
    <p:sldId id="745" r:id="rId38"/>
    <p:sldId id="746" r:id="rId39"/>
    <p:sldId id="739" r:id="rId40"/>
    <p:sldId id="747" r:id="rId41"/>
    <p:sldId id="748" r:id="rId42"/>
    <p:sldId id="695" r:id="rId43"/>
    <p:sldId id="697" r:id="rId44"/>
    <p:sldId id="749" r:id="rId45"/>
    <p:sldId id="750" r:id="rId46"/>
    <p:sldId id="699" r:id="rId47"/>
    <p:sldId id="702" r:id="rId48"/>
    <p:sldId id="776" r:id="rId49"/>
    <p:sldId id="704" r:id="rId50"/>
    <p:sldId id="705" r:id="rId51"/>
    <p:sldId id="778" r:id="rId52"/>
    <p:sldId id="706" r:id="rId53"/>
    <p:sldId id="777" r:id="rId54"/>
    <p:sldId id="707" r:id="rId55"/>
    <p:sldId id="779" r:id="rId56"/>
    <p:sldId id="712" r:id="rId57"/>
    <p:sldId id="780" r:id="rId58"/>
    <p:sldId id="708" r:id="rId59"/>
    <p:sldId id="760" r:id="rId60"/>
    <p:sldId id="781" r:id="rId61"/>
    <p:sldId id="718" r:id="rId62"/>
    <p:sldId id="676" r:id="rId63"/>
    <p:sldId id="782" r:id="rId64"/>
    <p:sldId id="682" r:id="rId65"/>
    <p:sldId id="784" r:id="rId66"/>
    <p:sldId id="684" r:id="rId67"/>
    <p:sldId id="783" r:id="rId68"/>
    <p:sldId id="785" r:id="rId69"/>
    <p:sldId id="765" r:id="rId70"/>
    <p:sldId id="685" r:id="rId71"/>
    <p:sldId id="786" r:id="rId72"/>
    <p:sldId id="787" r:id="rId73"/>
    <p:sldId id="766" r:id="rId74"/>
    <p:sldId id="788" r:id="rId75"/>
    <p:sldId id="789" r:id="rId76"/>
    <p:sldId id="790" r:id="rId77"/>
    <p:sldId id="791" r:id="rId78"/>
    <p:sldId id="720" r:id="rId79"/>
    <p:sldId id="336" r:id="rId80"/>
    <p:sldId id="337" r:id="rId81"/>
  </p:sldIdLst>
  <p:sldSz cx="12192000" cy="6858000"/>
  <p:notesSz cx="6858000" cy="9144000"/>
  <p:embeddedFontLst>
    <p:embeddedFont>
      <p:font typeface="Lohit Gujarati" panose="020B0600000000000000" pitchFamily="34" charset="0"/>
      <p:regular r:id="rId84"/>
    </p:embeddedFont>
    <p:embeddedFont>
      <p:font typeface="Noto Sans Symbols" panose="020B0604020202020204" charset="0"/>
      <p:regular r:id="rId85"/>
      <p:bold r:id="rId86"/>
    </p:embeddedFont>
    <p:embeddedFont>
      <p:font typeface="Roboto" panose="02000000000000000000" pitchFamily="2" charset="0"/>
      <p:regular r:id="rId87"/>
      <p:bold r:id="rId88"/>
      <p:italic r:id="rId89"/>
      <p:boldItalic r:id="rId90"/>
    </p:embeddedFont>
    <p:embeddedFont>
      <p:font typeface="Roboto Condensed" panose="02000000000000000000" pitchFamily="2" charset="0"/>
      <p:regular r:id="rId91"/>
      <p:bold r:id="rId92"/>
      <p:italic r:id="rId93"/>
      <p:boldItalic r:id="rId94"/>
    </p:embeddedFont>
    <p:embeddedFont>
      <p:font typeface="Roboto Condensed Light" panose="02000000000000000000" pitchFamily="2" charset="0"/>
      <p:regular r:id="rId95"/>
      <p:italic r:id="rId96"/>
    </p:embeddedFont>
    <p:embeddedFont>
      <p:font typeface="Teko" panose="020B0604020202020204" charset="0"/>
      <p:regular r:id="rId97"/>
      <p:bold r:id="rId98"/>
    </p:embeddedFont>
    <p:embeddedFont>
      <p:font typeface="Wingdings 2" panose="05020102010507070707" pitchFamily="18" charset="2"/>
      <p:regular r:id="rId99"/>
    </p:embeddedFont>
    <p:embeddedFont>
      <p:font typeface="Wingdings 3" panose="05040102010807070707" pitchFamily="18" charset="2"/>
      <p:regular r:id="rId10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CQOkpS6XJfFufUwViD7Osg==" hashData="nPMaghbL3/i3P+gzrf4LTksT9bsBg0EQlguKKpKijKyfLRZpanK/dScf1mVuBQkllljjmaz0S357p6GRHnetFg=="/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9FE"/>
    <a:srgbClr val="C00000"/>
    <a:srgbClr val="002060"/>
    <a:srgbClr val="2981C0"/>
    <a:srgbClr val="0C77C3"/>
    <a:srgbClr val="FFFFFF"/>
    <a:srgbClr val="A0C061"/>
    <a:srgbClr val="3572EB"/>
    <a:srgbClr val="B9B9B9"/>
    <a:srgbClr val="95DD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6091" autoAdjust="0"/>
  </p:normalViewPr>
  <p:slideViewPr>
    <p:cSldViewPr snapToGrid="0">
      <p:cViewPr varScale="1">
        <p:scale>
          <a:sx n="60" d="100"/>
          <a:sy n="60" d="100"/>
        </p:scale>
        <p:origin x="876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640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1.fntdata"/><Relationship Id="rId89" Type="http://schemas.openxmlformats.org/officeDocument/2006/relationships/font" Target="fonts/font6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font" Target="fonts/font7.fntdata"/><Relationship Id="rId95" Type="http://schemas.openxmlformats.org/officeDocument/2006/relationships/font" Target="fonts/font12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font" Target="fonts/font2.fntdata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handoutMaster" Target="handoutMasters/handoutMaster1.xml"/><Relationship Id="rId88" Type="http://schemas.openxmlformats.org/officeDocument/2006/relationships/font" Target="fonts/font5.fntdata"/><Relationship Id="rId91" Type="http://schemas.openxmlformats.org/officeDocument/2006/relationships/font" Target="fonts/font8.fntdata"/><Relationship Id="rId96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font" Target="fonts/font3.fntdata"/><Relationship Id="rId94" Type="http://schemas.openxmlformats.org/officeDocument/2006/relationships/font" Target="fonts/font11.fntdata"/><Relationship Id="rId99" Type="http://schemas.openxmlformats.org/officeDocument/2006/relationships/font" Target="fonts/font16.fntdata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14.fntdata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9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4.fntdata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font" Target="fonts/font17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10.fntdata"/><Relationship Id="rId98" Type="http://schemas.openxmlformats.org/officeDocument/2006/relationships/font" Target="fonts/font15.fntdata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ECA219-086F-4148-B3A2-76EE17DD8FD1}" type="doc">
      <dgm:prSet loTypeId="urn:microsoft.com/office/officeart/2005/8/layout/orgChart1" loCatId="hierarchy" qsTypeId="urn:microsoft.com/office/officeart/2005/8/quickstyle/3d3" qsCatId="3D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15E8FF64-5FAF-460C-9155-D722E4F5DF00}">
      <dgm:prSet phldrT="[Text]" custT="1"/>
      <dgm:spPr/>
      <dgm:t>
        <a:bodyPr/>
        <a:lstStyle/>
        <a:p>
          <a:r>
            <a:rPr lang="en-IN" sz="2000" b="1" i="0" u="none" dirty="0"/>
            <a:t>Types of Conditional Sentences</a:t>
          </a:r>
        </a:p>
      </dgm:t>
    </dgm:pt>
    <dgm:pt modelId="{47415314-0A6F-4AE8-9403-9AE0B8650CE7}" type="parTrans" cxnId="{45307A97-D462-4C43-96DA-383D5FC85A0A}">
      <dgm:prSet/>
      <dgm:spPr/>
      <dgm:t>
        <a:bodyPr/>
        <a:lstStyle/>
        <a:p>
          <a:endParaRPr lang="en-IN"/>
        </a:p>
      </dgm:t>
    </dgm:pt>
    <dgm:pt modelId="{A035317B-A61D-4C18-81CE-483E92435283}" type="sibTrans" cxnId="{45307A97-D462-4C43-96DA-383D5FC85A0A}">
      <dgm:prSet/>
      <dgm:spPr/>
      <dgm:t>
        <a:bodyPr/>
        <a:lstStyle/>
        <a:p>
          <a:endParaRPr lang="en-IN"/>
        </a:p>
      </dgm:t>
    </dgm:pt>
    <dgm:pt modelId="{2F59F0A0-78F6-4E49-B4D0-208B29B1F4BF}">
      <dgm:prSet phldrT="[Text]" custT="1"/>
      <dgm:spPr/>
      <dgm:t>
        <a:bodyPr/>
        <a:lstStyle/>
        <a:p>
          <a:r>
            <a:rPr lang="en-GB" sz="2000" b="1" dirty="0"/>
            <a:t>Zero Conditional</a:t>
          </a:r>
          <a:endParaRPr lang="en-IN" sz="2000" b="1" dirty="0"/>
        </a:p>
      </dgm:t>
    </dgm:pt>
    <dgm:pt modelId="{F6E16D59-F55F-408E-8107-AB7BA792CF26}" type="parTrans" cxnId="{F6D0F19B-C6EE-49C9-9D3D-2FB33B047367}">
      <dgm:prSet/>
      <dgm:spPr/>
      <dgm:t>
        <a:bodyPr/>
        <a:lstStyle/>
        <a:p>
          <a:endParaRPr lang="en-IN"/>
        </a:p>
      </dgm:t>
    </dgm:pt>
    <dgm:pt modelId="{BA839F41-87ED-44D8-B999-F7B5A18104AC}" type="sibTrans" cxnId="{F6D0F19B-C6EE-49C9-9D3D-2FB33B047367}">
      <dgm:prSet/>
      <dgm:spPr/>
      <dgm:t>
        <a:bodyPr/>
        <a:lstStyle/>
        <a:p>
          <a:endParaRPr lang="en-IN"/>
        </a:p>
      </dgm:t>
    </dgm:pt>
    <dgm:pt modelId="{1092B9B4-EEEE-4E20-A69C-4695EA3471CF}">
      <dgm:prSet custT="1"/>
      <dgm:spPr/>
      <dgm:t>
        <a:bodyPr/>
        <a:lstStyle/>
        <a:p>
          <a:r>
            <a:rPr lang="en-GB" sz="2000" b="1" dirty="0"/>
            <a:t>First Conditional</a:t>
          </a:r>
          <a:endParaRPr lang="en-IN" sz="2000" b="1" dirty="0"/>
        </a:p>
      </dgm:t>
    </dgm:pt>
    <dgm:pt modelId="{20E1EEE2-352F-4491-872B-3BC80E1EF62A}" type="parTrans" cxnId="{ECA28263-1722-487D-B1DC-512D800321EE}">
      <dgm:prSet/>
      <dgm:spPr/>
      <dgm:t>
        <a:bodyPr/>
        <a:lstStyle/>
        <a:p>
          <a:endParaRPr lang="en-IN"/>
        </a:p>
      </dgm:t>
    </dgm:pt>
    <dgm:pt modelId="{44D56972-6696-4B03-A70E-09F4FD3938AF}" type="sibTrans" cxnId="{ECA28263-1722-487D-B1DC-512D800321EE}">
      <dgm:prSet/>
      <dgm:spPr/>
      <dgm:t>
        <a:bodyPr/>
        <a:lstStyle/>
        <a:p>
          <a:endParaRPr lang="en-IN"/>
        </a:p>
      </dgm:t>
    </dgm:pt>
    <dgm:pt modelId="{20A6AFB1-BDB3-4755-9703-9C24D276483D}">
      <dgm:prSet custT="1"/>
      <dgm:spPr/>
      <dgm:t>
        <a:bodyPr/>
        <a:lstStyle/>
        <a:p>
          <a:r>
            <a:rPr lang="en-GB" sz="2000" b="1" dirty="0"/>
            <a:t>Second Conditional</a:t>
          </a:r>
          <a:endParaRPr lang="en-IN" sz="2000" b="1" dirty="0"/>
        </a:p>
      </dgm:t>
    </dgm:pt>
    <dgm:pt modelId="{E12200E8-BFB1-4660-9F14-3364C4556751}" type="parTrans" cxnId="{BD39F577-D076-4002-9A84-A3EF307EA6E1}">
      <dgm:prSet/>
      <dgm:spPr/>
      <dgm:t>
        <a:bodyPr/>
        <a:lstStyle/>
        <a:p>
          <a:endParaRPr lang="en-IN"/>
        </a:p>
      </dgm:t>
    </dgm:pt>
    <dgm:pt modelId="{747E185F-D33E-4451-9122-1829F192D6FE}" type="sibTrans" cxnId="{BD39F577-D076-4002-9A84-A3EF307EA6E1}">
      <dgm:prSet/>
      <dgm:spPr/>
      <dgm:t>
        <a:bodyPr/>
        <a:lstStyle/>
        <a:p>
          <a:endParaRPr lang="en-IN"/>
        </a:p>
      </dgm:t>
    </dgm:pt>
    <dgm:pt modelId="{3C2AEF32-E0B6-4A3F-9388-0C0554833514}">
      <dgm:prSet custT="1"/>
      <dgm:spPr/>
      <dgm:t>
        <a:bodyPr/>
        <a:lstStyle/>
        <a:p>
          <a:r>
            <a:rPr lang="en-GB" sz="2000" b="1" dirty="0"/>
            <a:t>Third Conditional</a:t>
          </a:r>
          <a:endParaRPr lang="en-IN" sz="2000" b="1" dirty="0"/>
        </a:p>
      </dgm:t>
    </dgm:pt>
    <dgm:pt modelId="{06547A31-546D-4D3D-A14E-42A5DCDA6FCE}" type="parTrans" cxnId="{CBED579B-BD0F-447D-B544-1F9025844F78}">
      <dgm:prSet/>
      <dgm:spPr/>
      <dgm:t>
        <a:bodyPr/>
        <a:lstStyle/>
        <a:p>
          <a:endParaRPr lang="en-IN"/>
        </a:p>
      </dgm:t>
    </dgm:pt>
    <dgm:pt modelId="{D95CC112-59B9-4869-8BC5-CCEB2348D22A}" type="sibTrans" cxnId="{CBED579B-BD0F-447D-B544-1F9025844F78}">
      <dgm:prSet/>
      <dgm:spPr/>
      <dgm:t>
        <a:bodyPr/>
        <a:lstStyle/>
        <a:p>
          <a:endParaRPr lang="en-IN"/>
        </a:p>
      </dgm:t>
    </dgm:pt>
    <dgm:pt modelId="{4B1BD83C-3DD9-443B-BE10-5D5BF2D9CD5A}" type="pres">
      <dgm:prSet presAssocID="{69ECA219-086F-4148-B3A2-76EE17DD8FD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9B4B762-F123-4A1A-B074-D83742B9F4FA}" type="pres">
      <dgm:prSet presAssocID="{15E8FF64-5FAF-460C-9155-D722E4F5DF00}" presName="hierRoot1" presStyleCnt="0">
        <dgm:presLayoutVars>
          <dgm:hierBranch/>
        </dgm:presLayoutVars>
      </dgm:prSet>
      <dgm:spPr/>
    </dgm:pt>
    <dgm:pt modelId="{EB6A842D-7040-415B-9FBC-A82FE98A91A2}" type="pres">
      <dgm:prSet presAssocID="{15E8FF64-5FAF-460C-9155-D722E4F5DF00}" presName="rootComposite1" presStyleCnt="0"/>
      <dgm:spPr/>
    </dgm:pt>
    <dgm:pt modelId="{2AD3CEFD-B8EF-4A5A-BD49-1BEAB62C80FF}" type="pres">
      <dgm:prSet presAssocID="{15E8FF64-5FAF-460C-9155-D722E4F5DF00}" presName="rootText1" presStyleLbl="node0" presStyleIdx="0" presStyleCnt="1" custScaleX="152969" custScaleY="68751" custLinFactNeighborX="0" custLinFactNeighborY="-76177">
        <dgm:presLayoutVars>
          <dgm:chPref val="3"/>
        </dgm:presLayoutVars>
      </dgm:prSet>
      <dgm:spPr/>
    </dgm:pt>
    <dgm:pt modelId="{B000BAA1-3B86-49B2-97B0-13888C11D990}" type="pres">
      <dgm:prSet presAssocID="{15E8FF64-5FAF-460C-9155-D722E4F5DF00}" presName="rootConnector1" presStyleLbl="node1" presStyleIdx="0" presStyleCnt="0"/>
      <dgm:spPr/>
    </dgm:pt>
    <dgm:pt modelId="{74200A7D-9103-43C7-B67E-C882CC1EC245}" type="pres">
      <dgm:prSet presAssocID="{15E8FF64-5FAF-460C-9155-D722E4F5DF00}" presName="hierChild2" presStyleCnt="0"/>
      <dgm:spPr/>
    </dgm:pt>
    <dgm:pt modelId="{ED8DBD60-C1A1-45FB-82B2-0D777E5808E6}" type="pres">
      <dgm:prSet presAssocID="{F6E16D59-F55F-408E-8107-AB7BA792CF26}" presName="Name35" presStyleLbl="parChTrans1D2" presStyleIdx="0" presStyleCnt="4"/>
      <dgm:spPr/>
    </dgm:pt>
    <dgm:pt modelId="{E6466E7A-ECFA-4B39-8789-E12E766F6B40}" type="pres">
      <dgm:prSet presAssocID="{2F59F0A0-78F6-4E49-B4D0-208B29B1F4BF}" presName="hierRoot2" presStyleCnt="0">
        <dgm:presLayoutVars>
          <dgm:hierBranch val="init"/>
        </dgm:presLayoutVars>
      </dgm:prSet>
      <dgm:spPr/>
    </dgm:pt>
    <dgm:pt modelId="{6D5E9B2B-F53D-4582-8D8B-17BC86500947}" type="pres">
      <dgm:prSet presAssocID="{2F59F0A0-78F6-4E49-B4D0-208B29B1F4BF}" presName="rootComposite" presStyleCnt="0"/>
      <dgm:spPr/>
    </dgm:pt>
    <dgm:pt modelId="{D1CBDC4E-5ABE-4F50-A739-3AA6A8F908BE}" type="pres">
      <dgm:prSet presAssocID="{2F59F0A0-78F6-4E49-B4D0-208B29B1F4BF}" presName="rootText" presStyleLbl="node2" presStyleIdx="0" presStyleCnt="4" custScaleX="127357" custScaleY="67424">
        <dgm:presLayoutVars>
          <dgm:chPref val="3"/>
        </dgm:presLayoutVars>
      </dgm:prSet>
      <dgm:spPr/>
    </dgm:pt>
    <dgm:pt modelId="{D283BA38-5622-42E6-A2B3-17019932B068}" type="pres">
      <dgm:prSet presAssocID="{2F59F0A0-78F6-4E49-B4D0-208B29B1F4BF}" presName="rootConnector" presStyleLbl="node2" presStyleIdx="0" presStyleCnt="4"/>
      <dgm:spPr/>
    </dgm:pt>
    <dgm:pt modelId="{B175804A-BD5D-4D0F-BB44-409941947F97}" type="pres">
      <dgm:prSet presAssocID="{2F59F0A0-78F6-4E49-B4D0-208B29B1F4BF}" presName="hierChild4" presStyleCnt="0"/>
      <dgm:spPr/>
    </dgm:pt>
    <dgm:pt modelId="{ABA4E15D-5C9C-40B7-9CF7-6F44ECE8C5DB}" type="pres">
      <dgm:prSet presAssocID="{2F59F0A0-78F6-4E49-B4D0-208B29B1F4BF}" presName="hierChild5" presStyleCnt="0"/>
      <dgm:spPr/>
    </dgm:pt>
    <dgm:pt modelId="{1ADCD066-5B54-45DD-B3F9-CBDDAD764FBE}" type="pres">
      <dgm:prSet presAssocID="{20E1EEE2-352F-4491-872B-3BC80E1EF62A}" presName="Name35" presStyleLbl="parChTrans1D2" presStyleIdx="1" presStyleCnt="4"/>
      <dgm:spPr/>
    </dgm:pt>
    <dgm:pt modelId="{0F005BCC-66E5-4D19-A4B4-ADDF0744EC77}" type="pres">
      <dgm:prSet presAssocID="{1092B9B4-EEEE-4E20-A69C-4695EA3471CF}" presName="hierRoot2" presStyleCnt="0">
        <dgm:presLayoutVars>
          <dgm:hierBranch val="init"/>
        </dgm:presLayoutVars>
      </dgm:prSet>
      <dgm:spPr/>
    </dgm:pt>
    <dgm:pt modelId="{7BF71A46-ECDC-4107-996E-E72D484D2040}" type="pres">
      <dgm:prSet presAssocID="{1092B9B4-EEEE-4E20-A69C-4695EA3471CF}" presName="rootComposite" presStyleCnt="0"/>
      <dgm:spPr/>
    </dgm:pt>
    <dgm:pt modelId="{0730A37E-5284-4FDD-8810-17C503E26075}" type="pres">
      <dgm:prSet presAssocID="{1092B9B4-EEEE-4E20-A69C-4695EA3471CF}" presName="rootText" presStyleLbl="node2" presStyleIdx="1" presStyleCnt="4" custScaleX="127357" custScaleY="67424">
        <dgm:presLayoutVars>
          <dgm:chPref val="3"/>
        </dgm:presLayoutVars>
      </dgm:prSet>
      <dgm:spPr/>
    </dgm:pt>
    <dgm:pt modelId="{451A1201-9405-46FB-8695-924DB5A85021}" type="pres">
      <dgm:prSet presAssocID="{1092B9B4-EEEE-4E20-A69C-4695EA3471CF}" presName="rootConnector" presStyleLbl="node2" presStyleIdx="1" presStyleCnt="4"/>
      <dgm:spPr/>
    </dgm:pt>
    <dgm:pt modelId="{213F4311-0EBB-44EB-BD28-C6F5ED82116E}" type="pres">
      <dgm:prSet presAssocID="{1092B9B4-EEEE-4E20-A69C-4695EA3471CF}" presName="hierChild4" presStyleCnt="0"/>
      <dgm:spPr/>
    </dgm:pt>
    <dgm:pt modelId="{6603F576-8306-4710-8F8A-A26FCB41D54C}" type="pres">
      <dgm:prSet presAssocID="{1092B9B4-EEEE-4E20-A69C-4695EA3471CF}" presName="hierChild5" presStyleCnt="0"/>
      <dgm:spPr/>
    </dgm:pt>
    <dgm:pt modelId="{85767979-4964-42E9-8F1E-61DAF1AA8786}" type="pres">
      <dgm:prSet presAssocID="{E12200E8-BFB1-4660-9F14-3364C4556751}" presName="Name35" presStyleLbl="parChTrans1D2" presStyleIdx="2" presStyleCnt="4"/>
      <dgm:spPr/>
    </dgm:pt>
    <dgm:pt modelId="{FD533C39-DD86-4AA4-B89C-6BF2CCAF22D0}" type="pres">
      <dgm:prSet presAssocID="{20A6AFB1-BDB3-4755-9703-9C24D276483D}" presName="hierRoot2" presStyleCnt="0">
        <dgm:presLayoutVars>
          <dgm:hierBranch val="init"/>
        </dgm:presLayoutVars>
      </dgm:prSet>
      <dgm:spPr/>
    </dgm:pt>
    <dgm:pt modelId="{E4C67036-D47E-4A50-BB3F-1A6C62E2314F}" type="pres">
      <dgm:prSet presAssocID="{20A6AFB1-BDB3-4755-9703-9C24D276483D}" presName="rootComposite" presStyleCnt="0"/>
      <dgm:spPr/>
    </dgm:pt>
    <dgm:pt modelId="{F2EA17D0-DC5E-482A-83DC-66F89B41C216}" type="pres">
      <dgm:prSet presAssocID="{20A6AFB1-BDB3-4755-9703-9C24D276483D}" presName="rootText" presStyleLbl="node2" presStyleIdx="2" presStyleCnt="4" custScaleX="127357" custScaleY="67424" custLinFactNeighborX="-3218">
        <dgm:presLayoutVars>
          <dgm:chPref val="3"/>
        </dgm:presLayoutVars>
      </dgm:prSet>
      <dgm:spPr/>
    </dgm:pt>
    <dgm:pt modelId="{6A6AC1BD-F350-4C56-B0B1-6DEDD9023F10}" type="pres">
      <dgm:prSet presAssocID="{20A6AFB1-BDB3-4755-9703-9C24D276483D}" presName="rootConnector" presStyleLbl="node2" presStyleIdx="2" presStyleCnt="4"/>
      <dgm:spPr/>
    </dgm:pt>
    <dgm:pt modelId="{FD737DAE-B0B3-484F-A79F-73D779D36FB9}" type="pres">
      <dgm:prSet presAssocID="{20A6AFB1-BDB3-4755-9703-9C24D276483D}" presName="hierChild4" presStyleCnt="0"/>
      <dgm:spPr/>
    </dgm:pt>
    <dgm:pt modelId="{FBA3981F-3A90-4B3D-BBA8-E41A4AE588D4}" type="pres">
      <dgm:prSet presAssocID="{20A6AFB1-BDB3-4755-9703-9C24D276483D}" presName="hierChild5" presStyleCnt="0"/>
      <dgm:spPr/>
    </dgm:pt>
    <dgm:pt modelId="{5BFAB18F-E95B-42AF-BDF8-00F54BB9D3BB}" type="pres">
      <dgm:prSet presAssocID="{06547A31-546D-4D3D-A14E-42A5DCDA6FCE}" presName="Name35" presStyleLbl="parChTrans1D2" presStyleIdx="3" presStyleCnt="4"/>
      <dgm:spPr/>
    </dgm:pt>
    <dgm:pt modelId="{461879E5-0D57-4601-B1EA-430720EB8670}" type="pres">
      <dgm:prSet presAssocID="{3C2AEF32-E0B6-4A3F-9388-0C0554833514}" presName="hierRoot2" presStyleCnt="0">
        <dgm:presLayoutVars>
          <dgm:hierBranch val="init"/>
        </dgm:presLayoutVars>
      </dgm:prSet>
      <dgm:spPr/>
    </dgm:pt>
    <dgm:pt modelId="{8C2804B4-F310-4AD4-87AA-AC0978C5604F}" type="pres">
      <dgm:prSet presAssocID="{3C2AEF32-E0B6-4A3F-9388-0C0554833514}" presName="rootComposite" presStyleCnt="0"/>
      <dgm:spPr/>
    </dgm:pt>
    <dgm:pt modelId="{8A012971-93B6-43A5-8222-181082B93282}" type="pres">
      <dgm:prSet presAssocID="{3C2AEF32-E0B6-4A3F-9388-0C0554833514}" presName="rootText" presStyleLbl="node2" presStyleIdx="3" presStyleCnt="4" custScaleX="127357" custScaleY="67424" custLinFactNeighborX="-3218">
        <dgm:presLayoutVars>
          <dgm:chPref val="3"/>
        </dgm:presLayoutVars>
      </dgm:prSet>
      <dgm:spPr/>
    </dgm:pt>
    <dgm:pt modelId="{9F416B59-65E7-4308-B1FC-7EEF055F91A0}" type="pres">
      <dgm:prSet presAssocID="{3C2AEF32-E0B6-4A3F-9388-0C0554833514}" presName="rootConnector" presStyleLbl="node2" presStyleIdx="3" presStyleCnt="4"/>
      <dgm:spPr/>
    </dgm:pt>
    <dgm:pt modelId="{EE44E977-8AEE-48E1-BFFA-2B948803D135}" type="pres">
      <dgm:prSet presAssocID="{3C2AEF32-E0B6-4A3F-9388-0C0554833514}" presName="hierChild4" presStyleCnt="0"/>
      <dgm:spPr/>
    </dgm:pt>
    <dgm:pt modelId="{FC20BF18-3BC2-46F8-B851-BC36BD840A15}" type="pres">
      <dgm:prSet presAssocID="{3C2AEF32-E0B6-4A3F-9388-0C0554833514}" presName="hierChild5" presStyleCnt="0"/>
      <dgm:spPr/>
    </dgm:pt>
    <dgm:pt modelId="{6100BEAE-515C-4304-AB39-1C89AC44147A}" type="pres">
      <dgm:prSet presAssocID="{15E8FF64-5FAF-460C-9155-D722E4F5DF00}" presName="hierChild3" presStyleCnt="0"/>
      <dgm:spPr/>
    </dgm:pt>
  </dgm:ptLst>
  <dgm:cxnLst>
    <dgm:cxn modelId="{978D2133-D54A-4645-8B34-8C41CF919063}" type="presOf" srcId="{1092B9B4-EEEE-4E20-A69C-4695EA3471CF}" destId="{451A1201-9405-46FB-8695-924DB5A85021}" srcOrd="1" destOrd="0" presId="urn:microsoft.com/office/officeart/2005/8/layout/orgChart1"/>
    <dgm:cxn modelId="{6C6CD43C-9F0C-44F3-8233-24EB260D614F}" type="presOf" srcId="{20E1EEE2-352F-4491-872B-3BC80E1EF62A}" destId="{1ADCD066-5B54-45DD-B3F9-CBDDAD764FBE}" srcOrd="0" destOrd="0" presId="urn:microsoft.com/office/officeart/2005/8/layout/orgChart1"/>
    <dgm:cxn modelId="{D0B9C55C-A017-4CD6-9C7A-3354AD61B41F}" type="presOf" srcId="{F6E16D59-F55F-408E-8107-AB7BA792CF26}" destId="{ED8DBD60-C1A1-45FB-82B2-0D777E5808E6}" srcOrd="0" destOrd="0" presId="urn:microsoft.com/office/officeart/2005/8/layout/orgChart1"/>
    <dgm:cxn modelId="{ED6D0D43-3F89-4949-87CB-0F89B5582F15}" type="presOf" srcId="{15E8FF64-5FAF-460C-9155-D722E4F5DF00}" destId="{2AD3CEFD-B8EF-4A5A-BD49-1BEAB62C80FF}" srcOrd="0" destOrd="0" presId="urn:microsoft.com/office/officeart/2005/8/layout/orgChart1"/>
    <dgm:cxn modelId="{ECA28263-1722-487D-B1DC-512D800321EE}" srcId="{15E8FF64-5FAF-460C-9155-D722E4F5DF00}" destId="{1092B9B4-EEEE-4E20-A69C-4695EA3471CF}" srcOrd="1" destOrd="0" parTransId="{20E1EEE2-352F-4491-872B-3BC80E1EF62A}" sibTransId="{44D56972-6696-4B03-A70E-09F4FD3938AF}"/>
    <dgm:cxn modelId="{4740A943-2836-4746-9CF2-E328568FFBD0}" type="presOf" srcId="{3C2AEF32-E0B6-4A3F-9388-0C0554833514}" destId="{9F416B59-65E7-4308-B1FC-7EEF055F91A0}" srcOrd="1" destOrd="0" presId="urn:microsoft.com/office/officeart/2005/8/layout/orgChart1"/>
    <dgm:cxn modelId="{69A72848-D858-400C-9DB8-77FA39EB7FF3}" type="presOf" srcId="{3C2AEF32-E0B6-4A3F-9388-0C0554833514}" destId="{8A012971-93B6-43A5-8222-181082B93282}" srcOrd="0" destOrd="0" presId="urn:microsoft.com/office/officeart/2005/8/layout/orgChart1"/>
    <dgm:cxn modelId="{7D3F6377-1C9E-4E34-B24E-FB8C57F32D9A}" type="presOf" srcId="{2F59F0A0-78F6-4E49-B4D0-208B29B1F4BF}" destId="{D1CBDC4E-5ABE-4F50-A739-3AA6A8F908BE}" srcOrd="0" destOrd="0" presId="urn:microsoft.com/office/officeart/2005/8/layout/orgChart1"/>
    <dgm:cxn modelId="{BD39F577-D076-4002-9A84-A3EF307EA6E1}" srcId="{15E8FF64-5FAF-460C-9155-D722E4F5DF00}" destId="{20A6AFB1-BDB3-4755-9703-9C24D276483D}" srcOrd="2" destOrd="0" parTransId="{E12200E8-BFB1-4660-9F14-3364C4556751}" sibTransId="{747E185F-D33E-4451-9122-1829F192D6FE}"/>
    <dgm:cxn modelId="{7333CB79-3097-467A-9142-FB9A4C292B0C}" type="presOf" srcId="{20A6AFB1-BDB3-4755-9703-9C24D276483D}" destId="{6A6AC1BD-F350-4C56-B0B1-6DEDD9023F10}" srcOrd="1" destOrd="0" presId="urn:microsoft.com/office/officeart/2005/8/layout/orgChart1"/>
    <dgm:cxn modelId="{45307A97-D462-4C43-96DA-383D5FC85A0A}" srcId="{69ECA219-086F-4148-B3A2-76EE17DD8FD1}" destId="{15E8FF64-5FAF-460C-9155-D722E4F5DF00}" srcOrd="0" destOrd="0" parTransId="{47415314-0A6F-4AE8-9403-9AE0B8650CE7}" sibTransId="{A035317B-A61D-4C18-81CE-483E92435283}"/>
    <dgm:cxn modelId="{112CEE9A-E9A1-45CD-A2E3-3B965747F171}" type="presOf" srcId="{06547A31-546D-4D3D-A14E-42A5DCDA6FCE}" destId="{5BFAB18F-E95B-42AF-BDF8-00F54BB9D3BB}" srcOrd="0" destOrd="0" presId="urn:microsoft.com/office/officeart/2005/8/layout/orgChart1"/>
    <dgm:cxn modelId="{CBED579B-BD0F-447D-B544-1F9025844F78}" srcId="{15E8FF64-5FAF-460C-9155-D722E4F5DF00}" destId="{3C2AEF32-E0B6-4A3F-9388-0C0554833514}" srcOrd="3" destOrd="0" parTransId="{06547A31-546D-4D3D-A14E-42A5DCDA6FCE}" sibTransId="{D95CC112-59B9-4869-8BC5-CCEB2348D22A}"/>
    <dgm:cxn modelId="{F6D0F19B-C6EE-49C9-9D3D-2FB33B047367}" srcId="{15E8FF64-5FAF-460C-9155-D722E4F5DF00}" destId="{2F59F0A0-78F6-4E49-B4D0-208B29B1F4BF}" srcOrd="0" destOrd="0" parTransId="{F6E16D59-F55F-408E-8107-AB7BA792CF26}" sibTransId="{BA839F41-87ED-44D8-B999-F7B5A18104AC}"/>
    <dgm:cxn modelId="{4584FEBB-FF94-4C20-8D6B-40095E21E722}" type="presOf" srcId="{1092B9B4-EEEE-4E20-A69C-4695EA3471CF}" destId="{0730A37E-5284-4FDD-8810-17C503E26075}" srcOrd="0" destOrd="0" presId="urn:microsoft.com/office/officeart/2005/8/layout/orgChart1"/>
    <dgm:cxn modelId="{3F790FD8-EA41-4B14-B003-9F7E6D810F4F}" type="presOf" srcId="{2F59F0A0-78F6-4E49-B4D0-208B29B1F4BF}" destId="{D283BA38-5622-42E6-A2B3-17019932B068}" srcOrd="1" destOrd="0" presId="urn:microsoft.com/office/officeart/2005/8/layout/orgChart1"/>
    <dgm:cxn modelId="{46C24FEB-3398-484D-BF9D-0FEA3A244D5C}" type="presOf" srcId="{15E8FF64-5FAF-460C-9155-D722E4F5DF00}" destId="{B000BAA1-3B86-49B2-97B0-13888C11D990}" srcOrd="1" destOrd="0" presId="urn:microsoft.com/office/officeart/2005/8/layout/orgChart1"/>
    <dgm:cxn modelId="{FD91FAF0-0D46-45B8-BFC2-5042CC9E126E}" type="presOf" srcId="{E12200E8-BFB1-4660-9F14-3364C4556751}" destId="{85767979-4964-42E9-8F1E-61DAF1AA8786}" srcOrd="0" destOrd="0" presId="urn:microsoft.com/office/officeart/2005/8/layout/orgChart1"/>
    <dgm:cxn modelId="{FEC1CEF1-1AA5-4FF1-B2A1-82A39BE5976E}" type="presOf" srcId="{69ECA219-086F-4148-B3A2-76EE17DD8FD1}" destId="{4B1BD83C-3DD9-443B-BE10-5D5BF2D9CD5A}" srcOrd="0" destOrd="0" presId="urn:microsoft.com/office/officeart/2005/8/layout/orgChart1"/>
    <dgm:cxn modelId="{C856ACF3-0854-44A0-8AE2-B2C1D6624C8B}" type="presOf" srcId="{20A6AFB1-BDB3-4755-9703-9C24D276483D}" destId="{F2EA17D0-DC5E-482A-83DC-66F89B41C216}" srcOrd="0" destOrd="0" presId="urn:microsoft.com/office/officeart/2005/8/layout/orgChart1"/>
    <dgm:cxn modelId="{EA021B22-9C33-4CC6-B615-C76C01A9AF86}" type="presParOf" srcId="{4B1BD83C-3DD9-443B-BE10-5D5BF2D9CD5A}" destId="{49B4B762-F123-4A1A-B074-D83742B9F4FA}" srcOrd="0" destOrd="0" presId="urn:microsoft.com/office/officeart/2005/8/layout/orgChart1"/>
    <dgm:cxn modelId="{7A6886C3-5222-4A6E-9674-A00CED3D485E}" type="presParOf" srcId="{49B4B762-F123-4A1A-B074-D83742B9F4FA}" destId="{EB6A842D-7040-415B-9FBC-A82FE98A91A2}" srcOrd="0" destOrd="0" presId="urn:microsoft.com/office/officeart/2005/8/layout/orgChart1"/>
    <dgm:cxn modelId="{45498D5C-3278-4D90-8741-87F8421FA411}" type="presParOf" srcId="{EB6A842D-7040-415B-9FBC-A82FE98A91A2}" destId="{2AD3CEFD-B8EF-4A5A-BD49-1BEAB62C80FF}" srcOrd="0" destOrd="0" presId="urn:microsoft.com/office/officeart/2005/8/layout/orgChart1"/>
    <dgm:cxn modelId="{34DEA6C2-FCF2-4E58-BFE4-6E08D1F824BC}" type="presParOf" srcId="{EB6A842D-7040-415B-9FBC-A82FE98A91A2}" destId="{B000BAA1-3B86-49B2-97B0-13888C11D990}" srcOrd="1" destOrd="0" presId="urn:microsoft.com/office/officeart/2005/8/layout/orgChart1"/>
    <dgm:cxn modelId="{23BED88F-7ECA-45E8-8046-1A98C5A30AA3}" type="presParOf" srcId="{49B4B762-F123-4A1A-B074-D83742B9F4FA}" destId="{74200A7D-9103-43C7-B67E-C882CC1EC245}" srcOrd="1" destOrd="0" presId="urn:microsoft.com/office/officeart/2005/8/layout/orgChart1"/>
    <dgm:cxn modelId="{A240757B-FE23-41F6-B9A1-D803B1B9A865}" type="presParOf" srcId="{74200A7D-9103-43C7-B67E-C882CC1EC245}" destId="{ED8DBD60-C1A1-45FB-82B2-0D777E5808E6}" srcOrd="0" destOrd="0" presId="urn:microsoft.com/office/officeart/2005/8/layout/orgChart1"/>
    <dgm:cxn modelId="{B997ECFC-39C0-47ED-A8CE-6F9DC62D8680}" type="presParOf" srcId="{74200A7D-9103-43C7-B67E-C882CC1EC245}" destId="{E6466E7A-ECFA-4B39-8789-E12E766F6B40}" srcOrd="1" destOrd="0" presId="urn:microsoft.com/office/officeart/2005/8/layout/orgChart1"/>
    <dgm:cxn modelId="{2DBDDF33-F35F-444C-8FD5-3E2AF24738CE}" type="presParOf" srcId="{E6466E7A-ECFA-4B39-8789-E12E766F6B40}" destId="{6D5E9B2B-F53D-4582-8D8B-17BC86500947}" srcOrd="0" destOrd="0" presId="urn:microsoft.com/office/officeart/2005/8/layout/orgChart1"/>
    <dgm:cxn modelId="{F6426FF9-2FEF-4AE1-91F7-23A2D193494E}" type="presParOf" srcId="{6D5E9B2B-F53D-4582-8D8B-17BC86500947}" destId="{D1CBDC4E-5ABE-4F50-A739-3AA6A8F908BE}" srcOrd="0" destOrd="0" presId="urn:microsoft.com/office/officeart/2005/8/layout/orgChart1"/>
    <dgm:cxn modelId="{5E0B2BE1-6B5E-44FC-BC7E-83913C878F1E}" type="presParOf" srcId="{6D5E9B2B-F53D-4582-8D8B-17BC86500947}" destId="{D283BA38-5622-42E6-A2B3-17019932B068}" srcOrd="1" destOrd="0" presId="urn:microsoft.com/office/officeart/2005/8/layout/orgChart1"/>
    <dgm:cxn modelId="{E105AAB9-5DC6-4778-BD20-6124F249D270}" type="presParOf" srcId="{E6466E7A-ECFA-4B39-8789-E12E766F6B40}" destId="{B175804A-BD5D-4D0F-BB44-409941947F97}" srcOrd="1" destOrd="0" presId="urn:microsoft.com/office/officeart/2005/8/layout/orgChart1"/>
    <dgm:cxn modelId="{5144EF9C-90B6-4C0A-9B18-DA518F728184}" type="presParOf" srcId="{E6466E7A-ECFA-4B39-8789-E12E766F6B40}" destId="{ABA4E15D-5C9C-40B7-9CF7-6F44ECE8C5DB}" srcOrd="2" destOrd="0" presId="urn:microsoft.com/office/officeart/2005/8/layout/orgChart1"/>
    <dgm:cxn modelId="{E0FE7ABA-AE9B-4CB8-BED0-ED20EE0ED2BB}" type="presParOf" srcId="{74200A7D-9103-43C7-B67E-C882CC1EC245}" destId="{1ADCD066-5B54-45DD-B3F9-CBDDAD764FBE}" srcOrd="2" destOrd="0" presId="urn:microsoft.com/office/officeart/2005/8/layout/orgChart1"/>
    <dgm:cxn modelId="{E056B6A6-87B5-4EFC-8F8C-CCD44E60EFE8}" type="presParOf" srcId="{74200A7D-9103-43C7-B67E-C882CC1EC245}" destId="{0F005BCC-66E5-4D19-A4B4-ADDF0744EC77}" srcOrd="3" destOrd="0" presId="urn:microsoft.com/office/officeart/2005/8/layout/orgChart1"/>
    <dgm:cxn modelId="{5AEC70CB-49C9-4EDA-B392-40063E432C84}" type="presParOf" srcId="{0F005BCC-66E5-4D19-A4B4-ADDF0744EC77}" destId="{7BF71A46-ECDC-4107-996E-E72D484D2040}" srcOrd="0" destOrd="0" presId="urn:microsoft.com/office/officeart/2005/8/layout/orgChart1"/>
    <dgm:cxn modelId="{174C1AE1-239F-411A-A671-039C37152D23}" type="presParOf" srcId="{7BF71A46-ECDC-4107-996E-E72D484D2040}" destId="{0730A37E-5284-4FDD-8810-17C503E26075}" srcOrd="0" destOrd="0" presId="urn:microsoft.com/office/officeart/2005/8/layout/orgChart1"/>
    <dgm:cxn modelId="{41E3FEB3-1CF1-4462-821C-AAF672B437A7}" type="presParOf" srcId="{7BF71A46-ECDC-4107-996E-E72D484D2040}" destId="{451A1201-9405-46FB-8695-924DB5A85021}" srcOrd="1" destOrd="0" presId="urn:microsoft.com/office/officeart/2005/8/layout/orgChart1"/>
    <dgm:cxn modelId="{86CED038-ED53-4E36-8DD9-81FBB173AD20}" type="presParOf" srcId="{0F005BCC-66E5-4D19-A4B4-ADDF0744EC77}" destId="{213F4311-0EBB-44EB-BD28-C6F5ED82116E}" srcOrd="1" destOrd="0" presId="urn:microsoft.com/office/officeart/2005/8/layout/orgChart1"/>
    <dgm:cxn modelId="{409623C1-32D5-4249-94AE-9EF2FBA634C5}" type="presParOf" srcId="{0F005BCC-66E5-4D19-A4B4-ADDF0744EC77}" destId="{6603F576-8306-4710-8F8A-A26FCB41D54C}" srcOrd="2" destOrd="0" presId="urn:microsoft.com/office/officeart/2005/8/layout/orgChart1"/>
    <dgm:cxn modelId="{8436A2E6-871D-4807-BB46-C175E398CA6C}" type="presParOf" srcId="{74200A7D-9103-43C7-B67E-C882CC1EC245}" destId="{85767979-4964-42E9-8F1E-61DAF1AA8786}" srcOrd="4" destOrd="0" presId="urn:microsoft.com/office/officeart/2005/8/layout/orgChart1"/>
    <dgm:cxn modelId="{5E16D12F-28C5-4ABE-8B64-56993753F4BB}" type="presParOf" srcId="{74200A7D-9103-43C7-B67E-C882CC1EC245}" destId="{FD533C39-DD86-4AA4-B89C-6BF2CCAF22D0}" srcOrd="5" destOrd="0" presId="urn:microsoft.com/office/officeart/2005/8/layout/orgChart1"/>
    <dgm:cxn modelId="{F5CB51EF-E4F4-4872-B7D7-D8FC775F1DCC}" type="presParOf" srcId="{FD533C39-DD86-4AA4-B89C-6BF2CCAF22D0}" destId="{E4C67036-D47E-4A50-BB3F-1A6C62E2314F}" srcOrd="0" destOrd="0" presId="urn:microsoft.com/office/officeart/2005/8/layout/orgChart1"/>
    <dgm:cxn modelId="{FA2B3C31-23D5-4B93-B580-7190D6875A08}" type="presParOf" srcId="{E4C67036-D47E-4A50-BB3F-1A6C62E2314F}" destId="{F2EA17D0-DC5E-482A-83DC-66F89B41C216}" srcOrd="0" destOrd="0" presId="urn:microsoft.com/office/officeart/2005/8/layout/orgChart1"/>
    <dgm:cxn modelId="{91B9E71D-F96E-4E9E-ACDE-232AFD9FD6D4}" type="presParOf" srcId="{E4C67036-D47E-4A50-BB3F-1A6C62E2314F}" destId="{6A6AC1BD-F350-4C56-B0B1-6DEDD9023F10}" srcOrd="1" destOrd="0" presId="urn:microsoft.com/office/officeart/2005/8/layout/orgChart1"/>
    <dgm:cxn modelId="{64A9CDA6-2D1E-4660-B50A-7B75D30F6651}" type="presParOf" srcId="{FD533C39-DD86-4AA4-B89C-6BF2CCAF22D0}" destId="{FD737DAE-B0B3-484F-A79F-73D779D36FB9}" srcOrd="1" destOrd="0" presId="urn:microsoft.com/office/officeart/2005/8/layout/orgChart1"/>
    <dgm:cxn modelId="{81C21C79-5E6F-4DAF-A1B9-6E829BD7C1C4}" type="presParOf" srcId="{FD533C39-DD86-4AA4-B89C-6BF2CCAF22D0}" destId="{FBA3981F-3A90-4B3D-BBA8-E41A4AE588D4}" srcOrd="2" destOrd="0" presId="urn:microsoft.com/office/officeart/2005/8/layout/orgChart1"/>
    <dgm:cxn modelId="{67173403-8A29-461D-A080-528D7583F654}" type="presParOf" srcId="{74200A7D-9103-43C7-B67E-C882CC1EC245}" destId="{5BFAB18F-E95B-42AF-BDF8-00F54BB9D3BB}" srcOrd="6" destOrd="0" presId="urn:microsoft.com/office/officeart/2005/8/layout/orgChart1"/>
    <dgm:cxn modelId="{422B3C47-6D86-4F16-A884-A06EB18A9816}" type="presParOf" srcId="{74200A7D-9103-43C7-B67E-C882CC1EC245}" destId="{461879E5-0D57-4601-B1EA-430720EB8670}" srcOrd="7" destOrd="0" presId="urn:microsoft.com/office/officeart/2005/8/layout/orgChart1"/>
    <dgm:cxn modelId="{9A60A8B9-CE4C-4F31-9BC5-92C3F21F4590}" type="presParOf" srcId="{461879E5-0D57-4601-B1EA-430720EB8670}" destId="{8C2804B4-F310-4AD4-87AA-AC0978C5604F}" srcOrd="0" destOrd="0" presId="urn:microsoft.com/office/officeart/2005/8/layout/orgChart1"/>
    <dgm:cxn modelId="{7E863A55-B7EC-4983-9097-2CCC45D96FF0}" type="presParOf" srcId="{8C2804B4-F310-4AD4-87AA-AC0978C5604F}" destId="{8A012971-93B6-43A5-8222-181082B93282}" srcOrd="0" destOrd="0" presId="urn:microsoft.com/office/officeart/2005/8/layout/orgChart1"/>
    <dgm:cxn modelId="{14CA7C55-5DB2-4ED8-A4E3-FD62247941E0}" type="presParOf" srcId="{8C2804B4-F310-4AD4-87AA-AC0978C5604F}" destId="{9F416B59-65E7-4308-B1FC-7EEF055F91A0}" srcOrd="1" destOrd="0" presId="urn:microsoft.com/office/officeart/2005/8/layout/orgChart1"/>
    <dgm:cxn modelId="{5F0EA1B6-AA70-44AC-A019-6B29955FAE92}" type="presParOf" srcId="{461879E5-0D57-4601-B1EA-430720EB8670}" destId="{EE44E977-8AEE-48E1-BFFA-2B948803D135}" srcOrd="1" destOrd="0" presId="urn:microsoft.com/office/officeart/2005/8/layout/orgChart1"/>
    <dgm:cxn modelId="{508E8EDD-FE26-49AC-82AE-E8A6F94F425D}" type="presParOf" srcId="{461879E5-0D57-4601-B1EA-430720EB8670}" destId="{FC20BF18-3BC2-46F8-B851-BC36BD840A15}" srcOrd="2" destOrd="0" presId="urn:microsoft.com/office/officeart/2005/8/layout/orgChart1"/>
    <dgm:cxn modelId="{A3969684-1451-4B1B-8AA1-33A014E03C56}" type="presParOf" srcId="{49B4B762-F123-4A1A-B074-D83742B9F4FA}" destId="{6100BEAE-515C-4304-AB39-1C89AC44147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ECA219-086F-4148-B3A2-76EE17DD8FD1}" type="doc">
      <dgm:prSet loTypeId="urn:microsoft.com/office/officeart/2008/layout/HorizontalMultiLevelHierarchy" loCatId="hierarchy" qsTypeId="urn:microsoft.com/office/officeart/2005/8/quickstyle/3d3" qsCatId="3D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15E8FF64-5FAF-460C-9155-D722E4F5DF00}">
      <dgm:prSet phldrT="[Text]" custT="1"/>
      <dgm:spPr/>
      <dgm:t>
        <a:bodyPr/>
        <a:lstStyle/>
        <a:p>
          <a:r>
            <a:rPr lang="en-IN" sz="2000" b="1" i="0" u="none" dirty="0"/>
            <a:t>Types of Determiners</a:t>
          </a:r>
        </a:p>
      </dgm:t>
    </dgm:pt>
    <dgm:pt modelId="{47415314-0A6F-4AE8-9403-9AE0B8650CE7}" type="parTrans" cxnId="{45307A97-D462-4C43-96DA-383D5FC85A0A}">
      <dgm:prSet/>
      <dgm:spPr/>
      <dgm:t>
        <a:bodyPr/>
        <a:lstStyle/>
        <a:p>
          <a:endParaRPr lang="en-IN"/>
        </a:p>
      </dgm:t>
    </dgm:pt>
    <dgm:pt modelId="{A035317B-A61D-4C18-81CE-483E92435283}" type="sibTrans" cxnId="{45307A97-D462-4C43-96DA-383D5FC85A0A}">
      <dgm:prSet/>
      <dgm:spPr/>
      <dgm:t>
        <a:bodyPr/>
        <a:lstStyle/>
        <a:p>
          <a:endParaRPr lang="en-IN"/>
        </a:p>
      </dgm:t>
    </dgm:pt>
    <dgm:pt modelId="{2F59F0A0-78F6-4E49-B4D0-208B29B1F4BF}">
      <dgm:prSet phldrT="[Text]" custT="1"/>
      <dgm:spPr/>
      <dgm:t>
        <a:bodyPr/>
        <a:lstStyle/>
        <a:p>
          <a:r>
            <a:rPr lang="en-IN" sz="2000" b="1" dirty="0"/>
            <a:t>Articles</a:t>
          </a:r>
        </a:p>
      </dgm:t>
    </dgm:pt>
    <dgm:pt modelId="{F6E16D59-F55F-408E-8107-AB7BA792CF26}" type="parTrans" cxnId="{F6D0F19B-C6EE-49C9-9D3D-2FB33B047367}">
      <dgm:prSet/>
      <dgm:spPr/>
      <dgm:t>
        <a:bodyPr/>
        <a:lstStyle/>
        <a:p>
          <a:endParaRPr lang="en-IN"/>
        </a:p>
      </dgm:t>
    </dgm:pt>
    <dgm:pt modelId="{BA839F41-87ED-44D8-B999-F7B5A18104AC}" type="sibTrans" cxnId="{F6D0F19B-C6EE-49C9-9D3D-2FB33B047367}">
      <dgm:prSet/>
      <dgm:spPr/>
      <dgm:t>
        <a:bodyPr/>
        <a:lstStyle/>
        <a:p>
          <a:endParaRPr lang="en-IN"/>
        </a:p>
      </dgm:t>
    </dgm:pt>
    <dgm:pt modelId="{1092B9B4-EEEE-4E20-A69C-4695EA3471CF}">
      <dgm:prSet custT="1"/>
      <dgm:spPr/>
      <dgm:t>
        <a:bodyPr/>
        <a:lstStyle/>
        <a:p>
          <a:r>
            <a:rPr lang="en-IN" sz="2000" b="1" dirty="0"/>
            <a:t>Possessives </a:t>
          </a:r>
        </a:p>
      </dgm:t>
    </dgm:pt>
    <dgm:pt modelId="{20E1EEE2-352F-4491-872B-3BC80E1EF62A}" type="parTrans" cxnId="{ECA28263-1722-487D-B1DC-512D800321EE}">
      <dgm:prSet/>
      <dgm:spPr/>
      <dgm:t>
        <a:bodyPr/>
        <a:lstStyle/>
        <a:p>
          <a:endParaRPr lang="en-IN"/>
        </a:p>
      </dgm:t>
    </dgm:pt>
    <dgm:pt modelId="{44D56972-6696-4B03-A70E-09F4FD3938AF}" type="sibTrans" cxnId="{ECA28263-1722-487D-B1DC-512D800321EE}">
      <dgm:prSet/>
      <dgm:spPr/>
      <dgm:t>
        <a:bodyPr/>
        <a:lstStyle/>
        <a:p>
          <a:endParaRPr lang="en-IN"/>
        </a:p>
      </dgm:t>
    </dgm:pt>
    <dgm:pt modelId="{20A6AFB1-BDB3-4755-9703-9C24D276483D}">
      <dgm:prSet custT="1"/>
      <dgm:spPr/>
      <dgm:t>
        <a:bodyPr/>
        <a:lstStyle/>
        <a:p>
          <a:r>
            <a:rPr lang="en-IN" sz="2000" b="1" dirty="0"/>
            <a:t>Quantifiers </a:t>
          </a:r>
        </a:p>
      </dgm:t>
    </dgm:pt>
    <dgm:pt modelId="{E12200E8-BFB1-4660-9F14-3364C4556751}" type="parTrans" cxnId="{BD39F577-D076-4002-9A84-A3EF307EA6E1}">
      <dgm:prSet/>
      <dgm:spPr/>
      <dgm:t>
        <a:bodyPr/>
        <a:lstStyle/>
        <a:p>
          <a:endParaRPr lang="en-IN"/>
        </a:p>
      </dgm:t>
    </dgm:pt>
    <dgm:pt modelId="{747E185F-D33E-4451-9122-1829F192D6FE}" type="sibTrans" cxnId="{BD39F577-D076-4002-9A84-A3EF307EA6E1}">
      <dgm:prSet/>
      <dgm:spPr/>
      <dgm:t>
        <a:bodyPr/>
        <a:lstStyle/>
        <a:p>
          <a:endParaRPr lang="en-IN"/>
        </a:p>
      </dgm:t>
    </dgm:pt>
    <dgm:pt modelId="{3C2AEF32-E0B6-4A3F-9388-0C0554833514}">
      <dgm:prSet custT="1"/>
      <dgm:spPr/>
      <dgm:t>
        <a:bodyPr/>
        <a:lstStyle/>
        <a:p>
          <a:r>
            <a:rPr lang="en-IN" sz="2000" b="1" dirty="0"/>
            <a:t>Demonstratives </a:t>
          </a:r>
        </a:p>
      </dgm:t>
    </dgm:pt>
    <dgm:pt modelId="{06547A31-546D-4D3D-A14E-42A5DCDA6FCE}" type="parTrans" cxnId="{CBED579B-BD0F-447D-B544-1F9025844F78}">
      <dgm:prSet/>
      <dgm:spPr/>
      <dgm:t>
        <a:bodyPr/>
        <a:lstStyle/>
        <a:p>
          <a:endParaRPr lang="en-IN"/>
        </a:p>
      </dgm:t>
    </dgm:pt>
    <dgm:pt modelId="{D95CC112-59B9-4869-8BC5-CCEB2348D22A}" type="sibTrans" cxnId="{CBED579B-BD0F-447D-B544-1F9025844F78}">
      <dgm:prSet/>
      <dgm:spPr/>
      <dgm:t>
        <a:bodyPr/>
        <a:lstStyle/>
        <a:p>
          <a:endParaRPr lang="en-IN"/>
        </a:p>
      </dgm:t>
    </dgm:pt>
    <dgm:pt modelId="{5E25475A-73FE-46B6-A446-7CC5C78219E1}" type="pres">
      <dgm:prSet presAssocID="{69ECA219-086F-4148-B3A2-76EE17DD8FD1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2BF07AF-FEF7-4B03-B3B3-2608182EACC9}" type="pres">
      <dgm:prSet presAssocID="{15E8FF64-5FAF-460C-9155-D722E4F5DF00}" presName="root1" presStyleCnt="0"/>
      <dgm:spPr/>
    </dgm:pt>
    <dgm:pt modelId="{31206709-27BF-4D1B-918C-57CB2F0DE8E0}" type="pres">
      <dgm:prSet presAssocID="{15E8FF64-5FAF-460C-9155-D722E4F5DF00}" presName="LevelOneTextNode" presStyleLbl="node0" presStyleIdx="0" presStyleCnt="1">
        <dgm:presLayoutVars>
          <dgm:chPref val="3"/>
        </dgm:presLayoutVars>
      </dgm:prSet>
      <dgm:spPr/>
    </dgm:pt>
    <dgm:pt modelId="{63DE75CD-7F10-4477-BC6A-45827E4C8AC6}" type="pres">
      <dgm:prSet presAssocID="{15E8FF64-5FAF-460C-9155-D722E4F5DF00}" presName="level2hierChild" presStyleCnt="0"/>
      <dgm:spPr/>
    </dgm:pt>
    <dgm:pt modelId="{A6AA9921-E77A-4D50-8F03-9190CFA8A73A}" type="pres">
      <dgm:prSet presAssocID="{F6E16D59-F55F-408E-8107-AB7BA792CF26}" presName="conn2-1" presStyleLbl="parChTrans1D2" presStyleIdx="0" presStyleCnt="4"/>
      <dgm:spPr/>
    </dgm:pt>
    <dgm:pt modelId="{D0E9DFD9-850F-4C2B-9BAE-B5C2FF367EA2}" type="pres">
      <dgm:prSet presAssocID="{F6E16D59-F55F-408E-8107-AB7BA792CF26}" presName="connTx" presStyleLbl="parChTrans1D2" presStyleIdx="0" presStyleCnt="4"/>
      <dgm:spPr/>
    </dgm:pt>
    <dgm:pt modelId="{F4F3C913-5880-4A8F-A413-306E0C05610C}" type="pres">
      <dgm:prSet presAssocID="{2F59F0A0-78F6-4E49-B4D0-208B29B1F4BF}" presName="root2" presStyleCnt="0"/>
      <dgm:spPr/>
    </dgm:pt>
    <dgm:pt modelId="{DD19FAE1-C7F5-4703-B66B-DAE3D38C44A7}" type="pres">
      <dgm:prSet presAssocID="{2F59F0A0-78F6-4E49-B4D0-208B29B1F4BF}" presName="LevelTwoTextNode" presStyleLbl="node2" presStyleIdx="0" presStyleCnt="4">
        <dgm:presLayoutVars>
          <dgm:chPref val="3"/>
        </dgm:presLayoutVars>
      </dgm:prSet>
      <dgm:spPr/>
    </dgm:pt>
    <dgm:pt modelId="{A2CB45B2-833F-413D-BFA9-EF45CA862C4B}" type="pres">
      <dgm:prSet presAssocID="{2F59F0A0-78F6-4E49-B4D0-208B29B1F4BF}" presName="level3hierChild" presStyleCnt="0"/>
      <dgm:spPr/>
    </dgm:pt>
    <dgm:pt modelId="{53FC90B1-5B16-42BE-869C-E8AA9DFB8F8E}" type="pres">
      <dgm:prSet presAssocID="{20E1EEE2-352F-4491-872B-3BC80E1EF62A}" presName="conn2-1" presStyleLbl="parChTrans1D2" presStyleIdx="1" presStyleCnt="4"/>
      <dgm:spPr/>
    </dgm:pt>
    <dgm:pt modelId="{37D2E0B8-FF5B-41C7-9C88-8A8F017E722D}" type="pres">
      <dgm:prSet presAssocID="{20E1EEE2-352F-4491-872B-3BC80E1EF62A}" presName="connTx" presStyleLbl="parChTrans1D2" presStyleIdx="1" presStyleCnt="4"/>
      <dgm:spPr/>
    </dgm:pt>
    <dgm:pt modelId="{4EB342E4-1D6A-4776-BBF1-24BC3C3E2828}" type="pres">
      <dgm:prSet presAssocID="{1092B9B4-EEEE-4E20-A69C-4695EA3471CF}" presName="root2" presStyleCnt="0"/>
      <dgm:spPr/>
    </dgm:pt>
    <dgm:pt modelId="{851525E2-EF4B-41EE-BCFE-4EFEED369073}" type="pres">
      <dgm:prSet presAssocID="{1092B9B4-EEEE-4E20-A69C-4695EA3471CF}" presName="LevelTwoTextNode" presStyleLbl="node2" presStyleIdx="1" presStyleCnt="4">
        <dgm:presLayoutVars>
          <dgm:chPref val="3"/>
        </dgm:presLayoutVars>
      </dgm:prSet>
      <dgm:spPr/>
    </dgm:pt>
    <dgm:pt modelId="{EB4CE577-82F4-4AA4-A3EB-BC1213FA4546}" type="pres">
      <dgm:prSet presAssocID="{1092B9B4-EEEE-4E20-A69C-4695EA3471CF}" presName="level3hierChild" presStyleCnt="0"/>
      <dgm:spPr/>
    </dgm:pt>
    <dgm:pt modelId="{897BB535-9EDE-46A8-A134-0108112BF662}" type="pres">
      <dgm:prSet presAssocID="{E12200E8-BFB1-4660-9F14-3364C4556751}" presName="conn2-1" presStyleLbl="parChTrans1D2" presStyleIdx="2" presStyleCnt="4"/>
      <dgm:spPr/>
    </dgm:pt>
    <dgm:pt modelId="{C3833280-406D-4304-80E2-833D40A5CF9E}" type="pres">
      <dgm:prSet presAssocID="{E12200E8-BFB1-4660-9F14-3364C4556751}" presName="connTx" presStyleLbl="parChTrans1D2" presStyleIdx="2" presStyleCnt="4"/>
      <dgm:spPr/>
    </dgm:pt>
    <dgm:pt modelId="{7D923A87-00CA-44BC-A572-BEB8D0C25D96}" type="pres">
      <dgm:prSet presAssocID="{20A6AFB1-BDB3-4755-9703-9C24D276483D}" presName="root2" presStyleCnt="0"/>
      <dgm:spPr/>
    </dgm:pt>
    <dgm:pt modelId="{613A31FC-20D8-4231-B414-DB94AF684513}" type="pres">
      <dgm:prSet presAssocID="{20A6AFB1-BDB3-4755-9703-9C24D276483D}" presName="LevelTwoTextNode" presStyleLbl="node2" presStyleIdx="2" presStyleCnt="4">
        <dgm:presLayoutVars>
          <dgm:chPref val="3"/>
        </dgm:presLayoutVars>
      </dgm:prSet>
      <dgm:spPr/>
    </dgm:pt>
    <dgm:pt modelId="{EF85B577-704B-4A7D-82D5-5D2F9D351CD9}" type="pres">
      <dgm:prSet presAssocID="{20A6AFB1-BDB3-4755-9703-9C24D276483D}" presName="level3hierChild" presStyleCnt="0"/>
      <dgm:spPr/>
    </dgm:pt>
    <dgm:pt modelId="{79A2681F-3E2C-4911-8A1D-49F8DFA97F39}" type="pres">
      <dgm:prSet presAssocID="{06547A31-546D-4D3D-A14E-42A5DCDA6FCE}" presName="conn2-1" presStyleLbl="parChTrans1D2" presStyleIdx="3" presStyleCnt="4"/>
      <dgm:spPr/>
    </dgm:pt>
    <dgm:pt modelId="{EA425100-2876-47D7-AAFF-A17C719A3D69}" type="pres">
      <dgm:prSet presAssocID="{06547A31-546D-4D3D-A14E-42A5DCDA6FCE}" presName="connTx" presStyleLbl="parChTrans1D2" presStyleIdx="3" presStyleCnt="4"/>
      <dgm:spPr/>
    </dgm:pt>
    <dgm:pt modelId="{03A32D4B-A994-4DC2-9E91-71C880015CBD}" type="pres">
      <dgm:prSet presAssocID="{3C2AEF32-E0B6-4A3F-9388-0C0554833514}" presName="root2" presStyleCnt="0"/>
      <dgm:spPr/>
    </dgm:pt>
    <dgm:pt modelId="{EE7C3341-5C69-4FCF-97C1-0B01A560968B}" type="pres">
      <dgm:prSet presAssocID="{3C2AEF32-E0B6-4A3F-9388-0C0554833514}" presName="LevelTwoTextNode" presStyleLbl="node2" presStyleIdx="3" presStyleCnt="4">
        <dgm:presLayoutVars>
          <dgm:chPref val="3"/>
        </dgm:presLayoutVars>
      </dgm:prSet>
      <dgm:spPr/>
    </dgm:pt>
    <dgm:pt modelId="{5751DA21-5DEB-46D4-94CB-59AA9C3A458B}" type="pres">
      <dgm:prSet presAssocID="{3C2AEF32-E0B6-4A3F-9388-0C0554833514}" presName="level3hierChild" presStyleCnt="0"/>
      <dgm:spPr/>
    </dgm:pt>
  </dgm:ptLst>
  <dgm:cxnLst>
    <dgm:cxn modelId="{CACCFA0A-CAD6-43C8-AEE4-E020908F61CF}" type="presOf" srcId="{2F59F0A0-78F6-4E49-B4D0-208B29B1F4BF}" destId="{DD19FAE1-C7F5-4703-B66B-DAE3D38C44A7}" srcOrd="0" destOrd="0" presId="urn:microsoft.com/office/officeart/2008/layout/HorizontalMultiLevelHierarchy"/>
    <dgm:cxn modelId="{3047E30E-D2A8-4BB0-B356-049AF77AC9CC}" type="presOf" srcId="{F6E16D59-F55F-408E-8107-AB7BA792CF26}" destId="{A6AA9921-E77A-4D50-8F03-9190CFA8A73A}" srcOrd="0" destOrd="0" presId="urn:microsoft.com/office/officeart/2008/layout/HorizontalMultiLevelHierarchy"/>
    <dgm:cxn modelId="{3A8CDE10-49E1-41EE-A1E0-8709D503505D}" type="presOf" srcId="{1092B9B4-EEEE-4E20-A69C-4695EA3471CF}" destId="{851525E2-EF4B-41EE-BCFE-4EFEED369073}" srcOrd="0" destOrd="0" presId="urn:microsoft.com/office/officeart/2008/layout/HorizontalMultiLevelHierarchy"/>
    <dgm:cxn modelId="{ECA28263-1722-487D-B1DC-512D800321EE}" srcId="{15E8FF64-5FAF-460C-9155-D722E4F5DF00}" destId="{1092B9B4-EEEE-4E20-A69C-4695EA3471CF}" srcOrd="1" destOrd="0" parTransId="{20E1EEE2-352F-4491-872B-3BC80E1EF62A}" sibTransId="{44D56972-6696-4B03-A70E-09F4FD3938AF}"/>
    <dgm:cxn modelId="{AB8D7A6B-D2C3-431F-829D-823F71965850}" type="presOf" srcId="{15E8FF64-5FAF-460C-9155-D722E4F5DF00}" destId="{31206709-27BF-4D1B-918C-57CB2F0DE8E0}" srcOrd="0" destOrd="0" presId="urn:microsoft.com/office/officeart/2008/layout/HorizontalMultiLevelHierarchy"/>
    <dgm:cxn modelId="{2253AF6B-5701-4A1F-9D82-FBC4537098A6}" type="presOf" srcId="{3C2AEF32-E0B6-4A3F-9388-0C0554833514}" destId="{EE7C3341-5C69-4FCF-97C1-0B01A560968B}" srcOrd="0" destOrd="0" presId="urn:microsoft.com/office/officeart/2008/layout/HorizontalMultiLevelHierarchy"/>
    <dgm:cxn modelId="{BAB1676F-0858-4805-9D63-60024411FF02}" type="presOf" srcId="{E12200E8-BFB1-4660-9F14-3364C4556751}" destId="{897BB535-9EDE-46A8-A134-0108112BF662}" srcOrd="0" destOrd="0" presId="urn:microsoft.com/office/officeart/2008/layout/HorizontalMultiLevelHierarchy"/>
    <dgm:cxn modelId="{20C56572-2866-45C0-ACD1-0A745E03691B}" type="presOf" srcId="{20A6AFB1-BDB3-4755-9703-9C24D276483D}" destId="{613A31FC-20D8-4231-B414-DB94AF684513}" srcOrd="0" destOrd="0" presId="urn:microsoft.com/office/officeart/2008/layout/HorizontalMultiLevelHierarchy"/>
    <dgm:cxn modelId="{B71F0B75-7B08-4F8A-8FEE-34F00E19CD8B}" type="presOf" srcId="{20E1EEE2-352F-4491-872B-3BC80E1EF62A}" destId="{37D2E0B8-FF5B-41C7-9C88-8A8F017E722D}" srcOrd="1" destOrd="0" presId="urn:microsoft.com/office/officeart/2008/layout/HorizontalMultiLevelHierarchy"/>
    <dgm:cxn modelId="{BD39F577-D076-4002-9A84-A3EF307EA6E1}" srcId="{15E8FF64-5FAF-460C-9155-D722E4F5DF00}" destId="{20A6AFB1-BDB3-4755-9703-9C24D276483D}" srcOrd="2" destOrd="0" parTransId="{E12200E8-BFB1-4660-9F14-3364C4556751}" sibTransId="{747E185F-D33E-4451-9122-1829F192D6FE}"/>
    <dgm:cxn modelId="{8D986480-D2B2-4147-9562-01608FE2D715}" type="presOf" srcId="{F6E16D59-F55F-408E-8107-AB7BA792CF26}" destId="{D0E9DFD9-850F-4C2B-9BAE-B5C2FF367EA2}" srcOrd="1" destOrd="0" presId="urn:microsoft.com/office/officeart/2008/layout/HorizontalMultiLevelHierarchy"/>
    <dgm:cxn modelId="{BFD4D88F-6208-43D0-BF3E-ADC3ADE0C3CA}" type="presOf" srcId="{06547A31-546D-4D3D-A14E-42A5DCDA6FCE}" destId="{79A2681F-3E2C-4911-8A1D-49F8DFA97F39}" srcOrd="0" destOrd="0" presId="urn:microsoft.com/office/officeart/2008/layout/HorizontalMultiLevelHierarchy"/>
    <dgm:cxn modelId="{45307A97-D462-4C43-96DA-383D5FC85A0A}" srcId="{69ECA219-086F-4148-B3A2-76EE17DD8FD1}" destId="{15E8FF64-5FAF-460C-9155-D722E4F5DF00}" srcOrd="0" destOrd="0" parTransId="{47415314-0A6F-4AE8-9403-9AE0B8650CE7}" sibTransId="{A035317B-A61D-4C18-81CE-483E92435283}"/>
    <dgm:cxn modelId="{CBED579B-BD0F-447D-B544-1F9025844F78}" srcId="{15E8FF64-5FAF-460C-9155-D722E4F5DF00}" destId="{3C2AEF32-E0B6-4A3F-9388-0C0554833514}" srcOrd="3" destOrd="0" parTransId="{06547A31-546D-4D3D-A14E-42A5DCDA6FCE}" sibTransId="{D95CC112-59B9-4869-8BC5-CCEB2348D22A}"/>
    <dgm:cxn modelId="{F6D0F19B-C6EE-49C9-9D3D-2FB33B047367}" srcId="{15E8FF64-5FAF-460C-9155-D722E4F5DF00}" destId="{2F59F0A0-78F6-4E49-B4D0-208B29B1F4BF}" srcOrd="0" destOrd="0" parTransId="{F6E16D59-F55F-408E-8107-AB7BA792CF26}" sibTransId="{BA839F41-87ED-44D8-B999-F7B5A18104AC}"/>
    <dgm:cxn modelId="{A9ED9FA6-8C3F-4522-A600-5B78957801AB}" type="presOf" srcId="{20E1EEE2-352F-4491-872B-3BC80E1EF62A}" destId="{53FC90B1-5B16-42BE-869C-E8AA9DFB8F8E}" srcOrd="0" destOrd="0" presId="urn:microsoft.com/office/officeart/2008/layout/HorizontalMultiLevelHierarchy"/>
    <dgm:cxn modelId="{A3C325BD-D66E-4CE2-B161-4C4F8F8471EB}" type="presOf" srcId="{06547A31-546D-4D3D-A14E-42A5DCDA6FCE}" destId="{EA425100-2876-47D7-AAFF-A17C719A3D69}" srcOrd="1" destOrd="0" presId="urn:microsoft.com/office/officeart/2008/layout/HorizontalMultiLevelHierarchy"/>
    <dgm:cxn modelId="{97971FEA-BCB1-47C8-9C56-683ED77C2082}" type="presOf" srcId="{E12200E8-BFB1-4660-9F14-3364C4556751}" destId="{C3833280-406D-4304-80E2-833D40A5CF9E}" srcOrd="1" destOrd="0" presId="urn:microsoft.com/office/officeart/2008/layout/HorizontalMultiLevelHierarchy"/>
    <dgm:cxn modelId="{196F00FD-260E-4B12-80F8-66A8A7607608}" type="presOf" srcId="{69ECA219-086F-4148-B3A2-76EE17DD8FD1}" destId="{5E25475A-73FE-46B6-A446-7CC5C78219E1}" srcOrd="0" destOrd="0" presId="urn:microsoft.com/office/officeart/2008/layout/HorizontalMultiLevelHierarchy"/>
    <dgm:cxn modelId="{758E2625-9099-4900-94D9-3712313FC05A}" type="presParOf" srcId="{5E25475A-73FE-46B6-A446-7CC5C78219E1}" destId="{12BF07AF-FEF7-4B03-B3B3-2608182EACC9}" srcOrd="0" destOrd="0" presId="urn:microsoft.com/office/officeart/2008/layout/HorizontalMultiLevelHierarchy"/>
    <dgm:cxn modelId="{D13053A4-62D2-478B-B88F-BD63B8DAC47F}" type="presParOf" srcId="{12BF07AF-FEF7-4B03-B3B3-2608182EACC9}" destId="{31206709-27BF-4D1B-918C-57CB2F0DE8E0}" srcOrd="0" destOrd="0" presId="urn:microsoft.com/office/officeart/2008/layout/HorizontalMultiLevelHierarchy"/>
    <dgm:cxn modelId="{A61B2BF3-F3C7-4131-B83E-243471043BD5}" type="presParOf" srcId="{12BF07AF-FEF7-4B03-B3B3-2608182EACC9}" destId="{63DE75CD-7F10-4477-BC6A-45827E4C8AC6}" srcOrd="1" destOrd="0" presId="urn:microsoft.com/office/officeart/2008/layout/HorizontalMultiLevelHierarchy"/>
    <dgm:cxn modelId="{8367A7D3-B497-4CB9-B361-F625EE74B913}" type="presParOf" srcId="{63DE75CD-7F10-4477-BC6A-45827E4C8AC6}" destId="{A6AA9921-E77A-4D50-8F03-9190CFA8A73A}" srcOrd="0" destOrd="0" presId="urn:microsoft.com/office/officeart/2008/layout/HorizontalMultiLevelHierarchy"/>
    <dgm:cxn modelId="{E53CCB9F-B414-49EC-8F81-A84C84345853}" type="presParOf" srcId="{A6AA9921-E77A-4D50-8F03-9190CFA8A73A}" destId="{D0E9DFD9-850F-4C2B-9BAE-B5C2FF367EA2}" srcOrd="0" destOrd="0" presId="urn:microsoft.com/office/officeart/2008/layout/HorizontalMultiLevelHierarchy"/>
    <dgm:cxn modelId="{0EAC741E-8BE2-45C7-BEAA-242FE3B56D2E}" type="presParOf" srcId="{63DE75CD-7F10-4477-BC6A-45827E4C8AC6}" destId="{F4F3C913-5880-4A8F-A413-306E0C05610C}" srcOrd="1" destOrd="0" presId="urn:microsoft.com/office/officeart/2008/layout/HorizontalMultiLevelHierarchy"/>
    <dgm:cxn modelId="{F649E85F-D320-4DCE-AC95-BDE0F6139A12}" type="presParOf" srcId="{F4F3C913-5880-4A8F-A413-306E0C05610C}" destId="{DD19FAE1-C7F5-4703-B66B-DAE3D38C44A7}" srcOrd="0" destOrd="0" presId="urn:microsoft.com/office/officeart/2008/layout/HorizontalMultiLevelHierarchy"/>
    <dgm:cxn modelId="{83B5D63A-79A8-4442-9C16-0B6CFAB64C0D}" type="presParOf" srcId="{F4F3C913-5880-4A8F-A413-306E0C05610C}" destId="{A2CB45B2-833F-413D-BFA9-EF45CA862C4B}" srcOrd="1" destOrd="0" presId="urn:microsoft.com/office/officeart/2008/layout/HorizontalMultiLevelHierarchy"/>
    <dgm:cxn modelId="{8F0BC11B-DECE-4947-9C09-95938BFBF4C7}" type="presParOf" srcId="{63DE75CD-7F10-4477-BC6A-45827E4C8AC6}" destId="{53FC90B1-5B16-42BE-869C-E8AA9DFB8F8E}" srcOrd="2" destOrd="0" presId="urn:microsoft.com/office/officeart/2008/layout/HorizontalMultiLevelHierarchy"/>
    <dgm:cxn modelId="{0D81378F-6816-4DF0-A272-5C354CC83B56}" type="presParOf" srcId="{53FC90B1-5B16-42BE-869C-E8AA9DFB8F8E}" destId="{37D2E0B8-FF5B-41C7-9C88-8A8F017E722D}" srcOrd="0" destOrd="0" presId="urn:microsoft.com/office/officeart/2008/layout/HorizontalMultiLevelHierarchy"/>
    <dgm:cxn modelId="{09556762-4C59-46BD-A63F-DFF74B6D50D8}" type="presParOf" srcId="{63DE75CD-7F10-4477-BC6A-45827E4C8AC6}" destId="{4EB342E4-1D6A-4776-BBF1-24BC3C3E2828}" srcOrd="3" destOrd="0" presId="urn:microsoft.com/office/officeart/2008/layout/HorizontalMultiLevelHierarchy"/>
    <dgm:cxn modelId="{99B040B8-B279-48FA-87BA-3EB1B5CC693E}" type="presParOf" srcId="{4EB342E4-1D6A-4776-BBF1-24BC3C3E2828}" destId="{851525E2-EF4B-41EE-BCFE-4EFEED369073}" srcOrd="0" destOrd="0" presId="urn:microsoft.com/office/officeart/2008/layout/HorizontalMultiLevelHierarchy"/>
    <dgm:cxn modelId="{912ED6E2-3627-404E-8EC2-18713EA2A518}" type="presParOf" srcId="{4EB342E4-1D6A-4776-BBF1-24BC3C3E2828}" destId="{EB4CE577-82F4-4AA4-A3EB-BC1213FA4546}" srcOrd="1" destOrd="0" presId="urn:microsoft.com/office/officeart/2008/layout/HorizontalMultiLevelHierarchy"/>
    <dgm:cxn modelId="{F912AD43-10F2-451F-A85E-2591E55F1233}" type="presParOf" srcId="{63DE75CD-7F10-4477-BC6A-45827E4C8AC6}" destId="{897BB535-9EDE-46A8-A134-0108112BF662}" srcOrd="4" destOrd="0" presId="urn:microsoft.com/office/officeart/2008/layout/HorizontalMultiLevelHierarchy"/>
    <dgm:cxn modelId="{43575CC8-CC6B-410F-B0BB-B1F45C9DC08E}" type="presParOf" srcId="{897BB535-9EDE-46A8-A134-0108112BF662}" destId="{C3833280-406D-4304-80E2-833D40A5CF9E}" srcOrd="0" destOrd="0" presId="urn:microsoft.com/office/officeart/2008/layout/HorizontalMultiLevelHierarchy"/>
    <dgm:cxn modelId="{314456EB-7096-4BD9-A79E-2D265D5D6E0C}" type="presParOf" srcId="{63DE75CD-7F10-4477-BC6A-45827E4C8AC6}" destId="{7D923A87-00CA-44BC-A572-BEB8D0C25D96}" srcOrd="5" destOrd="0" presId="urn:microsoft.com/office/officeart/2008/layout/HorizontalMultiLevelHierarchy"/>
    <dgm:cxn modelId="{978B0F65-B561-44DF-B9DC-0A07C64FD84C}" type="presParOf" srcId="{7D923A87-00CA-44BC-A572-BEB8D0C25D96}" destId="{613A31FC-20D8-4231-B414-DB94AF684513}" srcOrd="0" destOrd="0" presId="urn:microsoft.com/office/officeart/2008/layout/HorizontalMultiLevelHierarchy"/>
    <dgm:cxn modelId="{2B8EF934-8D07-4A65-AC33-0DF3C58B7315}" type="presParOf" srcId="{7D923A87-00CA-44BC-A572-BEB8D0C25D96}" destId="{EF85B577-704B-4A7D-82D5-5D2F9D351CD9}" srcOrd="1" destOrd="0" presId="urn:microsoft.com/office/officeart/2008/layout/HorizontalMultiLevelHierarchy"/>
    <dgm:cxn modelId="{C7A9219D-E759-442D-8DC8-13D6F0BC2DAD}" type="presParOf" srcId="{63DE75CD-7F10-4477-BC6A-45827E4C8AC6}" destId="{79A2681F-3E2C-4911-8A1D-49F8DFA97F39}" srcOrd="6" destOrd="0" presId="urn:microsoft.com/office/officeart/2008/layout/HorizontalMultiLevelHierarchy"/>
    <dgm:cxn modelId="{5E5A303E-92B8-47FB-93E1-20B8EB41214F}" type="presParOf" srcId="{79A2681F-3E2C-4911-8A1D-49F8DFA97F39}" destId="{EA425100-2876-47D7-AAFF-A17C719A3D69}" srcOrd="0" destOrd="0" presId="urn:microsoft.com/office/officeart/2008/layout/HorizontalMultiLevelHierarchy"/>
    <dgm:cxn modelId="{75D7F1FE-FF98-43B7-B88D-94F9C24904E0}" type="presParOf" srcId="{63DE75CD-7F10-4477-BC6A-45827E4C8AC6}" destId="{03A32D4B-A994-4DC2-9E91-71C880015CBD}" srcOrd="7" destOrd="0" presId="urn:microsoft.com/office/officeart/2008/layout/HorizontalMultiLevelHierarchy"/>
    <dgm:cxn modelId="{8C6F120D-02FF-45B1-A398-9F7E36A72529}" type="presParOf" srcId="{03A32D4B-A994-4DC2-9E91-71C880015CBD}" destId="{EE7C3341-5C69-4FCF-97C1-0B01A560968B}" srcOrd="0" destOrd="0" presId="urn:microsoft.com/office/officeart/2008/layout/HorizontalMultiLevelHierarchy"/>
    <dgm:cxn modelId="{0B4F83D0-B450-4B0D-8D77-5F6A5C13F1A3}" type="presParOf" srcId="{03A32D4B-A994-4DC2-9E91-71C880015CBD}" destId="{5751DA21-5DEB-46D4-94CB-59AA9C3A458B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7370841-C4B3-4881-9F71-35E91842DA28}" type="doc">
      <dgm:prSet loTypeId="urn:microsoft.com/office/officeart/2008/layout/VerticalCurvedList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B9F4C2A0-FF18-4D2A-A250-7D2988C87372}" type="pres">
      <dgm:prSet presAssocID="{07370841-C4B3-4881-9F71-35E91842DA28}" presName="Name0" presStyleCnt="0">
        <dgm:presLayoutVars>
          <dgm:chMax val="7"/>
          <dgm:chPref val="7"/>
          <dgm:dir val="rev"/>
        </dgm:presLayoutVars>
      </dgm:prSet>
      <dgm:spPr/>
    </dgm:pt>
    <dgm:pt modelId="{214107BD-5424-44AF-BD51-3902E493D9FF}" type="pres">
      <dgm:prSet presAssocID="{07370841-C4B3-4881-9F71-35E91842DA28}" presName="Name1" presStyleCnt="0"/>
      <dgm:spPr/>
    </dgm:pt>
    <dgm:pt modelId="{E8FDD861-57AE-4F7F-B592-054B095ADF6E}" type="pres">
      <dgm:prSet presAssocID="{07370841-C4B3-4881-9F71-35E91842DA28}" presName="cycle" presStyleCnt="0"/>
      <dgm:spPr/>
    </dgm:pt>
    <dgm:pt modelId="{A9FC2836-B3CA-4A12-9D60-D7E9037168B9}" type="pres">
      <dgm:prSet presAssocID="{07370841-C4B3-4881-9F71-35E91842DA28}" presName="srcNode" presStyleLbl="node1" presStyleIdx="0" presStyleCnt="0"/>
      <dgm:spPr/>
    </dgm:pt>
    <dgm:pt modelId="{58DDD041-5504-42B3-81CB-F501252F6085}" type="pres">
      <dgm:prSet presAssocID="{07370841-C4B3-4881-9F71-35E91842DA28}" presName="conn" presStyleLbl="parChTrans1D2" presStyleIdx="0" presStyleCnt="1"/>
      <dgm:spPr/>
    </dgm:pt>
    <dgm:pt modelId="{E1386768-FB7D-4CAB-A81A-C5DC504E61B5}" type="pres">
      <dgm:prSet presAssocID="{07370841-C4B3-4881-9F71-35E91842DA28}" presName="extraNode" presStyleLbl="node1" presStyleIdx="0" presStyleCnt="0"/>
      <dgm:spPr/>
    </dgm:pt>
    <dgm:pt modelId="{90987DD9-0A30-41F2-8C14-84C083EC3EAC}" type="pres">
      <dgm:prSet presAssocID="{07370841-C4B3-4881-9F71-35E91842DA28}" presName="dstNode" presStyleLbl="node1" presStyleIdx="0" presStyleCnt="0"/>
      <dgm:spPr/>
    </dgm:pt>
  </dgm:ptLst>
  <dgm:cxnLst>
    <dgm:cxn modelId="{34F70871-ADB4-4E98-A97C-BC84C740785C}" type="presOf" srcId="{07370841-C4B3-4881-9F71-35E91842DA28}" destId="{B9F4C2A0-FF18-4D2A-A250-7D2988C87372}" srcOrd="0" destOrd="0" presId="urn:microsoft.com/office/officeart/2008/layout/VerticalCurvedList"/>
    <dgm:cxn modelId="{CB74303A-5533-46D2-BA0E-4D53B8CEE86D}" type="presParOf" srcId="{B9F4C2A0-FF18-4D2A-A250-7D2988C87372}" destId="{214107BD-5424-44AF-BD51-3902E493D9FF}" srcOrd="0" destOrd="0" presId="urn:microsoft.com/office/officeart/2008/layout/VerticalCurvedList"/>
    <dgm:cxn modelId="{97BE745D-B26D-45BB-B21B-4654842E6839}" type="presParOf" srcId="{214107BD-5424-44AF-BD51-3902E493D9FF}" destId="{E8FDD861-57AE-4F7F-B592-054B095ADF6E}" srcOrd="0" destOrd="0" presId="urn:microsoft.com/office/officeart/2008/layout/VerticalCurvedList"/>
    <dgm:cxn modelId="{E6B9C643-9B9D-43E7-92AF-E74BB0416429}" type="presParOf" srcId="{E8FDD861-57AE-4F7F-B592-054B095ADF6E}" destId="{A9FC2836-B3CA-4A12-9D60-D7E9037168B9}" srcOrd="0" destOrd="0" presId="urn:microsoft.com/office/officeart/2008/layout/VerticalCurvedList"/>
    <dgm:cxn modelId="{64F1619A-FB39-4890-9180-3268C9B8296C}" type="presParOf" srcId="{E8FDD861-57AE-4F7F-B592-054B095ADF6E}" destId="{58DDD041-5504-42B3-81CB-F501252F6085}" srcOrd="1" destOrd="0" presId="urn:microsoft.com/office/officeart/2008/layout/VerticalCurvedList"/>
    <dgm:cxn modelId="{5E280A76-449F-4D66-8E5D-84D1280F5FD7}" type="presParOf" srcId="{E8FDD861-57AE-4F7F-B592-054B095ADF6E}" destId="{E1386768-FB7D-4CAB-A81A-C5DC504E61B5}" srcOrd="2" destOrd="0" presId="urn:microsoft.com/office/officeart/2008/layout/VerticalCurvedList"/>
    <dgm:cxn modelId="{867DBA0B-1446-4626-8A2F-C3F9FD4F3806}" type="presParOf" srcId="{E8FDD861-57AE-4F7F-B592-054B095ADF6E}" destId="{90987DD9-0A30-41F2-8C14-84C083EC3EAC}" srcOrd="3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7370841-C4B3-4881-9F71-35E91842DA28}" type="doc">
      <dgm:prSet loTypeId="urn:microsoft.com/office/officeart/2008/layout/VerticalCurvedList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B9F4C2A0-FF18-4D2A-A250-7D2988C87372}" type="pres">
      <dgm:prSet presAssocID="{07370841-C4B3-4881-9F71-35E91842DA28}" presName="Name0" presStyleCnt="0">
        <dgm:presLayoutVars>
          <dgm:chMax val="7"/>
          <dgm:chPref val="7"/>
          <dgm:dir val="rev"/>
        </dgm:presLayoutVars>
      </dgm:prSet>
      <dgm:spPr/>
    </dgm:pt>
    <dgm:pt modelId="{214107BD-5424-44AF-BD51-3902E493D9FF}" type="pres">
      <dgm:prSet presAssocID="{07370841-C4B3-4881-9F71-35E91842DA28}" presName="Name1" presStyleCnt="0"/>
      <dgm:spPr/>
    </dgm:pt>
    <dgm:pt modelId="{E8FDD861-57AE-4F7F-B592-054B095ADF6E}" type="pres">
      <dgm:prSet presAssocID="{07370841-C4B3-4881-9F71-35E91842DA28}" presName="cycle" presStyleCnt="0"/>
      <dgm:spPr/>
    </dgm:pt>
    <dgm:pt modelId="{A9FC2836-B3CA-4A12-9D60-D7E9037168B9}" type="pres">
      <dgm:prSet presAssocID="{07370841-C4B3-4881-9F71-35E91842DA28}" presName="srcNode" presStyleLbl="node1" presStyleIdx="0" presStyleCnt="0"/>
      <dgm:spPr/>
    </dgm:pt>
    <dgm:pt modelId="{58DDD041-5504-42B3-81CB-F501252F6085}" type="pres">
      <dgm:prSet presAssocID="{07370841-C4B3-4881-9F71-35E91842DA28}" presName="conn" presStyleLbl="parChTrans1D2" presStyleIdx="0" presStyleCnt="1"/>
      <dgm:spPr/>
    </dgm:pt>
    <dgm:pt modelId="{E1386768-FB7D-4CAB-A81A-C5DC504E61B5}" type="pres">
      <dgm:prSet presAssocID="{07370841-C4B3-4881-9F71-35E91842DA28}" presName="extraNode" presStyleLbl="node1" presStyleIdx="0" presStyleCnt="0"/>
      <dgm:spPr/>
    </dgm:pt>
    <dgm:pt modelId="{90987DD9-0A30-41F2-8C14-84C083EC3EAC}" type="pres">
      <dgm:prSet presAssocID="{07370841-C4B3-4881-9F71-35E91842DA28}" presName="dstNode" presStyleLbl="node1" presStyleIdx="0" presStyleCnt="0"/>
      <dgm:spPr/>
    </dgm:pt>
  </dgm:ptLst>
  <dgm:cxnLst>
    <dgm:cxn modelId="{34F70871-ADB4-4E98-A97C-BC84C740785C}" type="presOf" srcId="{07370841-C4B3-4881-9F71-35E91842DA28}" destId="{B9F4C2A0-FF18-4D2A-A250-7D2988C87372}" srcOrd="0" destOrd="0" presId="urn:microsoft.com/office/officeart/2008/layout/VerticalCurvedList"/>
    <dgm:cxn modelId="{CB74303A-5533-46D2-BA0E-4D53B8CEE86D}" type="presParOf" srcId="{B9F4C2A0-FF18-4D2A-A250-7D2988C87372}" destId="{214107BD-5424-44AF-BD51-3902E493D9FF}" srcOrd="0" destOrd="0" presId="urn:microsoft.com/office/officeart/2008/layout/VerticalCurvedList"/>
    <dgm:cxn modelId="{97BE745D-B26D-45BB-B21B-4654842E6839}" type="presParOf" srcId="{214107BD-5424-44AF-BD51-3902E493D9FF}" destId="{E8FDD861-57AE-4F7F-B592-054B095ADF6E}" srcOrd="0" destOrd="0" presId="urn:microsoft.com/office/officeart/2008/layout/VerticalCurvedList"/>
    <dgm:cxn modelId="{E6B9C643-9B9D-43E7-92AF-E74BB0416429}" type="presParOf" srcId="{E8FDD861-57AE-4F7F-B592-054B095ADF6E}" destId="{A9FC2836-B3CA-4A12-9D60-D7E9037168B9}" srcOrd="0" destOrd="0" presId="urn:microsoft.com/office/officeart/2008/layout/VerticalCurvedList"/>
    <dgm:cxn modelId="{64F1619A-FB39-4890-9180-3268C9B8296C}" type="presParOf" srcId="{E8FDD861-57AE-4F7F-B592-054B095ADF6E}" destId="{58DDD041-5504-42B3-81CB-F501252F6085}" srcOrd="1" destOrd="0" presId="urn:microsoft.com/office/officeart/2008/layout/VerticalCurvedList"/>
    <dgm:cxn modelId="{5E280A76-449F-4D66-8E5D-84D1280F5FD7}" type="presParOf" srcId="{E8FDD861-57AE-4F7F-B592-054B095ADF6E}" destId="{E1386768-FB7D-4CAB-A81A-C5DC504E61B5}" srcOrd="2" destOrd="0" presId="urn:microsoft.com/office/officeart/2008/layout/VerticalCurvedList"/>
    <dgm:cxn modelId="{867DBA0B-1446-4626-8A2F-C3F9FD4F3806}" type="presParOf" srcId="{E8FDD861-57AE-4F7F-B592-054B095ADF6E}" destId="{90987DD9-0A30-41F2-8C14-84C083EC3EAC}" srcOrd="3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7370841-C4B3-4881-9F71-35E91842DA28}" type="doc">
      <dgm:prSet loTypeId="urn:microsoft.com/office/officeart/2008/layout/VerticalCurvedList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B9F4C2A0-FF18-4D2A-A250-7D2988C87372}" type="pres">
      <dgm:prSet presAssocID="{07370841-C4B3-4881-9F71-35E91842DA28}" presName="Name0" presStyleCnt="0">
        <dgm:presLayoutVars>
          <dgm:chMax val="7"/>
          <dgm:chPref val="7"/>
          <dgm:dir val="rev"/>
        </dgm:presLayoutVars>
      </dgm:prSet>
      <dgm:spPr/>
    </dgm:pt>
    <dgm:pt modelId="{214107BD-5424-44AF-BD51-3902E493D9FF}" type="pres">
      <dgm:prSet presAssocID="{07370841-C4B3-4881-9F71-35E91842DA28}" presName="Name1" presStyleCnt="0"/>
      <dgm:spPr/>
    </dgm:pt>
    <dgm:pt modelId="{E8FDD861-57AE-4F7F-B592-054B095ADF6E}" type="pres">
      <dgm:prSet presAssocID="{07370841-C4B3-4881-9F71-35E91842DA28}" presName="cycle" presStyleCnt="0"/>
      <dgm:spPr/>
    </dgm:pt>
    <dgm:pt modelId="{A9FC2836-B3CA-4A12-9D60-D7E9037168B9}" type="pres">
      <dgm:prSet presAssocID="{07370841-C4B3-4881-9F71-35E91842DA28}" presName="srcNode" presStyleLbl="node1" presStyleIdx="0" presStyleCnt="0"/>
      <dgm:spPr/>
    </dgm:pt>
    <dgm:pt modelId="{58DDD041-5504-42B3-81CB-F501252F6085}" type="pres">
      <dgm:prSet presAssocID="{07370841-C4B3-4881-9F71-35E91842DA28}" presName="conn" presStyleLbl="parChTrans1D2" presStyleIdx="0" presStyleCnt="1"/>
      <dgm:spPr/>
    </dgm:pt>
    <dgm:pt modelId="{E1386768-FB7D-4CAB-A81A-C5DC504E61B5}" type="pres">
      <dgm:prSet presAssocID="{07370841-C4B3-4881-9F71-35E91842DA28}" presName="extraNode" presStyleLbl="node1" presStyleIdx="0" presStyleCnt="0"/>
      <dgm:spPr/>
    </dgm:pt>
    <dgm:pt modelId="{90987DD9-0A30-41F2-8C14-84C083EC3EAC}" type="pres">
      <dgm:prSet presAssocID="{07370841-C4B3-4881-9F71-35E91842DA28}" presName="dstNode" presStyleLbl="node1" presStyleIdx="0" presStyleCnt="0"/>
      <dgm:spPr/>
    </dgm:pt>
  </dgm:ptLst>
  <dgm:cxnLst>
    <dgm:cxn modelId="{34F70871-ADB4-4E98-A97C-BC84C740785C}" type="presOf" srcId="{07370841-C4B3-4881-9F71-35E91842DA28}" destId="{B9F4C2A0-FF18-4D2A-A250-7D2988C87372}" srcOrd="0" destOrd="0" presId="urn:microsoft.com/office/officeart/2008/layout/VerticalCurvedList"/>
    <dgm:cxn modelId="{CB74303A-5533-46D2-BA0E-4D53B8CEE86D}" type="presParOf" srcId="{B9F4C2A0-FF18-4D2A-A250-7D2988C87372}" destId="{214107BD-5424-44AF-BD51-3902E493D9FF}" srcOrd="0" destOrd="0" presId="urn:microsoft.com/office/officeart/2008/layout/VerticalCurvedList"/>
    <dgm:cxn modelId="{97BE745D-B26D-45BB-B21B-4654842E6839}" type="presParOf" srcId="{214107BD-5424-44AF-BD51-3902E493D9FF}" destId="{E8FDD861-57AE-4F7F-B592-054B095ADF6E}" srcOrd="0" destOrd="0" presId="urn:microsoft.com/office/officeart/2008/layout/VerticalCurvedList"/>
    <dgm:cxn modelId="{E6B9C643-9B9D-43E7-92AF-E74BB0416429}" type="presParOf" srcId="{E8FDD861-57AE-4F7F-B592-054B095ADF6E}" destId="{A9FC2836-B3CA-4A12-9D60-D7E9037168B9}" srcOrd="0" destOrd="0" presId="urn:microsoft.com/office/officeart/2008/layout/VerticalCurvedList"/>
    <dgm:cxn modelId="{64F1619A-FB39-4890-9180-3268C9B8296C}" type="presParOf" srcId="{E8FDD861-57AE-4F7F-B592-054B095ADF6E}" destId="{58DDD041-5504-42B3-81CB-F501252F6085}" srcOrd="1" destOrd="0" presId="urn:microsoft.com/office/officeart/2008/layout/VerticalCurvedList"/>
    <dgm:cxn modelId="{5E280A76-449F-4D66-8E5D-84D1280F5FD7}" type="presParOf" srcId="{E8FDD861-57AE-4F7F-B592-054B095ADF6E}" destId="{E1386768-FB7D-4CAB-A81A-C5DC504E61B5}" srcOrd="2" destOrd="0" presId="urn:microsoft.com/office/officeart/2008/layout/VerticalCurvedList"/>
    <dgm:cxn modelId="{867DBA0B-1446-4626-8A2F-C3F9FD4F3806}" type="presParOf" srcId="{E8FDD861-57AE-4F7F-B592-054B095ADF6E}" destId="{90987DD9-0A30-41F2-8C14-84C083EC3EAC}" srcOrd="3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FAB18F-E95B-42AF-BDF8-00F54BB9D3BB}">
      <dsp:nvSpPr>
        <dsp:cNvPr id="0" name=""/>
        <dsp:cNvSpPr/>
      </dsp:nvSpPr>
      <dsp:spPr>
        <a:xfrm>
          <a:off x="5439130" y="652761"/>
          <a:ext cx="4164652" cy="9483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48976"/>
              </a:lnTo>
              <a:lnTo>
                <a:pt x="4164652" y="748976"/>
              </a:lnTo>
              <a:lnTo>
                <a:pt x="4164652" y="94836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767979-4964-42E9-8F1E-61DAF1AA8786}">
      <dsp:nvSpPr>
        <dsp:cNvPr id="0" name=""/>
        <dsp:cNvSpPr/>
      </dsp:nvSpPr>
      <dsp:spPr>
        <a:xfrm>
          <a:off x="5439130" y="652761"/>
          <a:ext cx="1347479" cy="9483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48976"/>
              </a:lnTo>
              <a:lnTo>
                <a:pt x="1347479" y="748976"/>
              </a:lnTo>
              <a:lnTo>
                <a:pt x="1347479" y="94836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DCD066-5B54-45DD-B3F9-CBDDAD764FBE}">
      <dsp:nvSpPr>
        <dsp:cNvPr id="0" name=""/>
        <dsp:cNvSpPr/>
      </dsp:nvSpPr>
      <dsp:spPr>
        <a:xfrm>
          <a:off x="4030543" y="652761"/>
          <a:ext cx="1408586" cy="948362"/>
        </a:xfrm>
        <a:custGeom>
          <a:avLst/>
          <a:gdLst/>
          <a:ahLst/>
          <a:cxnLst/>
          <a:rect l="0" t="0" r="0" b="0"/>
          <a:pathLst>
            <a:path>
              <a:moveTo>
                <a:pt x="1408586" y="0"/>
              </a:moveTo>
              <a:lnTo>
                <a:pt x="1408586" y="748976"/>
              </a:lnTo>
              <a:lnTo>
                <a:pt x="0" y="748976"/>
              </a:lnTo>
              <a:lnTo>
                <a:pt x="0" y="94836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8DBD60-C1A1-45FB-82B2-0D777E5808E6}">
      <dsp:nvSpPr>
        <dsp:cNvPr id="0" name=""/>
        <dsp:cNvSpPr/>
      </dsp:nvSpPr>
      <dsp:spPr>
        <a:xfrm>
          <a:off x="1213369" y="652761"/>
          <a:ext cx="4225760" cy="948362"/>
        </a:xfrm>
        <a:custGeom>
          <a:avLst/>
          <a:gdLst/>
          <a:ahLst/>
          <a:cxnLst/>
          <a:rect l="0" t="0" r="0" b="0"/>
          <a:pathLst>
            <a:path>
              <a:moveTo>
                <a:pt x="4225760" y="0"/>
              </a:moveTo>
              <a:lnTo>
                <a:pt x="4225760" y="748976"/>
              </a:lnTo>
              <a:lnTo>
                <a:pt x="0" y="748976"/>
              </a:lnTo>
              <a:lnTo>
                <a:pt x="0" y="94836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D3CEFD-B8EF-4A5A-BD49-1BEAB62C80FF}">
      <dsp:nvSpPr>
        <dsp:cNvPr id="0" name=""/>
        <dsp:cNvSpPr/>
      </dsp:nvSpPr>
      <dsp:spPr>
        <a:xfrm>
          <a:off x="3986754" y="0"/>
          <a:ext cx="2904751" cy="65276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i="0" u="none" kern="1200" dirty="0"/>
            <a:t>Types of Conditional Sentences</a:t>
          </a:r>
        </a:p>
      </dsp:txBody>
      <dsp:txXfrm>
        <a:off x="3986754" y="0"/>
        <a:ext cx="2904751" cy="652761"/>
      </dsp:txXfrm>
    </dsp:sp>
    <dsp:sp modelId="{D1CBDC4E-5ABE-4F50-A739-3AA6A8F908BE}">
      <dsp:nvSpPr>
        <dsp:cNvPr id="0" name=""/>
        <dsp:cNvSpPr/>
      </dsp:nvSpPr>
      <dsp:spPr>
        <a:xfrm>
          <a:off x="4169" y="1601123"/>
          <a:ext cx="2418401" cy="64016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Zero Conditional</a:t>
          </a:r>
          <a:endParaRPr lang="en-IN" sz="2000" b="1" kern="1200" dirty="0"/>
        </a:p>
      </dsp:txBody>
      <dsp:txXfrm>
        <a:off x="4169" y="1601123"/>
        <a:ext cx="2418401" cy="640162"/>
      </dsp:txXfrm>
    </dsp:sp>
    <dsp:sp modelId="{0730A37E-5284-4FDD-8810-17C503E26075}">
      <dsp:nvSpPr>
        <dsp:cNvPr id="0" name=""/>
        <dsp:cNvSpPr/>
      </dsp:nvSpPr>
      <dsp:spPr>
        <a:xfrm>
          <a:off x="2821342" y="1601123"/>
          <a:ext cx="2418401" cy="64016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First Conditional</a:t>
          </a:r>
          <a:endParaRPr lang="en-IN" sz="2000" b="1" kern="1200" dirty="0"/>
        </a:p>
      </dsp:txBody>
      <dsp:txXfrm>
        <a:off x="2821342" y="1601123"/>
        <a:ext cx="2418401" cy="640162"/>
      </dsp:txXfrm>
    </dsp:sp>
    <dsp:sp modelId="{F2EA17D0-DC5E-482A-83DC-66F89B41C216}">
      <dsp:nvSpPr>
        <dsp:cNvPr id="0" name=""/>
        <dsp:cNvSpPr/>
      </dsp:nvSpPr>
      <dsp:spPr>
        <a:xfrm>
          <a:off x="5577408" y="1601123"/>
          <a:ext cx="2418401" cy="64016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Second Conditional</a:t>
          </a:r>
          <a:endParaRPr lang="en-IN" sz="2000" b="1" kern="1200" dirty="0"/>
        </a:p>
      </dsp:txBody>
      <dsp:txXfrm>
        <a:off x="5577408" y="1601123"/>
        <a:ext cx="2418401" cy="640162"/>
      </dsp:txXfrm>
    </dsp:sp>
    <dsp:sp modelId="{8A012971-93B6-43A5-8222-181082B93282}">
      <dsp:nvSpPr>
        <dsp:cNvPr id="0" name=""/>
        <dsp:cNvSpPr/>
      </dsp:nvSpPr>
      <dsp:spPr>
        <a:xfrm>
          <a:off x="8394582" y="1601123"/>
          <a:ext cx="2418401" cy="64016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Third Conditional</a:t>
          </a:r>
          <a:endParaRPr lang="en-IN" sz="2000" b="1" kern="1200" dirty="0"/>
        </a:p>
      </dsp:txBody>
      <dsp:txXfrm>
        <a:off x="8394582" y="1601123"/>
        <a:ext cx="2418401" cy="6401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A2681F-3E2C-4911-8A1D-49F8DFA97F39}">
      <dsp:nvSpPr>
        <dsp:cNvPr id="0" name=""/>
        <dsp:cNvSpPr/>
      </dsp:nvSpPr>
      <dsp:spPr>
        <a:xfrm>
          <a:off x="1825353" y="2328349"/>
          <a:ext cx="580410" cy="16589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90205" y="0"/>
              </a:lnTo>
              <a:lnTo>
                <a:pt x="290205" y="1658948"/>
              </a:lnTo>
              <a:lnTo>
                <a:pt x="580410" y="1658948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" kern="1200"/>
        </a:p>
      </dsp:txBody>
      <dsp:txXfrm>
        <a:off x="2071620" y="3113884"/>
        <a:ext cx="87877" cy="87877"/>
      </dsp:txXfrm>
    </dsp:sp>
    <dsp:sp modelId="{897BB535-9EDE-46A8-A134-0108112BF662}">
      <dsp:nvSpPr>
        <dsp:cNvPr id="0" name=""/>
        <dsp:cNvSpPr/>
      </dsp:nvSpPr>
      <dsp:spPr>
        <a:xfrm>
          <a:off x="1825353" y="2328349"/>
          <a:ext cx="580410" cy="5529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90205" y="0"/>
              </a:lnTo>
              <a:lnTo>
                <a:pt x="290205" y="552982"/>
              </a:lnTo>
              <a:lnTo>
                <a:pt x="580410" y="55298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095517" y="2584798"/>
        <a:ext cx="40083" cy="40083"/>
      </dsp:txXfrm>
    </dsp:sp>
    <dsp:sp modelId="{53FC90B1-5B16-42BE-869C-E8AA9DFB8F8E}">
      <dsp:nvSpPr>
        <dsp:cNvPr id="0" name=""/>
        <dsp:cNvSpPr/>
      </dsp:nvSpPr>
      <dsp:spPr>
        <a:xfrm>
          <a:off x="1825353" y="1775366"/>
          <a:ext cx="580410" cy="552982"/>
        </a:xfrm>
        <a:custGeom>
          <a:avLst/>
          <a:gdLst/>
          <a:ahLst/>
          <a:cxnLst/>
          <a:rect l="0" t="0" r="0" b="0"/>
          <a:pathLst>
            <a:path>
              <a:moveTo>
                <a:pt x="0" y="552982"/>
              </a:moveTo>
              <a:lnTo>
                <a:pt x="290205" y="552982"/>
              </a:lnTo>
              <a:lnTo>
                <a:pt x="290205" y="0"/>
              </a:lnTo>
              <a:lnTo>
                <a:pt x="580410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095517" y="2031815"/>
        <a:ext cx="40083" cy="40083"/>
      </dsp:txXfrm>
    </dsp:sp>
    <dsp:sp modelId="{A6AA9921-E77A-4D50-8F03-9190CFA8A73A}">
      <dsp:nvSpPr>
        <dsp:cNvPr id="0" name=""/>
        <dsp:cNvSpPr/>
      </dsp:nvSpPr>
      <dsp:spPr>
        <a:xfrm>
          <a:off x="1825353" y="669400"/>
          <a:ext cx="580410" cy="1658948"/>
        </a:xfrm>
        <a:custGeom>
          <a:avLst/>
          <a:gdLst/>
          <a:ahLst/>
          <a:cxnLst/>
          <a:rect l="0" t="0" r="0" b="0"/>
          <a:pathLst>
            <a:path>
              <a:moveTo>
                <a:pt x="0" y="1658948"/>
              </a:moveTo>
              <a:lnTo>
                <a:pt x="290205" y="1658948"/>
              </a:lnTo>
              <a:lnTo>
                <a:pt x="290205" y="0"/>
              </a:lnTo>
              <a:lnTo>
                <a:pt x="580410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" kern="1200"/>
        </a:p>
      </dsp:txBody>
      <dsp:txXfrm>
        <a:off x="2071620" y="1454935"/>
        <a:ext cx="87877" cy="87877"/>
      </dsp:txXfrm>
    </dsp:sp>
    <dsp:sp modelId="{31206709-27BF-4D1B-918C-57CB2F0DE8E0}">
      <dsp:nvSpPr>
        <dsp:cNvPr id="0" name=""/>
        <dsp:cNvSpPr/>
      </dsp:nvSpPr>
      <dsp:spPr>
        <a:xfrm rot="16200000">
          <a:off x="-945381" y="1885962"/>
          <a:ext cx="4656698" cy="8847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i="0" u="none" kern="1200" dirty="0"/>
            <a:t>Types of Determiners</a:t>
          </a:r>
        </a:p>
      </dsp:txBody>
      <dsp:txXfrm>
        <a:off x="-945381" y="1885962"/>
        <a:ext cx="4656698" cy="884772"/>
      </dsp:txXfrm>
    </dsp:sp>
    <dsp:sp modelId="{DD19FAE1-C7F5-4703-B66B-DAE3D38C44A7}">
      <dsp:nvSpPr>
        <dsp:cNvPr id="0" name=""/>
        <dsp:cNvSpPr/>
      </dsp:nvSpPr>
      <dsp:spPr>
        <a:xfrm>
          <a:off x="2405764" y="227014"/>
          <a:ext cx="2902054" cy="8847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Articles</a:t>
          </a:r>
        </a:p>
      </dsp:txBody>
      <dsp:txXfrm>
        <a:off x="2405764" y="227014"/>
        <a:ext cx="2902054" cy="884772"/>
      </dsp:txXfrm>
    </dsp:sp>
    <dsp:sp modelId="{851525E2-EF4B-41EE-BCFE-4EFEED369073}">
      <dsp:nvSpPr>
        <dsp:cNvPr id="0" name=""/>
        <dsp:cNvSpPr/>
      </dsp:nvSpPr>
      <dsp:spPr>
        <a:xfrm>
          <a:off x="2405764" y="1332979"/>
          <a:ext cx="2902054" cy="8847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Possessives </a:t>
          </a:r>
        </a:p>
      </dsp:txBody>
      <dsp:txXfrm>
        <a:off x="2405764" y="1332979"/>
        <a:ext cx="2902054" cy="884772"/>
      </dsp:txXfrm>
    </dsp:sp>
    <dsp:sp modelId="{613A31FC-20D8-4231-B414-DB94AF684513}">
      <dsp:nvSpPr>
        <dsp:cNvPr id="0" name=""/>
        <dsp:cNvSpPr/>
      </dsp:nvSpPr>
      <dsp:spPr>
        <a:xfrm>
          <a:off x="2405764" y="2438945"/>
          <a:ext cx="2902054" cy="8847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Quantifiers </a:t>
          </a:r>
        </a:p>
      </dsp:txBody>
      <dsp:txXfrm>
        <a:off x="2405764" y="2438945"/>
        <a:ext cx="2902054" cy="884772"/>
      </dsp:txXfrm>
    </dsp:sp>
    <dsp:sp modelId="{EE7C3341-5C69-4FCF-97C1-0B01A560968B}">
      <dsp:nvSpPr>
        <dsp:cNvPr id="0" name=""/>
        <dsp:cNvSpPr/>
      </dsp:nvSpPr>
      <dsp:spPr>
        <a:xfrm>
          <a:off x="2405764" y="3544911"/>
          <a:ext cx="2902054" cy="8847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Demonstratives </a:t>
          </a:r>
        </a:p>
      </dsp:txBody>
      <dsp:txXfrm>
        <a:off x="2405764" y="3544911"/>
        <a:ext cx="2902054" cy="8847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35693-2F5F-4C2C-AA37-8E54880345A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8E920D-5A96-474F-9B79-F5AA1EF5E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931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FBB180-F380-4DDD-8F5B-4775C6561492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BE1D88-AA76-442E-88A9-1A7935C1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014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3082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Image Ref: https://mentorplus.co.in/wp-content/uploads/2023/01/Parts-of-Speech-With-5-Examples-Each.jpg</a:t>
            </a:r>
            <a:br>
              <a:rPr lang="en-US" dirty="0"/>
            </a:br>
            <a:r>
              <a:rPr lang="en-US" dirty="0"/>
              <a:t>https://images.app.goo.gl/3ziftbz12KYkYvmW8</a:t>
            </a:r>
            <a:br>
              <a:rPr lang="en-US" dirty="0"/>
            </a:br>
            <a:r>
              <a:rPr lang="en-US" dirty="0"/>
              <a:t>https://www.shutterstock.com/search/similar/1819286891</a:t>
            </a:r>
            <a:br>
              <a:rPr lang="en-US" dirty="0"/>
            </a:br>
            <a:r>
              <a:rPr lang="en-US" dirty="0"/>
              <a:t>https</a:t>
            </a:r>
            <a:r>
              <a:rPr lang="en-US"/>
              <a:t>://www.pngwing.com/en/free-png-dhqabhttps</a:t>
            </a:r>
            <a:r>
              <a:rPr lang="en-US" dirty="0"/>
              <a:t>://www.vectorstock.com/royalty-free-vector/policeman-cartoon-profession-vector-43031206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68119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5F096-4E1D-6424-CDF2-3A104C0F2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1A467D-02D3-0636-A5E5-DAF5512AC6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8787F3-8C65-4FB5-5216-96CDDC545B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Image Ref: https://mentorplus.co.in/wp-content/uploads/2023/01/Parts-of-Speech-With-5-Examples-Each.jpg</a:t>
            </a:r>
            <a:br>
              <a:rPr lang="en-US" dirty="0"/>
            </a:br>
            <a:r>
              <a:rPr lang="en-US" dirty="0"/>
              <a:t>https://images.app.goo.gl/3ziftbz12KYkYvmW8</a:t>
            </a:r>
            <a:br>
              <a:rPr lang="en-US" dirty="0"/>
            </a:br>
            <a:r>
              <a:rPr lang="en-US" dirty="0"/>
              <a:t>https://www.shutterstock.com/search/similar/1819286891</a:t>
            </a:r>
            <a:br>
              <a:rPr lang="en-US" dirty="0"/>
            </a:br>
            <a:r>
              <a:rPr lang="en-US" dirty="0"/>
              <a:t>https</a:t>
            </a:r>
            <a:r>
              <a:rPr lang="en-US"/>
              <a:t>://www.pngwing.com/en/free-png-dhqabhttps</a:t>
            </a:r>
            <a:r>
              <a:rPr lang="en-US" dirty="0"/>
              <a:t>://www.vectorstock.com/royalty-free-vector/policeman-cartoon-profession-vector-43031206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96A692-CAE4-A580-B117-370339F255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365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5F096-4E1D-6424-CDF2-3A104C0F2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1A467D-02D3-0636-A5E5-DAF5512AC6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8787F3-8C65-4FB5-5216-96CDDC545B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Image Ref: https://mentorplus.co.in/wp-content/uploads/2023/01/Parts-of-Speech-With-5-Examples-Each.jpg</a:t>
            </a:r>
            <a:br>
              <a:rPr lang="en-US" dirty="0"/>
            </a:br>
            <a:r>
              <a:rPr lang="en-US" dirty="0"/>
              <a:t>https://images.app.goo.gl/3ziftbz12KYkYvmW8</a:t>
            </a:r>
            <a:br>
              <a:rPr lang="en-US" dirty="0"/>
            </a:br>
            <a:r>
              <a:rPr lang="en-US" dirty="0"/>
              <a:t>https://www.shutterstock.com/search/similar/1819286891</a:t>
            </a:r>
            <a:br>
              <a:rPr lang="en-US" dirty="0"/>
            </a:br>
            <a:r>
              <a:rPr lang="en-US" dirty="0"/>
              <a:t>https</a:t>
            </a:r>
            <a:r>
              <a:rPr lang="en-US"/>
              <a:t>://www.pngwing.com/en/free-png-dhqabhttps</a:t>
            </a:r>
            <a:r>
              <a:rPr lang="en-US" dirty="0"/>
              <a:t>://www.vectorstock.com/royalty-free-vector/policeman-cartoon-profession-vector-43031206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96A692-CAE4-A580-B117-370339F255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5955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99779-C2FE-01F1-6BEA-474EA3867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30B566-226E-589D-7E23-3565E075F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CCC7CE-5540-CCB9-BCD4-2E0D0FF57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Image Ref: https://mentorplus.co.in/wp-content/uploads/2023/01/Parts-of-Speech-With-5-Examples-Each.jpg</a:t>
            </a:r>
            <a:br>
              <a:rPr lang="en-US" dirty="0"/>
            </a:br>
            <a:r>
              <a:rPr lang="en-US" dirty="0"/>
              <a:t>https://images.app.goo.gl/3ziftbz12KYkYvmW8</a:t>
            </a:r>
            <a:br>
              <a:rPr lang="en-US" dirty="0"/>
            </a:br>
            <a:r>
              <a:rPr lang="en-US" dirty="0"/>
              <a:t>https://www.shutterstock.com/search/similar/1819286891</a:t>
            </a:r>
            <a:br>
              <a:rPr lang="en-US" dirty="0"/>
            </a:br>
            <a:r>
              <a:rPr lang="en-US" dirty="0"/>
              <a:t>https</a:t>
            </a:r>
            <a:r>
              <a:rPr lang="en-US"/>
              <a:t>://www.pngwing.com/en/free-png-dhqabhttps</a:t>
            </a:r>
            <a:r>
              <a:rPr lang="en-US" dirty="0"/>
              <a:t>://www.vectorstock.com/royalty-free-vector/policeman-cartoon-profession-vector-43031206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F42BA-3537-E8FD-4C70-28236320E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2215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99779-C2FE-01F1-6BEA-474EA3867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30B566-226E-589D-7E23-3565E075F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CCC7CE-5540-CCB9-BCD4-2E0D0FF57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Image Ref: https://mentorplus.co.in/wp-content/uploads/2023/01/Parts-of-Speech-With-5-Examples-Each.jpg</a:t>
            </a:r>
            <a:br>
              <a:rPr lang="en-US" dirty="0"/>
            </a:br>
            <a:r>
              <a:rPr lang="en-US" dirty="0"/>
              <a:t>https://images.app.goo.gl/3ziftbz12KYkYvmW8</a:t>
            </a:r>
            <a:br>
              <a:rPr lang="en-US" dirty="0"/>
            </a:br>
            <a:r>
              <a:rPr lang="en-US" dirty="0"/>
              <a:t>https://www.shutterstock.com/search/similar/1819286891</a:t>
            </a:r>
            <a:br>
              <a:rPr lang="en-US" dirty="0"/>
            </a:br>
            <a:r>
              <a:rPr lang="en-US" dirty="0"/>
              <a:t>https</a:t>
            </a:r>
            <a:r>
              <a:rPr lang="en-US"/>
              <a:t>://www.pngwing.com/en/free-png-dhqabhttps</a:t>
            </a:r>
            <a:r>
              <a:rPr lang="en-US" dirty="0"/>
              <a:t>://www.vectorstock.com/royalty-free-vector/policeman-cartoon-profession-vector-43031206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F42BA-3537-E8FD-4C70-28236320E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6846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99779-C2FE-01F1-6BEA-474EA3867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30B566-226E-589D-7E23-3565E075F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CCC7CE-5540-CCB9-BCD4-2E0D0FF57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Image Ref: https://mentorplus.co.in/wp-content/uploads/2023/01/Parts-of-Speech-With-5-Examples-Each.jpg</a:t>
            </a:r>
            <a:br>
              <a:rPr lang="en-US" dirty="0"/>
            </a:br>
            <a:r>
              <a:rPr lang="en-US" dirty="0"/>
              <a:t>https://images.app.goo.gl/3ziftbz12KYkYvmW8</a:t>
            </a:r>
            <a:br>
              <a:rPr lang="en-US" dirty="0"/>
            </a:br>
            <a:r>
              <a:rPr lang="en-US" dirty="0"/>
              <a:t>https://www.shutterstock.com/search/similar/1819286891</a:t>
            </a:r>
            <a:br>
              <a:rPr lang="en-US" dirty="0"/>
            </a:br>
            <a:r>
              <a:rPr lang="en-US" dirty="0"/>
              <a:t>https</a:t>
            </a:r>
            <a:r>
              <a:rPr lang="en-US"/>
              <a:t>://www.pngwing.com/en/free-png-dhqabhttps</a:t>
            </a:r>
            <a:r>
              <a:rPr lang="en-US" dirty="0"/>
              <a:t>://www.vectorstock.com/royalty-free-vector/policeman-cartoon-profession-vector-43031206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F42BA-3537-E8FD-4C70-28236320E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0648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99779-C2FE-01F1-6BEA-474EA3867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30B566-226E-589D-7E23-3565E075F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CCC7CE-5540-CCB9-BCD4-2E0D0FF57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Image Ref: https://mentorplus.co.in/wp-content/uploads/2023/01/Parts-of-Speech-With-5-Examples-Each.jpg</a:t>
            </a:r>
            <a:br>
              <a:rPr lang="en-US" dirty="0"/>
            </a:br>
            <a:r>
              <a:rPr lang="en-US" dirty="0"/>
              <a:t>https://images.app.goo.gl/3ziftbz12KYkYvmW8</a:t>
            </a:r>
            <a:br>
              <a:rPr lang="en-US" dirty="0"/>
            </a:br>
            <a:r>
              <a:rPr lang="en-US" dirty="0"/>
              <a:t>https://www.shutterstock.com/search/similar/1819286891</a:t>
            </a:r>
            <a:br>
              <a:rPr lang="en-US" dirty="0"/>
            </a:br>
            <a:r>
              <a:rPr lang="en-US" dirty="0"/>
              <a:t>https</a:t>
            </a:r>
            <a:r>
              <a:rPr lang="en-US"/>
              <a:t>://www.pngwing.com/en/free-png-dhqabhttps</a:t>
            </a:r>
            <a:r>
              <a:rPr lang="en-US" dirty="0"/>
              <a:t>://www.vectorstock.com/royalty-free-vector/policeman-cartoon-profession-vector-43031206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F42BA-3537-E8FD-4C70-28236320E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1237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99779-C2FE-01F1-6BEA-474EA3867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30B566-226E-589D-7E23-3565E075F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CCC7CE-5540-CCB9-BCD4-2E0D0FF57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Image Ref: https://mentorplus.co.in/wp-content/uploads/2023/01/Parts-of-Speech-With-5-Examples-Each.jpg</a:t>
            </a:r>
            <a:br>
              <a:rPr lang="en-US" dirty="0"/>
            </a:br>
            <a:r>
              <a:rPr lang="en-US" dirty="0"/>
              <a:t>https://images.app.goo.gl/3ziftbz12KYkYvmW8</a:t>
            </a:r>
            <a:br>
              <a:rPr lang="en-US" dirty="0"/>
            </a:br>
            <a:r>
              <a:rPr lang="en-US" dirty="0"/>
              <a:t>https://www.shutterstock.com/search/similar/1819286891</a:t>
            </a:r>
            <a:br>
              <a:rPr lang="en-US" dirty="0"/>
            </a:br>
            <a:r>
              <a:rPr lang="en-US" dirty="0"/>
              <a:t>https</a:t>
            </a:r>
            <a:r>
              <a:rPr lang="en-US"/>
              <a:t>://www.pngwing.com/en/free-png-dhqabhttps</a:t>
            </a:r>
            <a:r>
              <a:rPr lang="en-US" dirty="0"/>
              <a:t>://www.vectorstock.com/royalty-free-vector/policeman-cartoon-profession-vector-43031206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F42BA-3537-E8FD-4C70-28236320E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6603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Gif</a:t>
            </a:r>
            <a:r>
              <a:rPr lang="en-US" baseline="0" dirty="0"/>
              <a:t> Reference: </a:t>
            </a:r>
            <a:r>
              <a:rPr lang="en-IN" dirty="0"/>
              <a:t>https://tenor.com/view/tkthpsharma-gif-23317246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9885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6515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9670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0862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4494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F8822-7EBB-6B3A-F4A0-ACB4B0EB9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1C98F9-D4BA-F30A-EDC2-A819231F38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90E3B9-5AB2-8641-FB98-17C0E2379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AD2F4-012C-7E77-725B-1A51193519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3736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F8822-7EBB-6B3A-F4A0-ACB4B0EB9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1C98F9-D4BA-F30A-EDC2-A819231F38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90E3B9-5AB2-8641-FB98-17C0E2379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AD2F4-012C-7E77-725B-1A51193519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6603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66AEB-96CE-B26D-B8FD-850CC95FB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F6DEE4-3CCC-8C68-AAA5-F504E3E8F7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00BD73-22A3-980A-F108-DBF0E8ACB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6EF05-FC62-E293-EBFE-12821E4EFD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0069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47576-BE49-33AB-7190-A9F5DDD04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DA5AA7-4ED9-787E-40BC-570D93264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6CD1EB-68E1-3565-4D67-A2798842A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F3011-E1EE-1561-B4DC-398FC9657D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138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47576-BE49-33AB-7190-A9F5DDD04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DA5AA7-4ED9-787E-40BC-570D93264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6CD1EB-68E1-3565-4D67-A2798842A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F3011-E1EE-1561-B4DC-398FC9657D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6416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A6A5A-6825-C372-3706-9094EA766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EC298A-0419-C967-E114-F37F6D0DE0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8C3759-4BBC-0A37-A84A-6B2DF8BDB7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8204D-1DC3-FB8D-5EF6-EBC255811B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2262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5B341-5D65-EC85-3641-A78BB624E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B6E012-CC14-5796-9738-BD2ED6FFE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0D5121-8DED-4336-3CA8-3F042B61D7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B0FA7-8730-1C37-05F5-9831ABEDA4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5525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FA074-C9F9-AC4D-0D5C-DE9FE08CC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B0AC1E-69EE-0EB0-8524-EF2150E78C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1A6B30-DCDC-2F2D-CA48-689EDBF80B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557DA-FD53-1515-6E78-5993500DE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9847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CAFC8-C391-B0C2-C006-05BF6D94A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27DB7B-D058-98D0-7CAF-78F8E49C18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B11843-ACBA-A597-AFEF-2D5BB0CD0A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F5F40-5AA4-E18F-9059-B8095114B4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8598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EFC3-00CA-CEBD-190D-CE443CD7C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DA302-0644-B6D3-946D-C207D949FF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1B68F5-ED50-2F2B-3B6F-16A6D43685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1F625-0744-0E68-8DEC-5C91E303B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2080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BC43F-FED6-4433-98C6-559DD66D0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DA6A33-DFD6-2D45-8173-B5F4F07179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13A151-09F6-FF89-E184-CA605344B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987AD-7537-D1E4-118E-8D0BB9AC7F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78772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8D6B6-2896-E93A-2770-A9E1E0FB3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244C6B-9C83-166A-53A7-C0FF54B761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AD68C7-A354-FE2D-EE8C-7131F1718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Gif</a:t>
            </a:r>
            <a:r>
              <a:rPr lang="en-US" baseline="0" dirty="0"/>
              <a:t> Reference: </a:t>
            </a:r>
            <a:r>
              <a:rPr lang="en-IN" dirty="0"/>
              <a:t>https://tenor.com/view/tkthpsharma-gif-23317246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1C1CB-9946-033C-7871-48CB841981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6866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B0710-4E90-8539-3C1F-935F5324E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4F2CB1-35FD-3756-C6B0-C77A885E66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E41258-C087-F8C4-A32E-5EC40CF2A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41E27-3843-5749-1693-C725A79C9C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4721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A4BF7-2422-10DF-6235-9344B0DF2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F67482-DA93-C0AF-2F69-5432B957A3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E70EB0-E8C0-024F-0C65-56A2B4945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67A3F-BD6A-F6C4-F73C-2128C75F64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5999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2B82F-A3EB-CDAD-63DB-036072EF3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6C939A-E1AF-E19D-E39D-915CED762F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3F22F5-8A79-9C8F-BE98-41763211A1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Gif</a:t>
            </a:r>
            <a:r>
              <a:rPr lang="en-US" baseline="0" dirty="0"/>
              <a:t> Reference: </a:t>
            </a:r>
            <a:r>
              <a:rPr lang="en-IN" dirty="0"/>
              <a:t>https://tenor.com/view/tkthpsharma-gif-23317246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52120-1644-1B90-C9D0-4C5A510602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2219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A61C2-E8BC-F7EB-F984-F908F6A27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76FD2D-F1E9-68F1-5195-AC0BF0929F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689C15-F3A3-D814-8670-BA960E8F8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986A7-D317-A016-329B-E47245020E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2221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2D18A-E368-66F2-7A2D-E5FD8DC2B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E2213E-5125-A1F4-0B9E-330436A0E9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C1B0B-F6CC-AE39-280A-FAF1B224E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263B7-298A-D7B7-C828-B2A242DCF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18611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5629A-D7ED-5FF1-35F5-ED5708453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7B1459-E906-7BEA-7900-523A1AF196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125DFE-6827-80A2-EC0A-B178C414C7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46E9B-E791-D6C4-FA40-FE6C118BF7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353923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07E62-FEBF-8D86-2703-3E9285799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EB2078-F36C-911D-65E9-5227610A2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0BBEAE-94F9-B893-DD96-1ECFB50EEB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D40EBC-E4FD-EC4D-3527-F4F1F08CA6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59666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9A62E-DEEC-C1FB-AF70-A577DA5C7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C8A7CA-DF28-2A8B-70DC-38961FF9BE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823673-28C6-57A3-6A18-1B0D98B7FB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EA690-114F-EDE6-CDD0-B2C2B0E95F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73074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990A3-BB9C-5FED-C24F-0D961F094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B5B982-743B-E2E3-EC62-2FEA5CCEEE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23B9E7-61FC-FFEB-3C3C-827C7E4B68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24B8D-A8E8-0224-AAAF-8EE59DEB87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84869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32AB7-33DA-55B8-9C70-071991F84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1003CF-2AAB-0199-87F4-58D6B1429B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11B500-C5DA-FA7A-3063-AD62B2163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F0DF0-EB41-5190-C08E-8E2BCA3F60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50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84422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F0AF3-AA32-21AF-7815-45F46F127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058038-3FFD-3437-8138-FFF55CE9F5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E3DD5D-D50A-1F9A-217B-2AAEE580B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73B61-78D0-8A42-9CAE-44AE919237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51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46338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C14E4-AB15-C092-5F4E-0A96BBD30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827466-239F-CDC8-C643-4AFB206607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B41B04-632D-E04C-EAE1-33DE51FB9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6D5C7-0AF2-CBEE-E102-86E7BC0821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52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78157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0B6DF-1740-8D8B-FF31-E20E6F350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50BE1E-C309-52C4-4A73-10C420ABF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FC3758-91E9-7586-8D17-DF63FC10E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36192E-17F1-374F-CA5C-E4B6C90D2A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53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49254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2419F-FA52-381A-A291-809EC1EF9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ACF942-EC95-016D-9B74-FAE0BF0594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9EFA3C-34FB-0EEB-4231-871333E1E8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029F27-031C-643C-3117-AB47619F93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54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80965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EA7DE-05BC-D650-88F2-8478DBC1B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49CB9E-6411-1A70-D81A-426AA9AD0B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8AD8FC-8535-419D-B9A8-DE298F62A4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8D304-726B-C958-2EA5-A98B86334C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55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67949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39971-3C1A-7A74-D66B-6D51F771C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39992D-2E31-D67A-20FB-90B2C6F3C1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D2FF26-EADD-B6B2-4953-F536F4A347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3777A-4072-FF8C-4BF8-F905FAE758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85810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0A5E2-A257-944A-698B-9B4C7E874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B0A193-8DFB-E1EC-86C6-EB9C081CFB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B837E7-7FD8-FC09-5417-27E4AC1A4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85AAD-03AB-C9E0-D87A-85BC672916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57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70626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44E8A-68D0-894D-353E-35E94D99E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114C3A-9FA9-6657-EEAB-72DCA0B5F5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357552-B398-9703-43A7-3570BF07D1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BEE8D-B859-9581-B7E4-4A11FAAD7E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58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50494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B0710-4E90-8539-3C1F-935F5324E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4F2CB1-35FD-3756-C6B0-C77A885E66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E41258-C087-F8C4-A32E-5EC40CF2A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41E27-3843-5749-1693-C725A79C9C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59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32191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87896-BF34-58AD-7CF6-F0A239FB7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4AAD30-AAD1-18B2-B542-A7771661BB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686B71-CD4F-2F25-A824-8DF7E091E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1F36C-5BEA-F51D-6AB8-ADD504FC01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60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20867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64459-8854-F488-BAA7-28A4970AF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03899B-458D-92EB-D3B8-07586C7B4C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A651DB-7929-82A2-7E94-AC145ABA36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Gif</a:t>
            </a:r>
            <a:r>
              <a:rPr lang="en-US" baseline="0" dirty="0"/>
              <a:t> Reference: </a:t>
            </a:r>
            <a:r>
              <a:rPr lang="en-IN" dirty="0"/>
              <a:t>https://tenor.com/view/tkthpsharma-gif-23317246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39081-7EF2-510A-73A4-97D15A4DE5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61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99766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62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78998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B6BAE-56E8-C7D0-96B9-00B4F336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AFEF21-B86A-2EAB-D623-D17DD2F6B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D7A13A-A444-1963-B737-926294A1E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4365D-4AEA-E0DE-D482-5B11EBA3D3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63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7202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64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17827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10066-27D7-3092-9B7F-CCDDA3B4C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DA5E40-B621-2A91-12A1-2229244C2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2E4B80-2334-E620-BC81-210D5075F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26018-C3D6-3027-CC1B-2C24845703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65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34810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66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59686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0C483-04F3-4D6F-A318-7CE780C9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F9ED83-A678-3990-0DC5-BF5D6F3610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906425-1555-7131-E06A-69D2F0CB8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94B9EF-DD34-DA0B-061D-EDCAB505EE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67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81254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C6387-C5CD-A975-5A37-899F66184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DA34A6-81BC-9C54-1C23-2D1DF077D2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B8AD4F-2330-BD05-5BC8-D71D09FC4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2F855-DFA3-A4C1-C59C-B9D89ED084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68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38031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70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47568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EC66F-004B-54D8-7928-B981E7B1B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492DE7-B9AC-792E-9F76-D3A14D53E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A0FD90-8BE5-62B0-B45E-CD3CFA2DF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F625E-C107-97CA-678D-DDEF456C7E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71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69930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296B1-3C06-C4AE-0A8A-290AE34E8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E49DE9-8ED2-A0C1-EB7D-1D3C603111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868774-80B3-1BE4-251E-6433E060B9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856DA-0054-45BD-AE48-D66C78600B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72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24974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78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11599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Google Shape;2081;p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2" name="Google Shape;2082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3" name="Google Shape;2093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5" Type="http://schemas.openxmlformats.org/officeDocument/2006/relationships/image" Target="../media/image8.png"/><Relationship Id="rId10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11.jpe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1866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090100" y="96297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74B313BC-5BC0-0796-D618-453F5174E926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97B460C9-8D1F-6E37-E574-60D8CF44700B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55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#2501HS102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(Foundational 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Unit 4 – Essential Grammar</a:t>
            </a:r>
          </a:p>
        </p:txBody>
      </p:sp>
    </p:spTree>
    <p:extLst>
      <p:ext uri="{BB962C8B-B14F-4D97-AF65-F5344CB8AC3E}">
        <p14:creationId xmlns:p14="http://schemas.microsoft.com/office/powerpoint/2010/main" val="2653306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228104" y="5850944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-2" y="6858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CD145AC5-DE87-4EA8-BECD-78B05928F492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55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#2501HS102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(Foundational 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Unit 4 – Essential Grammar</a:t>
            </a:r>
          </a:p>
        </p:txBody>
      </p:sp>
    </p:spTree>
    <p:extLst>
      <p:ext uri="{BB962C8B-B14F-4D97-AF65-F5344CB8AC3E}">
        <p14:creationId xmlns:p14="http://schemas.microsoft.com/office/powerpoint/2010/main" val="2532317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08039" y="5952522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 Chauhan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4380DE5D-51A7-0663-BA29-2F064FD36940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55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#2501HS102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(Foundational 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Unit 4 – Essential Grammar</a:t>
            </a:r>
          </a:p>
        </p:txBody>
      </p:sp>
    </p:spTree>
    <p:extLst>
      <p:ext uri="{BB962C8B-B14F-4D97-AF65-F5344CB8AC3E}">
        <p14:creationId xmlns:p14="http://schemas.microsoft.com/office/powerpoint/2010/main" val="2785172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08039" y="5952522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2E5EB6EB-CD99-1FAF-EF3C-93146920D69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55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#2501HS102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(Foundational 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Unit 4 – Essential Grammar</a:t>
            </a:r>
          </a:p>
        </p:txBody>
      </p:sp>
    </p:spTree>
    <p:extLst>
      <p:ext uri="{BB962C8B-B14F-4D97-AF65-F5344CB8AC3E}">
        <p14:creationId xmlns:p14="http://schemas.microsoft.com/office/powerpoint/2010/main" val="3914843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3860714-CC0C-8257-61D8-4709FA6D4A98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55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#2501HS102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(Foundational 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Unit 4 – Essential Grammar</a:t>
            </a:r>
          </a:p>
        </p:txBody>
      </p:sp>
    </p:spTree>
    <p:extLst>
      <p:ext uri="{BB962C8B-B14F-4D97-AF65-F5344CB8AC3E}">
        <p14:creationId xmlns:p14="http://schemas.microsoft.com/office/powerpoint/2010/main" val="1414731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92111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34543" y="921114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F05EB645-F290-4216-03F2-497196B4D286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55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#2501HS102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(Foundational 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Unit 4 – Essential Grammar</a:t>
            </a:r>
          </a:p>
        </p:txBody>
      </p:sp>
    </p:spTree>
    <p:extLst>
      <p:ext uri="{BB962C8B-B14F-4D97-AF65-F5344CB8AC3E}">
        <p14:creationId xmlns:p14="http://schemas.microsoft.com/office/powerpoint/2010/main" val="294706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29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9053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47253" y="6608527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235CDD05-D75E-122A-C8BF-C86E2E1A464C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55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#2501HS102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(Foundational 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Unit 4 – Essential Grammar</a:t>
            </a:r>
          </a:p>
        </p:txBody>
      </p:sp>
    </p:spTree>
    <p:extLst>
      <p:ext uri="{BB962C8B-B14F-4D97-AF65-F5344CB8AC3E}">
        <p14:creationId xmlns:p14="http://schemas.microsoft.com/office/powerpoint/2010/main" val="1955476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77041" y="242508"/>
            <a:ext cx="1649043" cy="501287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92D2059-E606-158F-9A37-D153B4C55CB1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55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#2501HS102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(Foundational 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Unit 4 – Essential Grammar</a:t>
            </a:r>
          </a:p>
        </p:txBody>
      </p:sp>
    </p:spTree>
    <p:extLst>
      <p:ext uri="{BB962C8B-B14F-4D97-AF65-F5344CB8AC3E}">
        <p14:creationId xmlns:p14="http://schemas.microsoft.com/office/powerpoint/2010/main" val="3795758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242441" y="5980196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DB79524-3C7B-3CD7-7202-16F76AECC8BC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55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#2501HS102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(Foundational 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Unit 4 – Essential Grammar</a:t>
            </a:r>
          </a:p>
        </p:txBody>
      </p:sp>
    </p:spTree>
    <p:extLst>
      <p:ext uri="{BB962C8B-B14F-4D97-AF65-F5344CB8AC3E}">
        <p14:creationId xmlns:p14="http://schemas.microsoft.com/office/powerpoint/2010/main" val="3391409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6816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52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96667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A1721-8CF9-09D4-7B12-699E396EF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72E8E8-F1D1-9CEB-19A2-607B5CDC6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3/1/2026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78542-39B3-1981-0439-143C4EAFD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DC2D7-54FF-1FD8-3A27-F62D6E72F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1425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52807"/>
            <a:ext cx="11929641" cy="5601201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oogle Shape;60;p54"/>
          <p:cNvGrpSpPr/>
          <p:nvPr userDrawn="1"/>
        </p:nvGrpSpPr>
        <p:grpSpPr>
          <a:xfrm>
            <a:off x="10721798" y="852808"/>
            <a:ext cx="1339024" cy="407045"/>
            <a:chOff x="10721798" y="852808"/>
            <a:chExt cx="1339024" cy="407045"/>
          </a:xfrm>
        </p:grpSpPr>
        <p:pic>
          <p:nvPicPr>
            <p:cNvPr id="15" name="Google Shape;61;p5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62;p54"/>
            <p:cNvSpPr/>
            <p:nvPr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51B87554-5DF6-3699-3D8C-7A30A2E6028C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55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#2501HS102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(Foundational 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Unit 4 – Essential Grammar</a:t>
            </a:r>
          </a:p>
        </p:txBody>
      </p:sp>
    </p:spTree>
    <p:extLst>
      <p:ext uri="{BB962C8B-B14F-4D97-AF65-F5344CB8AC3E}">
        <p14:creationId xmlns:p14="http://schemas.microsoft.com/office/powerpoint/2010/main" val="3062504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14088" y="-5993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272" y="1999976"/>
            <a:ext cx="2973402" cy="321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4365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- Logo on BR">
  <p:cSld name="1_Title and Content - Logo on B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6"/>
          <p:cNvSpPr txBox="1">
            <a:spLocks noGrp="1"/>
          </p:cNvSpPr>
          <p:nvPr>
            <p:ph type="body" idx="1"/>
          </p:nvPr>
        </p:nvSpPr>
        <p:spPr>
          <a:xfrm>
            <a:off x="262359" y="777719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  <a:defRPr sz="2400">
                <a:solidFill>
                  <a:schemeClr val="dk1"/>
                </a:solidFill>
              </a:defRPr>
            </a:lvl1pPr>
            <a:lvl2pPr marL="914400" lvl="1" indent="-355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  <a:defRPr sz="2000">
                <a:solidFill>
                  <a:schemeClr val="dk1"/>
                </a:solidFill>
              </a:defRPr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marL="1828800" lvl="3" indent="-3302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marL="2286000" lvl="4" indent="-3302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6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7" name="Google Shape;47;p86"/>
          <p:cNvSpPr txBox="1"/>
          <p:nvPr/>
        </p:nvSpPr>
        <p:spPr>
          <a:xfrm>
            <a:off x="8382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Teko"/>
                <a:ea typeface="Teko"/>
                <a:cs typeface="Teko"/>
                <a:sym typeface="Teko"/>
              </a:rPr>
              <a:t>Prof. Jay R Dhamsaniya</a:t>
            </a:r>
            <a:endParaRPr sz="1200">
              <a:solidFill>
                <a:srgbClr val="363636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48" name="Google Shape;48;p86"/>
          <p:cNvSpPr txBox="1"/>
          <p:nvPr/>
        </p:nvSpPr>
        <p:spPr>
          <a:xfrm>
            <a:off x="4038600" y="6604000"/>
            <a:ext cx="41148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Teko"/>
                <a:ea typeface="Teko"/>
                <a:cs typeface="Teko"/>
                <a:sym typeface="Teko"/>
              </a:rPr>
              <a:t>#3130006 (PS)   </a:t>
            </a:r>
            <a:r>
              <a:rPr lang="en-US" sz="120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>
                <a:solidFill>
                  <a:srgbClr val="363636"/>
                </a:solidFill>
                <a:latin typeface="Teko"/>
                <a:ea typeface="Teko"/>
                <a:cs typeface="Teko"/>
                <a:sym typeface="Teko"/>
              </a:rPr>
              <a:t>   Unit 1 – Basic Probability</a:t>
            </a:r>
            <a:endParaRPr/>
          </a:p>
        </p:txBody>
      </p:sp>
      <p:sp>
        <p:nvSpPr>
          <p:cNvPr id="49" name="Google Shape;49;p86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‹#›</a:t>
            </a:fld>
            <a:endParaRPr sz="1200" b="1">
              <a:solidFill>
                <a:srgbClr val="36363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50" name="Google Shape;50;p86"/>
          <p:cNvPicPr preferRelativeResize="0"/>
          <p:nvPr/>
        </p:nvPicPr>
        <p:blipFill rotWithShape="1">
          <a:blip r:embed="rId2">
            <a:alphaModFix/>
          </a:blip>
          <a:srcRect t="86739" r="1768" b="3534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86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  <a:defRPr sz="34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52" name="Google Shape;52;p86"/>
          <p:cNvCxnSpPr/>
          <p:nvPr/>
        </p:nvCxnSpPr>
        <p:spPr>
          <a:xfrm>
            <a:off x="0" y="71120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3" name="Google Shape;53;p86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4" name="Google Shape;54;p86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5" name="Google Shape;55;p86"/>
          <p:cNvSpPr txBox="1"/>
          <p:nvPr/>
        </p:nvSpPr>
        <p:spPr>
          <a:xfrm>
            <a:off x="8601547" y="6617319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‹#›</a:t>
            </a:fld>
            <a:endParaRPr sz="1200" b="1">
              <a:solidFill>
                <a:srgbClr val="36363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56" name="Google Shape;56;p86"/>
          <p:cNvPicPr preferRelativeResize="0"/>
          <p:nvPr/>
        </p:nvPicPr>
        <p:blipFill rotWithShape="1">
          <a:blip r:embed="rId2">
            <a:alphaModFix/>
          </a:blip>
          <a:srcRect t="86739" r="1768" b="3534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57;p86"/>
          <p:cNvCxnSpPr/>
          <p:nvPr/>
        </p:nvCxnSpPr>
        <p:spPr>
          <a:xfrm>
            <a:off x="0" y="71120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58" name="Google Shape;58;p86"/>
          <p:cNvGrpSpPr/>
          <p:nvPr/>
        </p:nvGrpSpPr>
        <p:grpSpPr>
          <a:xfrm>
            <a:off x="10386566" y="5852733"/>
            <a:ext cx="1649043" cy="501287"/>
            <a:chOff x="10721798" y="852808"/>
            <a:chExt cx="1339023" cy="407045"/>
          </a:xfrm>
        </p:grpSpPr>
        <p:pic>
          <p:nvPicPr>
            <p:cNvPr id="59" name="Google Shape;59;p8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" name="Google Shape;60;p86"/>
            <p:cNvSpPr/>
            <p:nvPr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cxnSp>
        <p:nvCxnSpPr>
          <p:cNvPr id="61" name="Google Shape;61;p86"/>
          <p:cNvCxnSpPr/>
          <p:nvPr/>
        </p:nvCxnSpPr>
        <p:spPr>
          <a:xfrm>
            <a:off x="9053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45C6C5E4-6ECC-A6FB-505D-1971CD331EAD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1E9683E1-14ED-5925-7537-6B098BB5AC9D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55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#2509HS102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(Foundational 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Unit 4 – Essential Grammar</a:t>
            </a:r>
          </a:p>
        </p:txBody>
      </p:sp>
    </p:spTree>
    <p:extLst>
      <p:ext uri="{BB962C8B-B14F-4D97-AF65-F5344CB8AC3E}">
        <p14:creationId xmlns:p14="http://schemas.microsoft.com/office/powerpoint/2010/main" val="1001228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3/1/2026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999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25" r:id="rId2"/>
    <p:sldLayoutId id="2147483719" r:id="rId3"/>
    <p:sldLayoutId id="2147483724" r:id="rId4"/>
    <p:sldLayoutId id="2147483720" r:id="rId5"/>
    <p:sldLayoutId id="2147483663" r:id="rId6"/>
    <p:sldLayoutId id="2147483689" r:id="rId7"/>
    <p:sldLayoutId id="2147483667" r:id="rId8"/>
    <p:sldLayoutId id="2147483669" r:id="rId9"/>
    <p:sldLayoutId id="2147483670" r:id="rId10"/>
    <p:sldLayoutId id="2147483671" r:id="rId11"/>
    <p:sldLayoutId id="2147483705" r:id="rId12"/>
    <p:sldLayoutId id="2147483727" r:id="rId13"/>
    <p:sldLayoutId id="2147483726" r:id="rId14"/>
    <p:sldLayoutId id="2147483728" r:id="rId15"/>
    <p:sldLayoutId id="2147483729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hyperlink" Target="mailto:Swati.sharma@darshan.ac.in" TargetMode="Externa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jpe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image" Target="../media/image52.png"/><Relationship Id="rId7" Type="http://schemas.openxmlformats.org/officeDocument/2006/relationships/diagramData" Target="../diagrams/data2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microsoft.com/office/2007/relationships/diagramDrawing" Target="../diagrams/drawing2.xml"/><Relationship Id="rId5" Type="http://schemas.openxmlformats.org/officeDocument/2006/relationships/image" Target="../media/image54.png"/><Relationship Id="rId10" Type="http://schemas.openxmlformats.org/officeDocument/2006/relationships/diagramColors" Target="../diagrams/colors2.xml"/><Relationship Id="rId4" Type="http://schemas.openxmlformats.org/officeDocument/2006/relationships/image" Target="../media/image53.png"/><Relationship Id="rId9" Type="http://schemas.openxmlformats.org/officeDocument/2006/relationships/diagramQuickStyle" Target="../diagrams/quickStyle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9.jpeg"/><Relationship Id="rId5" Type="http://schemas.openxmlformats.org/officeDocument/2006/relationships/image" Target="../media/image58.png"/><Relationship Id="rId4" Type="http://schemas.openxmlformats.org/officeDocument/2006/relationships/image" Target="../media/image57.jp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B33F9D0-79AF-43AC-AF9D-363E78BA5B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218" y="1327132"/>
            <a:ext cx="7276373" cy="2848166"/>
          </a:xfrm>
        </p:spPr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Unit-4</a:t>
            </a:r>
            <a:br>
              <a:rPr lang="en-US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</a:br>
            <a:r>
              <a:rPr lang="en-US" dirty="0">
                <a:ea typeface="Roboto Condensed Light" panose="02000000000000000000" pitchFamily="2" charset="0"/>
              </a:rPr>
              <a:t>Essential Grammar </a:t>
            </a:r>
            <a:b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</a:br>
            <a:endParaRPr lang="en-US" sz="1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6EA47D8-8426-4DBD-BFF3-4005B9628A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nitin.chauhan@darshan.ac.in</a:t>
            </a:r>
            <a:r>
              <a:rPr lang="en-US" dirty="0"/>
              <a:t>	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4B68CD4-73FE-4D9C-A25E-10B975B947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9016705547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3D8A79D-333F-44B3-B1A0-1780CA0E35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Humanities and Science Department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4423574-50B3-4C1F-BB03-4625B3BB7D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Dr. Nitin H. Chauhan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8C932FB-1928-4F3D-87A8-4A34E30617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IN" b="1" dirty="0"/>
              <a:t> Foundational English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GB" b="1" dirty="0"/>
              <a:t>DU#2501HS102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215961" y="1641307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  <a:latin typeface="+mj-lt"/>
              </a:rPr>
              <a:t> 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E9B32553-06B4-F721-2DD8-3BE81916D61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" r="24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899380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506852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731706"/>
            <a:ext cx="420339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Topics </a:t>
            </a:r>
            <a:endParaRPr lang="en-US" sz="2400" dirty="0"/>
          </a:p>
          <a:p>
            <a:pPr marL="800100" lvl="1" indent="-342900"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Noun-Pronoun Agreement </a:t>
            </a:r>
          </a:p>
          <a:p>
            <a:pPr marL="800100" lvl="1" indent="-342900"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Subject-Verb Agreement </a:t>
            </a:r>
          </a:p>
          <a:p>
            <a:pPr marL="800100" lvl="1" indent="-342900"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Conditional Sentences</a:t>
            </a:r>
          </a:p>
          <a:p>
            <a:pPr marL="800100" lvl="1" indent="-342900"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Punctuation</a:t>
            </a:r>
          </a:p>
          <a:p>
            <a:pPr marL="800100" lvl="1" indent="-342900"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Determiners</a:t>
            </a:r>
          </a:p>
          <a:p>
            <a:pPr marL="800100" lvl="1" indent="-342900"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28625" lvl="2"/>
            <a:endParaRPr lang="en-US" sz="2400" dirty="0"/>
          </a:p>
          <a:p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169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Noun-Pronoun Agreement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5835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Noun-Pronoun Agreement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5"/>
            <a:ext cx="7820123" cy="5590364"/>
          </a:xfrm>
        </p:spPr>
        <p:txBody>
          <a:bodyPr/>
          <a:lstStyle/>
          <a:p>
            <a:pPr fontAlgn="base"/>
            <a:r>
              <a:rPr lang="en-US" dirty="0"/>
              <a:t>Noun-Pronoun Agreement refers to the </a:t>
            </a:r>
            <a:r>
              <a:rPr lang="en-US" b="1" dirty="0"/>
              <a:t>grammatical agreement between the noun and the pronoun</a:t>
            </a:r>
            <a:r>
              <a:rPr lang="en-US" dirty="0"/>
              <a:t>, the pronoun should match the noun it replaces:</a:t>
            </a:r>
          </a:p>
          <a:p>
            <a:pPr lvl="1" fontAlgn="base"/>
            <a:r>
              <a:rPr lang="en-US" dirty="0"/>
              <a:t>Gender (male, female, or thing) </a:t>
            </a:r>
          </a:p>
          <a:p>
            <a:pPr lvl="2" fontAlgn="base"/>
            <a:r>
              <a:rPr lang="en-US" b="1" dirty="0"/>
              <a:t>Shyam</a:t>
            </a:r>
            <a:r>
              <a:rPr lang="en-US" dirty="0"/>
              <a:t> is my brother. </a:t>
            </a:r>
            <a:r>
              <a:rPr lang="en-US" b="1" dirty="0"/>
              <a:t>He</a:t>
            </a:r>
            <a:r>
              <a:rPr lang="en-US" dirty="0"/>
              <a:t> likes to draw.</a:t>
            </a:r>
          </a:p>
          <a:p>
            <a:pPr lvl="2" fontAlgn="base"/>
            <a:r>
              <a:rPr lang="en-US" b="1" dirty="0"/>
              <a:t>Meera</a:t>
            </a:r>
            <a:r>
              <a:rPr lang="en-US" dirty="0"/>
              <a:t> joined the football team. </a:t>
            </a:r>
            <a:r>
              <a:rPr lang="en-US" b="1" dirty="0"/>
              <a:t>She</a:t>
            </a:r>
            <a:r>
              <a:rPr lang="en-US" dirty="0"/>
              <a:t> practices every evening.</a:t>
            </a:r>
          </a:p>
          <a:p>
            <a:pPr lvl="2" fontAlgn="base"/>
            <a:r>
              <a:rPr lang="en-US" dirty="0"/>
              <a:t>I bought a new </a:t>
            </a:r>
            <a:r>
              <a:rPr lang="en-US" b="1" dirty="0"/>
              <a:t>mobile</a:t>
            </a:r>
            <a:r>
              <a:rPr lang="en-US" dirty="0"/>
              <a:t>. </a:t>
            </a:r>
            <a:r>
              <a:rPr lang="en-US" b="1" dirty="0"/>
              <a:t>It</a:t>
            </a:r>
            <a:r>
              <a:rPr lang="en-US" dirty="0"/>
              <a:t> is very useful.</a:t>
            </a:r>
          </a:p>
          <a:p>
            <a:pPr lvl="1" fontAlgn="base"/>
            <a:r>
              <a:rPr lang="en-US" dirty="0"/>
              <a:t>Person (first, second, or third)</a:t>
            </a:r>
          </a:p>
          <a:p>
            <a:pPr lvl="2" fontAlgn="base"/>
            <a:r>
              <a:rPr lang="en-US" b="1" dirty="0"/>
              <a:t>I</a:t>
            </a:r>
            <a:r>
              <a:rPr lang="en-US" dirty="0"/>
              <a:t> love reading books. </a:t>
            </a:r>
          </a:p>
          <a:p>
            <a:pPr lvl="2" fontAlgn="base"/>
            <a:r>
              <a:rPr lang="en-US" b="1" dirty="0"/>
              <a:t>You</a:t>
            </a:r>
            <a:r>
              <a:rPr lang="en-US" dirty="0"/>
              <a:t> enjoy painting. </a:t>
            </a:r>
          </a:p>
          <a:p>
            <a:pPr lvl="2" fontAlgn="base"/>
            <a:r>
              <a:rPr lang="en-US" b="1" dirty="0"/>
              <a:t>He</a:t>
            </a:r>
            <a:r>
              <a:rPr lang="en-US" dirty="0"/>
              <a:t> plays cricket.</a:t>
            </a:r>
          </a:p>
          <a:p>
            <a:pPr lvl="1" fontAlgn="base"/>
            <a:r>
              <a:rPr lang="en-US" dirty="0"/>
              <a:t>In number (singular or plural)</a:t>
            </a:r>
          </a:p>
          <a:p>
            <a:pPr lvl="2" fontAlgn="base"/>
            <a:r>
              <a:rPr lang="en-US" b="1" dirty="0"/>
              <a:t>The child</a:t>
            </a:r>
            <a:r>
              <a:rPr lang="en-US" dirty="0"/>
              <a:t> is playing. </a:t>
            </a:r>
            <a:r>
              <a:rPr lang="en-US" b="1" dirty="0"/>
              <a:t>It</a:t>
            </a:r>
            <a:r>
              <a:rPr lang="en-US" dirty="0"/>
              <a:t> looks happy. </a:t>
            </a:r>
          </a:p>
          <a:p>
            <a:pPr lvl="2" fontAlgn="base"/>
            <a:r>
              <a:rPr lang="en-US" b="1" dirty="0"/>
              <a:t>The children</a:t>
            </a:r>
            <a:r>
              <a:rPr lang="en-US" dirty="0"/>
              <a:t> are playing. </a:t>
            </a:r>
            <a:r>
              <a:rPr lang="en-US" b="1" dirty="0"/>
              <a:t>They</a:t>
            </a:r>
            <a:r>
              <a:rPr lang="en-US" dirty="0"/>
              <a:t> look happy.</a:t>
            </a:r>
          </a:p>
          <a:p>
            <a:pPr marL="914400" lvl="2" indent="0" fontAlgn="base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2A3A046-8444-FF08-DC5E-A29ACCFE2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8180" y="459850"/>
            <a:ext cx="4852283" cy="4772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3499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ADE2A-315C-4FE7-F776-338C6B312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37A24-F1B8-FE8B-E8B3-9820E9CE2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5"/>
            <a:ext cx="11935773" cy="4715422"/>
          </a:xfrm>
        </p:spPr>
        <p:txBody>
          <a:bodyPr/>
          <a:lstStyle/>
          <a:p>
            <a:pPr fontAlgn="base"/>
            <a:r>
              <a:rPr lang="en-US" dirty="0"/>
              <a:t>Rule 1: When referring to </a:t>
            </a:r>
            <a:r>
              <a:rPr lang="en-US" b="1" dirty="0"/>
              <a:t>a singular masculine</a:t>
            </a:r>
            <a:r>
              <a:rPr lang="en-US" dirty="0"/>
              <a:t>, use pronouns like </a:t>
            </a:r>
            <a:r>
              <a:rPr lang="en-US" b="1" dirty="0"/>
              <a:t>“he,” “him,” “his,” </a:t>
            </a:r>
            <a:r>
              <a:rPr lang="en-US" dirty="0"/>
              <a:t>and </a:t>
            </a:r>
            <a:r>
              <a:rPr lang="en-US" b="1" dirty="0"/>
              <a:t>“himself.”</a:t>
            </a:r>
            <a:endParaRPr lang="en-US" dirty="0"/>
          </a:p>
          <a:p>
            <a:pPr lvl="1" fontAlgn="base"/>
            <a:r>
              <a:rPr lang="en-US" dirty="0"/>
              <a:t>Ravi is my friend. </a:t>
            </a:r>
            <a:r>
              <a:rPr lang="en-US" b="1" dirty="0"/>
              <a:t>He</a:t>
            </a:r>
            <a:r>
              <a:rPr lang="en-US" dirty="0"/>
              <a:t> is very helpful.</a:t>
            </a:r>
          </a:p>
          <a:p>
            <a:pPr lvl="2" fontAlgn="base"/>
            <a:r>
              <a:rPr lang="en-IN" dirty="0"/>
              <a:t>masculine subject → pronoun </a:t>
            </a:r>
            <a:r>
              <a:rPr lang="en-IN" b="1" dirty="0"/>
              <a:t>he</a:t>
            </a:r>
            <a:endParaRPr lang="en-IN" dirty="0"/>
          </a:p>
          <a:p>
            <a:pPr lvl="2" fontAlgn="base"/>
            <a:endParaRPr lang="en-IN" dirty="0"/>
          </a:p>
          <a:p>
            <a:pPr lvl="1" fontAlgn="base"/>
            <a:r>
              <a:rPr lang="en-US" dirty="0"/>
              <a:t>This boy is intelligent. Everyone likes </a:t>
            </a:r>
            <a:r>
              <a:rPr lang="en-US" b="1" dirty="0"/>
              <a:t>him</a:t>
            </a:r>
            <a:r>
              <a:rPr lang="en-US" dirty="0"/>
              <a:t>.</a:t>
            </a:r>
          </a:p>
          <a:p>
            <a:pPr lvl="2" fontAlgn="base"/>
            <a:r>
              <a:rPr lang="en-IN" dirty="0"/>
              <a:t>masculine subject → pronoun </a:t>
            </a:r>
            <a:r>
              <a:rPr lang="en-IN" b="1" dirty="0"/>
              <a:t>him</a:t>
            </a:r>
            <a:endParaRPr lang="en-IN" dirty="0"/>
          </a:p>
          <a:p>
            <a:pPr lvl="2" fontAlgn="base"/>
            <a:endParaRPr lang="en-IN" dirty="0"/>
          </a:p>
          <a:p>
            <a:pPr lvl="1" fontAlgn="base"/>
            <a:r>
              <a:rPr lang="en-US" dirty="0"/>
              <a:t>Arjun has lost </a:t>
            </a:r>
            <a:r>
              <a:rPr lang="en-US" b="1" dirty="0"/>
              <a:t>his</a:t>
            </a:r>
            <a:r>
              <a:rPr lang="en-US" dirty="0"/>
              <a:t> book.</a:t>
            </a:r>
          </a:p>
          <a:p>
            <a:pPr lvl="2" fontAlgn="base"/>
            <a:r>
              <a:rPr lang="en-IN" dirty="0"/>
              <a:t>masculine subject → pronoun </a:t>
            </a:r>
            <a:r>
              <a:rPr lang="en-IN" b="1" dirty="0"/>
              <a:t>his</a:t>
            </a:r>
            <a:endParaRPr lang="en-IN" dirty="0"/>
          </a:p>
          <a:p>
            <a:pPr lvl="2" fontAlgn="base"/>
            <a:endParaRPr lang="en-IN" dirty="0"/>
          </a:p>
          <a:p>
            <a:pPr lvl="1" fontAlgn="base"/>
            <a:r>
              <a:rPr lang="en-US" dirty="0"/>
              <a:t>The man solved the problem himself</a:t>
            </a:r>
            <a:r>
              <a:rPr lang="en-US" dirty="0">
                <a:solidFill>
                  <a:srgbClr val="0070C0"/>
                </a:solidFill>
              </a:rPr>
              <a:t>.</a:t>
            </a:r>
          </a:p>
          <a:p>
            <a:pPr lvl="2" fontAlgn="base"/>
            <a:r>
              <a:rPr lang="en-IN" dirty="0"/>
              <a:t>masculine subject → pronoun </a:t>
            </a:r>
            <a:r>
              <a:rPr lang="en-IN" b="1" dirty="0"/>
              <a:t>himself</a:t>
            </a:r>
            <a:endParaRPr lang="en-US" dirty="0"/>
          </a:p>
        </p:txBody>
      </p:sp>
      <p:pic>
        <p:nvPicPr>
          <p:cNvPr id="5" name="Picture 4" descr="A blue line drawing of a person&#10;&#10;AI-generated content may be incorrect.">
            <a:extLst>
              <a:ext uri="{FF2B5EF4-FFF2-40B4-BE49-F238E27FC236}">
                <a16:creationId xmlns:a16="http://schemas.microsoft.com/office/drawing/2014/main" id="{FCFFCC66-2FF4-C220-F541-14580C9A30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756" y="1669832"/>
            <a:ext cx="4047881" cy="351833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589552B-0048-AD0D-6F58-A12D85428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Noun-Pronoun Agreement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A893F4-3D89-8555-BA81-09B944F1A93A}"/>
              </a:ext>
            </a:extLst>
          </p:cNvPr>
          <p:cNvSpPr/>
          <p:nvPr/>
        </p:nvSpPr>
        <p:spPr>
          <a:xfrm>
            <a:off x="8805333" y="3221156"/>
            <a:ext cx="1617134" cy="267111"/>
          </a:xfrm>
          <a:prstGeom prst="rect">
            <a:avLst/>
          </a:prstGeom>
          <a:solidFill>
            <a:srgbClr val="DAE9FE"/>
          </a:solidFill>
          <a:ln>
            <a:solidFill>
              <a:srgbClr val="DAE9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C8E234-5127-0D8A-6EB7-0BD23BC4CC09}"/>
              </a:ext>
            </a:extLst>
          </p:cNvPr>
          <p:cNvSpPr/>
          <p:nvPr/>
        </p:nvSpPr>
        <p:spPr>
          <a:xfrm>
            <a:off x="8805330" y="3525957"/>
            <a:ext cx="1617134" cy="267111"/>
          </a:xfrm>
          <a:prstGeom prst="rect">
            <a:avLst/>
          </a:prstGeom>
          <a:solidFill>
            <a:srgbClr val="DAE9FE"/>
          </a:solidFill>
          <a:ln>
            <a:solidFill>
              <a:srgbClr val="DAE9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1EB7D1-0D54-A0E2-668A-B6D09FCDA371}"/>
              </a:ext>
            </a:extLst>
          </p:cNvPr>
          <p:cNvSpPr/>
          <p:nvPr/>
        </p:nvSpPr>
        <p:spPr>
          <a:xfrm>
            <a:off x="8856129" y="3805357"/>
            <a:ext cx="1617134" cy="267111"/>
          </a:xfrm>
          <a:prstGeom prst="rect">
            <a:avLst/>
          </a:prstGeom>
          <a:solidFill>
            <a:srgbClr val="DAE9FE"/>
          </a:solidFill>
          <a:ln>
            <a:solidFill>
              <a:srgbClr val="DAE9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86E218-DAE2-6F7D-DC5F-01D8F39ED36A}"/>
              </a:ext>
            </a:extLst>
          </p:cNvPr>
          <p:cNvSpPr/>
          <p:nvPr/>
        </p:nvSpPr>
        <p:spPr>
          <a:xfrm>
            <a:off x="8856129" y="4072468"/>
            <a:ext cx="1617134" cy="267111"/>
          </a:xfrm>
          <a:prstGeom prst="rect">
            <a:avLst/>
          </a:prstGeom>
          <a:solidFill>
            <a:srgbClr val="DAE9FE"/>
          </a:solidFill>
          <a:ln>
            <a:solidFill>
              <a:srgbClr val="DAE9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 descr="A blue line drawing of a person&#10;&#10;AI-generated content may be incorrect.">
            <a:extLst>
              <a:ext uri="{FF2B5EF4-FFF2-40B4-BE49-F238E27FC236}">
                <a16:creationId xmlns:a16="http://schemas.microsoft.com/office/drawing/2014/main" id="{D08057AF-6630-0F78-4E27-DD45A43496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756" y="1669832"/>
            <a:ext cx="4047881" cy="3518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677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8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ADE2A-315C-4FE7-F776-338C6B312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37A24-F1B8-FE8B-E8B3-9820E9CE2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5"/>
            <a:ext cx="11935773" cy="5075018"/>
          </a:xfrm>
        </p:spPr>
        <p:txBody>
          <a:bodyPr/>
          <a:lstStyle/>
          <a:p>
            <a:pPr fontAlgn="base"/>
            <a:r>
              <a:rPr lang="en-US" dirty="0"/>
              <a:t>Rule 2: When talking about </a:t>
            </a:r>
            <a:r>
              <a:rPr lang="en-US" b="1" dirty="0"/>
              <a:t>a singular feminine</a:t>
            </a:r>
            <a:r>
              <a:rPr lang="en-US" dirty="0"/>
              <a:t>, use pronouns such as </a:t>
            </a:r>
            <a:r>
              <a:rPr lang="en-US" b="1" dirty="0"/>
              <a:t>“she,” “her,” “hers,” </a:t>
            </a:r>
            <a:r>
              <a:rPr lang="en-US" dirty="0"/>
              <a:t>and</a:t>
            </a:r>
            <a:r>
              <a:rPr lang="en-US" b="1" dirty="0"/>
              <a:t> “herself.”</a:t>
            </a:r>
            <a:endParaRPr lang="en-US" dirty="0"/>
          </a:p>
          <a:p>
            <a:pPr lvl="1" algn="l"/>
            <a:r>
              <a:rPr lang="en-US" dirty="0"/>
              <a:t>Sita is a good singer. </a:t>
            </a:r>
            <a:r>
              <a:rPr lang="en-US" b="1" dirty="0"/>
              <a:t>She </a:t>
            </a:r>
            <a:r>
              <a:rPr lang="en-US" dirty="0"/>
              <a:t>sings beautifully.</a:t>
            </a:r>
          </a:p>
          <a:p>
            <a:pPr lvl="2" algn="l"/>
            <a:r>
              <a:rPr lang="en-US" dirty="0"/>
              <a:t>feminine subject → pronoun </a:t>
            </a:r>
            <a:r>
              <a:rPr lang="en-US" b="1" dirty="0"/>
              <a:t>she</a:t>
            </a:r>
            <a:endParaRPr lang="en-US" dirty="0"/>
          </a:p>
          <a:p>
            <a:pPr lvl="2" algn="l"/>
            <a:endParaRPr lang="en-US" dirty="0"/>
          </a:p>
          <a:p>
            <a:pPr lvl="1" algn="l"/>
            <a:r>
              <a:rPr lang="en-US" dirty="0"/>
              <a:t>This girl is my classmate. I know </a:t>
            </a:r>
            <a:r>
              <a:rPr lang="en-US" b="1" dirty="0"/>
              <a:t>her.</a:t>
            </a:r>
          </a:p>
          <a:p>
            <a:pPr lvl="2" algn="l"/>
            <a:r>
              <a:rPr lang="en-US" dirty="0"/>
              <a:t>feminine subject → pronoun </a:t>
            </a:r>
            <a:r>
              <a:rPr lang="en-US" b="1" dirty="0"/>
              <a:t>her</a:t>
            </a:r>
            <a:endParaRPr lang="en-US" dirty="0"/>
          </a:p>
          <a:p>
            <a:pPr lvl="2" algn="l"/>
            <a:endParaRPr lang="en-US" dirty="0"/>
          </a:p>
          <a:p>
            <a:pPr lvl="1" algn="l"/>
            <a:r>
              <a:rPr lang="en-US" dirty="0"/>
              <a:t>Anita has forgotten </a:t>
            </a:r>
            <a:r>
              <a:rPr lang="en-US" b="1" dirty="0"/>
              <a:t>her </a:t>
            </a:r>
            <a:r>
              <a:rPr lang="en-US" dirty="0"/>
              <a:t>notebook.</a:t>
            </a:r>
          </a:p>
          <a:p>
            <a:pPr lvl="2" algn="l"/>
            <a:r>
              <a:rPr lang="en-US" dirty="0"/>
              <a:t>feminine subject → pronoun </a:t>
            </a:r>
            <a:r>
              <a:rPr lang="en-US" b="1" dirty="0"/>
              <a:t>her</a:t>
            </a:r>
            <a:endParaRPr lang="en-US" dirty="0"/>
          </a:p>
          <a:p>
            <a:pPr lvl="2" algn="l"/>
            <a:endParaRPr lang="en-US" dirty="0"/>
          </a:p>
          <a:p>
            <a:pPr lvl="1" algn="l"/>
            <a:r>
              <a:rPr lang="en-US" dirty="0"/>
              <a:t>The woman completed the work </a:t>
            </a:r>
            <a:r>
              <a:rPr lang="en-US" b="1" dirty="0"/>
              <a:t>herself.</a:t>
            </a:r>
            <a:endParaRPr lang="en-US" dirty="0"/>
          </a:p>
          <a:p>
            <a:pPr lvl="2" algn="l"/>
            <a:r>
              <a:rPr lang="en-US" dirty="0"/>
              <a:t>feminine subject → pronoun </a:t>
            </a:r>
            <a:r>
              <a:rPr lang="en-US" b="1" dirty="0"/>
              <a:t>herself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12" name="Picture 11" descr="A pink card with a person icon&#10;&#10;AI-generated content may be incorrect.">
            <a:extLst>
              <a:ext uri="{FF2B5EF4-FFF2-40B4-BE49-F238E27FC236}">
                <a16:creationId xmlns:a16="http://schemas.microsoft.com/office/drawing/2014/main" id="{3855D496-1007-8387-3967-7EB9AC92C4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756" y="1669832"/>
            <a:ext cx="4122309" cy="35183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6CDC50-FCEE-AF58-5396-AA7EF15895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9615" y="3153393"/>
            <a:ext cx="1333210" cy="2788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43B125-602E-D2E7-B479-5FC2590715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4172" y="3507486"/>
            <a:ext cx="972000" cy="2761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1A9AE57-00D0-CE9B-0F69-F99F7F8C3B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4269" y="3905294"/>
            <a:ext cx="828000" cy="2002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B251AD4-5E03-BDF3-BD79-F77743C84C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6220" y="4217374"/>
            <a:ext cx="1080000" cy="28868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589552B-0048-AD0D-6F58-A12D85428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Noun-Pronoun Agreement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1069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3C403-D0CC-4AEA-9A65-C846A4EFD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3B07E1F-B2EA-40D3-3AC8-3311EF1A4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Noun-Pronoun Agreement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EA06F-C747-7FF4-6BB8-90C776081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5"/>
            <a:ext cx="8323425" cy="5590364"/>
          </a:xfrm>
        </p:spPr>
        <p:txBody>
          <a:bodyPr/>
          <a:lstStyle/>
          <a:p>
            <a:pPr fontAlgn="base"/>
            <a:r>
              <a:rPr lang="en-US" dirty="0"/>
              <a:t>Rule 3: For </a:t>
            </a:r>
            <a:r>
              <a:rPr lang="en-US" b="1" dirty="0"/>
              <a:t>non-living things </a:t>
            </a:r>
            <a:r>
              <a:rPr lang="en-US" dirty="0"/>
              <a:t>and </a:t>
            </a:r>
            <a:r>
              <a:rPr lang="en-US" b="1" dirty="0"/>
              <a:t>most animals</a:t>
            </a:r>
            <a:r>
              <a:rPr lang="en-US" dirty="0"/>
              <a:t>, it is appropriate to use </a:t>
            </a:r>
            <a:r>
              <a:rPr lang="en-US" b="1" dirty="0"/>
              <a:t>“it,” “its,”</a:t>
            </a:r>
            <a:r>
              <a:rPr lang="en-US" dirty="0"/>
              <a:t> and </a:t>
            </a:r>
            <a:r>
              <a:rPr lang="en-US" b="1" dirty="0"/>
              <a:t>“itself” </a:t>
            </a:r>
            <a:r>
              <a:rPr lang="en-US" dirty="0"/>
              <a:t>as pronouns</a:t>
            </a:r>
            <a:r>
              <a:rPr lang="en-US" b="1" dirty="0"/>
              <a:t>.</a:t>
            </a:r>
            <a:endParaRPr lang="en-US" dirty="0"/>
          </a:p>
          <a:p>
            <a:pPr lvl="1" fontAlgn="base"/>
            <a:r>
              <a:rPr lang="en-US" dirty="0"/>
              <a:t>The </a:t>
            </a:r>
            <a:r>
              <a:rPr lang="en-US" b="1" dirty="0"/>
              <a:t>chair</a:t>
            </a:r>
            <a:r>
              <a:rPr lang="en-US" dirty="0"/>
              <a:t> is broken. </a:t>
            </a:r>
            <a:r>
              <a:rPr lang="en-US" b="1" dirty="0"/>
              <a:t>It</a:t>
            </a:r>
            <a:r>
              <a:rPr lang="en-US" dirty="0"/>
              <a:t> needs to be repaired.</a:t>
            </a:r>
          </a:p>
          <a:p>
            <a:pPr lvl="1" fontAlgn="base"/>
            <a:r>
              <a:rPr lang="en-US" dirty="0"/>
              <a:t>The </a:t>
            </a:r>
            <a:r>
              <a:rPr lang="en-US" b="1" dirty="0"/>
              <a:t>car </a:t>
            </a:r>
            <a:r>
              <a:rPr lang="en-US" dirty="0"/>
              <a:t>is new. </a:t>
            </a:r>
            <a:r>
              <a:rPr lang="en-US" b="1" dirty="0"/>
              <a:t>Its</a:t>
            </a:r>
            <a:r>
              <a:rPr lang="en-US" dirty="0"/>
              <a:t> color is red.</a:t>
            </a:r>
          </a:p>
          <a:p>
            <a:pPr lvl="1" fontAlgn="base"/>
            <a:r>
              <a:rPr lang="en-US" dirty="0"/>
              <a:t>The </a:t>
            </a:r>
            <a:r>
              <a:rPr lang="en-US" b="1" dirty="0"/>
              <a:t>computer</a:t>
            </a:r>
            <a:r>
              <a:rPr lang="en-US" dirty="0"/>
              <a:t> shut down by </a:t>
            </a:r>
            <a:r>
              <a:rPr lang="en-US" b="1" dirty="0"/>
              <a:t>itself.</a:t>
            </a:r>
            <a:endParaRPr lang="en-US" dirty="0"/>
          </a:p>
          <a:p>
            <a:r>
              <a:rPr lang="en-US" dirty="0"/>
              <a:t>Rule 4: </a:t>
            </a:r>
            <a:r>
              <a:rPr lang="en-GB" dirty="0"/>
              <a:t>If the noun refers to a </a:t>
            </a:r>
            <a:r>
              <a:rPr lang="en-GB" b="1" dirty="0"/>
              <a:t>person of any gender </a:t>
            </a:r>
            <a:r>
              <a:rPr lang="en-GB" dirty="0"/>
              <a:t>(e.g., person, pupil, scholar, reader), </a:t>
            </a:r>
            <a:r>
              <a:rPr lang="en-GB" b="1" dirty="0"/>
              <a:t>masculine pronouns are typically used</a:t>
            </a:r>
            <a:r>
              <a:rPr lang="en-GB" dirty="0"/>
              <a:t>.</a:t>
            </a:r>
          </a:p>
          <a:p>
            <a:pPr lvl="1"/>
            <a:r>
              <a:rPr lang="en-US" dirty="0"/>
              <a:t>If a person works hard, </a:t>
            </a:r>
            <a:r>
              <a:rPr lang="en-US" b="1" dirty="0"/>
              <a:t>he</a:t>
            </a:r>
            <a:r>
              <a:rPr lang="en-US" dirty="0"/>
              <a:t> will succeed.</a:t>
            </a:r>
          </a:p>
          <a:p>
            <a:pPr lvl="1"/>
            <a:r>
              <a:rPr lang="en-US" dirty="0"/>
              <a:t>Every pupil must bring </a:t>
            </a:r>
            <a:r>
              <a:rPr lang="en-US" b="1" dirty="0"/>
              <a:t>his</a:t>
            </a:r>
            <a:r>
              <a:rPr lang="en-US" dirty="0"/>
              <a:t> own notebook.</a:t>
            </a:r>
          </a:p>
          <a:p>
            <a:pPr lvl="1"/>
            <a:r>
              <a:rPr lang="en-US" dirty="0"/>
              <a:t>The scholar presented </a:t>
            </a:r>
            <a:r>
              <a:rPr lang="en-US" b="1" dirty="0"/>
              <a:t>his</a:t>
            </a:r>
            <a:r>
              <a:rPr lang="en-US" dirty="0"/>
              <a:t> research at the conference.</a:t>
            </a:r>
          </a:p>
          <a:p>
            <a:pPr lvl="1"/>
            <a:r>
              <a:rPr lang="en-US" dirty="0"/>
              <a:t>Each </a:t>
            </a:r>
            <a:r>
              <a:rPr lang="en-US" b="1" dirty="0"/>
              <a:t>reader</a:t>
            </a:r>
            <a:r>
              <a:rPr lang="en-US" dirty="0"/>
              <a:t> should bring </a:t>
            </a:r>
            <a:r>
              <a:rPr lang="en-US" b="1" dirty="0"/>
              <a:t>his</a:t>
            </a:r>
            <a:r>
              <a:rPr lang="en-US" dirty="0"/>
              <a:t> library card.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10" name="Picture 9" descr="A blue and white object with a symbol on it&#10;&#10;AI-generated content may be incorrect.">
            <a:extLst>
              <a:ext uri="{FF2B5EF4-FFF2-40B4-BE49-F238E27FC236}">
                <a16:creationId xmlns:a16="http://schemas.microsoft.com/office/drawing/2014/main" id="{E40AB0E5-06B6-20DB-DD2A-E76AF36569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3154" y="2283552"/>
            <a:ext cx="2700000" cy="2447158"/>
          </a:xfrm>
          <a:prstGeom prst="rect">
            <a:avLst/>
          </a:prstGeom>
        </p:spPr>
      </p:pic>
      <p:pic>
        <p:nvPicPr>
          <p:cNvPr id="12" name="Picture 11" descr="A green and white circular object with a symbol on it&#10;&#10;AI-generated content may be incorrect.">
            <a:extLst>
              <a:ext uri="{FF2B5EF4-FFF2-40B4-BE49-F238E27FC236}">
                <a16:creationId xmlns:a16="http://schemas.microsoft.com/office/drawing/2014/main" id="{6A671092-4B0E-9640-B1B7-D14411DB7A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3958" y="776380"/>
            <a:ext cx="2700000" cy="20803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F4CA214-172C-2C1E-F12A-64AD6F561C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6683" y="3970324"/>
            <a:ext cx="1692000" cy="456176"/>
          </a:xfrm>
          <a:prstGeom prst="rect">
            <a:avLst/>
          </a:prstGeom>
        </p:spPr>
      </p:pic>
      <p:pic>
        <p:nvPicPr>
          <p:cNvPr id="15" name="Picture 14" descr="A green arch with white symbols&#10;&#10;AI-generated content may be incorrect.">
            <a:extLst>
              <a:ext uri="{FF2B5EF4-FFF2-40B4-BE49-F238E27FC236}">
                <a16:creationId xmlns:a16="http://schemas.microsoft.com/office/drawing/2014/main" id="{482731F2-9F55-9606-766D-565A71CB4DF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547"/>
          <a:stretch>
            <a:fillRect/>
          </a:stretch>
        </p:blipFill>
        <p:spPr>
          <a:xfrm>
            <a:off x="8432514" y="1113717"/>
            <a:ext cx="3276000" cy="33958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B53FC17-0CDF-0599-3D3E-4B77CC3448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6940" y="4730710"/>
            <a:ext cx="704966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051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3C403-D0CC-4AEA-9A65-C846A4EFD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3B07E1F-B2EA-40D3-3AC8-3311EF1A4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Noun-Pronoun Agreement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EA06F-C747-7FF4-6BB8-90C776081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5"/>
            <a:ext cx="12040996" cy="5590364"/>
          </a:xfrm>
        </p:spPr>
        <p:txBody>
          <a:bodyPr/>
          <a:lstStyle/>
          <a:p>
            <a:pPr fontAlgn="base"/>
            <a:r>
              <a:rPr lang="en-US" dirty="0"/>
              <a:t>Rule 5: </a:t>
            </a:r>
            <a:r>
              <a:rPr lang="en-GB" dirty="0"/>
              <a:t>The words </a:t>
            </a:r>
            <a:r>
              <a:rPr lang="en-GB" b="1" dirty="0"/>
              <a:t>“baby” </a:t>
            </a:r>
            <a:r>
              <a:rPr lang="en-GB" dirty="0"/>
              <a:t>and </a:t>
            </a:r>
            <a:r>
              <a:rPr lang="en-GB" b="1" dirty="0"/>
              <a:t>“child” </a:t>
            </a:r>
            <a:r>
              <a:rPr lang="en-GB" dirty="0"/>
              <a:t>can be used for both boys and girls, so we usually say </a:t>
            </a:r>
            <a:r>
              <a:rPr lang="en-GB" b="1" dirty="0"/>
              <a:t>“it” </a:t>
            </a:r>
            <a:r>
              <a:rPr lang="en-GB" dirty="0"/>
              <a:t>when talking about them.</a:t>
            </a:r>
          </a:p>
          <a:p>
            <a:pPr lvl="1" algn="l" fontAlgn="base"/>
            <a:r>
              <a:rPr lang="en-US" dirty="0"/>
              <a:t>The </a:t>
            </a:r>
            <a:r>
              <a:rPr lang="en-US" b="1" dirty="0"/>
              <a:t>baby</a:t>
            </a:r>
            <a:r>
              <a:rPr lang="en-US" dirty="0"/>
              <a:t> is crying. I think </a:t>
            </a:r>
            <a:r>
              <a:rPr lang="en-US" b="1" dirty="0"/>
              <a:t>it</a:t>
            </a:r>
            <a:r>
              <a:rPr lang="en-US" dirty="0"/>
              <a:t> is hungry.</a:t>
            </a:r>
          </a:p>
          <a:p>
            <a:pPr lvl="1" algn="l" fontAlgn="base"/>
            <a:r>
              <a:rPr lang="en-US" dirty="0"/>
              <a:t>A </a:t>
            </a:r>
            <a:r>
              <a:rPr lang="en-US" b="1" dirty="0"/>
              <a:t>child</a:t>
            </a:r>
            <a:r>
              <a:rPr lang="en-US" dirty="0"/>
              <a:t> was lost in the mall. Luckily, </a:t>
            </a:r>
            <a:r>
              <a:rPr lang="en-US" b="1" dirty="0"/>
              <a:t>it</a:t>
            </a:r>
            <a:r>
              <a:rPr lang="en-US" dirty="0"/>
              <a:t> was found by the security guard.</a:t>
            </a:r>
          </a:p>
          <a:p>
            <a:pPr lvl="1" algn="l" fontAlgn="base"/>
            <a:endParaRPr lang="en-US" dirty="0"/>
          </a:p>
          <a:p>
            <a:r>
              <a:rPr lang="en-US" dirty="0"/>
              <a:t>Rule 6: When the noun is </a:t>
            </a:r>
            <a:r>
              <a:rPr lang="en-US" b="1" dirty="0"/>
              <a:t>plural</a:t>
            </a:r>
            <a:r>
              <a:rPr lang="en-US" dirty="0"/>
              <a:t> and can be </a:t>
            </a:r>
            <a:r>
              <a:rPr lang="en-US" b="1" dirty="0"/>
              <a:t>male</a:t>
            </a:r>
            <a:r>
              <a:rPr lang="en-US" dirty="0"/>
              <a:t> or </a:t>
            </a:r>
            <a:r>
              <a:rPr lang="en-US" b="1" dirty="0"/>
              <a:t>female</a:t>
            </a:r>
            <a:r>
              <a:rPr lang="en-US" dirty="0"/>
              <a:t>, or is a </a:t>
            </a:r>
            <a:r>
              <a:rPr lang="en-US" b="1" dirty="0"/>
              <a:t>non-living thing</a:t>
            </a:r>
            <a:r>
              <a:rPr lang="en-US" dirty="0"/>
              <a:t>, we use they, them, their, theirs, themselves.</a:t>
            </a:r>
            <a:endParaRPr lang="en-GB" dirty="0"/>
          </a:p>
          <a:p>
            <a:pPr lvl="1" algn="l"/>
            <a:r>
              <a:rPr lang="en-US" dirty="0"/>
              <a:t>The </a:t>
            </a:r>
            <a:r>
              <a:rPr lang="en-US" b="1" dirty="0"/>
              <a:t>girls</a:t>
            </a:r>
            <a:r>
              <a:rPr lang="en-US" dirty="0"/>
              <a:t> are singing. </a:t>
            </a:r>
            <a:r>
              <a:rPr lang="en-US" b="1" dirty="0"/>
              <a:t>They</a:t>
            </a:r>
            <a:r>
              <a:rPr lang="en-US" dirty="0"/>
              <a:t> sound great.</a:t>
            </a:r>
          </a:p>
          <a:p>
            <a:pPr lvl="1" algn="l"/>
            <a:r>
              <a:rPr lang="en-US" dirty="0"/>
              <a:t>The </a:t>
            </a:r>
            <a:r>
              <a:rPr lang="en-US" b="1" dirty="0"/>
              <a:t>chairs</a:t>
            </a:r>
            <a:r>
              <a:rPr lang="en-US" dirty="0"/>
              <a:t> are broken. We need to fix </a:t>
            </a:r>
            <a:r>
              <a:rPr lang="en-US" b="1" dirty="0"/>
              <a:t>them</a:t>
            </a:r>
            <a:r>
              <a:rPr lang="en-US" dirty="0"/>
              <a:t>.</a:t>
            </a:r>
          </a:p>
          <a:p>
            <a:pPr lvl="1" algn="l"/>
            <a:r>
              <a:rPr lang="en-US" dirty="0"/>
              <a:t>The students brought </a:t>
            </a:r>
            <a:r>
              <a:rPr lang="en-US" b="1" dirty="0"/>
              <a:t>their</a:t>
            </a:r>
            <a:r>
              <a:rPr lang="en-US" dirty="0"/>
              <a:t> books.</a:t>
            </a:r>
          </a:p>
          <a:p>
            <a:pPr lvl="1" algn="l"/>
            <a:r>
              <a:rPr lang="en-US" dirty="0"/>
              <a:t>The bags are new. </a:t>
            </a:r>
            <a:r>
              <a:rPr lang="en-US" b="1" dirty="0"/>
              <a:t>Theirs</a:t>
            </a:r>
            <a:r>
              <a:rPr lang="en-US" dirty="0"/>
              <a:t> are blue and white.</a:t>
            </a:r>
          </a:p>
          <a:p>
            <a:pPr lvl="1" algn="l"/>
            <a:r>
              <a:rPr lang="en-US" dirty="0"/>
              <a:t>The teachers introduced </a:t>
            </a:r>
            <a:r>
              <a:rPr lang="en-US" b="1" dirty="0"/>
              <a:t>themselves</a:t>
            </a:r>
            <a:r>
              <a:rPr lang="en-US" dirty="0"/>
              <a:t> before starting.</a:t>
            </a:r>
          </a:p>
          <a:p>
            <a:pPr marL="457200" lvl="1" indent="0" algn="l">
              <a:buNone/>
            </a:pPr>
            <a:endParaRPr lang="en-US" dirty="0"/>
          </a:p>
          <a:p>
            <a:pPr marL="457200" lvl="1" indent="0" algn="l">
              <a:buNone/>
            </a:pPr>
            <a:endParaRPr lang="en-US" dirty="0"/>
          </a:p>
          <a:p>
            <a:pPr lvl="1" algn="l"/>
            <a:endParaRPr lang="en-US" dirty="0"/>
          </a:p>
          <a:p>
            <a:pPr marL="457200" lvl="1" indent="0" algn="l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326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3C403-D0CC-4AEA-9A65-C846A4EFD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3B07E1F-B2EA-40D3-3AC8-3311EF1A4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Noun-Pronoun Agreement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EA06F-C747-7FF4-6BB8-90C776081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5"/>
            <a:ext cx="11896696" cy="5590364"/>
          </a:xfrm>
        </p:spPr>
        <p:txBody>
          <a:bodyPr/>
          <a:lstStyle/>
          <a:p>
            <a:pPr fontAlgn="base"/>
            <a:r>
              <a:rPr lang="en-US" dirty="0"/>
              <a:t>Rule 7: We </a:t>
            </a:r>
            <a:r>
              <a:rPr lang="en-GB" dirty="0"/>
              <a:t>usually use </a:t>
            </a:r>
            <a:r>
              <a:rPr lang="en-GB" b="1" dirty="0"/>
              <a:t>“it” </a:t>
            </a:r>
            <a:r>
              <a:rPr lang="en-GB" dirty="0"/>
              <a:t>to talk about </a:t>
            </a:r>
            <a:r>
              <a:rPr lang="en-GB" b="1" dirty="0"/>
              <a:t>animals,</a:t>
            </a:r>
            <a:r>
              <a:rPr lang="en-GB" dirty="0"/>
              <a:t> even if the word for the animal </a:t>
            </a:r>
            <a:r>
              <a:rPr lang="en-GB" b="1" dirty="0"/>
              <a:t>suggests a specific gender, like “cow” or “bull.”</a:t>
            </a:r>
          </a:p>
          <a:p>
            <a:pPr lvl="1" fontAlgn="base"/>
            <a:r>
              <a:rPr lang="en-US" dirty="0"/>
              <a:t>A </a:t>
            </a:r>
            <a:r>
              <a:rPr lang="en-US" b="1" dirty="0"/>
              <a:t>bull</a:t>
            </a:r>
            <a:r>
              <a:rPr lang="en-US" dirty="0"/>
              <a:t> ran across the road. </a:t>
            </a:r>
            <a:r>
              <a:rPr lang="en-US" b="1" dirty="0"/>
              <a:t>It</a:t>
            </a:r>
            <a:r>
              <a:rPr lang="en-US" dirty="0"/>
              <a:t> looked very strong.</a:t>
            </a:r>
          </a:p>
          <a:p>
            <a:pPr lvl="1" algn="l" fontAlgn="base"/>
            <a:r>
              <a:rPr lang="en-US" dirty="0"/>
              <a:t>The </a:t>
            </a:r>
            <a:r>
              <a:rPr lang="en-US" b="1" dirty="0"/>
              <a:t>cow</a:t>
            </a:r>
            <a:r>
              <a:rPr lang="en-US" dirty="0"/>
              <a:t> is in the field. </a:t>
            </a:r>
            <a:r>
              <a:rPr lang="en-US" b="1" dirty="0"/>
              <a:t>It</a:t>
            </a:r>
            <a:r>
              <a:rPr lang="en-US" dirty="0"/>
              <a:t> is eating grass.</a:t>
            </a:r>
          </a:p>
          <a:p>
            <a:pPr lvl="1" algn="l" fontAlgn="base"/>
            <a:r>
              <a:rPr lang="en-US" dirty="0"/>
              <a:t>A </a:t>
            </a:r>
            <a:r>
              <a:rPr lang="en-US" b="1" dirty="0"/>
              <a:t>lion </a:t>
            </a:r>
            <a:r>
              <a:rPr lang="en-US" dirty="0"/>
              <a:t>is resting under the tree.</a:t>
            </a:r>
            <a:r>
              <a:rPr lang="en-US" b="1" dirty="0"/>
              <a:t> It </a:t>
            </a:r>
            <a:r>
              <a:rPr lang="en-US" dirty="0"/>
              <a:t>looks tired.</a:t>
            </a:r>
          </a:p>
          <a:p>
            <a:pPr lvl="1" algn="l" fontAlgn="base"/>
            <a:r>
              <a:rPr lang="en-US" dirty="0"/>
              <a:t>A </a:t>
            </a:r>
            <a:r>
              <a:rPr lang="en-US" b="1" dirty="0"/>
              <a:t>parrot</a:t>
            </a:r>
            <a:r>
              <a:rPr lang="en-US" dirty="0"/>
              <a:t> is sitting in the cage. </a:t>
            </a:r>
            <a:r>
              <a:rPr lang="en-US" b="1" dirty="0"/>
              <a:t>It</a:t>
            </a:r>
            <a:r>
              <a:rPr lang="en-US" dirty="0"/>
              <a:t> is making a lot of noise.</a:t>
            </a:r>
          </a:p>
          <a:p>
            <a:pPr lvl="1" algn="l" fontAlgn="base"/>
            <a:r>
              <a:rPr lang="en-US" dirty="0"/>
              <a:t>The </a:t>
            </a:r>
            <a:r>
              <a:rPr lang="en-US" b="1" dirty="0"/>
              <a:t>elephant</a:t>
            </a:r>
            <a:r>
              <a:rPr lang="en-US" dirty="0"/>
              <a:t> is crossing the river. </a:t>
            </a:r>
            <a:r>
              <a:rPr lang="en-US" b="1" dirty="0"/>
              <a:t>It</a:t>
            </a:r>
            <a:r>
              <a:rPr lang="en-US" dirty="0"/>
              <a:t> is very big.</a:t>
            </a:r>
          </a:p>
          <a:p>
            <a:pPr lvl="1" algn="l" fontAlgn="base"/>
            <a:r>
              <a:rPr lang="en-US" dirty="0"/>
              <a:t>A </a:t>
            </a:r>
            <a:r>
              <a:rPr lang="en-US" b="1" dirty="0"/>
              <a:t>monkey</a:t>
            </a:r>
            <a:r>
              <a:rPr lang="en-US" dirty="0"/>
              <a:t> is climbing the tree. </a:t>
            </a:r>
            <a:r>
              <a:rPr lang="en-US" b="1" dirty="0"/>
              <a:t>It</a:t>
            </a:r>
            <a:r>
              <a:rPr lang="en-US" dirty="0"/>
              <a:t> is very quick.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1863609-FBC4-1FB6-A452-260AA91DC3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308" y="3753316"/>
            <a:ext cx="2295525" cy="24098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C61D746-2A2B-7EB1-D08A-918FE4BF36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385" y="3658627"/>
            <a:ext cx="2076450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7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3C403-D0CC-4AEA-9A65-C846A4EFD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3B07E1F-B2EA-40D3-3AC8-3311EF1A4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Noun-Pronoun Agreement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DF61FB-DBBE-4EA0-1E6A-F783BA88FD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441" y="2871669"/>
            <a:ext cx="7473898" cy="358214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97EA06F-C747-7FF4-6BB8-90C776081111}"/>
              </a:ext>
            </a:extLst>
          </p:cNvPr>
          <p:cNvSpPr txBox="1">
            <a:spLocks/>
          </p:cNvSpPr>
          <p:nvPr/>
        </p:nvSpPr>
        <p:spPr>
          <a:xfrm>
            <a:off x="137236" y="868457"/>
            <a:ext cx="11960059" cy="55903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Rule 8: </a:t>
            </a:r>
            <a:r>
              <a:rPr lang="en-GB"/>
              <a:t>We use </a:t>
            </a:r>
            <a:r>
              <a:rPr lang="en-GB" b="1"/>
              <a:t>"he" </a:t>
            </a:r>
            <a:r>
              <a:rPr lang="en-GB"/>
              <a:t>or </a:t>
            </a:r>
            <a:r>
              <a:rPr lang="en-GB" b="1"/>
              <a:t>"she" </a:t>
            </a:r>
            <a:r>
              <a:rPr lang="en-GB"/>
              <a:t>for </a:t>
            </a:r>
            <a:r>
              <a:rPr lang="en-GB" b="1"/>
              <a:t>animals</a:t>
            </a:r>
            <a:r>
              <a:rPr lang="en-GB"/>
              <a:t> when the context or </a:t>
            </a:r>
            <a:r>
              <a:rPr lang="en-GB" b="1"/>
              <a:t>situation makes their gender important</a:t>
            </a:r>
            <a:r>
              <a:rPr lang="en-GB"/>
              <a:t>. (Pet animals, which are often considered as </a:t>
            </a:r>
            <a:r>
              <a:rPr lang="en-GB" b="1"/>
              <a:t>members of the family</a:t>
            </a:r>
            <a:r>
              <a:rPr lang="en-GB"/>
              <a:t>, are usually referred to using pronouns appropriate to their gender.)</a:t>
            </a:r>
          </a:p>
          <a:p>
            <a:pPr lvl="1"/>
            <a:r>
              <a:rPr lang="en-US"/>
              <a:t>We usually call our pet dog </a:t>
            </a:r>
            <a:r>
              <a:rPr lang="en-US" b="1"/>
              <a:t>Rocky</a:t>
            </a:r>
            <a:r>
              <a:rPr lang="en-US"/>
              <a:t> a part of the family. </a:t>
            </a:r>
            <a:r>
              <a:rPr lang="en-US" b="1"/>
              <a:t>He</a:t>
            </a:r>
            <a:r>
              <a:rPr lang="en-US"/>
              <a:t> loves playing in the garden and waits by the door when it’s time for a walk. Our neighbor has a cat named </a:t>
            </a:r>
            <a:r>
              <a:rPr lang="en-US" b="1"/>
              <a:t>Misty</a:t>
            </a:r>
            <a:r>
              <a:rPr lang="en-US"/>
              <a:t>. </a:t>
            </a:r>
            <a:r>
              <a:rPr lang="en-US" b="1"/>
              <a:t>She</a:t>
            </a:r>
            <a:r>
              <a:rPr lang="en-US"/>
              <a:t> is very friendly and often visits our house.    </a:t>
            </a:r>
            <a:endParaRPr lang="en-US">
              <a:solidFill>
                <a:srgbClr val="FF0000"/>
              </a:solidFill>
            </a:endParaRPr>
          </a:p>
          <a:p>
            <a:pPr marL="457200" lvl="1" indent="0">
              <a:buFont typeface="Wingdings 3" panose="05040102010807070707" pitchFamily="18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813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3C403-D0CC-4AEA-9A65-C846A4EFD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3B07E1F-B2EA-40D3-3AC8-3311EF1A4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Noun-Pronoun Agreement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EA06F-C747-7FF4-6BB8-90C776081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5"/>
            <a:ext cx="11508369" cy="5590364"/>
          </a:xfrm>
        </p:spPr>
        <p:txBody>
          <a:bodyPr/>
          <a:lstStyle/>
          <a:p>
            <a:pPr fontAlgn="base"/>
            <a:r>
              <a:rPr lang="en-US" dirty="0"/>
              <a:t>Rule 9: </a:t>
            </a:r>
            <a:r>
              <a:rPr lang="en-GB" dirty="0"/>
              <a:t>Words begin with </a:t>
            </a:r>
            <a:r>
              <a:rPr lang="en-GB" b="1" i="1" dirty="0"/>
              <a:t>every</a:t>
            </a:r>
            <a:r>
              <a:rPr lang="en-GB" b="1" dirty="0"/>
              <a:t>-(everyone, everybody, everything) </a:t>
            </a:r>
            <a:r>
              <a:rPr lang="en-GB" dirty="0"/>
              <a:t>are</a:t>
            </a:r>
            <a:r>
              <a:rPr lang="en-GB" b="1" dirty="0"/>
              <a:t> singular,</a:t>
            </a:r>
            <a:r>
              <a:rPr lang="en-GB" dirty="0"/>
              <a:t> and must therefore </a:t>
            </a:r>
            <a:r>
              <a:rPr lang="en-GB" b="1" dirty="0"/>
              <a:t>be referred </a:t>
            </a:r>
            <a:r>
              <a:rPr lang="en-GB" dirty="0"/>
              <a:t>to by the </a:t>
            </a:r>
            <a:r>
              <a:rPr lang="en-GB" b="1" dirty="0"/>
              <a:t>singular pronouns</a:t>
            </a:r>
            <a:r>
              <a:rPr lang="en-GB" dirty="0"/>
              <a:t>. </a:t>
            </a:r>
            <a:endParaRPr lang="en-US" dirty="0"/>
          </a:p>
          <a:p>
            <a:pPr lvl="1" fontAlgn="base"/>
            <a:r>
              <a:rPr lang="en-US" dirty="0"/>
              <a:t>Everyone must check </a:t>
            </a:r>
            <a:r>
              <a:rPr lang="en-US" b="1" dirty="0"/>
              <a:t>his</a:t>
            </a:r>
            <a:r>
              <a:rPr lang="en-US" dirty="0"/>
              <a:t> answers twice.</a:t>
            </a:r>
          </a:p>
          <a:p>
            <a:pPr lvl="1" fontAlgn="base"/>
            <a:r>
              <a:rPr lang="en-US" dirty="0"/>
              <a:t>Everybody shared </a:t>
            </a:r>
            <a:r>
              <a:rPr lang="en-US" b="1" dirty="0"/>
              <a:t>his</a:t>
            </a:r>
            <a:r>
              <a:rPr lang="en-US" dirty="0"/>
              <a:t> opinion.</a:t>
            </a:r>
          </a:p>
          <a:p>
            <a:pPr lvl="1" fontAlgn="base"/>
            <a:r>
              <a:rPr lang="en-US" dirty="0"/>
              <a:t>Everything in the box has </a:t>
            </a:r>
            <a:r>
              <a:rPr lang="en-US" b="1" dirty="0"/>
              <a:t>its</a:t>
            </a:r>
            <a:r>
              <a:rPr lang="en-US" dirty="0"/>
              <a:t> label.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B5E7A7-E0F3-8F64-FE66-C5E9B417BE0C}"/>
              </a:ext>
            </a:extLst>
          </p:cNvPr>
          <p:cNvSpPr txBox="1"/>
          <p:nvPr/>
        </p:nvSpPr>
        <p:spPr>
          <a:xfrm>
            <a:off x="2172742" y="4577962"/>
            <a:ext cx="1109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Everyone</a:t>
            </a:r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2679A7-1209-DDAA-54BE-C87743780600}"/>
              </a:ext>
            </a:extLst>
          </p:cNvPr>
          <p:cNvSpPr txBox="1"/>
          <p:nvPr/>
        </p:nvSpPr>
        <p:spPr>
          <a:xfrm>
            <a:off x="8587220" y="4577962"/>
            <a:ext cx="1519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Everything</a:t>
            </a:r>
            <a:endParaRPr lang="en-IN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32F76A-D091-E878-E06C-B23CAB2D71D8}"/>
              </a:ext>
            </a:extLst>
          </p:cNvPr>
          <p:cNvSpPr txBox="1"/>
          <p:nvPr/>
        </p:nvSpPr>
        <p:spPr>
          <a:xfrm>
            <a:off x="4786233" y="3032616"/>
            <a:ext cx="115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Everybody</a:t>
            </a:r>
            <a:endParaRPr lang="en-IN" b="1" dirty="0"/>
          </a:p>
        </p:txBody>
      </p:sp>
      <p:pic>
        <p:nvPicPr>
          <p:cNvPr id="4" name="Picture 3" descr="A yellow line drawing of a triangle with a shopping basket and paw print&#10;&#10;AI-generated content may be incorrect.">
            <a:extLst>
              <a:ext uri="{FF2B5EF4-FFF2-40B4-BE49-F238E27FC236}">
                <a16:creationId xmlns:a16="http://schemas.microsoft.com/office/drawing/2014/main" id="{A549FC40-2177-BDF2-10C4-E574928E28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6371" y="3684026"/>
            <a:ext cx="2437347" cy="2629957"/>
          </a:xfrm>
          <a:prstGeom prst="rect">
            <a:avLst/>
          </a:prstGeom>
        </p:spPr>
      </p:pic>
      <p:pic>
        <p:nvPicPr>
          <p:cNvPr id="7" name="Picture 6" descr="A black background with a black and green logo&#10;&#10;AI-generated content may be incorrect.">
            <a:extLst>
              <a:ext uri="{FF2B5EF4-FFF2-40B4-BE49-F238E27FC236}">
                <a16:creationId xmlns:a16="http://schemas.microsoft.com/office/drawing/2014/main" id="{0541E740-429A-8792-4C80-D698C64747D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286" y="3606800"/>
            <a:ext cx="2520000" cy="2904067"/>
          </a:xfrm>
          <a:prstGeom prst="rect">
            <a:avLst/>
          </a:prstGeom>
        </p:spPr>
      </p:pic>
      <p:pic>
        <p:nvPicPr>
          <p:cNvPr id="9" name="Picture 8" descr="A green outline of a triangle with people on it&#10;&#10;AI-generated content may be incorrect.">
            <a:extLst>
              <a:ext uri="{FF2B5EF4-FFF2-40B4-BE49-F238E27FC236}">
                <a16:creationId xmlns:a16="http://schemas.microsoft.com/office/drawing/2014/main" id="{CF317D26-1653-7944-56D0-C8AF4A477DB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094" y="3678947"/>
            <a:ext cx="25200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521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1849" y="1709738"/>
            <a:ext cx="8918438" cy="2852737"/>
          </a:xfrm>
        </p:spPr>
        <p:txBody>
          <a:bodyPr/>
          <a:lstStyle/>
          <a:p>
            <a:r>
              <a:rPr lang="gu-IN" dirty="0"/>
              <a:t>Subject-Verb Agreement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345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gu-IN" dirty="0"/>
              <a:t>Subject-Verb Agreement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E58EFD-2E9D-1612-57AF-B39C216961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524" y="1564542"/>
            <a:ext cx="4382477" cy="40859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2B1D91-D3DC-68C0-FABC-315375F85EBA}"/>
              </a:ext>
            </a:extLst>
          </p:cNvPr>
          <p:cNvSpPr txBox="1"/>
          <p:nvPr/>
        </p:nvSpPr>
        <p:spPr>
          <a:xfrm>
            <a:off x="7532227" y="1284096"/>
            <a:ext cx="1720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Use Plural Verb?</a:t>
            </a:r>
            <a:endParaRPr lang="en-IN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8810E7-DBF0-E764-C16C-5E3ACCBFE975}"/>
              </a:ext>
            </a:extLst>
          </p:cNvPr>
          <p:cNvSpPr txBox="1"/>
          <p:nvPr/>
        </p:nvSpPr>
        <p:spPr>
          <a:xfrm>
            <a:off x="10208302" y="1284096"/>
            <a:ext cx="1944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Use Singular Verb?</a:t>
            </a:r>
            <a:endParaRPr lang="en-IN" b="1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858030A-51C5-4E2C-94C0-BE4B19647EA3}"/>
              </a:ext>
            </a:extLst>
          </p:cNvPr>
          <p:cNvSpPr txBox="1">
            <a:spLocks/>
          </p:cNvSpPr>
          <p:nvPr/>
        </p:nvSpPr>
        <p:spPr>
          <a:xfrm>
            <a:off x="-1" y="711200"/>
            <a:ext cx="7629525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Look at the following sentences and find whether they are correct or not.</a:t>
            </a:r>
          </a:p>
          <a:p>
            <a:endParaRPr lang="en-US" sz="800" spc="75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887412" lvl="1" indent="-342900">
              <a:lnSpc>
                <a:spcPct val="100000"/>
              </a:lnSpc>
              <a:spcBef>
                <a:spcPts val="0"/>
              </a:spcBef>
            </a:pPr>
            <a:r>
              <a:rPr lang="en-US" sz="2200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Prabha and Seema is here.</a:t>
            </a:r>
          </a:p>
          <a:p>
            <a:pPr marL="887412" lvl="1" indent="-342900">
              <a:lnSpc>
                <a:spcPct val="100000"/>
              </a:lnSpc>
              <a:spcBef>
                <a:spcPts val="0"/>
              </a:spcBef>
            </a:pPr>
            <a:r>
              <a:rPr lang="en-US" sz="2200" spc="75" dirty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Kavish</a:t>
            </a:r>
            <a:r>
              <a:rPr lang="en-US" sz="2200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, Raj and </a:t>
            </a:r>
            <a:r>
              <a:rPr lang="en-US" sz="2200" spc="75" dirty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Reena</a:t>
            </a:r>
            <a:r>
              <a:rPr lang="en-US" sz="2200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goes to the same school.</a:t>
            </a:r>
          </a:p>
          <a:p>
            <a:pPr marL="887412" lvl="1" indent="-342900">
              <a:lnSpc>
                <a:spcPct val="100000"/>
              </a:lnSpc>
              <a:spcBef>
                <a:spcPts val="0"/>
              </a:spcBef>
            </a:pPr>
            <a:r>
              <a:rPr lang="en-US" sz="2200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She and her friend has arrived.</a:t>
            </a:r>
          </a:p>
          <a:p>
            <a:pPr marL="887412" lvl="1" indent="-342900">
              <a:lnSpc>
                <a:spcPct val="100000"/>
              </a:lnSpc>
              <a:spcBef>
                <a:spcPts val="0"/>
              </a:spcBef>
            </a:pPr>
            <a:r>
              <a:rPr lang="en-US" sz="2200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He and I was playing in the garden.</a:t>
            </a:r>
          </a:p>
          <a:p>
            <a:pPr marL="342900" indent="-342900">
              <a:lnSpc>
                <a:spcPct val="100000"/>
              </a:lnSpc>
              <a:spcAft>
                <a:spcPts val="800"/>
              </a:spcAft>
            </a:pPr>
            <a:r>
              <a:rPr lang="en-US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The above given sentences are wrong because the </a:t>
            </a:r>
            <a:r>
              <a:rPr lang="en-US" b="1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subject in each of sentences being plural need to have the plural verb.</a:t>
            </a:r>
          </a:p>
          <a:p>
            <a:pPr marL="887412" lvl="1" indent="-342900">
              <a:lnSpc>
                <a:spcPct val="100000"/>
              </a:lnSpc>
              <a:spcBef>
                <a:spcPts val="0"/>
              </a:spcBef>
            </a:pPr>
            <a:r>
              <a:rPr lang="en-US" sz="2200" spc="75" dirty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Prabha</a:t>
            </a:r>
            <a:r>
              <a:rPr lang="en-US" sz="2200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and </a:t>
            </a:r>
            <a:r>
              <a:rPr lang="en-US" sz="2200" spc="75" dirty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Seema</a:t>
            </a:r>
            <a:r>
              <a:rPr lang="en-US" sz="2200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n-US" sz="2200" b="1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are</a:t>
            </a:r>
            <a:r>
              <a:rPr lang="en-US" sz="2200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here.</a:t>
            </a:r>
          </a:p>
          <a:p>
            <a:pPr marL="887412" lvl="1" indent="-342900">
              <a:lnSpc>
                <a:spcPct val="100000"/>
              </a:lnSpc>
              <a:spcBef>
                <a:spcPts val="0"/>
              </a:spcBef>
            </a:pPr>
            <a:r>
              <a:rPr lang="en-US" sz="2200" spc="75" dirty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Kavish</a:t>
            </a:r>
            <a:r>
              <a:rPr lang="en-US" sz="2200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, Raj and </a:t>
            </a:r>
            <a:r>
              <a:rPr lang="en-US" sz="2200" spc="75" dirty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Reena</a:t>
            </a:r>
            <a:r>
              <a:rPr lang="en-US" sz="2200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n-US" sz="2200" b="1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go </a:t>
            </a:r>
            <a:r>
              <a:rPr lang="en-US" sz="2200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to the same school.</a:t>
            </a:r>
          </a:p>
          <a:p>
            <a:pPr marL="887412" lvl="1" indent="-342900">
              <a:lnSpc>
                <a:spcPct val="100000"/>
              </a:lnSpc>
              <a:spcBef>
                <a:spcPts val="0"/>
              </a:spcBef>
            </a:pPr>
            <a:r>
              <a:rPr lang="en-US" sz="2200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She and her friend </a:t>
            </a:r>
            <a:r>
              <a:rPr lang="en-US" sz="2200" b="1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have </a:t>
            </a:r>
            <a:r>
              <a:rPr lang="en-US" sz="2200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arrived.</a:t>
            </a:r>
          </a:p>
          <a:p>
            <a:pPr marL="887412" lvl="1" indent="-342900">
              <a:lnSpc>
                <a:spcPct val="100000"/>
              </a:lnSpc>
              <a:spcBef>
                <a:spcPts val="0"/>
              </a:spcBef>
            </a:pPr>
            <a:r>
              <a:rPr lang="en-US" sz="2200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He and I </a:t>
            </a:r>
            <a:r>
              <a:rPr lang="en-US" sz="2200" b="1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were</a:t>
            </a:r>
            <a:r>
              <a:rPr lang="en-US" sz="2200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playing in the garden.</a:t>
            </a:r>
          </a:p>
          <a:p>
            <a:pPr marL="342900" indent="-342900">
              <a:lnSpc>
                <a:spcPct val="100000"/>
              </a:lnSpc>
              <a:spcAft>
                <a:spcPts val="800"/>
              </a:spcAft>
            </a:pPr>
            <a:r>
              <a:rPr lang="en-IN" b="1" dirty="0"/>
              <a:t>A verb must agree with its subject in number and person.</a:t>
            </a:r>
            <a:endParaRPr lang="en-US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</a:pPr>
            <a:endParaRPr lang="en-US" sz="2600" b="1" spc="75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544512" lvl="1" indent="0">
              <a:buFont typeface="Wingdings" panose="05000000000000000000" pitchFamily="2" charset="2"/>
              <a:buNone/>
            </a:pPr>
            <a:endParaRPr lang="en-US" dirty="0"/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dirty="0"/>
              <a:t> </a:t>
            </a:r>
            <a:endParaRPr lang="en-US" b="1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  <a:p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58304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 txBox="1">
            <a:spLocks/>
          </p:cNvSpPr>
          <p:nvPr/>
        </p:nvSpPr>
        <p:spPr>
          <a:xfrm>
            <a:off x="0" y="711200"/>
            <a:ext cx="12027877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b="1" dirty="0"/>
              <a:t>Rule 1 : </a:t>
            </a:r>
            <a:r>
              <a:rPr lang="en-IN" b="1" dirty="0"/>
              <a:t>Singular</a:t>
            </a:r>
            <a:r>
              <a:rPr lang="en-IN" dirty="0"/>
              <a:t> subject takes </a:t>
            </a:r>
            <a:r>
              <a:rPr lang="en-IN" b="1" dirty="0"/>
              <a:t>singular verb.</a:t>
            </a:r>
          </a:p>
          <a:p>
            <a:pPr lvl="1"/>
            <a:r>
              <a:rPr lang="en-US" dirty="0"/>
              <a:t>My brother </a:t>
            </a:r>
            <a:r>
              <a:rPr lang="en-US" b="1" dirty="0"/>
              <a:t>plays</a:t>
            </a:r>
            <a:r>
              <a:rPr lang="en-US" dirty="0"/>
              <a:t> football well.</a:t>
            </a:r>
          </a:p>
          <a:p>
            <a:pPr lvl="1"/>
            <a:r>
              <a:rPr lang="en-US" dirty="0"/>
              <a:t>Rina </a:t>
            </a:r>
            <a:r>
              <a:rPr lang="en-US" b="1" dirty="0"/>
              <a:t>works</a:t>
            </a:r>
            <a:r>
              <a:rPr lang="en-US" dirty="0"/>
              <a:t> at a bank.</a:t>
            </a:r>
          </a:p>
          <a:p>
            <a:pPr lvl="1"/>
            <a:r>
              <a:rPr lang="en-US" dirty="0"/>
              <a:t>A bird </a:t>
            </a:r>
            <a:r>
              <a:rPr lang="en-US" b="1" dirty="0"/>
              <a:t>sings</a:t>
            </a:r>
            <a:r>
              <a:rPr lang="en-US" dirty="0"/>
              <a:t> in the morning.</a:t>
            </a:r>
          </a:p>
          <a:p>
            <a:pPr lvl="1"/>
            <a:endParaRPr lang="en-US" sz="2400" dirty="0"/>
          </a:p>
          <a:p>
            <a:pPr lvl="0"/>
            <a:r>
              <a:rPr lang="en-US" b="1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Rule 2: </a:t>
            </a:r>
            <a:r>
              <a:rPr lang="en-IN" dirty="0"/>
              <a:t>Singular subjects joined by certain </a:t>
            </a:r>
            <a:r>
              <a:rPr lang="en-IN" b="1" dirty="0"/>
              <a:t>connectors</a:t>
            </a:r>
            <a:r>
              <a:rPr lang="en-IN" dirty="0"/>
              <a:t> takes </a:t>
            </a:r>
            <a:r>
              <a:rPr lang="en-IN" b="1" dirty="0"/>
              <a:t>singular verb. </a:t>
            </a:r>
            <a:r>
              <a:rPr lang="en-IN" dirty="0"/>
              <a:t>i.e. </a:t>
            </a:r>
            <a:r>
              <a:rPr lang="en-IN" b="1" dirty="0"/>
              <a:t>as well as</a:t>
            </a:r>
            <a:r>
              <a:rPr lang="en-IN" dirty="0"/>
              <a:t>, </a:t>
            </a:r>
            <a:r>
              <a:rPr lang="en-IN" b="1" dirty="0"/>
              <a:t>along with, together with, accompanied by.</a:t>
            </a:r>
          </a:p>
          <a:p>
            <a:pPr lvl="1"/>
            <a:r>
              <a:rPr lang="en-US" dirty="0"/>
              <a:t>Ravi, </a:t>
            </a:r>
            <a:r>
              <a:rPr lang="en-US" b="1" dirty="0"/>
              <a:t>as well as </a:t>
            </a:r>
            <a:r>
              <a:rPr lang="en-US" dirty="0"/>
              <a:t>his brother, plays the guitar.</a:t>
            </a:r>
          </a:p>
          <a:p>
            <a:pPr lvl="1"/>
            <a:r>
              <a:rPr lang="en-US" dirty="0"/>
              <a:t>The cat, </a:t>
            </a:r>
            <a:r>
              <a:rPr lang="en-US" b="1" dirty="0"/>
              <a:t>along with </a:t>
            </a:r>
            <a:r>
              <a:rPr lang="en-US" dirty="0"/>
              <a:t>its kitten, is hiding under the bed.</a:t>
            </a:r>
          </a:p>
          <a:p>
            <a:pPr lvl="1"/>
            <a:r>
              <a:rPr lang="en-US" dirty="0"/>
              <a:t>The manager, </a:t>
            </a:r>
            <a:r>
              <a:rPr lang="en-US" b="1" dirty="0"/>
              <a:t>together with</a:t>
            </a:r>
            <a:r>
              <a:rPr lang="en-US" dirty="0"/>
              <a:t> his team, is working on the project.</a:t>
            </a:r>
          </a:p>
          <a:p>
            <a:pPr lvl="1"/>
            <a:r>
              <a:rPr lang="en-US" dirty="0"/>
              <a:t>The principal, </a:t>
            </a:r>
            <a:r>
              <a:rPr lang="en-US" b="1" dirty="0"/>
              <a:t>accompanied by </a:t>
            </a:r>
            <a:r>
              <a:rPr lang="en-US" dirty="0"/>
              <a:t>his staff, visits the classrooms.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GB" sz="22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gu-IN" dirty="0"/>
              <a:t>Subject-Verb Agreement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170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 txBox="1">
            <a:spLocks/>
          </p:cNvSpPr>
          <p:nvPr/>
        </p:nvSpPr>
        <p:spPr>
          <a:xfrm>
            <a:off x="-1" y="711200"/>
            <a:ext cx="11972925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Rule 3 : </a:t>
            </a:r>
            <a:r>
              <a:rPr lang="en-GB" dirty="0"/>
              <a:t>Singular subjects joined by, </a:t>
            </a:r>
            <a:r>
              <a:rPr lang="en-GB" b="1" dirty="0"/>
              <a:t>‘either...or’, ‘neither...nor’ </a:t>
            </a:r>
            <a:r>
              <a:rPr lang="en-GB" dirty="0"/>
              <a:t>take a singular verb. </a:t>
            </a:r>
            <a:r>
              <a:rPr lang="en-GB" b="1" dirty="0"/>
              <a:t>Plural subject joined by these connectors take plural verb</a:t>
            </a:r>
            <a:r>
              <a:rPr lang="en-GB" dirty="0"/>
              <a:t>.</a:t>
            </a:r>
          </a:p>
          <a:p>
            <a:endParaRPr lang="en-GB" sz="400" dirty="0"/>
          </a:p>
          <a:p>
            <a:pPr lvl="1" algn="l"/>
            <a:r>
              <a:rPr lang="en-US" b="1" dirty="0"/>
              <a:t>Either Asha or Anjali</a:t>
            </a:r>
            <a:r>
              <a:rPr lang="en-US" dirty="0"/>
              <a:t> </a:t>
            </a:r>
            <a:r>
              <a:rPr lang="en-US" b="1" dirty="0"/>
              <a:t>is</a:t>
            </a:r>
            <a:r>
              <a:rPr lang="en-US" dirty="0"/>
              <a:t> bringing the cake for the party.</a:t>
            </a:r>
            <a:br>
              <a:rPr lang="en-US" dirty="0"/>
            </a:br>
            <a:r>
              <a:rPr lang="en-US" i="1" dirty="0"/>
              <a:t>(Both subjects are singular, so we use the singular verb “is.”)</a:t>
            </a:r>
          </a:p>
          <a:p>
            <a:pPr lvl="1" algn="l"/>
            <a:r>
              <a:rPr lang="en-US" b="1" dirty="0"/>
              <a:t>Neither the boys nor the girls</a:t>
            </a:r>
            <a:r>
              <a:rPr lang="en-US" dirty="0"/>
              <a:t> </a:t>
            </a:r>
            <a:r>
              <a:rPr lang="en-US" b="1" dirty="0"/>
              <a:t>were</a:t>
            </a:r>
            <a:r>
              <a:rPr lang="en-US" dirty="0"/>
              <a:t> interested in the activity.</a:t>
            </a:r>
            <a:br>
              <a:rPr lang="en-US" dirty="0"/>
            </a:br>
            <a:r>
              <a:rPr lang="en-US" i="1" dirty="0"/>
              <a:t>(Plural subjects take the plural verb “were.”)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gu-IN" dirty="0"/>
              <a:t>Subject-Verb Agreement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2FB662-495C-49DC-87A5-7A5E3544F0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073" y="3009379"/>
            <a:ext cx="8087854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074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 txBox="1">
            <a:spLocks/>
          </p:cNvSpPr>
          <p:nvPr/>
        </p:nvSpPr>
        <p:spPr>
          <a:xfrm>
            <a:off x="-1" y="711200"/>
            <a:ext cx="11972925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b="1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Rule 4: </a:t>
            </a:r>
            <a:r>
              <a:rPr lang="en-GB" dirty="0"/>
              <a:t>When singular and plural subjects are joined by, </a:t>
            </a:r>
            <a:r>
              <a:rPr lang="en-GB" b="1" dirty="0"/>
              <a:t>‘either…or’, ‘neither…nor’</a:t>
            </a:r>
            <a:r>
              <a:rPr lang="en-GB" dirty="0"/>
              <a:t> the verb agrees with the nearest subject. If the nearest </a:t>
            </a:r>
            <a:r>
              <a:rPr lang="en-GB" b="1" dirty="0"/>
              <a:t>subject is plural, </a:t>
            </a:r>
            <a:r>
              <a:rPr lang="en-GB" dirty="0"/>
              <a:t>the verb will be </a:t>
            </a:r>
            <a:r>
              <a:rPr lang="en-GB" b="1" dirty="0"/>
              <a:t>plural. </a:t>
            </a:r>
            <a:r>
              <a:rPr lang="en-GB" dirty="0"/>
              <a:t>If the </a:t>
            </a:r>
            <a:r>
              <a:rPr lang="en-GB" b="1" dirty="0"/>
              <a:t>nearest subject is singular</a:t>
            </a:r>
            <a:r>
              <a:rPr lang="en-GB" dirty="0"/>
              <a:t>, the verb will be </a:t>
            </a:r>
            <a:r>
              <a:rPr lang="en-GB" b="1" dirty="0"/>
              <a:t>singular.</a:t>
            </a:r>
            <a:endParaRPr lang="en-GB" sz="400" b="1" dirty="0"/>
          </a:p>
          <a:p>
            <a:pPr lvl="1"/>
            <a:r>
              <a:rPr lang="en-US" dirty="0"/>
              <a:t>Either the </a:t>
            </a:r>
            <a:r>
              <a:rPr lang="en-US" b="1" dirty="0"/>
              <a:t>teacher</a:t>
            </a:r>
            <a:r>
              <a:rPr lang="en-US" dirty="0"/>
              <a:t> or the </a:t>
            </a:r>
            <a:r>
              <a:rPr lang="en-US" b="1" dirty="0"/>
              <a:t>students </a:t>
            </a:r>
            <a:r>
              <a:rPr lang="en-US" dirty="0"/>
              <a:t>are going to arrange the program.</a:t>
            </a:r>
          </a:p>
          <a:p>
            <a:pPr lvl="2"/>
            <a:r>
              <a:rPr lang="en-US" dirty="0"/>
              <a:t>nearest subject = </a:t>
            </a:r>
            <a:r>
              <a:rPr lang="en-US" i="1" dirty="0"/>
              <a:t>students</a:t>
            </a:r>
            <a:r>
              <a:rPr lang="en-US" dirty="0"/>
              <a:t> → plural → </a:t>
            </a:r>
            <a:r>
              <a:rPr lang="en-US" b="1" dirty="0"/>
              <a:t>are</a:t>
            </a:r>
          </a:p>
          <a:p>
            <a:pPr lvl="2"/>
            <a:endParaRPr lang="en-US" b="1" dirty="0"/>
          </a:p>
          <a:p>
            <a:pPr lvl="1"/>
            <a:r>
              <a:rPr lang="en-US" dirty="0"/>
              <a:t>Either the </a:t>
            </a:r>
            <a:r>
              <a:rPr lang="en-US" b="1" dirty="0"/>
              <a:t>students</a:t>
            </a:r>
            <a:r>
              <a:rPr lang="en-US" dirty="0"/>
              <a:t> or the </a:t>
            </a:r>
            <a:r>
              <a:rPr lang="en-US" b="1" dirty="0"/>
              <a:t>teacher </a:t>
            </a:r>
            <a:r>
              <a:rPr lang="en-US" dirty="0"/>
              <a:t>is responsible for this mistake.	</a:t>
            </a:r>
          </a:p>
          <a:p>
            <a:pPr lvl="2"/>
            <a:r>
              <a:rPr lang="en-US" dirty="0"/>
              <a:t>nearest subject = </a:t>
            </a:r>
            <a:r>
              <a:rPr lang="en-US" i="1" dirty="0"/>
              <a:t>teacher</a:t>
            </a:r>
            <a:r>
              <a:rPr lang="en-US" dirty="0"/>
              <a:t> → singular → </a:t>
            </a:r>
            <a:r>
              <a:rPr lang="en-US" b="1" dirty="0"/>
              <a:t>is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Neither the </a:t>
            </a:r>
            <a:r>
              <a:rPr lang="en-US" b="1" dirty="0"/>
              <a:t>manager </a:t>
            </a:r>
            <a:r>
              <a:rPr lang="en-US" dirty="0"/>
              <a:t>nor the </a:t>
            </a:r>
            <a:r>
              <a:rPr lang="en-US" b="1" dirty="0"/>
              <a:t>workers</a:t>
            </a:r>
            <a:r>
              <a:rPr lang="en-US" dirty="0"/>
              <a:t> are willing to accept the proposal.</a:t>
            </a:r>
          </a:p>
          <a:p>
            <a:pPr lvl="2"/>
            <a:r>
              <a:rPr lang="en-US" dirty="0"/>
              <a:t>nearest subject = </a:t>
            </a:r>
            <a:r>
              <a:rPr lang="en-US" i="1" dirty="0"/>
              <a:t>workers</a:t>
            </a:r>
            <a:r>
              <a:rPr lang="en-US" dirty="0"/>
              <a:t> → plural → </a:t>
            </a:r>
            <a:r>
              <a:rPr lang="en-US" b="1" dirty="0"/>
              <a:t>are</a:t>
            </a:r>
            <a:r>
              <a:rPr lang="en-US" dirty="0"/>
              <a:t>	</a:t>
            </a:r>
          </a:p>
          <a:p>
            <a:pPr lvl="2"/>
            <a:endParaRPr lang="en-US" dirty="0"/>
          </a:p>
          <a:p>
            <a:pPr lvl="1"/>
            <a:r>
              <a:rPr lang="en-GB" dirty="0"/>
              <a:t>Either</a:t>
            </a:r>
            <a:r>
              <a:rPr lang="en-GB" b="1" dirty="0"/>
              <a:t> Manjit </a:t>
            </a:r>
            <a:r>
              <a:rPr lang="en-GB" dirty="0"/>
              <a:t>or his</a:t>
            </a:r>
            <a:r>
              <a:rPr lang="en-GB" b="1" dirty="0"/>
              <a:t> brothers</a:t>
            </a:r>
            <a:r>
              <a:rPr lang="en-GB" b="1" dirty="0">
                <a:solidFill>
                  <a:srgbClr val="7030A0"/>
                </a:solidFill>
              </a:rPr>
              <a:t> </a:t>
            </a:r>
            <a:r>
              <a:rPr lang="en-GB" b="1" dirty="0"/>
              <a:t>have </a:t>
            </a:r>
            <a:r>
              <a:rPr lang="en-GB" dirty="0"/>
              <a:t>broken the window glass.</a:t>
            </a:r>
          </a:p>
          <a:p>
            <a:pPr lvl="2"/>
            <a:r>
              <a:rPr lang="en-US" dirty="0"/>
              <a:t>nearest subject = brothers → plural → </a:t>
            </a:r>
            <a:r>
              <a:rPr lang="en-US" b="1" dirty="0"/>
              <a:t>have</a:t>
            </a:r>
          </a:p>
          <a:p>
            <a:pPr lvl="2"/>
            <a:endParaRPr lang="en-US" b="1" dirty="0"/>
          </a:p>
          <a:p>
            <a:pPr lvl="1"/>
            <a:r>
              <a:rPr lang="en-GB" dirty="0"/>
              <a:t>Neither the </a:t>
            </a:r>
            <a:r>
              <a:rPr lang="en-GB" b="1" dirty="0"/>
              <a:t>tractors</a:t>
            </a:r>
            <a:r>
              <a:rPr lang="en-GB" dirty="0"/>
              <a:t> nor </a:t>
            </a:r>
            <a:r>
              <a:rPr lang="en-GB" b="1" dirty="0"/>
              <a:t>the trailer</a:t>
            </a:r>
            <a:r>
              <a:rPr lang="en-GB" dirty="0"/>
              <a:t> was sold.</a:t>
            </a:r>
          </a:p>
          <a:p>
            <a:pPr lvl="2"/>
            <a:r>
              <a:rPr lang="en-US" dirty="0"/>
              <a:t>nearest subject = </a:t>
            </a:r>
            <a:r>
              <a:rPr lang="en-US" i="1" dirty="0"/>
              <a:t>trailer</a:t>
            </a:r>
            <a:r>
              <a:rPr lang="en-US" dirty="0"/>
              <a:t> → singular → </a:t>
            </a:r>
            <a:r>
              <a:rPr lang="en-US" b="1" dirty="0"/>
              <a:t>was</a:t>
            </a:r>
          </a:p>
          <a:p>
            <a:pPr lvl="2"/>
            <a:endParaRPr lang="en-US" b="1" dirty="0"/>
          </a:p>
          <a:p>
            <a:pPr lvl="2"/>
            <a:endParaRPr lang="en-GB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gu-IN" dirty="0"/>
              <a:t>Subject-Verb Agreement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026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5A202-75BF-CBAF-FA61-84A310085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E4C94AE-E286-A751-6604-2C11F780B01F}"/>
              </a:ext>
            </a:extLst>
          </p:cNvPr>
          <p:cNvSpPr txBox="1">
            <a:spLocks/>
          </p:cNvSpPr>
          <p:nvPr/>
        </p:nvSpPr>
        <p:spPr>
          <a:xfrm>
            <a:off x="0" y="711200"/>
            <a:ext cx="12192000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Rule 5: </a:t>
            </a:r>
            <a:r>
              <a:rPr lang="en-GB" dirty="0"/>
              <a:t>Subjects joined by </a:t>
            </a:r>
            <a:r>
              <a:rPr lang="en-GB" b="1" dirty="0"/>
              <a:t>‘and’ take a plural verb</a:t>
            </a:r>
            <a:r>
              <a:rPr lang="en-GB" dirty="0"/>
              <a:t>.</a:t>
            </a:r>
          </a:p>
          <a:p>
            <a:pPr lvl="1" algn="l"/>
            <a:r>
              <a:rPr lang="en-US" dirty="0"/>
              <a:t>Ram </a:t>
            </a:r>
            <a:r>
              <a:rPr lang="en-US" b="1" dirty="0"/>
              <a:t>and</a:t>
            </a:r>
            <a:r>
              <a:rPr lang="en-US" dirty="0"/>
              <a:t> </a:t>
            </a:r>
            <a:r>
              <a:rPr lang="en-US" dirty="0" err="1"/>
              <a:t>Shyam</a:t>
            </a:r>
            <a:r>
              <a:rPr lang="en-US" dirty="0"/>
              <a:t> are good friends.</a:t>
            </a:r>
          </a:p>
          <a:p>
            <a:pPr lvl="2" algn="l"/>
            <a:r>
              <a:rPr lang="en-US" dirty="0"/>
              <a:t>two subjects joined by </a:t>
            </a:r>
            <a:r>
              <a:rPr lang="en-US" i="1" dirty="0"/>
              <a:t>and</a:t>
            </a:r>
            <a:r>
              <a:rPr lang="en-US" dirty="0"/>
              <a:t> → plural verb </a:t>
            </a:r>
            <a:r>
              <a:rPr lang="en-US" b="1" dirty="0"/>
              <a:t>are</a:t>
            </a:r>
          </a:p>
          <a:p>
            <a:pPr lvl="2" algn="l"/>
            <a:endParaRPr lang="en-US" b="1" dirty="0"/>
          </a:p>
          <a:p>
            <a:pPr lvl="1" algn="l"/>
            <a:r>
              <a:rPr lang="en-US" dirty="0"/>
              <a:t>The teacher</a:t>
            </a:r>
            <a:r>
              <a:rPr lang="en-US" b="1" dirty="0"/>
              <a:t> and </a:t>
            </a:r>
            <a:r>
              <a:rPr lang="en-US" dirty="0"/>
              <a:t>the students were present in the meeting.</a:t>
            </a:r>
          </a:p>
          <a:p>
            <a:pPr lvl="2" algn="l"/>
            <a:r>
              <a:rPr lang="en-US" i="1" dirty="0"/>
              <a:t>teacher</a:t>
            </a:r>
            <a:r>
              <a:rPr lang="en-US" dirty="0"/>
              <a:t> + </a:t>
            </a:r>
            <a:r>
              <a:rPr lang="en-US" i="1" dirty="0"/>
              <a:t>students</a:t>
            </a:r>
            <a:r>
              <a:rPr lang="en-US" dirty="0"/>
              <a:t> → plural verb </a:t>
            </a:r>
            <a:r>
              <a:rPr lang="en-US" b="1" dirty="0"/>
              <a:t>were</a:t>
            </a:r>
          </a:p>
          <a:p>
            <a:pPr lvl="2" algn="l"/>
            <a:endParaRPr lang="en-US" b="1" dirty="0"/>
          </a:p>
          <a:p>
            <a:pPr lvl="1" algn="l"/>
            <a:r>
              <a:rPr lang="en-US" dirty="0"/>
              <a:t>Honesty </a:t>
            </a:r>
            <a:r>
              <a:rPr lang="en-US" b="1" dirty="0"/>
              <a:t>and </a:t>
            </a:r>
            <a:r>
              <a:rPr lang="en-US" dirty="0"/>
              <a:t>hard work bring success.</a:t>
            </a:r>
          </a:p>
          <a:p>
            <a:pPr lvl="2" algn="l"/>
            <a:r>
              <a:rPr lang="en-US" dirty="0"/>
              <a:t>two qualities joined by </a:t>
            </a:r>
            <a:r>
              <a:rPr lang="en-US" i="1" dirty="0"/>
              <a:t>and</a:t>
            </a:r>
            <a:r>
              <a:rPr lang="en-US" dirty="0"/>
              <a:t> → plural verb </a:t>
            </a:r>
            <a:r>
              <a:rPr lang="en-US" b="1" dirty="0"/>
              <a:t>bring</a:t>
            </a:r>
          </a:p>
          <a:p>
            <a:pPr lvl="2" algn="l"/>
            <a:endParaRPr lang="en-US" b="1" dirty="0"/>
          </a:p>
          <a:p>
            <a:pPr lvl="1" algn="l"/>
            <a:r>
              <a:rPr lang="en-US" dirty="0"/>
              <a:t>My brother and I are going to the market.</a:t>
            </a:r>
            <a:endParaRPr lang="en-US" b="1" dirty="0"/>
          </a:p>
          <a:p>
            <a:pPr lvl="2" algn="l"/>
            <a:r>
              <a:rPr lang="en-US" i="1" dirty="0"/>
              <a:t>brother</a:t>
            </a:r>
            <a:r>
              <a:rPr lang="en-US" dirty="0"/>
              <a:t> + </a:t>
            </a:r>
            <a:r>
              <a:rPr lang="en-US" i="1" dirty="0"/>
              <a:t>I</a:t>
            </a:r>
            <a:r>
              <a:rPr lang="en-US" dirty="0"/>
              <a:t> → plural verb </a:t>
            </a:r>
            <a:r>
              <a:rPr lang="en-US" b="1" dirty="0"/>
              <a:t>are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The singer and the musician </a:t>
            </a:r>
            <a:r>
              <a:rPr lang="en-US" b="1" dirty="0"/>
              <a:t>have</a:t>
            </a:r>
            <a:r>
              <a:rPr lang="en-US" dirty="0"/>
              <a:t> arrived for the program.</a:t>
            </a:r>
          </a:p>
          <a:p>
            <a:pPr lvl="2"/>
            <a:r>
              <a:rPr lang="en-US" dirty="0"/>
              <a:t>Two persons → plural verb </a:t>
            </a:r>
            <a:r>
              <a:rPr lang="en-US" b="1" dirty="0"/>
              <a:t>have</a:t>
            </a:r>
          </a:p>
          <a:p>
            <a:pPr marL="457200" lvl="1" indent="0">
              <a:buNone/>
            </a:pPr>
            <a:r>
              <a:rPr lang="en-US" dirty="0"/>
              <a:t>	</a:t>
            </a:r>
          </a:p>
          <a:p>
            <a:endParaRPr lang="en-GB" sz="600" dirty="0"/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57C0C-D580-913A-153D-5EB32BCBB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gu-IN" dirty="0"/>
              <a:t>Subject-Verb Agreement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BED7D8-7ED3-9AE8-EFCD-C17603B9D0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876" y="1577485"/>
            <a:ext cx="5700766" cy="3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955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5A202-75BF-CBAF-FA61-84A310085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74E852C-A9CD-4F9F-B343-A58CB77D9F4E}"/>
              </a:ext>
            </a:extLst>
          </p:cNvPr>
          <p:cNvSpPr txBox="1">
            <a:spLocks/>
          </p:cNvSpPr>
          <p:nvPr/>
        </p:nvSpPr>
        <p:spPr>
          <a:xfrm>
            <a:off x="0" y="711200"/>
            <a:ext cx="12192000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b="1" dirty="0"/>
              <a:t>Rule 6: </a:t>
            </a:r>
            <a:r>
              <a:rPr lang="en-US" spc="75" dirty="0">
                <a:ea typeface="Roboto Condensed" panose="02000000000000000000" pitchFamily="2" charset="0"/>
                <a:cs typeface="Roboto Condensed" panose="02000000000000000000" pitchFamily="2" charset="0"/>
              </a:rPr>
              <a:t>Singular </a:t>
            </a:r>
            <a:r>
              <a:rPr lang="en-GB" dirty="0"/>
              <a:t>subjects </a:t>
            </a:r>
            <a:r>
              <a:rPr lang="en-GB" b="1" dirty="0"/>
              <a:t>joined by ‘and’ and preceded by ‘every’ </a:t>
            </a:r>
            <a:r>
              <a:rPr lang="en-GB" dirty="0"/>
              <a:t>take a </a:t>
            </a:r>
            <a:r>
              <a:rPr lang="en-GB" b="1" dirty="0"/>
              <a:t>singular verb</a:t>
            </a:r>
            <a:r>
              <a:rPr lang="en-GB" dirty="0"/>
              <a:t>.</a:t>
            </a:r>
          </a:p>
          <a:p>
            <a:pPr lvl="1" algn="l"/>
            <a:r>
              <a:rPr lang="en-US" b="1" dirty="0">
                <a:solidFill>
                  <a:srgbClr val="002060"/>
                </a:solidFill>
              </a:rPr>
              <a:t>Every </a:t>
            </a:r>
            <a:r>
              <a:rPr lang="en-US" dirty="0"/>
              <a:t>boy and </a:t>
            </a:r>
            <a:r>
              <a:rPr lang="en-US" b="1" dirty="0">
                <a:solidFill>
                  <a:srgbClr val="002060"/>
                </a:solidFill>
              </a:rPr>
              <a:t>every</a:t>
            </a:r>
            <a:r>
              <a:rPr lang="en-US" dirty="0"/>
              <a:t> girl </a:t>
            </a:r>
            <a:r>
              <a:rPr lang="en-US" b="1" dirty="0"/>
              <a:t>is</a:t>
            </a:r>
            <a:r>
              <a:rPr lang="en-US" dirty="0"/>
              <a:t> invited to the function.</a:t>
            </a:r>
          </a:p>
          <a:p>
            <a:pPr lvl="2" algn="l"/>
            <a:r>
              <a:rPr lang="en-US" dirty="0"/>
              <a:t>each subject is considered separately → singular verb </a:t>
            </a:r>
            <a:r>
              <a:rPr lang="en-US" b="1" dirty="0"/>
              <a:t>is</a:t>
            </a:r>
          </a:p>
          <a:p>
            <a:pPr lvl="2" algn="l"/>
            <a:endParaRPr lang="en-US" dirty="0"/>
          </a:p>
          <a:p>
            <a:pPr lvl="1" algn="l"/>
            <a:r>
              <a:rPr lang="en-US" b="1" dirty="0">
                <a:solidFill>
                  <a:srgbClr val="002060"/>
                </a:solidFill>
              </a:rPr>
              <a:t>Every</a:t>
            </a:r>
            <a:r>
              <a:rPr lang="en-US" dirty="0"/>
              <a:t> teacher and </a:t>
            </a:r>
            <a:r>
              <a:rPr lang="en-US" b="1" dirty="0">
                <a:solidFill>
                  <a:srgbClr val="002060"/>
                </a:solidFill>
              </a:rPr>
              <a:t>every</a:t>
            </a:r>
            <a:r>
              <a:rPr lang="en-US" dirty="0"/>
              <a:t> student</a:t>
            </a:r>
            <a:r>
              <a:rPr lang="en-US" b="1" dirty="0"/>
              <a:t> has </a:t>
            </a:r>
            <a:r>
              <a:rPr lang="en-US" dirty="0"/>
              <a:t>to attend the seminar.</a:t>
            </a:r>
          </a:p>
          <a:p>
            <a:pPr lvl="2" algn="l"/>
            <a:r>
              <a:rPr lang="en-US" dirty="0"/>
              <a:t>treated as individual responsibility → singular verb </a:t>
            </a:r>
            <a:r>
              <a:rPr lang="en-US" b="1" dirty="0"/>
              <a:t>has</a:t>
            </a:r>
          </a:p>
          <a:p>
            <a:pPr lvl="2" algn="l"/>
            <a:endParaRPr lang="en-US" dirty="0"/>
          </a:p>
          <a:p>
            <a:pPr lvl="1" algn="l"/>
            <a:r>
              <a:rPr lang="en-US" b="1" dirty="0">
                <a:solidFill>
                  <a:srgbClr val="002060"/>
                </a:solidFill>
              </a:rPr>
              <a:t>Every</a:t>
            </a:r>
            <a:r>
              <a:rPr lang="en-US" dirty="0"/>
              <a:t> pen and </a:t>
            </a:r>
            <a:r>
              <a:rPr lang="en-US" b="1" dirty="0">
                <a:solidFill>
                  <a:srgbClr val="002060"/>
                </a:solidFill>
              </a:rPr>
              <a:t>every</a:t>
            </a:r>
            <a:r>
              <a:rPr lang="en-US" dirty="0"/>
              <a:t> notebook </a:t>
            </a:r>
            <a:r>
              <a:rPr lang="en-US" b="1" dirty="0"/>
              <a:t>belongs</a:t>
            </a:r>
            <a:r>
              <a:rPr lang="en-US" dirty="0"/>
              <a:t> to the library.</a:t>
            </a:r>
          </a:p>
          <a:p>
            <a:pPr lvl="2" algn="l"/>
            <a:r>
              <a:rPr lang="en-US" dirty="0"/>
              <a:t>singular ownership → singular verb </a:t>
            </a:r>
            <a:r>
              <a:rPr lang="en-US" b="1" dirty="0"/>
              <a:t>belongs</a:t>
            </a:r>
          </a:p>
          <a:p>
            <a:pPr lvl="1" algn="l"/>
            <a:endParaRPr lang="en-US" dirty="0"/>
          </a:p>
          <a:p>
            <a:pPr lvl="1" algn="l"/>
            <a:r>
              <a:rPr lang="en-US" b="1" dirty="0">
                <a:solidFill>
                  <a:srgbClr val="002060"/>
                </a:solidFill>
              </a:rPr>
              <a:t>Every</a:t>
            </a:r>
            <a:r>
              <a:rPr lang="en-US" dirty="0"/>
              <a:t> table and </a:t>
            </a:r>
            <a:r>
              <a:rPr lang="en-US" b="1" dirty="0"/>
              <a:t>every </a:t>
            </a:r>
            <a:r>
              <a:rPr lang="en-US" dirty="0"/>
              <a:t>chair </a:t>
            </a:r>
            <a:r>
              <a:rPr lang="en-US" b="1" dirty="0"/>
              <a:t>was</a:t>
            </a:r>
            <a:r>
              <a:rPr lang="en-US" dirty="0"/>
              <a:t> arranged neatly in the hall.</a:t>
            </a:r>
          </a:p>
          <a:p>
            <a:pPr lvl="2" algn="l"/>
            <a:r>
              <a:rPr lang="en-US" dirty="0"/>
              <a:t>Focus is on each single object one by one → singular verb </a:t>
            </a:r>
            <a:r>
              <a:rPr lang="en-US" b="1" dirty="0"/>
              <a:t>was</a:t>
            </a:r>
          </a:p>
          <a:p>
            <a:pPr lvl="1" algn="l"/>
            <a:endParaRPr lang="en-US" dirty="0"/>
          </a:p>
          <a:p>
            <a:pPr lvl="1" algn="l"/>
            <a:r>
              <a:rPr lang="en-US" b="1" dirty="0">
                <a:solidFill>
                  <a:srgbClr val="002060"/>
                </a:solidFill>
              </a:rPr>
              <a:t>Every</a:t>
            </a:r>
            <a:r>
              <a:rPr lang="en-US" dirty="0"/>
              <a:t> parent and </a:t>
            </a:r>
            <a:r>
              <a:rPr lang="en-US" b="1" dirty="0">
                <a:solidFill>
                  <a:srgbClr val="002060"/>
                </a:solidFill>
              </a:rPr>
              <a:t>every</a:t>
            </a:r>
            <a:r>
              <a:rPr lang="en-US" dirty="0"/>
              <a:t> guardian </a:t>
            </a:r>
            <a:r>
              <a:rPr lang="en-US" b="1" dirty="0"/>
              <a:t>cares</a:t>
            </a:r>
            <a:r>
              <a:rPr lang="en-US" dirty="0"/>
              <a:t> for the child.</a:t>
            </a:r>
          </a:p>
          <a:p>
            <a:pPr lvl="2" algn="l"/>
            <a:r>
              <a:rPr lang="en-US" dirty="0"/>
              <a:t>Treated as individual responsibility → singular verb </a:t>
            </a:r>
            <a:r>
              <a:rPr lang="en-US" b="1" dirty="0"/>
              <a:t>cares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57C0C-D580-913A-153D-5EB32BCBB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gu-IN" dirty="0"/>
              <a:t>Subject-Verb Agreement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9E04FC-F82E-9D8E-B917-AA2C5F3DFF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548" y="1193495"/>
            <a:ext cx="5159207" cy="308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995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3BF9D-0E58-E873-0015-AC0922E33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BC6582B-C079-8220-B7DD-0F34F75F7233}"/>
              </a:ext>
            </a:extLst>
          </p:cNvPr>
          <p:cNvSpPr txBox="1">
            <a:spLocks/>
          </p:cNvSpPr>
          <p:nvPr/>
        </p:nvSpPr>
        <p:spPr>
          <a:xfrm>
            <a:off x="0" y="711200"/>
            <a:ext cx="11965354" cy="57599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Rule 7: ‘Each’, ‘every’, ‘each one’, ‘each of’, ‘every one’, ‘everybody’, ‘either of’, ‘neither of’ </a:t>
            </a:r>
            <a:r>
              <a:rPr lang="en-GB" dirty="0"/>
              <a:t>take </a:t>
            </a:r>
            <a:r>
              <a:rPr lang="en-US" dirty="0"/>
              <a:t>a singular verb.</a:t>
            </a:r>
            <a:endParaRPr lang="en-US" sz="5400" spc="75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lvl="1"/>
            <a:r>
              <a:rPr lang="en-US" b="1" dirty="0"/>
              <a:t>Each</a:t>
            </a:r>
            <a:r>
              <a:rPr lang="en-US" dirty="0"/>
              <a:t> student </a:t>
            </a:r>
            <a:r>
              <a:rPr lang="en-US" b="1" dirty="0"/>
              <a:t>is</a:t>
            </a:r>
            <a:r>
              <a:rPr lang="en-US" dirty="0"/>
              <a:t> responsible for their own work. </a:t>
            </a:r>
          </a:p>
          <a:p>
            <a:pPr lvl="1"/>
            <a:r>
              <a:rPr lang="en-US" b="1" dirty="0"/>
              <a:t>Every</a:t>
            </a:r>
            <a:r>
              <a:rPr lang="en-US" dirty="0"/>
              <a:t> bird </a:t>
            </a:r>
            <a:r>
              <a:rPr lang="en-US" b="1" dirty="0"/>
              <a:t>is</a:t>
            </a:r>
            <a:r>
              <a:rPr lang="en-US" dirty="0"/>
              <a:t> sitting on a different branch.</a:t>
            </a:r>
          </a:p>
          <a:p>
            <a:pPr lvl="1"/>
            <a:r>
              <a:rPr lang="en-US" b="1" dirty="0"/>
              <a:t>Each one </a:t>
            </a:r>
            <a:r>
              <a:rPr lang="en-US" dirty="0"/>
              <a:t>of the flowers </a:t>
            </a:r>
            <a:r>
              <a:rPr lang="en-US" b="1" dirty="0"/>
              <a:t>is</a:t>
            </a:r>
            <a:r>
              <a:rPr lang="en-US" dirty="0"/>
              <a:t> blooming beautifully.</a:t>
            </a:r>
            <a:endParaRPr lang="en-US" sz="4600" spc="75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lvl="1"/>
            <a:r>
              <a:rPr lang="en-US" b="1" dirty="0"/>
              <a:t>Each of </a:t>
            </a:r>
            <a:r>
              <a:rPr lang="en-US" dirty="0"/>
              <a:t>the answers </a:t>
            </a:r>
            <a:r>
              <a:rPr lang="en-US" b="1" dirty="0"/>
              <a:t>is</a:t>
            </a:r>
            <a:r>
              <a:rPr lang="en-US" dirty="0"/>
              <a:t> correct.</a:t>
            </a:r>
          </a:p>
          <a:p>
            <a:pPr lvl="1"/>
            <a:r>
              <a:rPr lang="en-US" b="1" dirty="0"/>
              <a:t>Every one </a:t>
            </a:r>
            <a:r>
              <a:rPr lang="en-US" dirty="0"/>
              <a:t>of the letters </a:t>
            </a:r>
            <a:r>
              <a:rPr lang="en-US" b="1" dirty="0"/>
              <a:t>has</a:t>
            </a:r>
            <a:r>
              <a:rPr lang="en-US" dirty="0"/>
              <a:t> been delivered.</a:t>
            </a:r>
          </a:p>
          <a:p>
            <a:pPr lvl="1"/>
            <a:r>
              <a:rPr lang="en-US" b="1" dirty="0"/>
              <a:t>Everybody</a:t>
            </a:r>
            <a:r>
              <a:rPr lang="en-US" dirty="0"/>
              <a:t> </a:t>
            </a:r>
            <a:r>
              <a:rPr lang="en-US" b="1" dirty="0"/>
              <a:t>enjoys</a:t>
            </a:r>
            <a:r>
              <a:rPr lang="en-US" dirty="0"/>
              <a:t> the annual college festival.</a:t>
            </a:r>
          </a:p>
          <a:p>
            <a:pPr lvl="1"/>
            <a:r>
              <a:rPr lang="en-US" b="1" dirty="0"/>
              <a:t>Either of </a:t>
            </a:r>
            <a:r>
              <a:rPr lang="en-US" dirty="0"/>
              <a:t>the options </a:t>
            </a:r>
            <a:r>
              <a:rPr lang="en-US" b="1" dirty="0"/>
              <a:t>is</a:t>
            </a:r>
            <a:r>
              <a:rPr lang="en-US" dirty="0"/>
              <a:t> fine with me.</a:t>
            </a:r>
          </a:p>
          <a:p>
            <a:pPr lvl="1"/>
            <a:r>
              <a:rPr lang="en-US" b="1" dirty="0"/>
              <a:t>Neither of </a:t>
            </a:r>
            <a:r>
              <a:rPr lang="en-US" dirty="0"/>
              <a:t>the boys </a:t>
            </a:r>
            <a:r>
              <a:rPr lang="en-US" b="1" dirty="0"/>
              <a:t>is</a:t>
            </a:r>
            <a:r>
              <a:rPr lang="en-US" dirty="0"/>
              <a:t> ready for the match.</a:t>
            </a:r>
          </a:p>
          <a:p>
            <a:pPr marL="457200" lvl="1" indent="0">
              <a:buNone/>
            </a:pPr>
            <a:endParaRPr lang="en-US" dirty="0"/>
          </a:p>
          <a:p>
            <a:endParaRPr lang="en-GB" sz="600" dirty="0"/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F08E80-966B-25C0-9F81-9056BBF7C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gu-IN" dirty="0"/>
              <a:t>Subject-Verb Agreement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A56A7B-8DA7-F102-FD6C-8491869C54C6}"/>
              </a:ext>
            </a:extLst>
          </p:cNvPr>
          <p:cNvSpPr txBox="1"/>
          <p:nvPr/>
        </p:nvSpPr>
        <p:spPr>
          <a:xfrm>
            <a:off x="6186117" y="752379"/>
            <a:ext cx="5931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D322631-D0B2-D536-B89E-2CEC4133B5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6998" y="1075544"/>
            <a:ext cx="4994031" cy="332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763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078F0-E5B3-4507-4CFE-DC5E0E8FD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30B17C7-C44E-8097-221D-616C97032C76}"/>
              </a:ext>
            </a:extLst>
          </p:cNvPr>
          <p:cNvSpPr txBox="1">
            <a:spLocks/>
          </p:cNvSpPr>
          <p:nvPr/>
        </p:nvSpPr>
        <p:spPr>
          <a:xfrm>
            <a:off x="-1" y="711200"/>
            <a:ext cx="7038754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Rule 8: </a:t>
            </a:r>
            <a:r>
              <a:rPr lang="en-GB" dirty="0"/>
              <a:t>If the two nouns are joined by </a:t>
            </a:r>
            <a:r>
              <a:rPr lang="en-GB" b="1" dirty="0"/>
              <a:t>‘and’ </a:t>
            </a:r>
            <a:r>
              <a:rPr lang="en-GB" dirty="0"/>
              <a:t>refer to the same person or thing the verb is singular not plural.</a:t>
            </a:r>
            <a:endParaRPr lang="en-US" dirty="0"/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Our doctor </a:t>
            </a:r>
            <a:r>
              <a:rPr lang="en-US" dirty="0"/>
              <a:t>and </a:t>
            </a:r>
            <a:r>
              <a:rPr lang="en-US" b="1" dirty="0">
                <a:solidFill>
                  <a:srgbClr val="002060"/>
                </a:solidFill>
              </a:rPr>
              <a:t>family friend </a:t>
            </a:r>
            <a:r>
              <a:rPr lang="en-US" b="1" dirty="0"/>
              <a:t>is</a:t>
            </a:r>
            <a:r>
              <a:rPr lang="en-US" dirty="0"/>
              <a:t> visiting us today.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The principal </a:t>
            </a:r>
            <a:r>
              <a:rPr lang="en-US" dirty="0"/>
              <a:t>and </a:t>
            </a:r>
            <a:r>
              <a:rPr lang="en-US" b="1" dirty="0">
                <a:solidFill>
                  <a:srgbClr val="002060"/>
                </a:solidFill>
              </a:rPr>
              <a:t>headmaster</a:t>
            </a:r>
            <a:r>
              <a:rPr lang="en-US" dirty="0"/>
              <a:t> </a:t>
            </a:r>
            <a:r>
              <a:rPr lang="en-US" b="1" dirty="0"/>
              <a:t>is</a:t>
            </a:r>
            <a:r>
              <a:rPr lang="en-US" dirty="0"/>
              <a:t> addressing the students.</a:t>
            </a:r>
            <a:endParaRPr lang="gu-IN" dirty="0"/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The poet </a:t>
            </a:r>
            <a:r>
              <a:rPr lang="en-US" dirty="0"/>
              <a:t>and </a:t>
            </a:r>
            <a:r>
              <a:rPr lang="en-US" b="1" dirty="0">
                <a:solidFill>
                  <a:srgbClr val="002060"/>
                </a:solidFill>
              </a:rPr>
              <a:t>philosopher</a:t>
            </a:r>
            <a:r>
              <a:rPr lang="en-US" dirty="0"/>
              <a:t> </a:t>
            </a:r>
            <a:r>
              <a:rPr lang="en-US" b="1" dirty="0"/>
              <a:t>is</a:t>
            </a:r>
            <a:r>
              <a:rPr lang="en-US" dirty="0"/>
              <a:t> speaking at the event.</a:t>
            </a:r>
            <a:endParaRPr lang="gu-IN" dirty="0"/>
          </a:p>
          <a:p>
            <a:pPr lvl="1"/>
            <a:r>
              <a:rPr lang="en-US" dirty="0"/>
              <a:t>The </a:t>
            </a:r>
            <a:r>
              <a:rPr lang="en-US" b="1" dirty="0">
                <a:solidFill>
                  <a:srgbClr val="002060"/>
                </a:solidFill>
              </a:rPr>
              <a:t>owner</a:t>
            </a:r>
            <a:r>
              <a:rPr lang="en-US" dirty="0"/>
              <a:t> and </a:t>
            </a:r>
            <a:r>
              <a:rPr lang="en-US" b="1" dirty="0">
                <a:solidFill>
                  <a:srgbClr val="002060"/>
                </a:solidFill>
              </a:rPr>
              <a:t>manager</a:t>
            </a:r>
            <a:r>
              <a:rPr lang="en-US" dirty="0"/>
              <a:t> of this shop </a:t>
            </a:r>
            <a:r>
              <a:rPr lang="en-US" b="1" dirty="0"/>
              <a:t>is</a:t>
            </a:r>
            <a:r>
              <a:rPr lang="en-US" dirty="0"/>
              <a:t> very polite.</a:t>
            </a:r>
            <a:endParaRPr lang="gu-IN" dirty="0"/>
          </a:p>
          <a:p>
            <a:pPr lvl="1"/>
            <a:r>
              <a:rPr lang="en-US" dirty="0"/>
              <a:t>The </a:t>
            </a:r>
            <a:r>
              <a:rPr lang="en-US" b="1" dirty="0">
                <a:solidFill>
                  <a:srgbClr val="002060"/>
                </a:solidFill>
              </a:rPr>
              <a:t>singer</a:t>
            </a:r>
            <a:r>
              <a:rPr lang="en-US" dirty="0"/>
              <a:t> and </a:t>
            </a:r>
            <a:r>
              <a:rPr lang="en-US" b="1" dirty="0">
                <a:solidFill>
                  <a:srgbClr val="002060"/>
                </a:solidFill>
              </a:rPr>
              <a:t>dancer</a:t>
            </a:r>
            <a:r>
              <a:rPr lang="en-US" dirty="0"/>
              <a:t> </a:t>
            </a:r>
            <a:r>
              <a:rPr lang="en-US" b="1" dirty="0"/>
              <a:t>is</a:t>
            </a:r>
            <a:r>
              <a:rPr lang="en-US" dirty="0"/>
              <a:t> performing tonight.</a:t>
            </a:r>
            <a:endParaRPr lang="gu-IN" dirty="0"/>
          </a:p>
          <a:p>
            <a:pPr lvl="1"/>
            <a:r>
              <a:rPr lang="en-US" dirty="0"/>
              <a:t>The </a:t>
            </a:r>
            <a:r>
              <a:rPr lang="en-US" b="1" dirty="0">
                <a:solidFill>
                  <a:srgbClr val="002060"/>
                </a:solidFill>
              </a:rPr>
              <a:t>chairman</a:t>
            </a:r>
            <a:r>
              <a:rPr lang="en-US" dirty="0"/>
              <a:t> and </a:t>
            </a:r>
            <a:r>
              <a:rPr lang="en-US" b="1" dirty="0">
                <a:solidFill>
                  <a:srgbClr val="002060"/>
                </a:solidFill>
              </a:rPr>
              <a:t>director</a:t>
            </a:r>
            <a:r>
              <a:rPr lang="en-US" dirty="0"/>
              <a:t> of the company </a:t>
            </a:r>
            <a:r>
              <a:rPr lang="en-US" b="1" dirty="0"/>
              <a:t>is</a:t>
            </a:r>
            <a:r>
              <a:rPr lang="en-US" dirty="0"/>
              <a:t> arriving soon.</a:t>
            </a:r>
            <a:endParaRPr lang="gu-IN" dirty="0"/>
          </a:p>
          <a:p>
            <a:pPr lvl="1"/>
            <a:r>
              <a:rPr lang="en-US" dirty="0"/>
              <a:t>Our </a:t>
            </a:r>
            <a:r>
              <a:rPr lang="en-US" b="1" dirty="0">
                <a:solidFill>
                  <a:srgbClr val="002060"/>
                </a:solidFill>
              </a:rPr>
              <a:t>neighbor</a:t>
            </a:r>
            <a:r>
              <a:rPr lang="en-US" dirty="0"/>
              <a:t> and </a:t>
            </a:r>
            <a:r>
              <a:rPr lang="en-US" b="1" dirty="0">
                <a:solidFill>
                  <a:srgbClr val="002060"/>
                </a:solidFill>
              </a:rPr>
              <a:t>friend</a:t>
            </a:r>
            <a:r>
              <a:rPr lang="en-US" dirty="0"/>
              <a:t> </a:t>
            </a:r>
            <a:r>
              <a:rPr lang="en-US" b="1" dirty="0"/>
              <a:t>is</a:t>
            </a:r>
            <a:r>
              <a:rPr lang="en-US" dirty="0"/>
              <a:t> moving to Delhi.</a:t>
            </a:r>
            <a:endParaRPr lang="gu-IN" dirty="0"/>
          </a:p>
          <a:p>
            <a:pPr lvl="1"/>
            <a:r>
              <a:rPr lang="en-US" dirty="0"/>
              <a:t>My </a:t>
            </a:r>
            <a:r>
              <a:rPr lang="en-US" b="1" dirty="0">
                <a:solidFill>
                  <a:srgbClr val="002060"/>
                </a:solidFill>
              </a:rPr>
              <a:t>teacher</a:t>
            </a:r>
            <a:r>
              <a:rPr lang="en-US" dirty="0"/>
              <a:t> and </a:t>
            </a:r>
            <a:r>
              <a:rPr lang="en-US" b="1" dirty="0">
                <a:solidFill>
                  <a:srgbClr val="002060"/>
                </a:solidFill>
              </a:rPr>
              <a:t>guide</a:t>
            </a:r>
            <a:r>
              <a:rPr lang="en-US" dirty="0"/>
              <a:t> </a:t>
            </a:r>
            <a:r>
              <a:rPr lang="en-US" b="1" dirty="0"/>
              <a:t>has</a:t>
            </a:r>
            <a:r>
              <a:rPr lang="en-US" dirty="0"/>
              <a:t> encouraged me a lot. 	</a:t>
            </a:r>
          </a:p>
          <a:p>
            <a:endParaRPr lang="en-GB" sz="600" dirty="0"/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6AB821-1624-760A-665E-9DDA11E04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gu-IN" dirty="0"/>
              <a:t>Subject-Verb Agreement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156509-0CF2-149B-937B-7CCF69F04C0E}"/>
              </a:ext>
            </a:extLst>
          </p:cNvPr>
          <p:cNvSpPr txBox="1"/>
          <p:nvPr/>
        </p:nvSpPr>
        <p:spPr>
          <a:xfrm>
            <a:off x="6186117" y="752379"/>
            <a:ext cx="5931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E57F3C-41BB-8FD8-D25A-E750EEF573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023" y="830998"/>
            <a:ext cx="5509295" cy="381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060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078F0-E5B3-4507-4CFE-DC5E0E8FD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AB821-1624-760A-665E-9DDA11E04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gu-IN" dirty="0"/>
              <a:t>Subject-Verb Agreement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156509-0CF2-149B-937B-7CCF69F04C0E}"/>
              </a:ext>
            </a:extLst>
          </p:cNvPr>
          <p:cNvSpPr txBox="1"/>
          <p:nvPr/>
        </p:nvSpPr>
        <p:spPr>
          <a:xfrm>
            <a:off x="6186117" y="752379"/>
            <a:ext cx="5931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5BF29B-A99F-5FCD-99A5-B84B773A2454}"/>
              </a:ext>
            </a:extLst>
          </p:cNvPr>
          <p:cNvSpPr txBox="1"/>
          <p:nvPr/>
        </p:nvSpPr>
        <p:spPr>
          <a:xfrm>
            <a:off x="0" y="679301"/>
            <a:ext cx="12139055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b="1" spc="75" dirty="0">
                <a:ea typeface="Roboto Condensed" panose="02000000000000000000" pitchFamily="2" charset="0"/>
                <a:cs typeface="Roboto Condensed" panose="02000000000000000000" pitchFamily="2" charset="0"/>
              </a:rPr>
              <a:t>Rule 9: Introductory ‘there’ in the beginning of a sentence </a:t>
            </a:r>
            <a:r>
              <a:rPr lang="en-US" sz="2400" spc="75" dirty="0">
                <a:ea typeface="Roboto Condensed" panose="02000000000000000000" pitchFamily="2" charset="0"/>
                <a:cs typeface="Roboto Condensed" panose="02000000000000000000" pitchFamily="2" charset="0"/>
              </a:rPr>
              <a:t>can have </a:t>
            </a:r>
            <a:r>
              <a:rPr lang="en-US" sz="2400" b="1" spc="75" dirty="0">
                <a:ea typeface="Roboto Condensed" panose="02000000000000000000" pitchFamily="2" charset="0"/>
                <a:cs typeface="Roboto Condensed" panose="02000000000000000000" pitchFamily="2" charset="0"/>
              </a:rPr>
              <a:t>singular</a:t>
            </a:r>
            <a:r>
              <a:rPr lang="en-US" sz="2400" spc="75" dirty="0">
                <a:ea typeface="Roboto Condensed" panose="02000000000000000000" pitchFamily="2" charset="0"/>
                <a:cs typeface="Roboto Condensed" panose="02000000000000000000" pitchFamily="2" charset="0"/>
              </a:rPr>
              <a:t> or </a:t>
            </a:r>
            <a:r>
              <a:rPr lang="en-US" sz="2400" b="1" spc="75" dirty="0">
                <a:ea typeface="Roboto Condensed" panose="02000000000000000000" pitchFamily="2" charset="0"/>
                <a:cs typeface="Roboto Condensed" panose="02000000000000000000" pitchFamily="2" charset="0"/>
              </a:rPr>
              <a:t>plural</a:t>
            </a:r>
            <a:r>
              <a:rPr lang="en-US" sz="2400" spc="75" dirty="0">
                <a:ea typeface="Roboto Condensed" panose="02000000000000000000" pitchFamily="2" charset="0"/>
                <a:cs typeface="Roboto Condensed" panose="02000000000000000000" pitchFamily="2" charset="0"/>
              </a:rPr>
              <a:t> verb form. It </a:t>
            </a:r>
            <a:r>
              <a:rPr lang="en-US" sz="2400" b="1" spc="75" dirty="0">
                <a:ea typeface="Roboto Condensed" panose="02000000000000000000" pitchFamily="2" charset="0"/>
                <a:cs typeface="Roboto Condensed" panose="02000000000000000000" pitchFamily="2" charset="0"/>
              </a:rPr>
              <a:t>depends </a:t>
            </a:r>
            <a:r>
              <a:rPr lang="en-US" sz="2400" spc="75" dirty="0">
                <a:ea typeface="Roboto Condensed" panose="02000000000000000000" pitchFamily="2" charset="0"/>
                <a:cs typeface="Roboto Condensed" panose="02000000000000000000" pitchFamily="2" charset="0"/>
              </a:rPr>
              <a:t>on the</a:t>
            </a:r>
            <a:r>
              <a:rPr lang="en-US" sz="2400" b="1" spc="75" dirty="0">
                <a:ea typeface="Roboto Condensed" panose="02000000000000000000" pitchFamily="2" charset="0"/>
                <a:cs typeface="Roboto Condensed" panose="02000000000000000000" pitchFamily="2" charset="0"/>
              </a:rPr>
              <a:t> subject </a:t>
            </a:r>
            <a:r>
              <a:rPr lang="en-US" sz="2400" spc="75" dirty="0">
                <a:ea typeface="Roboto Condensed" panose="02000000000000000000" pitchFamily="2" charset="0"/>
                <a:cs typeface="Roboto Condensed" panose="02000000000000000000" pitchFamily="2" charset="0"/>
              </a:rPr>
              <a:t>which follow the verb</a:t>
            </a:r>
            <a:r>
              <a:rPr lang="en-GB" sz="2400" dirty="0"/>
              <a:t>. </a:t>
            </a:r>
            <a:endParaRPr lang="en-US" sz="2400" b="1" spc="75" dirty="0"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800100" lvl="1" indent="-342900">
              <a:buClr>
                <a:srgbClr val="C00000"/>
              </a:buClr>
              <a:buFont typeface="Wingdings 3" panose="05040102010807070707" pitchFamily="18" charset="2"/>
              <a:buChar char=""/>
            </a:pPr>
            <a:r>
              <a:rPr lang="en-US" sz="2000" b="1" dirty="0"/>
              <a:t>There</a:t>
            </a:r>
            <a:r>
              <a:rPr lang="en-US" sz="2000" dirty="0"/>
              <a:t> is a pen on the table.</a:t>
            </a:r>
          </a:p>
          <a:p>
            <a:pPr marL="800100" lvl="1" indent="-342900">
              <a:buClr>
                <a:srgbClr val="C00000"/>
              </a:buClr>
              <a:buFont typeface="Wingdings 3" panose="05040102010807070707" pitchFamily="18" charset="2"/>
              <a:buChar char=""/>
            </a:pPr>
            <a:r>
              <a:rPr lang="en-US" sz="2000" b="1" dirty="0"/>
              <a:t>There</a:t>
            </a:r>
            <a:r>
              <a:rPr lang="en-US" sz="2000" dirty="0"/>
              <a:t> are two books on the table.</a:t>
            </a:r>
          </a:p>
          <a:p>
            <a:pPr marL="800100" lvl="1" indent="-342900">
              <a:buClr>
                <a:srgbClr val="C00000"/>
              </a:buClr>
              <a:buFont typeface="Wingdings 3" panose="05040102010807070707" pitchFamily="18" charset="2"/>
              <a:buChar char=""/>
            </a:pPr>
            <a:r>
              <a:rPr lang="en-US" sz="2000" b="1" dirty="0"/>
              <a:t>There</a:t>
            </a:r>
            <a:r>
              <a:rPr lang="en-US" sz="2000" dirty="0"/>
              <a:t> is a student waiting outside.</a:t>
            </a:r>
          </a:p>
          <a:p>
            <a:pPr marL="800100" lvl="1" indent="-342900">
              <a:buClr>
                <a:srgbClr val="C00000"/>
              </a:buClr>
              <a:buFont typeface="Wingdings 3" panose="05040102010807070707" pitchFamily="18" charset="2"/>
              <a:buChar char=""/>
            </a:pPr>
            <a:r>
              <a:rPr lang="en-US" sz="2000" b="1" dirty="0"/>
              <a:t>There</a:t>
            </a:r>
            <a:r>
              <a:rPr lang="en-US" sz="2000" dirty="0"/>
              <a:t> are many students in the library.</a:t>
            </a:r>
          </a:p>
          <a:p>
            <a:pPr marL="800100" lvl="1" indent="-342900">
              <a:buClr>
                <a:srgbClr val="C00000"/>
              </a:buClr>
              <a:buFont typeface="Wingdings 3" panose="05040102010807070707" pitchFamily="18" charset="2"/>
              <a:buChar char=""/>
            </a:pPr>
            <a:r>
              <a:rPr lang="en-US" sz="2000" b="1" dirty="0"/>
              <a:t>There</a:t>
            </a:r>
            <a:r>
              <a:rPr lang="en-US" sz="2000" dirty="0"/>
              <a:t> is a problem with this computer.</a:t>
            </a:r>
          </a:p>
          <a:p>
            <a:pPr marL="800100" lvl="1" indent="-342900">
              <a:buClr>
                <a:srgbClr val="C00000"/>
              </a:buClr>
              <a:buFont typeface="Wingdings 3" panose="05040102010807070707" pitchFamily="18" charset="2"/>
              <a:buChar char=""/>
            </a:pPr>
            <a:r>
              <a:rPr lang="en-US" sz="2000" b="1" dirty="0"/>
              <a:t>There</a:t>
            </a:r>
            <a:r>
              <a:rPr lang="en-US" sz="2000" dirty="0"/>
              <a:t> are several errors in your answer sheet.</a:t>
            </a:r>
          </a:p>
          <a:p>
            <a:pPr marL="800100" lvl="1" indent="-342900">
              <a:buClr>
                <a:srgbClr val="C00000"/>
              </a:buClr>
              <a:buFont typeface="Wingdings 3" panose="05040102010807070707" pitchFamily="18" charset="2"/>
              <a:buChar char=""/>
            </a:pPr>
            <a:r>
              <a:rPr lang="en-US" sz="2000" b="1" dirty="0"/>
              <a:t>There</a:t>
            </a:r>
            <a:r>
              <a:rPr lang="en-US" sz="2000" dirty="0"/>
              <a:t> is a bird sitting on the branch.</a:t>
            </a:r>
          </a:p>
          <a:p>
            <a:pPr marL="800100" lvl="1" indent="-342900">
              <a:buClr>
                <a:srgbClr val="C00000"/>
              </a:buClr>
              <a:buFont typeface="Wingdings 3" panose="05040102010807070707" pitchFamily="18" charset="2"/>
              <a:buChar char=""/>
            </a:pPr>
            <a:r>
              <a:rPr lang="en-US" sz="2000" b="1" dirty="0"/>
              <a:t>There</a:t>
            </a:r>
            <a:r>
              <a:rPr lang="en-US" sz="2000" dirty="0"/>
              <a:t> are birds flying in the sky.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14928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65232-1937-284E-7352-678BD0975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D9A9AFA-0672-A2F4-339E-BF8D4E67C67D}"/>
              </a:ext>
            </a:extLst>
          </p:cNvPr>
          <p:cNvSpPr txBox="1">
            <a:spLocks/>
          </p:cNvSpPr>
          <p:nvPr/>
        </p:nvSpPr>
        <p:spPr>
          <a:xfrm>
            <a:off x="-1" y="711200"/>
            <a:ext cx="7113181" cy="57599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Rule 10: </a:t>
            </a:r>
            <a:r>
              <a:rPr lang="en-GB" dirty="0"/>
              <a:t>When the subject is </a:t>
            </a:r>
            <a:r>
              <a:rPr lang="en-GB" b="1" dirty="0"/>
              <a:t>title of a book </a:t>
            </a:r>
            <a:r>
              <a:rPr lang="en-GB" dirty="0"/>
              <a:t>or a </a:t>
            </a:r>
            <a:r>
              <a:rPr lang="en-GB" b="1" dirty="0"/>
              <a:t>journal, </a:t>
            </a:r>
            <a:r>
              <a:rPr lang="en-GB" dirty="0"/>
              <a:t>a quotation </a:t>
            </a:r>
            <a:r>
              <a:rPr lang="en-GB" b="1" dirty="0"/>
              <a:t>expressing a single idea, </a:t>
            </a:r>
            <a:r>
              <a:rPr lang="en-GB" dirty="0"/>
              <a:t>the verb is</a:t>
            </a:r>
            <a:r>
              <a:rPr lang="en-GB" b="1" dirty="0"/>
              <a:t> singular. </a:t>
            </a:r>
            <a:r>
              <a:rPr lang="en-US" dirty="0"/>
              <a:t> 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“Friends” </a:t>
            </a:r>
            <a:r>
              <a:rPr lang="en-US" b="1" dirty="0"/>
              <a:t>is</a:t>
            </a:r>
            <a:r>
              <a:rPr lang="en-US" dirty="0"/>
              <a:t> my favorite TV show.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“Statistics for Beginners” </a:t>
            </a:r>
            <a:r>
              <a:rPr lang="en-US" b="1" dirty="0"/>
              <a:t>is</a:t>
            </a:r>
            <a:r>
              <a:rPr lang="en-US" dirty="0"/>
              <a:t> a helpful book.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“Time is money” </a:t>
            </a:r>
            <a:r>
              <a:rPr lang="en-US" b="1" dirty="0"/>
              <a:t>is</a:t>
            </a:r>
            <a:r>
              <a:rPr lang="en-US" dirty="0"/>
              <a:t> something my teacher always says.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“The World of Science” </a:t>
            </a:r>
            <a:r>
              <a:rPr lang="en-US" b="1" dirty="0"/>
              <a:t>is</a:t>
            </a:r>
            <a:r>
              <a:rPr lang="en-US" dirty="0"/>
              <a:t> a useful journal for students.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“Unity is strength” </a:t>
            </a:r>
            <a:r>
              <a:rPr lang="en-US" b="1" dirty="0"/>
              <a:t>is</a:t>
            </a:r>
            <a:r>
              <a:rPr lang="en-US" dirty="0"/>
              <a:t> an old saying.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“Honesty is the best policy” </a:t>
            </a:r>
            <a:r>
              <a:rPr lang="en-US" b="1" dirty="0"/>
              <a:t>is</a:t>
            </a:r>
            <a:r>
              <a:rPr lang="en-US" dirty="0"/>
              <a:t> what my parents taught me.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“The Hindustan Times” </a:t>
            </a:r>
            <a:r>
              <a:rPr lang="en-US" b="1" dirty="0"/>
              <a:t>is</a:t>
            </a:r>
            <a:r>
              <a:rPr lang="en-US" dirty="0"/>
              <a:t> widely read across India.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“The Bhagavad Gita” </a:t>
            </a:r>
            <a:r>
              <a:rPr lang="en-US" b="1" dirty="0"/>
              <a:t>is</a:t>
            </a:r>
            <a:r>
              <a:rPr lang="en-US" dirty="0"/>
              <a:t> a sacred text of Hinduism.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“Knowledge is power” </a:t>
            </a:r>
            <a:r>
              <a:rPr lang="en-US" b="1" dirty="0"/>
              <a:t>is</a:t>
            </a:r>
            <a:r>
              <a:rPr lang="en-US" dirty="0"/>
              <a:t> a truth we cannot deny.</a:t>
            </a:r>
          </a:p>
          <a:p>
            <a:pPr lvl="1"/>
            <a:endParaRPr lang="en-US" dirty="0"/>
          </a:p>
          <a:p>
            <a:endParaRPr lang="en-GB" sz="600" dirty="0"/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5569D4-39E1-F598-B846-5B92C6CEF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gu-IN" dirty="0"/>
              <a:t>Subject-Verb Agreement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031073-1FB7-BF89-1033-A027BE6F7A33}"/>
              </a:ext>
            </a:extLst>
          </p:cNvPr>
          <p:cNvSpPr txBox="1"/>
          <p:nvPr/>
        </p:nvSpPr>
        <p:spPr>
          <a:xfrm>
            <a:off x="6186117" y="752379"/>
            <a:ext cx="5931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A7AAB3-235E-6715-20E4-E952F9BFA8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515" y="752379"/>
            <a:ext cx="5618485" cy="408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661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F40B8-5A76-1499-8B95-7F18A1A22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3961A24-484C-D5E3-F4A8-EA5D83650908}"/>
              </a:ext>
            </a:extLst>
          </p:cNvPr>
          <p:cNvSpPr txBox="1">
            <a:spLocks/>
          </p:cNvSpPr>
          <p:nvPr/>
        </p:nvSpPr>
        <p:spPr>
          <a:xfrm>
            <a:off x="-1" y="711200"/>
            <a:ext cx="12192001" cy="57599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Rule 11: </a:t>
            </a:r>
            <a:r>
              <a:rPr lang="en-US" dirty="0"/>
              <a:t>Some nouns are always </a:t>
            </a:r>
            <a:r>
              <a:rPr lang="en-US" b="1" dirty="0"/>
              <a:t>used in the plural form </a:t>
            </a:r>
            <a:r>
              <a:rPr lang="en-US" dirty="0"/>
              <a:t>because </a:t>
            </a:r>
            <a:r>
              <a:rPr lang="en-US" b="1" dirty="0"/>
              <a:t>they naturally refer to objects made of two parts</a:t>
            </a:r>
            <a:r>
              <a:rPr lang="en-US" dirty="0"/>
              <a:t>, </a:t>
            </a:r>
            <a:r>
              <a:rPr lang="en-US" b="1" dirty="0"/>
              <a:t>groups, or abstract ideas</a:t>
            </a:r>
            <a:r>
              <a:rPr lang="en-US" dirty="0"/>
              <a:t>. Since they are plural in form and meaning, they always take a plural verb.</a:t>
            </a:r>
          </a:p>
          <a:p>
            <a:pPr lvl="1"/>
            <a:r>
              <a:rPr lang="en-US" dirty="0"/>
              <a:t>Scissors </a:t>
            </a:r>
            <a:r>
              <a:rPr lang="en-US" b="1" dirty="0"/>
              <a:t>are</a:t>
            </a:r>
            <a:r>
              <a:rPr lang="en-US" dirty="0"/>
              <a:t> on the table.</a:t>
            </a:r>
          </a:p>
          <a:p>
            <a:pPr lvl="1"/>
            <a:r>
              <a:rPr lang="en-IN" dirty="0"/>
              <a:t>Trousers </a:t>
            </a:r>
            <a:r>
              <a:rPr lang="en-IN" b="1" dirty="0"/>
              <a:t>are</a:t>
            </a:r>
            <a:r>
              <a:rPr lang="en-IN" dirty="0"/>
              <a:t> dirty.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Spectacles </a:t>
            </a:r>
            <a:r>
              <a:rPr lang="en-US" b="1" dirty="0"/>
              <a:t>are</a:t>
            </a:r>
            <a:r>
              <a:rPr lang="en-US" dirty="0"/>
              <a:t> missing.</a:t>
            </a:r>
          </a:p>
          <a:p>
            <a:pPr lvl="1"/>
            <a:r>
              <a:rPr lang="en-US" dirty="0"/>
              <a:t>Shoes </a:t>
            </a:r>
            <a:r>
              <a:rPr lang="en-US" b="1" dirty="0"/>
              <a:t>are</a:t>
            </a:r>
            <a:r>
              <a:rPr lang="en-US" dirty="0"/>
              <a:t> lying at the door.</a:t>
            </a:r>
          </a:p>
          <a:p>
            <a:pPr lvl="1"/>
            <a:r>
              <a:rPr lang="en-US" dirty="0"/>
              <a:t>Jeans </a:t>
            </a:r>
            <a:r>
              <a:rPr lang="en-US" b="1" dirty="0"/>
              <a:t>are</a:t>
            </a:r>
            <a:r>
              <a:rPr lang="en-US" dirty="0"/>
              <a:t> popular among youngsters.</a:t>
            </a:r>
          </a:p>
          <a:p>
            <a:pPr lvl="1"/>
            <a:r>
              <a:rPr lang="en-US" dirty="0"/>
              <a:t>Shorts </a:t>
            </a:r>
            <a:r>
              <a:rPr lang="en-US" b="1" dirty="0"/>
              <a:t>are</a:t>
            </a:r>
            <a:r>
              <a:rPr lang="en-US" dirty="0"/>
              <a:t> in the cupboard.</a:t>
            </a:r>
          </a:p>
          <a:p>
            <a:pPr lvl="1"/>
            <a:r>
              <a:rPr lang="en-US" dirty="0"/>
              <a:t>Socks </a:t>
            </a:r>
            <a:r>
              <a:rPr lang="en-US" b="1" dirty="0"/>
              <a:t>are</a:t>
            </a:r>
            <a:r>
              <a:rPr lang="en-US" dirty="0"/>
              <a:t> hanging on the rope.</a:t>
            </a:r>
          </a:p>
          <a:p>
            <a:pPr lvl="1"/>
            <a:r>
              <a:rPr lang="en-US" dirty="0"/>
              <a:t>Binoculars </a:t>
            </a:r>
            <a:r>
              <a:rPr lang="en-US" b="1" dirty="0"/>
              <a:t>are</a:t>
            </a:r>
            <a:r>
              <a:rPr lang="en-US" dirty="0"/>
              <a:t> useful for bird watching.</a:t>
            </a:r>
          </a:p>
          <a:p>
            <a:pPr lvl="1"/>
            <a:r>
              <a:rPr lang="en-US" dirty="0"/>
              <a:t>Slippers </a:t>
            </a:r>
            <a:r>
              <a:rPr lang="en-US" b="1" dirty="0"/>
              <a:t>are</a:t>
            </a:r>
            <a:r>
              <a:rPr lang="en-US" dirty="0"/>
              <a:t> under the bed.</a:t>
            </a:r>
          </a:p>
          <a:p>
            <a:pPr lvl="1"/>
            <a:r>
              <a:rPr lang="en-US" dirty="0"/>
              <a:t>Goggles </a:t>
            </a:r>
            <a:r>
              <a:rPr lang="en-US" b="1" dirty="0"/>
              <a:t>are</a:t>
            </a:r>
            <a:r>
              <a:rPr lang="en-US" dirty="0"/>
              <a:t> fashionable these days.</a:t>
            </a:r>
          </a:p>
          <a:p>
            <a:pPr lvl="1"/>
            <a:endParaRPr lang="en-US" dirty="0"/>
          </a:p>
          <a:p>
            <a:endParaRPr lang="en-GB" sz="600" dirty="0"/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55E637-CE13-7611-50FB-24DF5DD36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gu-IN" dirty="0"/>
              <a:t>Subject-Verb Agreement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258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933CE-C914-B74A-73B9-766C28EC4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F63C45C-1E57-B4E8-B5B3-ECFA4FC65B64}"/>
              </a:ext>
            </a:extLst>
          </p:cNvPr>
          <p:cNvSpPr txBox="1">
            <a:spLocks/>
          </p:cNvSpPr>
          <p:nvPr/>
        </p:nvSpPr>
        <p:spPr>
          <a:xfrm>
            <a:off x="-1" y="711200"/>
            <a:ext cx="12192001" cy="57599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Rule 12: </a:t>
            </a:r>
            <a:r>
              <a:rPr lang="en-US" dirty="0"/>
              <a:t>When </a:t>
            </a:r>
            <a:r>
              <a:rPr lang="en-US" b="1" dirty="0"/>
              <a:t>fractions or percentages </a:t>
            </a:r>
            <a:r>
              <a:rPr lang="en-US" dirty="0"/>
              <a:t>are used </a:t>
            </a:r>
            <a:r>
              <a:rPr lang="en-US" b="1" dirty="0"/>
              <a:t>with </a:t>
            </a:r>
            <a:r>
              <a:rPr lang="en-US" b="1" i="1" dirty="0"/>
              <a:t>of</a:t>
            </a:r>
            <a:r>
              <a:rPr lang="en-US" dirty="0"/>
              <a:t>, </a:t>
            </a:r>
            <a:r>
              <a:rPr lang="en-US" b="1" dirty="0"/>
              <a:t>the verb depends on the noun that follows.</a:t>
            </a:r>
          </a:p>
          <a:p>
            <a:pPr lvl="1"/>
            <a:r>
              <a:rPr lang="en-US" dirty="0"/>
              <a:t>Fifty percent of the work </a:t>
            </a:r>
            <a:r>
              <a:rPr lang="en-US" b="1" dirty="0"/>
              <a:t>is</a:t>
            </a:r>
            <a:r>
              <a:rPr lang="en-US" dirty="0"/>
              <a:t> done.</a:t>
            </a:r>
          </a:p>
          <a:p>
            <a:pPr lvl="2"/>
            <a:r>
              <a:rPr lang="en-US" dirty="0"/>
              <a:t> work (uncountable) → singular verb is</a:t>
            </a:r>
          </a:p>
          <a:p>
            <a:pPr lvl="1"/>
            <a:r>
              <a:rPr lang="en-US" dirty="0"/>
              <a:t>Fifty percent of the people</a:t>
            </a:r>
            <a:r>
              <a:rPr lang="en-US" b="1" dirty="0"/>
              <a:t> are </a:t>
            </a:r>
            <a:r>
              <a:rPr lang="en-US" dirty="0"/>
              <a:t>absent. </a:t>
            </a:r>
          </a:p>
          <a:p>
            <a:pPr lvl="2"/>
            <a:r>
              <a:rPr lang="en-US" dirty="0"/>
              <a:t>people (countable plural) → plural verb are</a:t>
            </a:r>
          </a:p>
          <a:p>
            <a:pPr lvl="1"/>
            <a:r>
              <a:rPr lang="en-US" dirty="0"/>
              <a:t>One-third of the cake </a:t>
            </a:r>
            <a:r>
              <a:rPr lang="en-US" b="1" dirty="0"/>
              <a:t>is</a:t>
            </a:r>
            <a:r>
              <a:rPr lang="en-US" dirty="0"/>
              <a:t> missing. </a:t>
            </a:r>
          </a:p>
          <a:p>
            <a:pPr lvl="2"/>
            <a:r>
              <a:rPr lang="en-US" dirty="0"/>
              <a:t>cake (singular) → singular verb is</a:t>
            </a:r>
          </a:p>
          <a:p>
            <a:pPr lvl="1"/>
            <a:r>
              <a:rPr lang="en-US" dirty="0"/>
              <a:t>One-third of the students </a:t>
            </a:r>
            <a:r>
              <a:rPr lang="en-US" b="1" dirty="0"/>
              <a:t>were</a:t>
            </a:r>
            <a:r>
              <a:rPr lang="en-US" dirty="0"/>
              <a:t> late. </a:t>
            </a:r>
          </a:p>
          <a:p>
            <a:pPr lvl="2"/>
            <a:r>
              <a:rPr lang="en-US" dirty="0"/>
              <a:t>students (plural) → plural verb were</a:t>
            </a:r>
          </a:p>
          <a:p>
            <a:pPr lvl="1"/>
            <a:r>
              <a:rPr lang="en-US" dirty="0"/>
              <a:t>Some of the water </a:t>
            </a:r>
            <a:r>
              <a:rPr lang="en-US" b="1" dirty="0"/>
              <a:t>is</a:t>
            </a:r>
            <a:r>
              <a:rPr lang="en-US" dirty="0"/>
              <a:t> wasted. </a:t>
            </a:r>
          </a:p>
          <a:p>
            <a:pPr lvl="2"/>
            <a:r>
              <a:rPr lang="en-US" dirty="0"/>
              <a:t>water (uncountable) → singular verb is</a:t>
            </a:r>
          </a:p>
          <a:p>
            <a:pPr lvl="1"/>
            <a:r>
              <a:rPr lang="en-US" dirty="0"/>
              <a:t>Some of the books</a:t>
            </a:r>
            <a:r>
              <a:rPr lang="en-US" b="1" dirty="0"/>
              <a:t> are </a:t>
            </a:r>
            <a:r>
              <a:rPr lang="en-US" dirty="0"/>
              <a:t>old. </a:t>
            </a:r>
          </a:p>
          <a:p>
            <a:pPr lvl="2"/>
            <a:r>
              <a:rPr lang="en-US" dirty="0"/>
              <a:t>books (plural) → plural verb are</a:t>
            </a:r>
          </a:p>
          <a:p>
            <a:endParaRPr lang="en-GB" sz="600" dirty="0"/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E9D17E-593E-F243-04E4-98980D81D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gu-IN" dirty="0"/>
              <a:t>Subject-Verb Agreement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980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8DE05-4E32-3771-12FD-A77C10F5F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636768A-673A-9DD4-1B75-30F3724E04DF}"/>
              </a:ext>
            </a:extLst>
          </p:cNvPr>
          <p:cNvSpPr txBox="1">
            <a:spLocks/>
          </p:cNvSpPr>
          <p:nvPr/>
        </p:nvSpPr>
        <p:spPr>
          <a:xfrm>
            <a:off x="-1" y="711200"/>
            <a:ext cx="12192001" cy="57599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Fill in the blanks with the correct form of the verb given in brackets.</a:t>
            </a:r>
            <a:endParaRPr lang="en-GB" sz="2000" dirty="0"/>
          </a:p>
          <a:p>
            <a:pPr marL="808038" lvl="1" indent="-350838">
              <a:buFont typeface="+mj-lt"/>
              <a:buAutoNum type="arabicPeriod"/>
            </a:pPr>
            <a:r>
              <a:rPr lang="en-US" sz="2200" dirty="0"/>
              <a:t>Fifty percent of the people __________ absent. (be)</a:t>
            </a:r>
          </a:p>
          <a:p>
            <a:pPr lvl="1"/>
            <a:r>
              <a:rPr lang="en-US" sz="2200" dirty="0"/>
              <a:t>Fifty percent of the people </a:t>
            </a:r>
            <a:r>
              <a:rPr lang="en-US" sz="2200" b="1" dirty="0"/>
              <a:t>are</a:t>
            </a:r>
            <a:r>
              <a:rPr lang="en-US" sz="2200" dirty="0"/>
              <a:t> absent.</a:t>
            </a:r>
          </a:p>
          <a:p>
            <a:pPr lvl="1"/>
            <a:endParaRPr lang="en-US" sz="2200" dirty="0"/>
          </a:p>
          <a:p>
            <a:pPr marL="808038" lvl="1" indent="-350838">
              <a:buFont typeface="+mj-lt"/>
              <a:buAutoNum type="arabicPeriod" startAt="2"/>
            </a:pPr>
            <a:r>
              <a:rPr lang="en-US" sz="2200" dirty="0"/>
              <a:t>Our doctor and family friend __________ visiting us today. (be)</a:t>
            </a:r>
          </a:p>
          <a:p>
            <a:pPr lvl="1"/>
            <a:r>
              <a:rPr lang="en-US" sz="2200" dirty="0"/>
              <a:t>Our doctor and family friend </a:t>
            </a:r>
            <a:r>
              <a:rPr lang="en-US" sz="2200" b="1" dirty="0"/>
              <a:t>is</a:t>
            </a:r>
            <a:r>
              <a:rPr lang="en-US" sz="2200" dirty="0"/>
              <a:t> visiting us today.</a:t>
            </a:r>
          </a:p>
          <a:p>
            <a:pPr lvl="1"/>
            <a:endParaRPr lang="en-US" sz="2200" dirty="0"/>
          </a:p>
          <a:p>
            <a:pPr marL="808038" lvl="1" indent="-350838">
              <a:buFont typeface="+mj-lt"/>
              <a:buAutoNum type="arabicPeriod" startAt="3"/>
            </a:pPr>
            <a:r>
              <a:rPr lang="en-US" sz="2200" dirty="0"/>
              <a:t>Ravi, as well as his brother, __________ the guitar. (play)</a:t>
            </a:r>
          </a:p>
          <a:p>
            <a:pPr lvl="1"/>
            <a:r>
              <a:rPr lang="en-US" sz="2200" dirty="0"/>
              <a:t>Ravi, as well as his brother, </a:t>
            </a:r>
            <a:r>
              <a:rPr lang="en-US" sz="2200" b="1" dirty="0"/>
              <a:t>plays</a:t>
            </a:r>
            <a:r>
              <a:rPr lang="en-US" sz="2200" dirty="0"/>
              <a:t> the guitar.</a:t>
            </a:r>
          </a:p>
          <a:p>
            <a:pPr lvl="1"/>
            <a:endParaRPr lang="en-US" sz="2200" dirty="0"/>
          </a:p>
          <a:p>
            <a:pPr marL="808038" lvl="1" indent="-350838">
              <a:buFont typeface="+mj-lt"/>
              <a:buAutoNum type="arabicPeriod" startAt="4"/>
            </a:pPr>
            <a:r>
              <a:rPr lang="en-US" sz="2200" dirty="0"/>
              <a:t>There __________ many students in the library. (be)</a:t>
            </a:r>
          </a:p>
          <a:p>
            <a:pPr lvl="1"/>
            <a:r>
              <a:rPr lang="en-US" sz="2200" dirty="0"/>
              <a:t>There </a:t>
            </a:r>
            <a:r>
              <a:rPr lang="en-US" sz="2200" b="1" dirty="0"/>
              <a:t>are</a:t>
            </a:r>
            <a:r>
              <a:rPr lang="en-US" sz="2200" dirty="0"/>
              <a:t> many students in the library.</a:t>
            </a:r>
          </a:p>
          <a:p>
            <a:pPr lvl="1"/>
            <a:endParaRPr lang="en-US" sz="2200" dirty="0"/>
          </a:p>
          <a:p>
            <a:pPr marL="808038" lvl="1" indent="-350838">
              <a:buFont typeface="+mj-lt"/>
              <a:buAutoNum type="arabicPeriod" startAt="5"/>
            </a:pPr>
            <a:r>
              <a:rPr lang="en-US" sz="2200" dirty="0"/>
              <a:t>Each of the answers __________ correct. (be)</a:t>
            </a:r>
          </a:p>
          <a:p>
            <a:pPr lvl="1"/>
            <a:r>
              <a:rPr lang="en-US" sz="2200" dirty="0"/>
              <a:t>Each of the answers </a:t>
            </a:r>
            <a:r>
              <a:rPr lang="en-US" sz="2200" b="1" dirty="0"/>
              <a:t>is</a:t>
            </a:r>
            <a:r>
              <a:rPr lang="en-US" sz="2200" dirty="0"/>
              <a:t> correct.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5B1A2A-E0F6-6AE6-CB4D-7751D8172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Subject–Verb Agreement Practice </a:t>
            </a:r>
          </a:p>
        </p:txBody>
      </p:sp>
    </p:spTree>
    <p:extLst>
      <p:ext uri="{BB962C8B-B14F-4D97-AF65-F5344CB8AC3E}">
        <p14:creationId xmlns:p14="http://schemas.microsoft.com/office/powerpoint/2010/main" val="598068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1EDB6-248A-4FA4-4BDC-B7765A575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9671014-4326-AAA1-A277-8EF2709A2836}"/>
              </a:ext>
            </a:extLst>
          </p:cNvPr>
          <p:cNvSpPr txBox="1">
            <a:spLocks/>
          </p:cNvSpPr>
          <p:nvPr/>
        </p:nvSpPr>
        <p:spPr>
          <a:xfrm>
            <a:off x="-1" y="711200"/>
            <a:ext cx="12192001" cy="57599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Fill in the blanks with the correct form of the verb given in brackets.</a:t>
            </a:r>
            <a:endParaRPr lang="en-GB" sz="2000" dirty="0"/>
          </a:p>
          <a:p>
            <a:pPr marL="808038" lvl="1" indent="-350838">
              <a:buFont typeface="+mj-lt"/>
              <a:buAutoNum type="arabicPeriod" startAt="6"/>
            </a:pPr>
            <a:r>
              <a:rPr lang="en-US" sz="2200" dirty="0"/>
              <a:t>My brother __________ football very well. (play)</a:t>
            </a:r>
          </a:p>
          <a:p>
            <a:pPr lvl="1"/>
            <a:r>
              <a:rPr lang="en-US" sz="2200" dirty="0"/>
              <a:t>My brother </a:t>
            </a:r>
            <a:r>
              <a:rPr lang="en-US" sz="2200" b="1" dirty="0"/>
              <a:t>plays</a:t>
            </a:r>
            <a:r>
              <a:rPr lang="en-US" sz="2200" dirty="0"/>
              <a:t> football very well.</a:t>
            </a:r>
          </a:p>
          <a:p>
            <a:pPr lvl="1"/>
            <a:endParaRPr lang="en-US" sz="2200" dirty="0"/>
          </a:p>
          <a:p>
            <a:pPr marL="808038" lvl="1" indent="-350838">
              <a:buFont typeface="+mj-lt"/>
              <a:buAutoNum type="arabicPeriod" startAt="7"/>
            </a:pPr>
            <a:r>
              <a:rPr lang="en-US" sz="2200" dirty="0"/>
              <a:t>Every pen and every notebook __________ to the library. (belong)</a:t>
            </a:r>
          </a:p>
          <a:p>
            <a:pPr lvl="1"/>
            <a:r>
              <a:rPr lang="en-US" sz="2200" dirty="0"/>
              <a:t>Every pen and every notebook </a:t>
            </a:r>
            <a:r>
              <a:rPr lang="en-US" sz="2200" b="1" dirty="0"/>
              <a:t>belongs</a:t>
            </a:r>
            <a:r>
              <a:rPr lang="en-US" sz="2200" dirty="0"/>
              <a:t> to the library.</a:t>
            </a:r>
          </a:p>
          <a:p>
            <a:pPr lvl="1"/>
            <a:endParaRPr lang="en-US" sz="2200" dirty="0"/>
          </a:p>
          <a:p>
            <a:pPr marL="808038" lvl="1" indent="-350838">
              <a:buFont typeface="+mj-lt"/>
              <a:buAutoNum type="arabicPeriod" startAt="8"/>
            </a:pPr>
            <a:r>
              <a:rPr lang="en-US" sz="2200" dirty="0"/>
              <a:t>Scissors __________ on the table. (be)</a:t>
            </a:r>
          </a:p>
          <a:p>
            <a:pPr lvl="1"/>
            <a:r>
              <a:rPr lang="en-US" sz="2200" dirty="0"/>
              <a:t>Scissors </a:t>
            </a:r>
            <a:r>
              <a:rPr lang="en-US" sz="2200" b="1" dirty="0"/>
              <a:t>are</a:t>
            </a:r>
            <a:r>
              <a:rPr lang="en-US" sz="2200" dirty="0"/>
              <a:t> on the table.</a:t>
            </a:r>
          </a:p>
          <a:p>
            <a:pPr lvl="1"/>
            <a:endParaRPr lang="en-US" sz="2200" dirty="0"/>
          </a:p>
          <a:p>
            <a:pPr marL="808038" lvl="1" indent="-350838">
              <a:buFont typeface="+mj-lt"/>
              <a:buAutoNum type="arabicPeriod" startAt="9"/>
            </a:pPr>
            <a:r>
              <a:rPr lang="en-US" sz="2200" dirty="0"/>
              <a:t>“Unity is strength” __________ an old saying. (be)</a:t>
            </a:r>
          </a:p>
          <a:p>
            <a:pPr lvl="1"/>
            <a:r>
              <a:rPr lang="en-US" sz="2200" dirty="0"/>
              <a:t>“Unity is strength” </a:t>
            </a:r>
            <a:r>
              <a:rPr lang="en-US" sz="2200" b="1" dirty="0"/>
              <a:t>is</a:t>
            </a:r>
            <a:r>
              <a:rPr lang="en-US" sz="2200" dirty="0"/>
              <a:t> an old saying.</a:t>
            </a:r>
          </a:p>
          <a:p>
            <a:pPr lvl="1"/>
            <a:endParaRPr lang="en-US" sz="2200" dirty="0"/>
          </a:p>
          <a:p>
            <a:pPr marL="914400" lvl="1" indent="-457200">
              <a:buFont typeface="+mj-lt"/>
              <a:buAutoNum type="arabicPeriod" startAt="10"/>
            </a:pPr>
            <a:r>
              <a:rPr lang="en-US" sz="2200" dirty="0"/>
              <a:t>Everybody __________ the annual college festival. (enjoy)</a:t>
            </a:r>
          </a:p>
          <a:p>
            <a:pPr marL="893763" lvl="1" indent="-436563"/>
            <a:r>
              <a:rPr lang="en-US" sz="2200" dirty="0"/>
              <a:t>Everybody </a:t>
            </a:r>
            <a:r>
              <a:rPr lang="en-US" sz="2200" b="1" dirty="0"/>
              <a:t>enjoys</a:t>
            </a:r>
            <a:r>
              <a:rPr lang="en-US" sz="2200" dirty="0"/>
              <a:t> the annual college festival.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0A2DB7-2419-49FA-E393-F075F0FF8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Subject–Verb Agreement Practice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38CE60C-AE9F-6E3C-47E0-65A3B410B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219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CD209-4530-19B5-7E3F-7B154AAB6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97BDC56-393C-D5CD-AE6E-78AC2BD1EE40}"/>
              </a:ext>
            </a:extLst>
          </p:cNvPr>
          <p:cNvSpPr txBox="1">
            <a:spLocks/>
          </p:cNvSpPr>
          <p:nvPr/>
        </p:nvSpPr>
        <p:spPr>
          <a:xfrm>
            <a:off x="-1" y="711200"/>
            <a:ext cx="12192001" cy="57599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Fill in the blanks with the correct form of the verb given in brackets.</a:t>
            </a:r>
            <a:endParaRPr lang="en-GB" sz="2000" dirty="0"/>
          </a:p>
          <a:p>
            <a:pPr marL="914400" lvl="1" indent="-457200">
              <a:buFont typeface="+mj-lt"/>
              <a:buAutoNum type="arabicPeriod" startAt="11"/>
            </a:pPr>
            <a:r>
              <a:rPr lang="en-US" sz="2200" dirty="0"/>
              <a:t>The cat, along with her kittens, always __________ under the bed. (hide)</a:t>
            </a:r>
          </a:p>
          <a:p>
            <a:pPr marL="893763" lvl="1" indent="-436563"/>
            <a:r>
              <a:rPr lang="en-US" sz="2200" dirty="0"/>
              <a:t>The cat, along with her kittens, always </a:t>
            </a:r>
            <a:r>
              <a:rPr lang="en-US" sz="2200" b="1" dirty="0"/>
              <a:t>hides </a:t>
            </a:r>
            <a:r>
              <a:rPr lang="en-US" sz="2200" dirty="0"/>
              <a:t>under the bed. (hide)</a:t>
            </a:r>
          </a:p>
          <a:p>
            <a:pPr lvl="1"/>
            <a:endParaRPr lang="en-US" sz="2200" dirty="0"/>
          </a:p>
          <a:p>
            <a:pPr marL="914400" lvl="1" indent="-457200">
              <a:buFont typeface="+mj-lt"/>
              <a:buAutoNum type="arabicPeriod" startAt="12"/>
            </a:pPr>
            <a:r>
              <a:rPr lang="en-US" sz="2200" dirty="0"/>
              <a:t>There __________ a pen on the table. (be)</a:t>
            </a:r>
          </a:p>
          <a:p>
            <a:pPr marL="893763" lvl="1" indent="-436563"/>
            <a:r>
              <a:rPr lang="en-US" sz="2200" dirty="0"/>
              <a:t>There </a:t>
            </a:r>
            <a:r>
              <a:rPr lang="en-US" sz="2200" b="1" dirty="0"/>
              <a:t>is</a:t>
            </a:r>
            <a:r>
              <a:rPr lang="en-US" sz="2200" dirty="0"/>
              <a:t> a pen on the table.</a:t>
            </a:r>
          </a:p>
          <a:p>
            <a:pPr lvl="1"/>
            <a:endParaRPr lang="en-US" sz="2200" dirty="0"/>
          </a:p>
          <a:p>
            <a:pPr marL="914400" lvl="1" indent="-457200">
              <a:buFont typeface="+mj-lt"/>
              <a:buAutoNum type="arabicPeriod" startAt="13"/>
            </a:pPr>
            <a:r>
              <a:rPr lang="en-US" sz="2200" dirty="0"/>
              <a:t>Neither the boys nor the girls __________ interested in the activity. (be)</a:t>
            </a:r>
          </a:p>
          <a:p>
            <a:pPr marL="893763" lvl="1" indent="-436563"/>
            <a:r>
              <a:rPr lang="en-US" sz="2200" dirty="0"/>
              <a:t>Neither the boys nor the girls </a:t>
            </a:r>
            <a:r>
              <a:rPr lang="en-US" sz="2200" b="1" dirty="0"/>
              <a:t>were</a:t>
            </a:r>
            <a:r>
              <a:rPr lang="en-US" sz="2200" dirty="0"/>
              <a:t> interested in the activity.</a:t>
            </a:r>
          </a:p>
          <a:p>
            <a:pPr lvl="1"/>
            <a:endParaRPr lang="en-US" sz="2200" dirty="0"/>
          </a:p>
          <a:p>
            <a:pPr marL="914400" lvl="1" indent="-457200">
              <a:buFont typeface="+mj-lt"/>
              <a:buAutoNum type="arabicPeriod" startAt="14"/>
            </a:pPr>
            <a:r>
              <a:rPr lang="en-US" sz="2200" dirty="0"/>
              <a:t>Either Asha or Anjali __________ bringing the cake for the party. (be)</a:t>
            </a:r>
          </a:p>
          <a:p>
            <a:pPr marL="893763" lvl="1" indent="-436563"/>
            <a:r>
              <a:rPr lang="en-US" sz="2200" dirty="0"/>
              <a:t>Either Asha or Anjali </a:t>
            </a:r>
            <a:r>
              <a:rPr lang="en-US" sz="2200" b="1" dirty="0"/>
              <a:t>is</a:t>
            </a:r>
            <a:r>
              <a:rPr lang="en-US" sz="2200" dirty="0"/>
              <a:t> bringing the cake for the party.</a:t>
            </a:r>
          </a:p>
          <a:p>
            <a:pPr lvl="1"/>
            <a:endParaRPr lang="en-US" sz="2200" dirty="0"/>
          </a:p>
          <a:p>
            <a:pPr marL="914400" lvl="1" indent="-457200">
              <a:buFont typeface="+mj-lt"/>
              <a:buAutoNum type="arabicPeriod" startAt="15"/>
            </a:pPr>
            <a:r>
              <a:rPr lang="en-US" sz="2200" dirty="0"/>
              <a:t>Either the teacher or the students __________ going to arrange the program. (be)</a:t>
            </a:r>
          </a:p>
          <a:p>
            <a:pPr marL="893763" lvl="1" indent="-436563"/>
            <a:r>
              <a:rPr lang="en-US" sz="2200" dirty="0"/>
              <a:t>Either the teacher or the students </a:t>
            </a:r>
            <a:r>
              <a:rPr lang="en-US" sz="2200" b="1" dirty="0"/>
              <a:t>are</a:t>
            </a:r>
            <a:r>
              <a:rPr lang="en-US" sz="2200" dirty="0"/>
              <a:t> going to arrange the program.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DC916A-A35C-BAD3-48C6-A43E65A08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Subject–Verb Agreement Practice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A0A5A1C-C3F8-1C1C-348F-21D86A56A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277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251DD-9690-C6A9-5387-18349EBC1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5AF518-2ABE-6D6C-01A1-FF1E2071D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8918438" cy="2852737"/>
          </a:xfrm>
        </p:spPr>
        <p:txBody>
          <a:bodyPr/>
          <a:lstStyle/>
          <a:p>
            <a:r>
              <a:rPr lang="en-US" dirty="0"/>
              <a:t>Conditional Sentences</a:t>
            </a:r>
          </a:p>
        </p:txBody>
      </p:sp>
    </p:spTree>
    <p:extLst>
      <p:ext uri="{BB962C8B-B14F-4D97-AF65-F5344CB8AC3E}">
        <p14:creationId xmlns:p14="http://schemas.microsoft.com/office/powerpoint/2010/main" val="4316851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09AC03-D49D-4C97-A70A-C54368E71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68671" cy="5590565"/>
          </a:xfr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/>
              <a:t>Conditional sentences</a:t>
            </a:r>
            <a:r>
              <a:rPr lang="en-US" dirty="0"/>
              <a:t> are sentences </a:t>
            </a:r>
            <a:r>
              <a:rPr lang="en-US" b="1" dirty="0"/>
              <a:t>that talk about a condition </a:t>
            </a:r>
            <a:r>
              <a:rPr lang="en-US" dirty="0"/>
              <a:t>(something that might happen, or might have happened) </a:t>
            </a:r>
            <a:r>
              <a:rPr lang="en-US" b="1" dirty="0"/>
              <a:t>and the result </a:t>
            </a:r>
            <a:r>
              <a:rPr lang="en-US" dirty="0"/>
              <a:t>(what follows from that condition).</a:t>
            </a:r>
          </a:p>
          <a:p>
            <a:r>
              <a:rPr lang="gu-IN" sz="20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શરતી વાક્ય </a:t>
            </a:r>
            <a:r>
              <a:rPr lang="gu-IN" sz="20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એવા વાક્ય હોય છે જે કોઈ શરત (જે બનવાનું હોય તે) અને તેનું પરિણામ (તે શરત પૂર્ણ થવાથી શું થાય છે) દર્શાવે છે.</a:t>
            </a:r>
            <a:endParaRPr lang="en-US" sz="20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r>
              <a:rPr lang="en-US" dirty="0"/>
              <a:t>Conditional sentences are also called </a:t>
            </a:r>
            <a:r>
              <a:rPr lang="en-US" i="1" dirty="0"/>
              <a:t>if-clauses.</a:t>
            </a:r>
            <a:endParaRPr lang="en-US" dirty="0"/>
          </a:p>
          <a:p>
            <a:r>
              <a:rPr lang="en-US" dirty="0"/>
              <a:t>They usually have </a:t>
            </a:r>
            <a:r>
              <a:rPr lang="en-US" b="1" dirty="0"/>
              <a:t>two parts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	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8C84C4-CA70-4F74-86DB-4F05FDBAD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Sentences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73D82E-02E5-4E5F-BC75-DE6FD05AB7B1}"/>
              </a:ext>
            </a:extLst>
          </p:cNvPr>
          <p:cNvSpPr txBox="1"/>
          <p:nvPr/>
        </p:nvSpPr>
        <p:spPr>
          <a:xfrm>
            <a:off x="1035320" y="3552949"/>
            <a:ext cx="35221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If it rains, I will stay home. </a:t>
            </a:r>
            <a:endParaRPr lang="en-IN" sz="2400" b="1" dirty="0">
              <a:solidFill>
                <a:srgbClr val="C00000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5E345E-FDA4-41E0-A0ED-63F5ADF33B10}"/>
              </a:ext>
            </a:extLst>
          </p:cNvPr>
          <p:cNvCxnSpPr/>
          <p:nvPr/>
        </p:nvCxnSpPr>
        <p:spPr>
          <a:xfrm flipV="1">
            <a:off x="1682585" y="4077386"/>
            <a:ext cx="9236" cy="64008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640FA22-F30E-4263-BF5D-A9B2A70CD5DC}"/>
              </a:ext>
            </a:extLst>
          </p:cNvPr>
          <p:cNvCxnSpPr/>
          <p:nvPr/>
        </p:nvCxnSpPr>
        <p:spPr>
          <a:xfrm flipV="1">
            <a:off x="3299864" y="4077386"/>
            <a:ext cx="9236" cy="64008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A45F6CE-C0EC-43B6-B3AF-FBDBE8663423}"/>
              </a:ext>
            </a:extLst>
          </p:cNvPr>
          <p:cNvSpPr txBox="1"/>
          <p:nvPr/>
        </p:nvSpPr>
        <p:spPr>
          <a:xfrm>
            <a:off x="1035320" y="4686855"/>
            <a:ext cx="15376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If-clause</a:t>
            </a:r>
          </a:p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(condition)</a:t>
            </a:r>
            <a:endParaRPr lang="en-I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284FC7-028F-4A62-AA37-5BABBD1A386D}"/>
              </a:ext>
            </a:extLst>
          </p:cNvPr>
          <p:cNvSpPr txBox="1"/>
          <p:nvPr/>
        </p:nvSpPr>
        <p:spPr>
          <a:xfrm>
            <a:off x="2811785" y="4717466"/>
            <a:ext cx="16626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 clause</a:t>
            </a:r>
          </a:p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(result)</a:t>
            </a:r>
            <a:endParaRPr lang="en-I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C1A328F-033E-4C72-ACD8-EFB354434B68}"/>
              </a:ext>
            </a:extLst>
          </p:cNvPr>
          <p:cNvCxnSpPr>
            <a:cxnSpLocks/>
          </p:cNvCxnSpPr>
          <p:nvPr/>
        </p:nvCxnSpPr>
        <p:spPr>
          <a:xfrm>
            <a:off x="1136684" y="3975187"/>
            <a:ext cx="1055083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1C14C7A-3735-472B-AF56-9DFF32E14EC7}"/>
              </a:ext>
            </a:extLst>
          </p:cNvPr>
          <p:cNvCxnSpPr>
            <a:cxnSpLocks/>
          </p:cNvCxnSpPr>
          <p:nvPr/>
        </p:nvCxnSpPr>
        <p:spPr>
          <a:xfrm>
            <a:off x="2382778" y="3975187"/>
            <a:ext cx="1908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4F116E4-C4EA-BC15-16EA-B711106758B7}"/>
              </a:ext>
            </a:extLst>
          </p:cNvPr>
          <p:cNvSpPr txBox="1"/>
          <p:nvPr/>
        </p:nvSpPr>
        <p:spPr>
          <a:xfrm>
            <a:off x="7014374" y="3556490"/>
            <a:ext cx="42418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gu-IN" sz="2200" b="1" dirty="0">
                <a:solidFill>
                  <a:srgbClr val="C00000"/>
                </a:solidFill>
                <a:latin typeface="Lohit Gujarati" panose="020B0600000000000000" pitchFamily="34" charset="0"/>
                <a:cs typeface="Lohit Gujarati" panose="020B0600000000000000" pitchFamily="34" charset="0"/>
              </a:rPr>
              <a:t>જો વરસાદ પડે</a:t>
            </a:r>
            <a:r>
              <a:rPr lang="en-US" sz="2200" b="1" dirty="0">
                <a:solidFill>
                  <a:srgbClr val="C00000"/>
                </a:solidFill>
                <a:latin typeface="Lohit Gujarati" panose="020B0600000000000000" pitchFamily="34" charset="0"/>
                <a:cs typeface="Lohit Gujarati" panose="020B0600000000000000" pitchFamily="34" charset="0"/>
              </a:rPr>
              <a:t>, </a:t>
            </a:r>
            <a:r>
              <a:rPr lang="gu-IN" sz="2200" b="1" dirty="0">
                <a:solidFill>
                  <a:srgbClr val="C00000"/>
                </a:solidFill>
                <a:latin typeface="Lohit Gujarati" panose="020B0600000000000000" pitchFamily="34" charset="0"/>
                <a:cs typeface="Lohit Gujarati" panose="020B0600000000000000" pitchFamily="34" charset="0"/>
              </a:rPr>
              <a:t>તો અમે ઘરમાં રહીશું</a:t>
            </a:r>
            <a:r>
              <a:rPr lang="en-US" sz="2200" b="1" dirty="0">
                <a:solidFill>
                  <a:srgbClr val="C00000"/>
                </a:solidFill>
                <a:latin typeface="Lohit Gujarati" panose="020B0600000000000000" pitchFamily="34" charset="0"/>
                <a:cs typeface="Lohit Gujarati" panose="020B0600000000000000" pitchFamily="34" charset="0"/>
              </a:rPr>
              <a:t>. </a:t>
            </a:r>
            <a:endParaRPr lang="en-IN" sz="2200" b="1" dirty="0">
              <a:solidFill>
                <a:srgbClr val="C00000"/>
              </a:solidFill>
              <a:latin typeface="Lohit Gujarati" panose="020B0600000000000000" pitchFamily="34" charset="0"/>
              <a:cs typeface="Lohit Gujarati" panose="020B0600000000000000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3FBBFF6-1460-AAE5-EAF8-9245015EE186}"/>
              </a:ext>
            </a:extLst>
          </p:cNvPr>
          <p:cNvCxnSpPr/>
          <p:nvPr/>
        </p:nvCxnSpPr>
        <p:spPr>
          <a:xfrm flipV="1">
            <a:off x="7916825" y="4080927"/>
            <a:ext cx="9236" cy="64008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949CAA0-D741-0204-A47B-837E9DF6FC5B}"/>
              </a:ext>
            </a:extLst>
          </p:cNvPr>
          <p:cNvCxnSpPr/>
          <p:nvPr/>
        </p:nvCxnSpPr>
        <p:spPr>
          <a:xfrm flipV="1">
            <a:off x="9863704" y="4080927"/>
            <a:ext cx="9236" cy="64008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63E63B0-3D79-B9BE-87DC-D189CC3D5661}"/>
              </a:ext>
            </a:extLst>
          </p:cNvPr>
          <p:cNvSpPr txBox="1"/>
          <p:nvPr/>
        </p:nvSpPr>
        <p:spPr>
          <a:xfrm>
            <a:off x="7269560" y="4690396"/>
            <a:ext cx="10438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gu-IN" sz="20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જો વાક્ય</a:t>
            </a:r>
            <a:endParaRPr lang="en-IN" sz="2000" b="1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ohit Gujarati" panose="020B0600000000000000" pitchFamily="34" charset="0"/>
                <a:cs typeface="Lohit Gujarati" panose="020B0600000000000000" pitchFamily="34" charset="0"/>
              </a:rPr>
              <a:t>(</a:t>
            </a:r>
            <a:r>
              <a:rPr lang="gu-IN" sz="20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શરત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ohit Gujarati" panose="020B0600000000000000" pitchFamily="34" charset="0"/>
                <a:cs typeface="Lohit Gujarati" panose="020B0600000000000000" pitchFamily="34" charset="0"/>
              </a:rPr>
              <a:t>)</a:t>
            </a:r>
            <a:endParaRPr lang="en-I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ohit Gujarati" panose="020B0600000000000000" pitchFamily="34" charset="0"/>
              <a:cs typeface="Lohit Gujarati" panose="020B0600000000000000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B3C62D-AFB4-C6B4-1FEE-A4E9EE70DA83}"/>
              </a:ext>
            </a:extLst>
          </p:cNvPr>
          <p:cNvSpPr txBox="1"/>
          <p:nvPr/>
        </p:nvSpPr>
        <p:spPr>
          <a:xfrm>
            <a:off x="9375625" y="4721007"/>
            <a:ext cx="13099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gu-IN" sz="20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મુખ્ય વાક્ય</a:t>
            </a:r>
            <a:endParaRPr lang="en-IN" sz="2000" b="1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ohit Gujarati" panose="020B0600000000000000" pitchFamily="34" charset="0"/>
                <a:cs typeface="Lohit Gujarati" panose="020B0600000000000000" pitchFamily="34" charset="0"/>
              </a:rPr>
              <a:t>(</a:t>
            </a:r>
            <a:r>
              <a:rPr lang="gu-IN" sz="20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પરિણામ</a:t>
            </a:r>
            <a:r>
              <a:rPr lang="en-IN" sz="20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)</a:t>
            </a:r>
            <a:endParaRPr lang="en-I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ohit Gujarati" panose="020B0600000000000000" pitchFamily="34" charset="0"/>
              <a:cs typeface="Lohit Gujarati" panose="020B0600000000000000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F71CCD3-A348-35C9-5DC0-91C6F84D28B6}"/>
              </a:ext>
            </a:extLst>
          </p:cNvPr>
          <p:cNvCxnSpPr>
            <a:cxnSpLocks/>
          </p:cNvCxnSpPr>
          <p:nvPr/>
        </p:nvCxnSpPr>
        <p:spPr>
          <a:xfrm>
            <a:off x="7115737" y="3978728"/>
            <a:ext cx="1584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968C06D-B524-391B-F1FB-2881E447F2C2}"/>
              </a:ext>
            </a:extLst>
          </p:cNvPr>
          <p:cNvCxnSpPr>
            <a:cxnSpLocks/>
          </p:cNvCxnSpPr>
          <p:nvPr/>
        </p:nvCxnSpPr>
        <p:spPr>
          <a:xfrm>
            <a:off x="8893454" y="3978728"/>
            <a:ext cx="2088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793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4" grpId="0"/>
      <p:bldP spid="1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B13F15-7630-4FE1-B5E8-1C0047BB3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Conditional Sentences</a:t>
            </a: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3E55397-73D1-2008-6DB4-6F84BF49D8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0240106"/>
              </p:ext>
            </p:extLst>
          </p:nvPr>
        </p:nvGraphicFramePr>
        <p:xfrm>
          <a:off x="656870" y="1616661"/>
          <a:ext cx="10878260" cy="2790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64922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AD3CEFD-B8EF-4A5A-BD49-1BEAB62C80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2AD3CEFD-B8EF-4A5A-BD49-1BEAB62C80F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D8DBD60-C1A1-45FB-82B2-0D777E5808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dgm id="{ED8DBD60-C1A1-45FB-82B2-0D777E5808E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1CBDC4E-5ABE-4F50-A739-3AA6A8F908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dgm id="{D1CBDC4E-5ABE-4F50-A739-3AA6A8F908B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ADCD066-5B54-45DD-B3F9-CBDDAD764F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>
                                            <p:graphicEl>
                                              <a:dgm id="{1ADCD066-5B54-45DD-B3F9-CBDDAD764FB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730A37E-5284-4FDD-8810-17C503E260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">
                                            <p:graphicEl>
                                              <a:dgm id="{0730A37E-5284-4FDD-8810-17C503E2607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5767979-4964-42E9-8F1E-61DAF1AA87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">
                                            <p:graphicEl>
                                              <a:dgm id="{85767979-4964-42E9-8F1E-61DAF1AA878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2EA17D0-DC5E-482A-83DC-66F89B41C2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">
                                            <p:graphicEl>
                                              <a:dgm id="{F2EA17D0-DC5E-482A-83DC-66F89B41C21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BFAB18F-E95B-42AF-BDF8-00F54BB9D3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">
                                            <p:graphicEl>
                                              <a:dgm id="{5BFAB18F-E95B-42AF-BDF8-00F54BB9D3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A012971-93B6-43A5-8222-181082B932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">
                                            <p:graphicEl>
                                              <a:dgm id="{8A012971-93B6-43A5-8222-181082B9328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lvlOne"/>
        </p:bldSub>
      </p:bldGraphic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127B47-0FF8-4DC7-B0E4-D72A1AD65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881526" cy="5590565"/>
          </a:xfrm>
        </p:spPr>
        <p:txBody>
          <a:bodyPr/>
          <a:lstStyle/>
          <a:p>
            <a:r>
              <a:rPr lang="en-US" b="1" dirty="0"/>
              <a:t>Zero Conditional</a:t>
            </a:r>
            <a:r>
              <a:rPr lang="en-US" dirty="0"/>
              <a:t> </a:t>
            </a:r>
            <a:r>
              <a:rPr lang="en-US" b="1" dirty="0"/>
              <a:t>Sentences</a:t>
            </a:r>
            <a:r>
              <a:rPr lang="en-US" dirty="0"/>
              <a:t> are used to express </a:t>
            </a:r>
            <a:r>
              <a:rPr lang="en-US" b="1" dirty="0"/>
              <a:t>general truths, facts, laws of nature, </a:t>
            </a:r>
            <a:r>
              <a:rPr lang="en-US" dirty="0"/>
              <a:t>or </a:t>
            </a:r>
            <a:r>
              <a:rPr lang="en-US" b="1" dirty="0"/>
              <a:t>regular habits, things</a:t>
            </a:r>
            <a:r>
              <a:rPr lang="en-US" dirty="0"/>
              <a:t> that are </a:t>
            </a:r>
            <a:r>
              <a:rPr lang="en-US" b="1" dirty="0"/>
              <a:t>always true when the condition is met</a:t>
            </a:r>
            <a:r>
              <a:rPr lang="en-US" dirty="0"/>
              <a:t>. </a:t>
            </a:r>
          </a:p>
          <a:p>
            <a:pPr>
              <a:lnSpc>
                <a:spcPct val="100000"/>
              </a:lnSpc>
            </a:pPr>
            <a:r>
              <a:rPr lang="en-US" dirty="0"/>
              <a:t>If it </a:t>
            </a:r>
            <a:r>
              <a:rPr lang="en-US" b="1" dirty="0"/>
              <a:t>rains</a:t>
            </a:r>
            <a:r>
              <a:rPr lang="en-US" dirty="0"/>
              <a:t>, the ground </a:t>
            </a:r>
            <a:r>
              <a:rPr lang="en-US" b="1" dirty="0"/>
              <a:t>gets</a:t>
            </a:r>
            <a:r>
              <a:rPr lang="en-US" dirty="0"/>
              <a:t> wet.</a:t>
            </a:r>
          </a:p>
          <a:p>
            <a:pPr lvl="1">
              <a:lnSpc>
                <a:spcPct val="100000"/>
              </a:lnSpc>
            </a:pPr>
            <a:r>
              <a:rPr lang="gu-IN" dirty="0"/>
              <a:t>જો વરસાદ પડે તો જમીન ભીની થઈ જાય છે. </a:t>
            </a:r>
            <a:r>
              <a:rPr lang="en-US" dirty="0"/>
              <a:t>	</a:t>
            </a:r>
          </a:p>
          <a:p>
            <a:endParaRPr lang="en-US" sz="100" dirty="0"/>
          </a:p>
          <a:p>
            <a:r>
              <a:rPr lang="en-US" b="1" dirty="0"/>
              <a:t>Structure: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IN" dirty="0"/>
          </a:p>
          <a:p>
            <a:r>
              <a:rPr lang="en-IN" b="1" dirty="0"/>
              <a:t>Usage:</a:t>
            </a:r>
          </a:p>
          <a:p>
            <a:pPr lvl="1"/>
            <a:r>
              <a:rPr lang="en-US" sz="2200" dirty="0"/>
              <a:t>Used for universal truths, scientific facts, habits, or rules.</a:t>
            </a:r>
          </a:p>
          <a:p>
            <a:pPr lvl="1"/>
            <a:r>
              <a:rPr lang="en-US" sz="2200" dirty="0"/>
              <a:t>The result is always the </a:t>
            </a:r>
            <a:r>
              <a:rPr lang="en-US" sz="2200" b="1" dirty="0"/>
              <a:t>same</a:t>
            </a:r>
            <a:r>
              <a:rPr lang="en-US" sz="2200" dirty="0"/>
              <a:t> whenever the condition happens.</a:t>
            </a:r>
          </a:p>
          <a:p>
            <a:pPr lvl="1"/>
            <a:r>
              <a:rPr lang="en-US" sz="2200" dirty="0"/>
              <a:t>The sentence uses present tense, and it talks about things that are </a:t>
            </a:r>
          </a:p>
          <a:p>
            <a:pPr marL="808038" lvl="1" indent="-350838">
              <a:buNone/>
            </a:pPr>
            <a:r>
              <a:rPr lang="en-US" sz="2200" b="1" dirty="0"/>
              <a:t>	always true</a:t>
            </a:r>
            <a:r>
              <a:rPr lang="en-US" sz="2200" dirty="0"/>
              <a:t>.</a:t>
            </a:r>
            <a:endParaRPr lang="en-IN" sz="2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B8D2F9-6B35-4B16-89E8-E66DD27C4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Sentences – Zero Conditional</a:t>
            </a:r>
            <a:endParaRPr lang="en-IN" dirty="0"/>
          </a:p>
        </p:txBody>
      </p:sp>
      <p:pic>
        <p:nvPicPr>
          <p:cNvPr id="5" name="Picture 4" descr="A cartoon of a symbol&#10;&#10;AI-generated content may be incorrect.">
            <a:extLst>
              <a:ext uri="{FF2B5EF4-FFF2-40B4-BE49-F238E27FC236}">
                <a16:creationId xmlns:a16="http://schemas.microsoft.com/office/drawing/2014/main" id="{3EE4B1B4-DA39-CC67-7732-6F1671BED9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3786" y="1892597"/>
            <a:ext cx="4048920" cy="290268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4B3E588-C9F1-82BC-F4BF-9C2F0A3199E3}"/>
              </a:ext>
            </a:extLst>
          </p:cNvPr>
          <p:cNvSpPr/>
          <p:nvPr/>
        </p:nvSpPr>
        <p:spPr>
          <a:xfrm>
            <a:off x="510243" y="3230970"/>
            <a:ext cx="1188720" cy="7549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If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D0907A-D68C-3CC4-95A7-C9BE3A17B735}"/>
              </a:ext>
            </a:extLst>
          </p:cNvPr>
          <p:cNvSpPr/>
          <p:nvPr/>
        </p:nvSpPr>
        <p:spPr>
          <a:xfrm>
            <a:off x="2084646" y="3230276"/>
            <a:ext cx="2160000" cy="75895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301B92"/>
                </a:solidFill>
              </a:rPr>
              <a:t>Simple Present Tense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4FBA69-E2C5-17CC-DC43-37CE803117FB}"/>
              </a:ext>
            </a:extLst>
          </p:cNvPr>
          <p:cNvSpPr txBox="1"/>
          <p:nvPr/>
        </p:nvSpPr>
        <p:spPr>
          <a:xfrm>
            <a:off x="1481163" y="3156700"/>
            <a:ext cx="817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/>
              <a:t> </a:t>
            </a:r>
            <a:r>
              <a:rPr lang="en-US" sz="5400" b="1" dirty="0"/>
              <a:t>+</a:t>
            </a:r>
            <a:endParaRPr lang="en-IN" sz="5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3842B1-43B1-F200-6237-73F787D889C9}"/>
              </a:ext>
            </a:extLst>
          </p:cNvPr>
          <p:cNvSpPr txBox="1"/>
          <p:nvPr/>
        </p:nvSpPr>
        <p:spPr>
          <a:xfrm>
            <a:off x="4021661" y="3177965"/>
            <a:ext cx="817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/>
              <a:t> </a:t>
            </a:r>
            <a:r>
              <a:rPr lang="en-US" sz="5400" b="1" dirty="0"/>
              <a:t>+</a:t>
            </a:r>
            <a:endParaRPr lang="en-IN" sz="54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1C6505-0C13-8ED6-F9DD-71F17593C8E4}"/>
              </a:ext>
            </a:extLst>
          </p:cNvPr>
          <p:cNvSpPr/>
          <p:nvPr/>
        </p:nvSpPr>
        <p:spPr>
          <a:xfrm>
            <a:off x="4636569" y="3232296"/>
            <a:ext cx="2160000" cy="7549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Simple Present Tense</a:t>
            </a:r>
          </a:p>
        </p:txBody>
      </p:sp>
    </p:spTree>
    <p:extLst>
      <p:ext uri="{BB962C8B-B14F-4D97-AF65-F5344CB8AC3E}">
        <p14:creationId xmlns:p14="http://schemas.microsoft.com/office/powerpoint/2010/main" val="1429105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263882-9046-416F-84C6-C45C22EAC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IN" b="1" dirty="0"/>
              <a:t>Examples:</a:t>
            </a:r>
          </a:p>
          <a:p>
            <a:pPr lvl="1"/>
            <a:r>
              <a:rPr lang="en-US" sz="2200" dirty="0"/>
              <a:t>If you mix red and blue, you get purple.</a:t>
            </a:r>
          </a:p>
          <a:p>
            <a:pPr lvl="1"/>
            <a:r>
              <a:rPr lang="en-US" sz="2200" dirty="0"/>
              <a:t>If children eat too much sugar, they get cavities.</a:t>
            </a:r>
          </a:p>
          <a:p>
            <a:pPr lvl="1"/>
            <a:r>
              <a:rPr lang="en-US" sz="2200" dirty="0"/>
              <a:t>If you press this button, the machine starts.</a:t>
            </a:r>
          </a:p>
          <a:p>
            <a:pPr lvl="1"/>
            <a:r>
              <a:rPr lang="en-US" sz="2200" dirty="0"/>
              <a:t>If you heat water to 100°C, </a:t>
            </a:r>
          </a:p>
          <a:p>
            <a:pPr lvl="1"/>
            <a:r>
              <a:rPr lang="en-US" sz="2200" dirty="0"/>
              <a:t>If I don’t water the plants, </a:t>
            </a:r>
          </a:p>
          <a:p>
            <a:pPr lvl="1"/>
            <a:r>
              <a:rPr lang="en-US" sz="2200" dirty="0"/>
              <a:t>If people eat too much junk food, </a:t>
            </a:r>
          </a:p>
          <a:p>
            <a:pPr>
              <a:buFont typeface="Wingdings 3" panose="05040102010807070707" pitchFamily="18" charset="2"/>
              <a:buChar char="}"/>
            </a:pPr>
            <a:endParaRPr lang="en-US" dirty="0"/>
          </a:p>
          <a:p>
            <a:pPr>
              <a:buFont typeface="Wingdings 3" panose="05040102010807070707" pitchFamily="18" charset="2"/>
              <a:buChar char="}"/>
            </a:pPr>
            <a:r>
              <a:rPr lang="en-US" b="1" dirty="0"/>
              <a:t>Note:</a:t>
            </a:r>
          </a:p>
          <a:p>
            <a:pPr lvl="1"/>
            <a:r>
              <a:rPr lang="en-US" sz="2200" b="1" dirty="0"/>
              <a:t>"If" </a:t>
            </a:r>
            <a:r>
              <a:rPr lang="en-US" sz="2200" dirty="0"/>
              <a:t>can often be replaced by </a:t>
            </a:r>
            <a:r>
              <a:rPr lang="en-US" sz="2200" b="1" dirty="0"/>
              <a:t>"when" </a:t>
            </a:r>
            <a:r>
              <a:rPr lang="en-US" sz="2200" dirty="0"/>
              <a:t>in zero conditionals without changing the meaning. </a:t>
            </a:r>
          </a:p>
          <a:p>
            <a:pPr lvl="1"/>
            <a:r>
              <a:rPr lang="gu-IN" sz="22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અર્થ બદલ્યા વિના </a:t>
            </a:r>
            <a:r>
              <a:rPr lang="gu-IN" sz="22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"જો" </a:t>
            </a:r>
            <a:r>
              <a:rPr lang="gu-IN" sz="22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ને ઘણીવાર ઝીરો કન્ડિશનલ્સમાં </a:t>
            </a:r>
            <a:r>
              <a:rPr lang="gu-IN" sz="22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"જ્યારે" </a:t>
            </a:r>
            <a:r>
              <a:rPr lang="gu-IN" sz="22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દ્વારા બદલી શકાય છે.</a:t>
            </a:r>
            <a:endParaRPr lang="en-US" sz="22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2"/>
            <a:r>
              <a:rPr lang="en-US" sz="2000" dirty="0"/>
              <a:t> If you heat ice, it melts.</a:t>
            </a:r>
          </a:p>
          <a:p>
            <a:pPr lvl="2"/>
            <a:r>
              <a:rPr lang="en-US" sz="2000" dirty="0"/>
              <a:t> When you heat ice, it melts.</a:t>
            </a:r>
            <a:endParaRPr lang="en-IN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85F0627-DC6D-49C0-8ED3-B732D9B10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Sentences – Zero Conditional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B7360E-180E-4C73-A45A-F8928AA6B1E3}"/>
              </a:ext>
            </a:extLst>
          </p:cNvPr>
          <p:cNvSpPr txBox="1"/>
          <p:nvPr/>
        </p:nvSpPr>
        <p:spPr>
          <a:xfrm>
            <a:off x="3933860" y="2311365"/>
            <a:ext cx="115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it boils.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C9C0D5-B5E3-4B5A-A3DF-6F014BB1150F}"/>
              </a:ext>
            </a:extLst>
          </p:cNvPr>
          <p:cNvSpPr txBox="1"/>
          <p:nvPr/>
        </p:nvSpPr>
        <p:spPr>
          <a:xfrm>
            <a:off x="3816901" y="2685561"/>
            <a:ext cx="16891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they die.</a:t>
            </a:r>
            <a:endParaRPr lang="en-IN" sz="2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4F0061-94E9-476E-A8A1-8A7B043A552C}"/>
              </a:ext>
            </a:extLst>
          </p:cNvPr>
          <p:cNvSpPr txBox="1"/>
          <p:nvPr/>
        </p:nvSpPr>
        <p:spPr>
          <a:xfrm>
            <a:off x="4186833" y="3059757"/>
            <a:ext cx="21242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/>
              <a:t>they get sick.</a:t>
            </a:r>
          </a:p>
        </p:txBody>
      </p:sp>
    </p:spTree>
    <p:extLst>
      <p:ext uri="{BB962C8B-B14F-4D97-AF65-F5344CB8AC3E}">
        <p14:creationId xmlns:p14="http://schemas.microsoft.com/office/powerpoint/2010/main" val="3760780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5534BB-37D9-4C3E-AD3E-6A0B9B0C7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US" b="1" dirty="0"/>
              <a:t>First Conditional</a:t>
            </a:r>
            <a:r>
              <a:rPr lang="en-US" dirty="0"/>
              <a:t> </a:t>
            </a:r>
            <a:r>
              <a:rPr lang="en-US" b="1" dirty="0"/>
              <a:t>Sentences</a:t>
            </a:r>
            <a:r>
              <a:rPr lang="en-US" dirty="0"/>
              <a:t> are used to talk about a probable or </a:t>
            </a:r>
            <a:r>
              <a:rPr lang="en-US" b="1" dirty="0"/>
              <a:t>possible future event </a:t>
            </a:r>
            <a:r>
              <a:rPr lang="en-US" dirty="0"/>
              <a:t>and its </a:t>
            </a:r>
            <a:r>
              <a:rPr lang="en-US" b="1" dirty="0"/>
              <a:t>likely result. </a:t>
            </a:r>
          </a:p>
          <a:p>
            <a:r>
              <a:rPr lang="gu-IN" sz="22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આ</a:t>
            </a:r>
            <a:r>
              <a:rPr lang="en-IN" sz="2200" dirty="0">
                <a:latin typeface="Lohit Gujarati" panose="020B0600000000000000" pitchFamily="34" charset="0"/>
                <a:cs typeface="Lohit Gujarati" panose="020B0600000000000000" pitchFamily="34" charset="0"/>
              </a:rPr>
              <a:t> </a:t>
            </a:r>
            <a:r>
              <a:rPr lang="gu-IN" sz="22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વાક્યોનો ઉપયોગ સંભવિત ભવિષ્યની ઘટના અને તેના સંભવિત પરિણામ વિશે વાત કરવા માટે થાય છે.</a:t>
            </a:r>
            <a:endParaRPr lang="en-IN" sz="22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r>
              <a:rPr lang="en-US" b="1" dirty="0"/>
              <a:t>If </a:t>
            </a:r>
            <a:r>
              <a:rPr lang="en-US" dirty="0"/>
              <a:t>you take the first step, you</a:t>
            </a:r>
            <a:r>
              <a:rPr lang="en-US" b="1" dirty="0"/>
              <a:t> </a:t>
            </a:r>
            <a:r>
              <a:rPr lang="en-US" dirty="0"/>
              <a:t>will unlock success.</a:t>
            </a:r>
          </a:p>
          <a:p>
            <a:pPr lvl="1"/>
            <a:r>
              <a:rPr lang="gu-IN" dirty="0">
                <a:latin typeface="Lohit Gujarati" panose="020B0600000000000000" pitchFamily="34" charset="0"/>
                <a:cs typeface="Lohit Gujarati" panose="020B0600000000000000" pitchFamily="34" charset="0"/>
              </a:rPr>
              <a:t>જો તમે પહેલું પગલું ભરશો</a:t>
            </a:r>
            <a:r>
              <a:rPr lang="en-IN" dirty="0">
                <a:latin typeface="Lohit Gujarati" panose="020B0600000000000000" pitchFamily="34" charset="0"/>
                <a:cs typeface="Lohit Gujarati" panose="020B0600000000000000" pitchFamily="34" charset="0"/>
              </a:rPr>
              <a:t>,</a:t>
            </a:r>
            <a:r>
              <a:rPr lang="gu-IN" dirty="0">
                <a:latin typeface="Lohit Gujarati" panose="020B0600000000000000" pitchFamily="34" charset="0"/>
                <a:cs typeface="Lohit Gujarati" panose="020B0600000000000000" pitchFamily="34" charset="0"/>
              </a:rPr>
              <a:t> તો તમને સફળતા મળશે.</a:t>
            </a:r>
            <a:endParaRPr lang="en-IN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r>
              <a:rPr lang="en-US" dirty="0"/>
              <a:t> </a:t>
            </a:r>
            <a:r>
              <a:rPr lang="en-US" b="1" dirty="0"/>
              <a:t>Structure: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N" dirty="0"/>
              <a:t>Usage:</a:t>
            </a:r>
          </a:p>
          <a:p>
            <a:pPr lvl="1"/>
            <a:r>
              <a:rPr lang="en-US" sz="2200" dirty="0"/>
              <a:t>Talks about </a:t>
            </a:r>
            <a:r>
              <a:rPr lang="en-US" sz="2200" b="1" dirty="0"/>
              <a:t>real and possible </a:t>
            </a:r>
            <a:r>
              <a:rPr lang="en-US" sz="2200" dirty="0"/>
              <a:t>situations in the future.</a:t>
            </a:r>
          </a:p>
          <a:p>
            <a:pPr lvl="1"/>
            <a:r>
              <a:rPr lang="en-US" sz="2200" dirty="0"/>
              <a:t>Condition is realistic; the result is expected if the condition is fulfilled. </a:t>
            </a:r>
          </a:p>
          <a:p>
            <a:pPr lvl="2"/>
            <a:r>
              <a:rPr lang="gu-IN" sz="22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શરત વાસ્તવિક છે; જો શરત પૂરી થાય તો પરિણામ અપેક્ષિત છે.</a:t>
            </a:r>
            <a:endParaRPr lang="en-US" sz="22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03BA061-C687-4612-A00F-8133BCA3E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Sentences – First Conditional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89B935-0D2A-4285-9250-1CED00DA0358}"/>
              </a:ext>
            </a:extLst>
          </p:cNvPr>
          <p:cNvSpPr/>
          <p:nvPr/>
        </p:nvSpPr>
        <p:spPr>
          <a:xfrm>
            <a:off x="510243" y="3560586"/>
            <a:ext cx="1188720" cy="7549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If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9585C4-CE8B-52C2-C39A-4B6B81C9443D}"/>
              </a:ext>
            </a:extLst>
          </p:cNvPr>
          <p:cNvSpPr/>
          <p:nvPr/>
        </p:nvSpPr>
        <p:spPr>
          <a:xfrm>
            <a:off x="2084646" y="3559892"/>
            <a:ext cx="2160000" cy="75895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301B92"/>
                </a:solidFill>
              </a:rPr>
              <a:t>Simple Present Tense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9F0EA2-4B4F-BC02-D7E6-3AABCBD0BCAF}"/>
              </a:ext>
            </a:extLst>
          </p:cNvPr>
          <p:cNvSpPr txBox="1"/>
          <p:nvPr/>
        </p:nvSpPr>
        <p:spPr>
          <a:xfrm>
            <a:off x="1481163" y="3486316"/>
            <a:ext cx="817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/>
              <a:t> </a:t>
            </a:r>
            <a:r>
              <a:rPr lang="en-US" sz="5400" b="1" dirty="0"/>
              <a:t>+</a:t>
            </a:r>
            <a:endParaRPr lang="en-IN" sz="5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9579C0-088E-57EC-49AE-76BC44F653B2}"/>
              </a:ext>
            </a:extLst>
          </p:cNvPr>
          <p:cNvSpPr txBox="1"/>
          <p:nvPr/>
        </p:nvSpPr>
        <p:spPr>
          <a:xfrm>
            <a:off x="4021661" y="3507581"/>
            <a:ext cx="817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/>
              <a:t> </a:t>
            </a:r>
            <a:r>
              <a:rPr lang="en-US" sz="5400" b="1" dirty="0"/>
              <a:t>+</a:t>
            </a:r>
            <a:endParaRPr lang="en-IN" sz="5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C937BA-0840-AE47-BE9E-169B6C561B03}"/>
              </a:ext>
            </a:extLst>
          </p:cNvPr>
          <p:cNvSpPr/>
          <p:nvPr/>
        </p:nvSpPr>
        <p:spPr>
          <a:xfrm>
            <a:off x="4636569" y="3561912"/>
            <a:ext cx="2160000" cy="7549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Simple Future Tense</a:t>
            </a:r>
          </a:p>
        </p:txBody>
      </p:sp>
      <p:pic>
        <p:nvPicPr>
          <p:cNvPr id="14" name="Picture 13" descr="A drawing of a landscape&#10;&#10;AI-generated content may be incorrect.">
            <a:extLst>
              <a:ext uri="{FF2B5EF4-FFF2-40B4-BE49-F238E27FC236}">
                <a16:creationId xmlns:a16="http://schemas.microsoft.com/office/drawing/2014/main" id="{870D67B3-430A-6B0D-C270-4D299DD60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548" y="2138776"/>
            <a:ext cx="3902902" cy="264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208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/>
      <p:bldP spid="1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8E6C4F-2836-490E-852E-8D4F8FB26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187" y="863445"/>
            <a:ext cx="11922518" cy="5590565"/>
          </a:xfr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/>
              <a:t>Examples:</a:t>
            </a:r>
          </a:p>
          <a:p>
            <a:pPr lvl="1"/>
            <a:r>
              <a:rPr lang="en-US" sz="2200" dirty="0"/>
              <a:t>If it rains tomorrow, we will cancel the picnic.</a:t>
            </a:r>
          </a:p>
          <a:p>
            <a:pPr lvl="1"/>
            <a:r>
              <a:rPr lang="en-US" sz="2200" dirty="0"/>
              <a:t>If you study hard, you will pass the exam.</a:t>
            </a:r>
          </a:p>
          <a:p>
            <a:pPr lvl="1"/>
            <a:r>
              <a:rPr lang="en-US" sz="2200" dirty="0"/>
              <a:t>If you call him now, he        forgive you.</a:t>
            </a:r>
          </a:p>
          <a:p>
            <a:pPr lvl="1"/>
            <a:r>
              <a:rPr lang="en-US" sz="2200" dirty="0"/>
              <a:t>If I see him, I        tell him the news.</a:t>
            </a:r>
          </a:p>
          <a:p>
            <a:pPr lvl="1"/>
            <a:r>
              <a:rPr lang="en-US" sz="2200" dirty="0"/>
              <a:t>If he calls me, I        help him.</a:t>
            </a:r>
          </a:p>
          <a:p>
            <a:pPr lvl="1"/>
            <a:r>
              <a:rPr lang="en-US" sz="2200" dirty="0"/>
              <a:t>If you don’t eat breakfast, you        be hungry later.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b="1" dirty="0"/>
              <a:t>Note:</a:t>
            </a:r>
          </a:p>
          <a:p>
            <a:pPr lvl="1"/>
            <a:r>
              <a:rPr lang="en-US" sz="2200" b="1" dirty="0"/>
              <a:t>Modal verbs</a:t>
            </a:r>
            <a:r>
              <a:rPr lang="en-US" sz="2200" dirty="0"/>
              <a:t> can replace </a:t>
            </a:r>
            <a:r>
              <a:rPr lang="en-US" sz="2200" b="1" dirty="0"/>
              <a:t>will</a:t>
            </a:r>
            <a:r>
              <a:rPr lang="en-US" sz="2200" dirty="0"/>
              <a:t>: </a:t>
            </a:r>
          </a:p>
          <a:p>
            <a:pPr lvl="2"/>
            <a:r>
              <a:rPr lang="en-US" sz="2200" dirty="0"/>
              <a:t>If you study, you </a:t>
            </a:r>
            <a:r>
              <a:rPr lang="en-US" sz="2200" b="1" dirty="0"/>
              <a:t>will</a:t>
            </a:r>
            <a:r>
              <a:rPr lang="en-US" sz="2200" dirty="0"/>
              <a:t> pass. </a:t>
            </a:r>
            <a:r>
              <a:rPr lang="en-US" sz="2400" dirty="0"/>
              <a:t>→</a:t>
            </a:r>
            <a:r>
              <a:rPr lang="en-US" sz="2200" dirty="0"/>
              <a:t> If you study, you </a:t>
            </a:r>
            <a:r>
              <a:rPr lang="en-US" sz="2200" b="1" dirty="0"/>
              <a:t>may</a:t>
            </a:r>
            <a:r>
              <a:rPr lang="en-US" sz="2200" dirty="0"/>
              <a:t> pass.</a:t>
            </a:r>
          </a:p>
          <a:p>
            <a:pPr lvl="2"/>
            <a:r>
              <a:rPr lang="en-US" sz="2200" dirty="0"/>
              <a:t>If you are free, you </a:t>
            </a:r>
            <a:r>
              <a:rPr lang="en-US" sz="2200" b="1" dirty="0"/>
              <a:t>can</a:t>
            </a:r>
            <a:r>
              <a:rPr lang="en-US" sz="2200" dirty="0"/>
              <a:t> join us.</a:t>
            </a:r>
          </a:p>
          <a:p>
            <a:pPr lvl="2"/>
            <a:r>
              <a:rPr lang="en-US" sz="2200" dirty="0"/>
              <a:t>If you finish on time, you </a:t>
            </a:r>
            <a:r>
              <a:rPr lang="en-US" sz="2200" b="1" dirty="0"/>
              <a:t>may</a:t>
            </a:r>
            <a:r>
              <a:rPr lang="en-US" sz="2200" dirty="0"/>
              <a:t> leave early.</a:t>
            </a:r>
          </a:p>
          <a:p>
            <a:pPr lvl="1"/>
            <a:r>
              <a:rPr lang="en-US" sz="2200" dirty="0"/>
              <a:t>Imperative is also possible:</a:t>
            </a:r>
          </a:p>
          <a:p>
            <a:pPr lvl="2"/>
            <a:r>
              <a:rPr lang="en-US" sz="2200" dirty="0"/>
              <a:t>If you see her, tell her to call me.</a:t>
            </a:r>
          </a:p>
          <a:p>
            <a:pPr lvl="1"/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5C23806-D300-4725-B7B6-792D6172C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Sentences – First Conditional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E9C98F-3CBD-4A76-A00A-E0D4F4063BEC}"/>
              </a:ext>
            </a:extLst>
          </p:cNvPr>
          <p:cNvSpPr/>
          <p:nvPr/>
        </p:nvSpPr>
        <p:spPr>
          <a:xfrm>
            <a:off x="3431302" y="1996082"/>
            <a:ext cx="609600" cy="3331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/>
              <a:t>will</a:t>
            </a:r>
            <a:endParaRPr lang="en-IN" sz="2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E2D861-CBB0-4D6C-86D1-81E5513F1197}"/>
              </a:ext>
            </a:extLst>
          </p:cNvPr>
          <p:cNvSpPr/>
          <p:nvPr/>
        </p:nvSpPr>
        <p:spPr>
          <a:xfrm>
            <a:off x="2656750" y="2769384"/>
            <a:ext cx="612000" cy="25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will</a:t>
            </a:r>
            <a:endParaRPr lang="en-IN" sz="22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C65805-6385-4096-ADE0-2C6399F05C32}"/>
              </a:ext>
            </a:extLst>
          </p:cNvPr>
          <p:cNvSpPr/>
          <p:nvPr/>
        </p:nvSpPr>
        <p:spPr>
          <a:xfrm>
            <a:off x="4290275" y="3134667"/>
            <a:ext cx="576000" cy="25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will</a:t>
            </a:r>
            <a:endParaRPr lang="en-IN" sz="22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B9B888-E440-4C7F-BE91-B6C0AB85A1D9}"/>
              </a:ext>
            </a:extLst>
          </p:cNvPr>
          <p:cNvSpPr/>
          <p:nvPr/>
        </p:nvSpPr>
        <p:spPr>
          <a:xfrm>
            <a:off x="2425214" y="2403559"/>
            <a:ext cx="576000" cy="25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will</a:t>
            </a:r>
            <a:endParaRPr lang="en-IN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380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  <p:bldP spid="16" grpId="0"/>
      <p:bldP spid="1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EA16F5F-AE02-273B-3DB0-042B03F6B8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3774" y="1776319"/>
            <a:ext cx="3764813" cy="3764813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2B0EE1-91C7-47CE-AC87-0D68445F0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r>
              <a:rPr lang="en-US" b="1" dirty="0"/>
              <a:t>Second Conditional</a:t>
            </a:r>
            <a:r>
              <a:rPr lang="en-US" dirty="0"/>
              <a:t> </a:t>
            </a:r>
            <a:r>
              <a:rPr lang="en-IN" b="1" dirty="0"/>
              <a:t>Sentences</a:t>
            </a:r>
            <a:r>
              <a:rPr lang="en-IN" dirty="0"/>
              <a:t> </a:t>
            </a:r>
            <a:r>
              <a:rPr lang="en-US" dirty="0"/>
              <a:t>are used </a:t>
            </a:r>
            <a:r>
              <a:rPr lang="en-US" b="1" dirty="0"/>
              <a:t>for imaginative or unlikely situations in the present </a:t>
            </a:r>
            <a:r>
              <a:rPr lang="en-US" dirty="0"/>
              <a:t>or </a:t>
            </a:r>
            <a:r>
              <a:rPr lang="en-US" b="1" dirty="0"/>
              <a:t>future. </a:t>
            </a:r>
            <a:r>
              <a:rPr lang="en-US" dirty="0"/>
              <a:t>The condition is </a:t>
            </a:r>
            <a:r>
              <a:rPr lang="en-US" b="1" dirty="0"/>
              <a:t>not true </a:t>
            </a:r>
            <a:r>
              <a:rPr lang="en-US" dirty="0"/>
              <a:t>or is very </a:t>
            </a:r>
            <a:r>
              <a:rPr lang="en-US" b="1" dirty="0"/>
              <a:t>unlikely</a:t>
            </a:r>
            <a:r>
              <a:rPr lang="en-US" dirty="0"/>
              <a:t> to </a:t>
            </a:r>
            <a:r>
              <a:rPr lang="en-US" b="1" dirty="0"/>
              <a:t>happen</a:t>
            </a:r>
            <a:r>
              <a:rPr lang="en-US" dirty="0"/>
              <a:t>. </a:t>
            </a:r>
          </a:p>
          <a:p>
            <a:r>
              <a:rPr lang="gu-IN" sz="22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આ વાક્યોનો ઉપયોગ</a:t>
            </a:r>
            <a:r>
              <a:rPr lang="en-IN" sz="2200" dirty="0">
                <a:latin typeface="Lohit Gujarati" panose="020B0600000000000000" pitchFamily="34" charset="0"/>
                <a:cs typeface="Lohit Gujarati" panose="020B0600000000000000" pitchFamily="34" charset="0"/>
              </a:rPr>
              <a:t> </a:t>
            </a:r>
            <a:r>
              <a:rPr lang="gu-IN" sz="22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વર્તમાન કે ભવિષ્યમાં કાલ્પનિક અથવા અસંભવિત પરિસ્થિતિઓ માટે થાય છે.</a:t>
            </a:r>
            <a:r>
              <a:rPr lang="en-IN" sz="2200" dirty="0">
                <a:latin typeface="Lohit Gujarati" panose="020B0600000000000000" pitchFamily="34" charset="0"/>
                <a:cs typeface="Lohit Gujarati" panose="020B0600000000000000" pitchFamily="34" charset="0"/>
              </a:rPr>
              <a:t> </a:t>
            </a:r>
            <a:r>
              <a:rPr lang="gu-IN" sz="22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આ સ્થિતિ સાચી નથી અથવા થવાની સંભાવના નથી</a:t>
            </a:r>
            <a:r>
              <a:rPr lang="en-IN" sz="2200" dirty="0">
                <a:latin typeface="Lohit Gujarati" panose="020B0600000000000000" pitchFamily="34" charset="0"/>
                <a:cs typeface="Lohit Gujarati" panose="020B0600000000000000" pitchFamily="34" charset="0"/>
              </a:rPr>
              <a:t>. (</a:t>
            </a:r>
            <a:r>
              <a:rPr lang="gu-IN" sz="22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અશક્ય</a:t>
            </a:r>
            <a:r>
              <a:rPr lang="en-IN" sz="2200" dirty="0">
                <a:latin typeface="Lohit Gujarati" panose="020B0600000000000000" pitchFamily="34" charset="0"/>
                <a:cs typeface="Lohit Gujarati" panose="020B0600000000000000" pitchFamily="34" charset="0"/>
              </a:rPr>
              <a:t> </a:t>
            </a:r>
            <a:r>
              <a:rPr lang="gu-IN" sz="22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છે</a:t>
            </a:r>
            <a:r>
              <a:rPr lang="en-IN" sz="2200" dirty="0">
                <a:latin typeface="Lohit Gujarati" panose="020B0600000000000000" pitchFamily="34" charset="0"/>
                <a:cs typeface="Lohit Gujarati" panose="020B0600000000000000" pitchFamily="34" charset="0"/>
              </a:rPr>
              <a:t>)</a:t>
            </a:r>
          </a:p>
          <a:p>
            <a:r>
              <a:rPr lang="en-US" b="1" dirty="0"/>
              <a:t>If </a:t>
            </a:r>
            <a:r>
              <a:rPr lang="en-US" dirty="0"/>
              <a:t>I had the key, I </a:t>
            </a:r>
            <a:r>
              <a:rPr lang="en-US" b="1" dirty="0"/>
              <a:t>would be </a:t>
            </a:r>
            <a:r>
              <a:rPr lang="en-US" dirty="0"/>
              <a:t>in that house.</a:t>
            </a:r>
          </a:p>
          <a:p>
            <a:r>
              <a:rPr lang="gu-IN" dirty="0">
                <a:latin typeface="Lohit Gujarati" panose="020B0600000000000000" pitchFamily="34" charset="0"/>
                <a:cs typeface="Lohit Gujarati" panose="020B0600000000000000" pitchFamily="34" charset="0"/>
              </a:rPr>
              <a:t>જો મારી પાસે ચાવી હોત, તો હું પેલા ઘરમાં હોત.</a:t>
            </a:r>
            <a:endParaRPr lang="en-US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r>
              <a:rPr lang="en-IN" b="1" dirty="0"/>
              <a:t>Structure:</a:t>
            </a:r>
          </a:p>
          <a:p>
            <a:endParaRPr lang="en-IN" dirty="0"/>
          </a:p>
          <a:p>
            <a:endParaRPr lang="en-IN" dirty="0"/>
          </a:p>
          <a:p>
            <a:endParaRPr lang="en-US" dirty="0"/>
          </a:p>
          <a:p>
            <a:r>
              <a:rPr lang="en-US" b="1" dirty="0"/>
              <a:t>Usage:</a:t>
            </a:r>
          </a:p>
          <a:p>
            <a:pPr lvl="1"/>
            <a:r>
              <a:rPr lang="en-US" dirty="0"/>
              <a:t>To talk about </a:t>
            </a:r>
            <a:r>
              <a:rPr lang="en-US" b="1" dirty="0"/>
              <a:t>imaginary, unlikely, or impossible situations</a:t>
            </a:r>
            <a:r>
              <a:rPr lang="en-US" dirty="0"/>
              <a:t> in the present or future.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75CEDE-59C0-46FD-B855-AF9BDCE27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Conditional Sentences – Second Conditional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106C45-9331-0EEB-0779-A6C864ECDED2}"/>
              </a:ext>
            </a:extLst>
          </p:cNvPr>
          <p:cNvSpPr/>
          <p:nvPr/>
        </p:nvSpPr>
        <p:spPr>
          <a:xfrm>
            <a:off x="520876" y="3964639"/>
            <a:ext cx="1188720" cy="7549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If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962AA7-631F-F9D6-A0AF-A29395EFDD99}"/>
              </a:ext>
            </a:extLst>
          </p:cNvPr>
          <p:cNvSpPr/>
          <p:nvPr/>
        </p:nvSpPr>
        <p:spPr>
          <a:xfrm>
            <a:off x="2095279" y="3963945"/>
            <a:ext cx="2160000" cy="75895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301B92"/>
                </a:solidFill>
              </a:rPr>
              <a:t>Simple Past Tense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431A91-AD06-9D7C-F863-5964DDCC2152}"/>
              </a:ext>
            </a:extLst>
          </p:cNvPr>
          <p:cNvSpPr txBox="1"/>
          <p:nvPr/>
        </p:nvSpPr>
        <p:spPr>
          <a:xfrm>
            <a:off x="1491796" y="3890369"/>
            <a:ext cx="817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/>
              <a:t> </a:t>
            </a:r>
            <a:r>
              <a:rPr lang="en-US" sz="5400" b="1" dirty="0"/>
              <a:t>+</a:t>
            </a:r>
            <a:endParaRPr lang="en-IN" sz="5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6F8CCC-67E7-1591-982C-4D4918CB4F44}"/>
              </a:ext>
            </a:extLst>
          </p:cNvPr>
          <p:cNvSpPr txBox="1"/>
          <p:nvPr/>
        </p:nvSpPr>
        <p:spPr>
          <a:xfrm>
            <a:off x="4032294" y="3911634"/>
            <a:ext cx="817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/>
              <a:t> </a:t>
            </a:r>
            <a:r>
              <a:rPr lang="en-US" sz="5400" b="1" dirty="0"/>
              <a:t>+</a:t>
            </a:r>
            <a:endParaRPr lang="en-IN" sz="54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92DF96-95FD-676D-9A0E-DD996F07491E}"/>
              </a:ext>
            </a:extLst>
          </p:cNvPr>
          <p:cNvSpPr/>
          <p:nvPr/>
        </p:nvSpPr>
        <p:spPr>
          <a:xfrm>
            <a:off x="4647202" y="3965965"/>
            <a:ext cx="1332000" cy="7549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Would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9757DE-AC6A-259D-BE63-DC28ED58D88F}"/>
              </a:ext>
            </a:extLst>
          </p:cNvPr>
          <p:cNvSpPr/>
          <p:nvPr/>
        </p:nvSpPr>
        <p:spPr>
          <a:xfrm>
            <a:off x="6362488" y="3956853"/>
            <a:ext cx="1728000" cy="75895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Main Verb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FE1797-4EEE-90EF-90AD-8199693B27EB}"/>
              </a:ext>
            </a:extLst>
          </p:cNvPr>
          <p:cNvSpPr txBox="1"/>
          <p:nvPr/>
        </p:nvSpPr>
        <p:spPr>
          <a:xfrm>
            <a:off x="5759005" y="3883277"/>
            <a:ext cx="817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/>
              <a:t> </a:t>
            </a:r>
            <a:r>
              <a:rPr lang="en-US" sz="5400" b="1" dirty="0"/>
              <a:t>+</a:t>
            </a:r>
            <a:endParaRPr lang="en-IN" sz="5400" b="1" dirty="0"/>
          </a:p>
        </p:txBody>
      </p:sp>
    </p:spTree>
    <p:extLst>
      <p:ext uri="{BB962C8B-B14F-4D97-AF65-F5344CB8AC3E}">
        <p14:creationId xmlns:p14="http://schemas.microsoft.com/office/powerpoint/2010/main" val="1075780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/>
      <p:bldP spid="8" grpId="0"/>
      <p:bldP spid="9" grpId="0" animBg="1"/>
      <p:bldP spid="10" grpId="0" animBg="1"/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6DC949-93D8-455F-9530-B127881CE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  <a:prstGeom prst="rect">
            <a:avLst/>
          </a:prstGeom>
        </p:spPr>
        <p:txBody>
          <a:bodyPr/>
          <a:lstStyle/>
          <a:p>
            <a:r>
              <a:rPr lang="en-US" b="1" dirty="0"/>
              <a:t>Examples:</a:t>
            </a:r>
          </a:p>
          <a:p>
            <a:pPr lvl="1"/>
            <a:r>
              <a:rPr lang="en-US" sz="2200" dirty="0"/>
              <a:t>If I were rich, I would travel the world.</a:t>
            </a:r>
          </a:p>
          <a:p>
            <a:pPr lvl="1"/>
            <a:r>
              <a:rPr lang="en-US" sz="2200" dirty="0"/>
              <a:t>If he studied more, he would get better grades.</a:t>
            </a:r>
          </a:p>
          <a:p>
            <a:pPr lvl="1"/>
            <a:r>
              <a:rPr lang="en-US" sz="2200" dirty="0"/>
              <a:t>If she had a car, she would drive to work.</a:t>
            </a:r>
          </a:p>
          <a:p>
            <a:pPr lvl="1"/>
            <a:r>
              <a:rPr lang="en-US" sz="2200" dirty="0"/>
              <a:t>If he had wings, he            fly.</a:t>
            </a:r>
          </a:p>
          <a:p>
            <a:pPr lvl="1"/>
            <a:r>
              <a:rPr lang="en-US" sz="2200" dirty="0"/>
              <a:t>If they invited me, I            attend.</a:t>
            </a:r>
          </a:p>
          <a:p>
            <a:pPr lvl="1"/>
            <a:r>
              <a:rPr lang="en-US" sz="2200" dirty="0"/>
              <a:t>If I knew his address, I             visit him.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Note:</a:t>
            </a:r>
          </a:p>
          <a:p>
            <a:pPr lvl="1"/>
            <a:r>
              <a:rPr lang="en-US" sz="2200" dirty="0"/>
              <a:t>We often use </a:t>
            </a:r>
            <a:r>
              <a:rPr lang="en-US" sz="2200" b="1" dirty="0"/>
              <a:t>were</a:t>
            </a:r>
            <a:r>
              <a:rPr lang="en-US" sz="2200" dirty="0"/>
              <a:t> instead of </a:t>
            </a:r>
            <a:r>
              <a:rPr lang="en-US" sz="2200" b="1" dirty="0"/>
              <a:t>was</a:t>
            </a:r>
            <a:r>
              <a:rPr lang="en-US" sz="2200" dirty="0"/>
              <a:t> in formal English:</a:t>
            </a:r>
          </a:p>
          <a:p>
            <a:pPr lvl="2"/>
            <a:r>
              <a:rPr lang="en-US" sz="2200" dirty="0"/>
              <a:t>If I were you, I would talk to her.</a:t>
            </a:r>
            <a:endParaRPr lang="en-IN" sz="2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8D667D-A4D4-40EC-94C7-78DDC9807A4F}"/>
              </a:ext>
            </a:extLst>
          </p:cNvPr>
          <p:cNvSpPr/>
          <p:nvPr/>
        </p:nvSpPr>
        <p:spPr>
          <a:xfrm>
            <a:off x="3035650" y="2402413"/>
            <a:ext cx="864000" cy="25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would</a:t>
            </a:r>
            <a:endParaRPr lang="en-IN" sz="2200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23E980B-56F0-447A-9844-A206278F0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Sentences – Second Conditional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778524-C335-444D-842C-71B1C4A569C6}"/>
              </a:ext>
            </a:extLst>
          </p:cNvPr>
          <p:cNvSpPr/>
          <p:nvPr/>
        </p:nvSpPr>
        <p:spPr>
          <a:xfrm>
            <a:off x="3054700" y="2762938"/>
            <a:ext cx="864000" cy="25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would</a:t>
            </a:r>
            <a:endParaRPr lang="en-IN" sz="22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3763A1-5DBA-4C7C-B393-B23326A028AE}"/>
              </a:ext>
            </a:extLst>
          </p:cNvPr>
          <p:cNvSpPr/>
          <p:nvPr/>
        </p:nvSpPr>
        <p:spPr>
          <a:xfrm>
            <a:off x="3441633" y="3132550"/>
            <a:ext cx="900000" cy="25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would</a:t>
            </a:r>
            <a:endParaRPr lang="en-IN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370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3C4C61-9F9B-483A-9A38-5D8F177B7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2060820" cy="559056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b="1" dirty="0"/>
              <a:t>Third Conditional</a:t>
            </a:r>
            <a:r>
              <a:rPr lang="en-US" dirty="0"/>
              <a:t> </a:t>
            </a:r>
            <a:r>
              <a:rPr lang="en-US" b="1" dirty="0"/>
              <a:t>Sentences</a:t>
            </a:r>
            <a:r>
              <a:rPr lang="en-US" dirty="0"/>
              <a:t> are used to talk about </a:t>
            </a:r>
            <a:r>
              <a:rPr lang="en-US" b="1" dirty="0"/>
              <a:t>a hypothetical past situation </a:t>
            </a:r>
            <a:r>
              <a:rPr lang="en-US" dirty="0"/>
              <a:t>and </a:t>
            </a:r>
            <a:r>
              <a:rPr lang="en-US" b="1" dirty="0"/>
              <a:t>its impossible result. </a:t>
            </a:r>
            <a:r>
              <a:rPr lang="en-US" sz="2200" dirty="0"/>
              <a:t>(</a:t>
            </a:r>
            <a:r>
              <a:rPr lang="gu-IN" sz="22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આ વાક્યોનો ઉપયોગ ભૂતકાળની કાલ્પનિક પરિસ્થિતિ અને તેના અશક્ય પરિણામ વિશે વાત કરવા માટે થાય છે.</a:t>
            </a:r>
            <a:r>
              <a:rPr lang="en-IN" sz="2200" dirty="0">
                <a:latin typeface="Lohit Gujarati" panose="020B0600000000000000" pitchFamily="34" charset="0"/>
                <a:cs typeface="Lohit Gujarati" panose="020B0600000000000000" pitchFamily="34" charset="0"/>
              </a:rPr>
              <a:t>)</a:t>
            </a:r>
            <a:endParaRPr lang="en-US" sz="2200" b="1" dirty="0"/>
          </a:p>
          <a:p>
            <a:pPr>
              <a:lnSpc>
                <a:spcPct val="100000"/>
              </a:lnSpc>
            </a:pPr>
            <a:r>
              <a:rPr lang="en-US" dirty="0"/>
              <a:t>The </a:t>
            </a:r>
            <a:r>
              <a:rPr lang="en-US" b="1" dirty="0"/>
              <a:t>condition was not met in the past</a:t>
            </a:r>
            <a:r>
              <a:rPr lang="en-US" dirty="0"/>
              <a:t>, so the </a:t>
            </a:r>
            <a:r>
              <a:rPr lang="en-US" b="1" dirty="0"/>
              <a:t>situation could not happen. </a:t>
            </a:r>
            <a:r>
              <a:rPr lang="en-US" dirty="0"/>
              <a:t>(</a:t>
            </a:r>
            <a:r>
              <a:rPr lang="gu-IN" dirty="0">
                <a:latin typeface="Lohit Gujarati" panose="020B0600000000000000" pitchFamily="34" charset="0"/>
                <a:cs typeface="Lohit Gujarati" panose="020B0600000000000000" pitchFamily="34" charset="0"/>
              </a:rPr>
              <a:t>ભૂતકાળમાં આ સ્થિતિ પૂરી થઈ ન હતી, તેથી પરિસ્થિતિ બની શકી નહીં.</a:t>
            </a:r>
            <a:r>
              <a:rPr lang="en-IN" dirty="0">
                <a:latin typeface="Lohit Gujarati" panose="020B0600000000000000" pitchFamily="34" charset="0"/>
                <a:cs typeface="Lohit Gujarati" panose="020B0600000000000000" pitchFamily="34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b="1" dirty="0"/>
              <a:t>If </a:t>
            </a:r>
            <a:r>
              <a:rPr lang="en-US" dirty="0"/>
              <a:t>he had told me the truth, I would have helped him.</a:t>
            </a:r>
          </a:p>
          <a:p>
            <a:pPr>
              <a:lnSpc>
                <a:spcPct val="100000"/>
              </a:lnSpc>
            </a:pPr>
            <a:r>
              <a:rPr lang="gu-IN" sz="22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જો તેણે મને સત્ય કહ્યું હોત, તો હું તેને મદદ કરી હોત</a:t>
            </a:r>
            <a:r>
              <a:rPr lang="en-IN" sz="2200" dirty="0">
                <a:latin typeface="Lohit Gujarati" panose="020B0600000000000000" pitchFamily="34" charset="0"/>
                <a:cs typeface="Lohit Gujarati" panose="020B0600000000000000" pitchFamily="34" charset="0"/>
              </a:rPr>
              <a:t> (</a:t>
            </a:r>
            <a:r>
              <a:rPr lang="gu-IN" sz="22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કરત</a:t>
            </a:r>
            <a:r>
              <a:rPr lang="en-IN" sz="2200" dirty="0">
                <a:latin typeface="Lohit Gujarati" panose="020B0600000000000000" pitchFamily="34" charset="0"/>
                <a:cs typeface="Lohit Gujarati" panose="020B0600000000000000" pitchFamily="34" charset="0"/>
              </a:rPr>
              <a:t>)</a:t>
            </a:r>
            <a:r>
              <a:rPr lang="gu-IN" dirty="0">
                <a:latin typeface="Lohit Gujarati" panose="020B0600000000000000" pitchFamily="34" charset="0"/>
                <a:cs typeface="Lohit Gujarati" panose="020B0600000000000000" pitchFamily="34" charset="0"/>
              </a:rPr>
              <a:t>.</a:t>
            </a:r>
            <a:endParaRPr lang="en-US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r>
              <a:rPr lang="en-US" b="1" dirty="0"/>
              <a:t>Structure:</a:t>
            </a:r>
          </a:p>
          <a:p>
            <a:endParaRPr lang="en-US" b="1" dirty="0"/>
          </a:p>
          <a:p>
            <a:endParaRPr lang="en-US" sz="1800" b="1" dirty="0"/>
          </a:p>
          <a:p>
            <a:r>
              <a:rPr lang="en-US" b="1" dirty="0"/>
              <a:t>Usage:</a:t>
            </a:r>
          </a:p>
          <a:p>
            <a:pPr lvl="1"/>
            <a:r>
              <a:rPr lang="en-US" sz="2200" dirty="0"/>
              <a:t>To </a:t>
            </a:r>
            <a:r>
              <a:rPr lang="en-US" sz="2200" b="1" dirty="0"/>
              <a:t>talk</a:t>
            </a:r>
            <a:r>
              <a:rPr lang="en-US" sz="2200" dirty="0"/>
              <a:t> about situations in the past that </a:t>
            </a:r>
            <a:r>
              <a:rPr lang="en-US" sz="2200" b="1" dirty="0"/>
              <a:t>did not happen </a:t>
            </a:r>
            <a:r>
              <a:rPr lang="en-US" sz="2200" dirty="0"/>
              <a:t>(regrets, criticisms, missed chances).</a:t>
            </a:r>
            <a:endParaRPr lang="en-IN" sz="2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48F9B4-A345-4A9E-A18A-428609227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Sentences – Third Conditional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19A72B-1E7A-2054-9E9F-70C65CB24E83}"/>
              </a:ext>
            </a:extLst>
          </p:cNvPr>
          <p:cNvSpPr/>
          <p:nvPr/>
        </p:nvSpPr>
        <p:spPr>
          <a:xfrm>
            <a:off x="488978" y="4379300"/>
            <a:ext cx="1188720" cy="7549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If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A8B3BB-CA52-1FFE-605B-6B70E8091ACC}"/>
              </a:ext>
            </a:extLst>
          </p:cNvPr>
          <p:cNvSpPr/>
          <p:nvPr/>
        </p:nvSpPr>
        <p:spPr>
          <a:xfrm>
            <a:off x="2063381" y="4378606"/>
            <a:ext cx="2160000" cy="75895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301B92"/>
                </a:solidFill>
              </a:rPr>
              <a:t>Past Perfect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13CEB7-B22A-1B0F-1BB5-8A8659551742}"/>
              </a:ext>
            </a:extLst>
          </p:cNvPr>
          <p:cNvSpPr txBox="1"/>
          <p:nvPr/>
        </p:nvSpPr>
        <p:spPr>
          <a:xfrm>
            <a:off x="1459898" y="4305030"/>
            <a:ext cx="817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/>
              <a:t> </a:t>
            </a:r>
            <a:r>
              <a:rPr lang="en-US" sz="5400" b="1" dirty="0"/>
              <a:t>+</a:t>
            </a:r>
            <a:endParaRPr lang="en-IN" sz="5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67DAA4-B8D0-C5BA-A5E8-EA9D654EE8D7}"/>
              </a:ext>
            </a:extLst>
          </p:cNvPr>
          <p:cNvSpPr txBox="1"/>
          <p:nvPr/>
        </p:nvSpPr>
        <p:spPr>
          <a:xfrm>
            <a:off x="4000396" y="4326295"/>
            <a:ext cx="817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/>
              <a:t> </a:t>
            </a:r>
            <a:r>
              <a:rPr lang="en-US" sz="5400" b="1" dirty="0"/>
              <a:t>+</a:t>
            </a:r>
            <a:endParaRPr lang="en-IN" sz="5400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D4FA64-9CB5-B50B-D1E2-24FACCACD5AE}"/>
              </a:ext>
            </a:extLst>
          </p:cNvPr>
          <p:cNvSpPr/>
          <p:nvPr/>
        </p:nvSpPr>
        <p:spPr>
          <a:xfrm>
            <a:off x="4615304" y="4380626"/>
            <a:ext cx="1332000" cy="7549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Would Have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5AC4F2-822C-28F3-DE23-E413A0CF1952}"/>
              </a:ext>
            </a:extLst>
          </p:cNvPr>
          <p:cNvSpPr/>
          <p:nvPr/>
        </p:nvSpPr>
        <p:spPr>
          <a:xfrm>
            <a:off x="6330590" y="4371514"/>
            <a:ext cx="1728000" cy="75895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Past Participle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9FE820-E3C0-8F39-C93A-8F170A9F9CE4}"/>
              </a:ext>
            </a:extLst>
          </p:cNvPr>
          <p:cNvSpPr txBox="1"/>
          <p:nvPr/>
        </p:nvSpPr>
        <p:spPr>
          <a:xfrm>
            <a:off x="5727107" y="4297938"/>
            <a:ext cx="817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/>
              <a:t> </a:t>
            </a:r>
            <a:r>
              <a:rPr lang="en-US" sz="5400" b="1" dirty="0"/>
              <a:t>+</a:t>
            </a:r>
            <a:endParaRPr lang="en-IN" sz="5400" b="1" dirty="0"/>
          </a:p>
        </p:txBody>
      </p:sp>
    </p:spTree>
    <p:extLst>
      <p:ext uri="{BB962C8B-B14F-4D97-AF65-F5344CB8AC3E}">
        <p14:creationId xmlns:p14="http://schemas.microsoft.com/office/powerpoint/2010/main" val="3083949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/>
      <p:bldP spid="16" grpId="0"/>
      <p:bldP spid="17" grpId="0" animBg="1"/>
      <p:bldP spid="18" grpId="0" animBg="1"/>
      <p:bldP spid="1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B0D06E-993B-4311-8717-D7BDB039A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7907034" cy="5590565"/>
          </a:xfrm>
        </p:spPr>
        <p:txBody>
          <a:bodyPr/>
          <a:lstStyle/>
          <a:p>
            <a:r>
              <a:rPr lang="en-US" b="1" dirty="0"/>
              <a:t>Examples:</a:t>
            </a:r>
          </a:p>
          <a:p>
            <a:pPr lvl="1"/>
            <a:r>
              <a:rPr lang="en-US" sz="2200" dirty="0"/>
              <a:t>If I had studied harder, I would have passed the exam.</a:t>
            </a:r>
          </a:p>
          <a:p>
            <a:pPr lvl="1"/>
            <a:r>
              <a:rPr lang="en-US" sz="2200" dirty="0"/>
              <a:t>If she had left earlier, she would have caught the train.</a:t>
            </a:r>
          </a:p>
          <a:p>
            <a:pPr lvl="1"/>
            <a:r>
              <a:rPr lang="en-US" sz="2200" dirty="0"/>
              <a:t>If they had invited me, I would have attended the party.</a:t>
            </a:r>
          </a:p>
          <a:p>
            <a:pPr lvl="1"/>
            <a:r>
              <a:rPr lang="en-US" sz="2200" dirty="0"/>
              <a:t>If he had listened, he                            made that mistake.</a:t>
            </a:r>
          </a:p>
          <a:p>
            <a:pPr lvl="1"/>
            <a:r>
              <a:rPr lang="en-US" sz="2200" dirty="0"/>
              <a:t>If we had prepared better, we                      won the match.</a:t>
            </a:r>
          </a:p>
          <a:p>
            <a:pPr lvl="1"/>
            <a:r>
              <a:rPr lang="en-US" sz="2200" dirty="0"/>
              <a:t>If the alarm had worked, we                      woken up on time.</a:t>
            </a:r>
          </a:p>
          <a:p>
            <a:pPr lvl="1"/>
            <a:endParaRPr lang="en-US" dirty="0"/>
          </a:p>
          <a:p>
            <a:r>
              <a:rPr lang="en-US" b="1" dirty="0"/>
              <a:t>Note: </a:t>
            </a:r>
          </a:p>
          <a:p>
            <a:pPr lvl="1"/>
            <a:r>
              <a:rPr lang="en-US" sz="2200" dirty="0"/>
              <a:t>Used when the event cannot be changed (past is fixed).</a:t>
            </a:r>
          </a:p>
          <a:p>
            <a:pPr lvl="1"/>
            <a:r>
              <a:rPr lang="en-US" sz="2200" dirty="0"/>
              <a:t>Often used in expressing blame/regret:</a:t>
            </a:r>
          </a:p>
          <a:p>
            <a:pPr lvl="2"/>
            <a:r>
              <a:rPr lang="en-US" sz="2200" dirty="0"/>
              <a:t>If you had told me earlier, I would have helped you.</a:t>
            </a:r>
            <a:endParaRPr lang="en-IN" sz="2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19DDC1-092A-4158-A6F2-FE3F2C5C6B7E}"/>
              </a:ext>
            </a:extLst>
          </p:cNvPr>
          <p:cNvSpPr/>
          <p:nvPr/>
        </p:nvSpPr>
        <p:spPr>
          <a:xfrm>
            <a:off x="4012160" y="3132046"/>
            <a:ext cx="1476000" cy="2592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would have</a:t>
            </a:r>
            <a:endParaRPr lang="en-IN" sz="22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06BCEA-0510-4BD4-B7AD-F1659563E072}"/>
              </a:ext>
            </a:extLst>
          </p:cNvPr>
          <p:cNvSpPr/>
          <p:nvPr/>
        </p:nvSpPr>
        <p:spPr>
          <a:xfrm>
            <a:off x="4176842" y="2773445"/>
            <a:ext cx="1476000" cy="25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would have</a:t>
            </a:r>
            <a:endParaRPr lang="en-IN" sz="220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B8F73A-94FE-487D-BEE6-1F3846AF525B}"/>
              </a:ext>
            </a:extLst>
          </p:cNvPr>
          <p:cNvSpPr/>
          <p:nvPr/>
        </p:nvSpPr>
        <p:spPr>
          <a:xfrm>
            <a:off x="3241040" y="2374900"/>
            <a:ext cx="1908000" cy="32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would not have</a:t>
            </a:r>
            <a:endParaRPr lang="en-IN" sz="2200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2CD4FF-D6BD-47BD-A250-685457249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Sentences – Third Conditional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A6A368-C8B7-4762-AF95-9B3DE85059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279" y="1030941"/>
            <a:ext cx="4154354" cy="455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568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9FD25D2-5456-4497-B28C-C4194B36F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Comparison between Conditionals: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B6DA26-62E8-44D9-9A1A-7EE874A45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Conditional Sentences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503ED1F-7A35-40C7-8C8E-27849F09EA5D}"/>
              </a:ext>
            </a:extLst>
          </p:cNvPr>
          <p:cNvGraphicFramePr>
            <a:graphicFrameLocks noGrp="1"/>
          </p:cNvGraphicFramePr>
          <p:nvPr/>
        </p:nvGraphicFramePr>
        <p:xfrm>
          <a:off x="696257" y="1338457"/>
          <a:ext cx="10613215" cy="48187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98149">
                  <a:extLst>
                    <a:ext uri="{9D8B030D-6E8A-4147-A177-3AD203B41FA5}">
                      <a16:colId xmlns:a16="http://schemas.microsoft.com/office/drawing/2014/main" val="1898825626"/>
                    </a:ext>
                  </a:extLst>
                </a:gridCol>
                <a:gridCol w="2647137">
                  <a:extLst>
                    <a:ext uri="{9D8B030D-6E8A-4147-A177-3AD203B41FA5}">
                      <a16:colId xmlns:a16="http://schemas.microsoft.com/office/drawing/2014/main" val="765675397"/>
                    </a:ext>
                  </a:extLst>
                </a:gridCol>
                <a:gridCol w="2122643">
                  <a:extLst>
                    <a:ext uri="{9D8B030D-6E8A-4147-A177-3AD203B41FA5}">
                      <a16:colId xmlns:a16="http://schemas.microsoft.com/office/drawing/2014/main" val="3048767823"/>
                    </a:ext>
                  </a:extLst>
                </a:gridCol>
                <a:gridCol w="2122643">
                  <a:extLst>
                    <a:ext uri="{9D8B030D-6E8A-4147-A177-3AD203B41FA5}">
                      <a16:colId xmlns:a16="http://schemas.microsoft.com/office/drawing/2014/main" val="1349058921"/>
                    </a:ext>
                  </a:extLst>
                </a:gridCol>
                <a:gridCol w="2122643">
                  <a:extLst>
                    <a:ext uri="{9D8B030D-6E8A-4147-A177-3AD203B41FA5}">
                      <a16:colId xmlns:a16="http://schemas.microsoft.com/office/drawing/2014/main" val="268917891"/>
                    </a:ext>
                  </a:extLst>
                </a:gridCol>
              </a:tblGrid>
              <a:tr h="481876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solidFill>
                            <a:schemeClr val="tx1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Type</a:t>
                      </a:r>
                      <a:endParaRPr lang="en-IN" sz="2000" dirty="0">
                        <a:solidFill>
                          <a:schemeClr val="tx1"/>
                        </a:solidFill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solidFill>
                            <a:schemeClr val="tx1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If-Clause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solidFill>
                            <a:schemeClr val="tx1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Main Clause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Usage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1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25129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54A6D3-7E80-409D-9DEA-D33F626560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804796"/>
              </p:ext>
            </p:extLst>
          </p:nvPr>
        </p:nvGraphicFramePr>
        <p:xfrm>
          <a:off x="696257" y="1820333"/>
          <a:ext cx="10613215" cy="10058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598149">
                  <a:extLst>
                    <a:ext uri="{9D8B030D-6E8A-4147-A177-3AD203B41FA5}">
                      <a16:colId xmlns:a16="http://schemas.microsoft.com/office/drawing/2014/main" val="1898825626"/>
                    </a:ext>
                  </a:extLst>
                </a:gridCol>
                <a:gridCol w="2647137">
                  <a:extLst>
                    <a:ext uri="{9D8B030D-6E8A-4147-A177-3AD203B41FA5}">
                      <a16:colId xmlns:a16="http://schemas.microsoft.com/office/drawing/2014/main" val="765675397"/>
                    </a:ext>
                  </a:extLst>
                </a:gridCol>
                <a:gridCol w="2122643">
                  <a:extLst>
                    <a:ext uri="{9D8B030D-6E8A-4147-A177-3AD203B41FA5}">
                      <a16:colId xmlns:a16="http://schemas.microsoft.com/office/drawing/2014/main" val="3048767823"/>
                    </a:ext>
                  </a:extLst>
                </a:gridCol>
                <a:gridCol w="2122643">
                  <a:extLst>
                    <a:ext uri="{9D8B030D-6E8A-4147-A177-3AD203B41FA5}">
                      <a16:colId xmlns:a16="http://schemas.microsoft.com/office/drawing/2014/main" val="30466346"/>
                    </a:ext>
                  </a:extLst>
                </a:gridCol>
                <a:gridCol w="2122643">
                  <a:extLst>
                    <a:ext uri="{9D8B030D-6E8A-4147-A177-3AD203B41FA5}">
                      <a16:colId xmlns:a16="http://schemas.microsoft.com/office/drawing/2014/main" val="2100070076"/>
                    </a:ext>
                  </a:extLst>
                </a:gridCol>
              </a:tblGrid>
              <a:tr h="394546">
                <a:tc>
                  <a:txBody>
                    <a:bodyPr/>
                    <a:lstStyle/>
                    <a:p>
                      <a:r>
                        <a:rPr lang="en-IN" sz="2000" b="0" dirty="0"/>
                        <a:t>Zero Conditional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/>
                        <a:t>If + Present Simple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/>
                        <a:t>Present Simple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Facts, laws, general truths</a:t>
                      </a:r>
                    </a:p>
                    <a:p>
                      <a:endParaRPr lang="en-IN" sz="2000" b="0" dirty="0"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If plants don’t get sunlight, they die.</a:t>
                      </a:r>
                      <a:endParaRPr lang="en-IN" sz="2000" b="0" dirty="0"/>
                    </a:p>
                    <a:p>
                      <a:endParaRPr lang="en-IN" sz="2000" b="0" dirty="0"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25129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03FF96F-6250-4EBE-B076-F199E18BDE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741166"/>
              </p:ext>
            </p:extLst>
          </p:nvPr>
        </p:nvGraphicFramePr>
        <p:xfrm>
          <a:off x="696257" y="2675467"/>
          <a:ext cx="10615210" cy="1005840"/>
        </p:xfrm>
        <a:graphic>
          <a:graphicData uri="http://schemas.openxmlformats.org/drawingml/2006/table">
            <a:tbl>
              <a:tblPr firstRow="1" bandRow="1"/>
              <a:tblGrid>
                <a:gridCol w="1598210">
                  <a:extLst>
                    <a:ext uri="{9D8B030D-6E8A-4147-A177-3AD203B41FA5}">
                      <a16:colId xmlns:a16="http://schemas.microsoft.com/office/drawing/2014/main" val="3686068274"/>
                    </a:ext>
                  </a:extLst>
                </a:gridCol>
                <a:gridCol w="2650066">
                  <a:extLst>
                    <a:ext uri="{9D8B030D-6E8A-4147-A177-3AD203B41FA5}">
                      <a16:colId xmlns:a16="http://schemas.microsoft.com/office/drawing/2014/main" val="1773801513"/>
                    </a:ext>
                  </a:extLst>
                </a:gridCol>
                <a:gridCol w="2116667">
                  <a:extLst>
                    <a:ext uri="{9D8B030D-6E8A-4147-A177-3AD203B41FA5}">
                      <a16:colId xmlns:a16="http://schemas.microsoft.com/office/drawing/2014/main" val="1680397324"/>
                    </a:ext>
                  </a:extLst>
                </a:gridCol>
                <a:gridCol w="2125133">
                  <a:extLst>
                    <a:ext uri="{9D8B030D-6E8A-4147-A177-3AD203B41FA5}">
                      <a16:colId xmlns:a16="http://schemas.microsoft.com/office/drawing/2014/main" val="2445205705"/>
                    </a:ext>
                  </a:extLst>
                </a:gridCol>
                <a:gridCol w="2125134">
                  <a:extLst>
                    <a:ext uri="{9D8B030D-6E8A-4147-A177-3AD203B41FA5}">
                      <a16:colId xmlns:a16="http://schemas.microsoft.com/office/drawing/2014/main" val="3930646605"/>
                    </a:ext>
                  </a:extLst>
                </a:gridCol>
              </a:tblGrid>
              <a:tr h="694266">
                <a:tc>
                  <a:txBody>
                    <a:bodyPr/>
                    <a:lstStyle/>
                    <a:p>
                      <a:r>
                        <a:rPr lang="en-IN" sz="2000" dirty="0"/>
                        <a:t>First Conditional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If + Present Simple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Will + Verb (or may/can)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Real future possibilities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If you practice daily, you will improve quickly.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80400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BA9965E-BE60-44CB-9293-998CAF9153E9}"/>
              </a:ext>
            </a:extLst>
          </p:cNvPr>
          <p:cNvGraphicFramePr>
            <a:graphicFrameLocks noGrp="1"/>
          </p:cNvGraphicFramePr>
          <p:nvPr/>
        </p:nvGraphicFramePr>
        <p:xfrm>
          <a:off x="696257" y="3681307"/>
          <a:ext cx="10615210" cy="1005840"/>
        </p:xfrm>
        <a:graphic>
          <a:graphicData uri="http://schemas.openxmlformats.org/drawingml/2006/table">
            <a:tbl>
              <a:tblPr firstRow="1" bandRow="1"/>
              <a:tblGrid>
                <a:gridCol w="1598210">
                  <a:extLst>
                    <a:ext uri="{9D8B030D-6E8A-4147-A177-3AD203B41FA5}">
                      <a16:colId xmlns:a16="http://schemas.microsoft.com/office/drawing/2014/main" val="430181169"/>
                    </a:ext>
                  </a:extLst>
                </a:gridCol>
                <a:gridCol w="2650066">
                  <a:extLst>
                    <a:ext uri="{9D8B030D-6E8A-4147-A177-3AD203B41FA5}">
                      <a16:colId xmlns:a16="http://schemas.microsoft.com/office/drawing/2014/main" val="1879324669"/>
                    </a:ext>
                  </a:extLst>
                </a:gridCol>
                <a:gridCol w="2116667">
                  <a:extLst>
                    <a:ext uri="{9D8B030D-6E8A-4147-A177-3AD203B41FA5}">
                      <a16:colId xmlns:a16="http://schemas.microsoft.com/office/drawing/2014/main" val="3952023681"/>
                    </a:ext>
                  </a:extLst>
                </a:gridCol>
                <a:gridCol w="2125133">
                  <a:extLst>
                    <a:ext uri="{9D8B030D-6E8A-4147-A177-3AD203B41FA5}">
                      <a16:colId xmlns:a16="http://schemas.microsoft.com/office/drawing/2014/main" val="2432652154"/>
                    </a:ext>
                  </a:extLst>
                </a:gridCol>
                <a:gridCol w="2125134">
                  <a:extLst>
                    <a:ext uri="{9D8B030D-6E8A-4147-A177-3AD203B41FA5}">
                      <a16:colId xmlns:a16="http://schemas.microsoft.com/office/drawing/2014/main" val="2710480006"/>
                    </a:ext>
                  </a:extLst>
                </a:gridCol>
              </a:tblGrid>
              <a:tr h="966893">
                <a:tc>
                  <a:txBody>
                    <a:bodyPr/>
                    <a:lstStyle/>
                    <a:p>
                      <a:r>
                        <a:rPr lang="en-IN" sz="2000" dirty="0"/>
                        <a:t>Second Conditional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If + Past Simple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Would + Verb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Unreal present/future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If I were you, I would accept the offer.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96434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2D6F82A-96E6-4E9A-B442-9B53B6B19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076747"/>
              </p:ext>
            </p:extLst>
          </p:nvPr>
        </p:nvGraphicFramePr>
        <p:xfrm>
          <a:off x="696257" y="4687147"/>
          <a:ext cx="10615210" cy="1005840"/>
        </p:xfrm>
        <a:graphic>
          <a:graphicData uri="http://schemas.openxmlformats.org/drawingml/2006/table">
            <a:tbl>
              <a:tblPr firstRow="1" bandRow="1"/>
              <a:tblGrid>
                <a:gridCol w="1598210">
                  <a:extLst>
                    <a:ext uri="{9D8B030D-6E8A-4147-A177-3AD203B41FA5}">
                      <a16:colId xmlns:a16="http://schemas.microsoft.com/office/drawing/2014/main" val="2738742535"/>
                    </a:ext>
                  </a:extLst>
                </a:gridCol>
                <a:gridCol w="2650066">
                  <a:extLst>
                    <a:ext uri="{9D8B030D-6E8A-4147-A177-3AD203B41FA5}">
                      <a16:colId xmlns:a16="http://schemas.microsoft.com/office/drawing/2014/main" val="2165214304"/>
                    </a:ext>
                  </a:extLst>
                </a:gridCol>
                <a:gridCol w="2116667">
                  <a:extLst>
                    <a:ext uri="{9D8B030D-6E8A-4147-A177-3AD203B41FA5}">
                      <a16:colId xmlns:a16="http://schemas.microsoft.com/office/drawing/2014/main" val="620997483"/>
                    </a:ext>
                  </a:extLst>
                </a:gridCol>
                <a:gridCol w="2125133">
                  <a:extLst>
                    <a:ext uri="{9D8B030D-6E8A-4147-A177-3AD203B41FA5}">
                      <a16:colId xmlns:a16="http://schemas.microsoft.com/office/drawing/2014/main" val="2279973307"/>
                    </a:ext>
                  </a:extLst>
                </a:gridCol>
                <a:gridCol w="2125134">
                  <a:extLst>
                    <a:ext uri="{9D8B030D-6E8A-4147-A177-3AD203B41FA5}">
                      <a16:colId xmlns:a16="http://schemas.microsoft.com/office/drawing/2014/main" val="2167070153"/>
                    </a:ext>
                  </a:extLst>
                </a:gridCol>
              </a:tblGrid>
              <a:tr h="807720">
                <a:tc>
                  <a:txBody>
                    <a:bodyPr/>
                    <a:lstStyle/>
                    <a:p>
                      <a:r>
                        <a:rPr lang="en-IN" sz="2000" dirty="0"/>
                        <a:t>Third Conditional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If + Past Perfect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Would have + Past Participle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Unreal past (regrets /  missed opportunity)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If I had saved money, I would have bought a car.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1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8814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9276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979CD-541D-82B6-D154-13B520A1D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9B81E9F-2C12-1281-06D1-613C6C2E4197}"/>
              </a:ext>
            </a:extLst>
          </p:cNvPr>
          <p:cNvSpPr txBox="1">
            <a:spLocks/>
          </p:cNvSpPr>
          <p:nvPr/>
        </p:nvSpPr>
        <p:spPr>
          <a:xfrm>
            <a:off x="-1" y="711200"/>
            <a:ext cx="12192001" cy="57599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b="1" dirty="0"/>
              <a:t>Read each sentence carefully and write whether it is First Conditional, Second Conditional, or Third Conditional.</a:t>
            </a:r>
          </a:p>
          <a:p>
            <a:pPr>
              <a:lnSpc>
                <a:spcPct val="100000"/>
              </a:lnSpc>
            </a:pPr>
            <a:endParaRPr lang="en-GB" sz="800" dirty="0"/>
          </a:p>
          <a:p>
            <a:pPr marL="808038" lvl="1" indent="-350838">
              <a:buFont typeface="+mj-lt"/>
              <a:buAutoNum type="arabicPeriod"/>
            </a:pPr>
            <a:r>
              <a:rPr lang="en-US" sz="2200" dirty="0"/>
              <a:t>If I had known about the sale, I would have bought the laptop.</a:t>
            </a:r>
          </a:p>
          <a:p>
            <a:pPr lvl="1"/>
            <a:r>
              <a:rPr lang="en-US" sz="2200" b="1" dirty="0"/>
              <a:t>Third Conditional</a:t>
            </a:r>
          </a:p>
          <a:p>
            <a:pPr lvl="1"/>
            <a:endParaRPr lang="en-US" sz="1000" b="1" dirty="0"/>
          </a:p>
          <a:p>
            <a:pPr marL="808038" lvl="1" indent="-350838">
              <a:buFont typeface="+mj-lt"/>
              <a:buAutoNum type="arabicPeriod" startAt="2"/>
            </a:pPr>
            <a:r>
              <a:rPr lang="en-US" sz="2200" dirty="0"/>
              <a:t>If she drinks too much coffee, she gets headaches.</a:t>
            </a:r>
          </a:p>
          <a:p>
            <a:pPr lvl="1"/>
            <a:r>
              <a:rPr lang="en-US" sz="2200" b="1" dirty="0"/>
              <a:t>Zero Conditional</a:t>
            </a:r>
          </a:p>
          <a:p>
            <a:pPr lvl="1"/>
            <a:endParaRPr lang="en-US" sz="1000" b="1" dirty="0"/>
          </a:p>
          <a:p>
            <a:pPr marL="808038" lvl="1" indent="-350838">
              <a:buFont typeface="+mj-lt"/>
              <a:buAutoNum type="arabicPeriod" startAt="3"/>
            </a:pPr>
            <a:r>
              <a:rPr lang="en-US" sz="2200" dirty="0"/>
              <a:t>I would visit Paris if I had enough money.</a:t>
            </a:r>
          </a:p>
          <a:p>
            <a:pPr lvl="1"/>
            <a:r>
              <a:rPr lang="en-US" sz="2200" b="1" dirty="0"/>
              <a:t>Second Conditional</a:t>
            </a:r>
          </a:p>
          <a:p>
            <a:pPr lvl="1"/>
            <a:endParaRPr lang="en-US" sz="1000" b="1" dirty="0"/>
          </a:p>
          <a:p>
            <a:pPr marL="808038" lvl="1" indent="-350838">
              <a:buFont typeface="+mj-lt"/>
              <a:buAutoNum type="arabicPeriod" startAt="4"/>
            </a:pPr>
            <a:r>
              <a:rPr lang="en-US" sz="2200" dirty="0"/>
              <a:t>If he practices regularly, he will improve his guitar skills.</a:t>
            </a:r>
          </a:p>
          <a:p>
            <a:pPr lvl="1"/>
            <a:r>
              <a:rPr lang="en-US" sz="2200" b="1" dirty="0"/>
              <a:t>First Conditional</a:t>
            </a:r>
          </a:p>
          <a:p>
            <a:pPr lvl="1"/>
            <a:endParaRPr lang="en-US" sz="1000" b="1" dirty="0"/>
          </a:p>
          <a:p>
            <a:pPr marL="808038" lvl="1" indent="-350838">
              <a:buFont typeface="+mj-lt"/>
              <a:buAutoNum type="arabicPeriod" startAt="5"/>
            </a:pPr>
            <a:r>
              <a:rPr lang="en-US" sz="2200" dirty="0"/>
              <a:t>If I had been taller, I could have played basketball professionally.</a:t>
            </a:r>
          </a:p>
          <a:p>
            <a:pPr lvl="1"/>
            <a:r>
              <a:rPr lang="en-US" sz="2200" b="1" dirty="0"/>
              <a:t>Third Conditional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D74A08-186E-7A64-EAE8-746B06444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Conditional Sentences Practice </a:t>
            </a:r>
          </a:p>
        </p:txBody>
      </p:sp>
    </p:spTree>
    <p:extLst>
      <p:ext uri="{BB962C8B-B14F-4D97-AF65-F5344CB8AC3E}">
        <p14:creationId xmlns:p14="http://schemas.microsoft.com/office/powerpoint/2010/main" val="1935901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4A7F6-5746-CF64-9A4D-7E10E6CEA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57B610A-EFE0-D67E-2427-9D7579AFAA33}"/>
              </a:ext>
            </a:extLst>
          </p:cNvPr>
          <p:cNvSpPr txBox="1">
            <a:spLocks/>
          </p:cNvSpPr>
          <p:nvPr/>
        </p:nvSpPr>
        <p:spPr>
          <a:xfrm>
            <a:off x="-1" y="711200"/>
            <a:ext cx="12192001" cy="57599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Each sentence below contains an error in its conditional form. Carefully read each one and rewrite it correctly.</a:t>
            </a:r>
            <a:endParaRPr lang="en-GB" sz="2000" dirty="0"/>
          </a:p>
          <a:p>
            <a:pPr marL="808038" lvl="1" indent="-350838">
              <a:buFont typeface="+mj-lt"/>
              <a:buAutoNum type="arabicPeriod" startAt="6"/>
            </a:pPr>
            <a:r>
              <a:rPr lang="en-US" sz="2200" dirty="0"/>
              <a:t>She would have call you if she knew about the meeting.</a:t>
            </a:r>
          </a:p>
          <a:p>
            <a:pPr lvl="1"/>
            <a:r>
              <a:rPr lang="en-US" sz="2200" dirty="0"/>
              <a:t>She would have </a:t>
            </a:r>
            <a:r>
              <a:rPr lang="en-US" sz="2200" b="1" dirty="0"/>
              <a:t>called </a:t>
            </a:r>
            <a:r>
              <a:rPr lang="en-US" sz="2200" dirty="0"/>
              <a:t>you if she </a:t>
            </a:r>
            <a:r>
              <a:rPr lang="en-US" sz="2200" b="1" dirty="0"/>
              <a:t>had known </a:t>
            </a:r>
            <a:r>
              <a:rPr lang="en-US" sz="2200" dirty="0"/>
              <a:t>about the meeting. → </a:t>
            </a:r>
            <a:r>
              <a:rPr lang="en-US" sz="2200" b="1" dirty="0"/>
              <a:t>Third Conditional</a:t>
            </a:r>
          </a:p>
          <a:p>
            <a:pPr lvl="1"/>
            <a:endParaRPr lang="en-US" sz="2200" dirty="0"/>
          </a:p>
          <a:p>
            <a:pPr marL="808038" lvl="1" indent="-350838">
              <a:buFont typeface="+mj-lt"/>
              <a:buAutoNum type="arabicPeriod" startAt="7"/>
            </a:pPr>
            <a:r>
              <a:rPr lang="en-US" sz="2200" dirty="0"/>
              <a:t>If it rains yesterday, we will stay indoors.</a:t>
            </a:r>
          </a:p>
          <a:p>
            <a:pPr lvl="1"/>
            <a:r>
              <a:rPr lang="en-US" sz="2200" dirty="0"/>
              <a:t>If it </a:t>
            </a:r>
            <a:r>
              <a:rPr lang="en-US" sz="2200" b="1" dirty="0"/>
              <a:t>had</a:t>
            </a:r>
            <a:r>
              <a:rPr lang="en-US" sz="2200" dirty="0"/>
              <a:t> </a:t>
            </a:r>
            <a:r>
              <a:rPr lang="en-US" sz="2200" b="1" dirty="0"/>
              <a:t>rained</a:t>
            </a:r>
            <a:r>
              <a:rPr lang="en-US" sz="2200" dirty="0"/>
              <a:t> (yesterday), we </a:t>
            </a:r>
            <a:r>
              <a:rPr lang="en-US" sz="2200" b="1" dirty="0"/>
              <a:t>would have stayed </a:t>
            </a:r>
            <a:r>
              <a:rPr lang="en-US" sz="2200" dirty="0"/>
              <a:t>indoors. → </a:t>
            </a:r>
            <a:r>
              <a:rPr lang="en-US" sz="2200" b="1" dirty="0"/>
              <a:t>Third Conditional</a:t>
            </a:r>
          </a:p>
          <a:p>
            <a:pPr lvl="1"/>
            <a:endParaRPr lang="en-US" sz="2200" dirty="0"/>
          </a:p>
          <a:p>
            <a:pPr marL="808038" lvl="1" indent="-350838">
              <a:buFont typeface="+mj-lt"/>
              <a:buAutoNum type="arabicPeriod" startAt="8"/>
            </a:pPr>
            <a:r>
              <a:rPr lang="en-US" sz="2200" dirty="0"/>
              <a:t>He would help you if he will have time.</a:t>
            </a:r>
          </a:p>
          <a:p>
            <a:pPr lvl="1"/>
            <a:r>
              <a:rPr lang="en-US" sz="2200" dirty="0"/>
              <a:t>He would help you if </a:t>
            </a:r>
            <a:r>
              <a:rPr lang="en-US" sz="2200" b="1" dirty="0"/>
              <a:t>he had </a:t>
            </a:r>
            <a:r>
              <a:rPr lang="en-US" sz="2200" dirty="0"/>
              <a:t>time. → </a:t>
            </a:r>
            <a:r>
              <a:rPr lang="en-US" sz="2200" b="1" dirty="0"/>
              <a:t>Second Conditional</a:t>
            </a:r>
          </a:p>
          <a:p>
            <a:pPr lvl="1"/>
            <a:endParaRPr lang="en-US" sz="2200" dirty="0"/>
          </a:p>
          <a:p>
            <a:pPr marL="808038" lvl="1" indent="-350838">
              <a:buFont typeface="+mj-lt"/>
              <a:buAutoNum type="arabicPeriod" startAt="9"/>
            </a:pPr>
            <a:r>
              <a:rPr lang="en-US" sz="2200" dirty="0"/>
              <a:t>If I am taller, I could reach the shelf.</a:t>
            </a:r>
          </a:p>
          <a:p>
            <a:pPr lvl="1"/>
            <a:r>
              <a:rPr lang="en-US" sz="2200" dirty="0"/>
              <a:t>If I </a:t>
            </a:r>
            <a:r>
              <a:rPr lang="en-US" sz="2200" b="1" dirty="0"/>
              <a:t>were </a:t>
            </a:r>
            <a:r>
              <a:rPr lang="en-US" sz="2200" dirty="0"/>
              <a:t>taller, I could reach the shelf. → </a:t>
            </a:r>
            <a:r>
              <a:rPr lang="en-US" sz="2200" b="1" dirty="0"/>
              <a:t>Second Conditional</a:t>
            </a:r>
          </a:p>
          <a:p>
            <a:pPr lvl="1"/>
            <a:endParaRPr lang="en-US" sz="2200" dirty="0"/>
          </a:p>
          <a:p>
            <a:pPr marL="914400" lvl="1" indent="-457200">
              <a:buFont typeface="+mj-lt"/>
              <a:buAutoNum type="arabicPeriod" startAt="10"/>
            </a:pPr>
            <a:r>
              <a:rPr lang="en-US" sz="2200" dirty="0"/>
              <a:t>If the train will be on time, we would not miss it.</a:t>
            </a:r>
          </a:p>
          <a:p>
            <a:pPr marL="893763" lvl="1" indent="-436563"/>
            <a:r>
              <a:rPr lang="en-US" sz="2200" dirty="0"/>
              <a:t>If the train </a:t>
            </a:r>
            <a:r>
              <a:rPr lang="en-US" sz="2200" b="1" dirty="0"/>
              <a:t>is </a:t>
            </a:r>
            <a:r>
              <a:rPr lang="en-US" sz="2200" dirty="0"/>
              <a:t>on time, we </a:t>
            </a:r>
            <a:r>
              <a:rPr lang="en-US" sz="2200" b="1" dirty="0"/>
              <a:t>will</a:t>
            </a:r>
            <a:r>
              <a:rPr lang="en-US" sz="2200" dirty="0"/>
              <a:t> not miss it.→ </a:t>
            </a:r>
            <a:r>
              <a:rPr lang="en-US" sz="2200" b="1" dirty="0"/>
              <a:t>First Conditional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A6713F-1085-5A5F-EC3E-76C169898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Conditional Sentences Practice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CEB2FA1-B046-D5C6-8AAE-D09D4D4C4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44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6C62B-B0A4-5D2C-4068-FCB84F57F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569F6A-B74D-1E06-04A4-12D941BF1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8918438" cy="2852737"/>
          </a:xfrm>
        </p:spPr>
        <p:txBody>
          <a:bodyPr/>
          <a:lstStyle/>
          <a:p>
            <a:r>
              <a:rPr lang="en-US" dirty="0"/>
              <a:t>Punctuation</a:t>
            </a:r>
          </a:p>
        </p:txBody>
      </p:sp>
    </p:spTree>
    <p:extLst>
      <p:ext uri="{BB962C8B-B14F-4D97-AF65-F5344CB8AC3E}">
        <p14:creationId xmlns:p14="http://schemas.microsoft.com/office/powerpoint/2010/main" val="19343924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8B3B7-6A72-CDBC-F203-81F864ADA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B16F444-EEA8-76BC-D363-582E5326D6B6}"/>
              </a:ext>
            </a:extLst>
          </p:cNvPr>
          <p:cNvSpPr txBox="1">
            <a:spLocks/>
          </p:cNvSpPr>
          <p:nvPr/>
        </p:nvSpPr>
        <p:spPr>
          <a:xfrm>
            <a:off x="0" y="2010615"/>
            <a:ext cx="8331200" cy="45634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The types of punctuation marks that we are going to study are:</a:t>
            </a:r>
          </a:p>
          <a:p>
            <a:pPr lvl="1"/>
            <a:r>
              <a:rPr lang="en-GB" dirty="0"/>
              <a:t>Full Stop</a:t>
            </a:r>
          </a:p>
          <a:p>
            <a:pPr lvl="1"/>
            <a:r>
              <a:rPr lang="en-GB" dirty="0"/>
              <a:t>The Comma</a:t>
            </a:r>
          </a:p>
          <a:p>
            <a:pPr lvl="1"/>
            <a:r>
              <a:rPr lang="en-GB" dirty="0"/>
              <a:t>The Semicolon</a:t>
            </a:r>
          </a:p>
          <a:p>
            <a:pPr lvl="1"/>
            <a:r>
              <a:rPr lang="en-GB" dirty="0"/>
              <a:t>The Colon</a:t>
            </a:r>
          </a:p>
          <a:p>
            <a:pPr lvl="1"/>
            <a:r>
              <a:rPr lang="en-GB" dirty="0"/>
              <a:t>The Parentheses</a:t>
            </a:r>
          </a:p>
          <a:p>
            <a:pPr lvl="1"/>
            <a:r>
              <a:rPr lang="en-GB" dirty="0"/>
              <a:t>The Question Mark</a:t>
            </a:r>
          </a:p>
          <a:p>
            <a:pPr lvl="1"/>
            <a:r>
              <a:rPr lang="en-GB" dirty="0"/>
              <a:t>The Apostrophe </a:t>
            </a:r>
          </a:p>
          <a:p>
            <a:pPr lvl="1"/>
            <a:r>
              <a:rPr lang="en-GB" dirty="0"/>
              <a:t>The Double Inverted Comma</a:t>
            </a:r>
          </a:p>
          <a:p>
            <a:pPr lvl="1"/>
            <a:r>
              <a:rPr lang="en-GB" dirty="0"/>
              <a:t>The Single Inverted Comma</a:t>
            </a:r>
          </a:p>
          <a:p>
            <a:pPr lvl="1"/>
            <a:r>
              <a:rPr lang="en-GB" dirty="0"/>
              <a:t>Use of Double Inverted Comma with other Punctuation</a:t>
            </a:r>
          </a:p>
          <a:p>
            <a:pPr marL="457200" lvl="1" indent="0">
              <a:buNone/>
            </a:pPr>
            <a:endParaRPr lang="en-GB" dirty="0"/>
          </a:p>
          <a:p>
            <a:pPr lvl="1"/>
            <a:endParaRPr lang="en-GB" dirty="0"/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FD5DDD-734E-54A7-7FCD-9763D57FA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Punctuation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6FC0C2-2477-AA65-9BC0-BB117006E38A}"/>
              </a:ext>
            </a:extLst>
          </p:cNvPr>
          <p:cNvSpPr txBox="1"/>
          <p:nvPr/>
        </p:nvSpPr>
        <p:spPr>
          <a:xfrm>
            <a:off x="6186117" y="2350174"/>
            <a:ext cx="5931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1DA670-0146-42FA-866B-6265348365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877" y="2821244"/>
            <a:ext cx="2133898" cy="321037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33388DA-B28C-4556-8921-D42CE9ADEA0C}"/>
              </a:ext>
            </a:extLst>
          </p:cNvPr>
          <p:cNvCxnSpPr>
            <a:cxnSpLocks/>
          </p:cNvCxnSpPr>
          <p:nvPr/>
        </p:nvCxnSpPr>
        <p:spPr>
          <a:xfrm>
            <a:off x="7703127" y="2996505"/>
            <a:ext cx="480291" cy="1991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710DA35-52CD-4D9D-B456-F7F9E34FC37E}"/>
              </a:ext>
            </a:extLst>
          </p:cNvPr>
          <p:cNvSpPr txBox="1"/>
          <p:nvPr/>
        </p:nvSpPr>
        <p:spPr>
          <a:xfrm>
            <a:off x="6720518" y="2726764"/>
            <a:ext cx="98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Full Stop</a:t>
            </a:r>
            <a:endParaRPr lang="en-IN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1C05CBE-68AB-4A7C-97D8-552954F77811}"/>
              </a:ext>
            </a:extLst>
          </p:cNvPr>
          <p:cNvCxnSpPr>
            <a:cxnSpLocks/>
          </p:cNvCxnSpPr>
          <p:nvPr/>
        </p:nvCxnSpPr>
        <p:spPr>
          <a:xfrm>
            <a:off x="7416800" y="3800475"/>
            <a:ext cx="58507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C4A6023-2DD1-46AF-A036-FAE4858FB13B}"/>
              </a:ext>
            </a:extLst>
          </p:cNvPr>
          <p:cNvSpPr txBox="1"/>
          <p:nvPr/>
        </p:nvSpPr>
        <p:spPr>
          <a:xfrm>
            <a:off x="6273538" y="3574376"/>
            <a:ext cx="1143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Semicolon</a:t>
            </a:r>
            <a:endParaRPr lang="en-IN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4343E8C-F0F3-4FB9-8E9A-A2310D120AA7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7449127" y="4426431"/>
            <a:ext cx="552750" cy="898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58BFADF-D495-4C22-92DD-C0892CCAF46C}"/>
              </a:ext>
            </a:extLst>
          </p:cNvPr>
          <p:cNvSpPr txBox="1"/>
          <p:nvPr/>
        </p:nvSpPr>
        <p:spPr>
          <a:xfrm>
            <a:off x="6135747" y="4316669"/>
            <a:ext cx="1418844" cy="376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Parentheses</a:t>
            </a:r>
            <a:endParaRPr lang="en-IN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1658D9D-8E91-467F-9F81-994F82F7E06C}"/>
              </a:ext>
            </a:extLst>
          </p:cNvPr>
          <p:cNvCxnSpPr>
            <a:cxnSpLocks/>
          </p:cNvCxnSpPr>
          <p:nvPr/>
        </p:nvCxnSpPr>
        <p:spPr>
          <a:xfrm flipV="1">
            <a:off x="7799393" y="4969068"/>
            <a:ext cx="531807" cy="1385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1B618A3-0CB7-498F-A2F9-B628E30CE177}"/>
              </a:ext>
            </a:extLst>
          </p:cNvPr>
          <p:cNvSpPr txBox="1"/>
          <p:nvPr/>
        </p:nvSpPr>
        <p:spPr>
          <a:xfrm>
            <a:off x="6287441" y="5063570"/>
            <a:ext cx="2366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Double Inverted Comma</a:t>
            </a:r>
            <a:endParaRPr lang="en-I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2F841B2-68A1-4889-8DB4-6B149C2A6126}"/>
              </a:ext>
            </a:extLst>
          </p:cNvPr>
          <p:cNvCxnSpPr>
            <a:cxnSpLocks/>
          </p:cNvCxnSpPr>
          <p:nvPr/>
        </p:nvCxnSpPr>
        <p:spPr>
          <a:xfrm flipH="1">
            <a:off x="9848801" y="2967328"/>
            <a:ext cx="489458" cy="21116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94DE5D8-6371-40A7-B342-97A272E60298}"/>
              </a:ext>
            </a:extLst>
          </p:cNvPr>
          <p:cNvSpPr txBox="1"/>
          <p:nvPr/>
        </p:nvSpPr>
        <p:spPr>
          <a:xfrm>
            <a:off x="10339638" y="2741278"/>
            <a:ext cx="888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Comma</a:t>
            </a:r>
            <a:endParaRPr lang="en-IN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F54AD21-A981-4BDC-A936-36E8224C0DEF}"/>
              </a:ext>
            </a:extLst>
          </p:cNvPr>
          <p:cNvCxnSpPr>
            <a:cxnSpLocks/>
          </p:cNvCxnSpPr>
          <p:nvPr/>
        </p:nvCxnSpPr>
        <p:spPr>
          <a:xfrm flipH="1">
            <a:off x="10093605" y="3755140"/>
            <a:ext cx="62724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FAFB28E-8B72-4AE5-95F5-367EE63E5A47}"/>
              </a:ext>
            </a:extLst>
          </p:cNvPr>
          <p:cNvSpPr txBox="1"/>
          <p:nvPr/>
        </p:nvSpPr>
        <p:spPr>
          <a:xfrm>
            <a:off x="10783830" y="3574376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Colon</a:t>
            </a:r>
            <a:endParaRPr lang="en-IN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12054C4-9FAA-4525-B647-98CD06E82C02}"/>
              </a:ext>
            </a:extLst>
          </p:cNvPr>
          <p:cNvCxnSpPr>
            <a:cxnSpLocks/>
          </p:cNvCxnSpPr>
          <p:nvPr/>
        </p:nvCxnSpPr>
        <p:spPr>
          <a:xfrm flipH="1" flipV="1">
            <a:off x="10093533" y="4362849"/>
            <a:ext cx="489528" cy="16485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D5E3760-58C8-41C7-8376-9581E30659AA}"/>
              </a:ext>
            </a:extLst>
          </p:cNvPr>
          <p:cNvSpPr txBox="1"/>
          <p:nvPr/>
        </p:nvSpPr>
        <p:spPr>
          <a:xfrm>
            <a:off x="10583061" y="4366339"/>
            <a:ext cx="1513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Question Mark</a:t>
            </a:r>
            <a:endParaRPr lang="en-IN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828849F-5667-4953-96B5-12520A2F19DE}"/>
              </a:ext>
            </a:extLst>
          </p:cNvPr>
          <p:cNvCxnSpPr>
            <a:cxnSpLocks/>
          </p:cNvCxnSpPr>
          <p:nvPr/>
        </p:nvCxnSpPr>
        <p:spPr>
          <a:xfrm flipH="1" flipV="1">
            <a:off x="9701104" y="4977814"/>
            <a:ext cx="489528" cy="16485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793FAA7-938A-4A87-8369-74750D05C33E}"/>
              </a:ext>
            </a:extLst>
          </p:cNvPr>
          <p:cNvSpPr txBox="1"/>
          <p:nvPr/>
        </p:nvSpPr>
        <p:spPr>
          <a:xfrm>
            <a:off x="10213272" y="5015254"/>
            <a:ext cx="1242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Apostrophe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75581EA-F9E5-C070-938E-C5B3975A9539}"/>
              </a:ext>
            </a:extLst>
          </p:cNvPr>
          <p:cNvSpPr txBox="1">
            <a:spLocks/>
          </p:cNvSpPr>
          <p:nvPr/>
        </p:nvSpPr>
        <p:spPr>
          <a:xfrm>
            <a:off x="-1" y="711200"/>
            <a:ext cx="12117789" cy="57599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</a:t>
            </a:r>
            <a:r>
              <a:rPr lang="en-US" b="1" dirty="0"/>
              <a:t>word </a:t>
            </a:r>
            <a:r>
              <a:rPr lang="en-US" b="1" i="1" dirty="0"/>
              <a:t>punctuation</a:t>
            </a:r>
            <a:r>
              <a:rPr lang="en-US" b="1" dirty="0"/>
              <a:t> </a:t>
            </a:r>
            <a:r>
              <a:rPr lang="en-US" dirty="0"/>
              <a:t>comes from the Latin </a:t>
            </a:r>
            <a:r>
              <a:rPr lang="en-US" i="1" dirty="0"/>
              <a:t>punctum</a:t>
            </a:r>
            <a:r>
              <a:rPr lang="en-US" dirty="0"/>
              <a:t>, meaning </a:t>
            </a:r>
            <a:r>
              <a:rPr lang="en-US" b="1" dirty="0">
                <a:solidFill>
                  <a:srgbClr val="002060"/>
                </a:solidFill>
              </a:rPr>
              <a:t>“point”</a:t>
            </a:r>
            <a:r>
              <a:rPr lang="en-US" b="1" dirty="0"/>
              <a:t>. </a:t>
            </a:r>
            <a:r>
              <a:rPr lang="en-US" dirty="0"/>
              <a:t>It makes written language </a:t>
            </a:r>
            <a:r>
              <a:rPr lang="en-US" b="1" dirty="0"/>
              <a:t>clear</a:t>
            </a:r>
            <a:r>
              <a:rPr lang="en-US" dirty="0"/>
              <a:t> and </a:t>
            </a:r>
            <a:r>
              <a:rPr lang="en-US" b="1" dirty="0"/>
              <a:t>easy</a:t>
            </a:r>
            <a:r>
              <a:rPr lang="en-US" dirty="0"/>
              <a:t> to </a:t>
            </a:r>
            <a:r>
              <a:rPr lang="en-US" b="1" dirty="0"/>
              <a:t>understand</a:t>
            </a:r>
            <a:r>
              <a:rPr lang="en-US" dirty="0"/>
              <a:t>.</a:t>
            </a:r>
          </a:p>
          <a:p>
            <a:r>
              <a:rPr lang="en-US" dirty="0"/>
              <a:t>It </a:t>
            </a:r>
            <a:r>
              <a:rPr lang="en-US" b="1" dirty="0"/>
              <a:t>separates</a:t>
            </a:r>
            <a:r>
              <a:rPr lang="en-US" dirty="0"/>
              <a:t> </a:t>
            </a:r>
            <a:r>
              <a:rPr lang="en-US" b="1" dirty="0"/>
              <a:t>sentences or parts of a sentence </a:t>
            </a:r>
            <a:r>
              <a:rPr lang="en-US" dirty="0"/>
              <a:t>using </a:t>
            </a:r>
            <a:r>
              <a:rPr lang="en-US" b="1" dirty="0"/>
              <a:t>signs</a:t>
            </a:r>
            <a:r>
              <a:rPr lang="en-US" dirty="0"/>
              <a:t> called </a:t>
            </a:r>
            <a:r>
              <a:rPr lang="en-US" b="1" dirty="0"/>
              <a:t>punctuation marks</a:t>
            </a:r>
            <a:r>
              <a:rPr lang="en-US" dirty="0"/>
              <a:t>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018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20" grpId="0"/>
      <p:bldP spid="23" grpId="0"/>
      <p:bldP spid="29" grpId="0"/>
      <p:bldP spid="34" grpId="0"/>
      <p:bldP spid="39" grpId="0"/>
      <p:bldP spid="4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F525A-A824-A02D-7E56-7051860D6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D1BF9A1-13E4-ACF7-527F-699B45027DF2}"/>
              </a:ext>
            </a:extLst>
          </p:cNvPr>
          <p:cNvSpPr txBox="1">
            <a:spLocks/>
          </p:cNvSpPr>
          <p:nvPr/>
        </p:nvSpPr>
        <p:spPr>
          <a:xfrm>
            <a:off x="8686" y="711200"/>
            <a:ext cx="7955097" cy="57599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GB" b="1" dirty="0"/>
              <a:t>A full stop (.) </a:t>
            </a:r>
            <a:r>
              <a:rPr lang="en-GB" b="1" dirty="0">
                <a:solidFill>
                  <a:srgbClr val="C00000"/>
                </a:solidFill>
              </a:rPr>
              <a:t>shows that a sentence has come to an end.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It is used at the end of a declarative or an imperative sentence.</a:t>
            </a:r>
          </a:p>
          <a:p>
            <a:pPr lvl="2">
              <a:lnSpc>
                <a:spcPct val="100000"/>
              </a:lnSpc>
            </a:pPr>
            <a:r>
              <a:rPr lang="en-GB" dirty="0"/>
              <a:t>I live in Mumbai. </a:t>
            </a:r>
          </a:p>
          <a:p>
            <a:pPr lvl="2">
              <a:lnSpc>
                <a:spcPct val="100000"/>
              </a:lnSpc>
            </a:pPr>
            <a:r>
              <a:rPr lang="en-GB" dirty="0"/>
              <a:t>He is a good student.</a:t>
            </a:r>
          </a:p>
          <a:p>
            <a:pPr lvl="2">
              <a:lnSpc>
                <a:spcPct val="100000"/>
              </a:lnSpc>
            </a:pPr>
            <a:r>
              <a:rPr lang="en-GB" dirty="0"/>
              <a:t>Go and bring some water. 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b="1" dirty="0"/>
              <a:t>Sentences expressing</a:t>
            </a:r>
            <a:r>
              <a:rPr lang="en-US" dirty="0"/>
              <a:t> </a:t>
            </a:r>
            <a:r>
              <a:rPr lang="en-US" b="1" dirty="0"/>
              <a:t>requests </a:t>
            </a:r>
            <a:r>
              <a:rPr lang="en-US" b="1" dirty="0">
                <a:solidFill>
                  <a:srgbClr val="C00000"/>
                </a:solidFill>
              </a:rPr>
              <a:t>end with full stops</a:t>
            </a:r>
            <a:r>
              <a:rPr lang="en-US" dirty="0"/>
              <a:t>, </a:t>
            </a:r>
            <a:r>
              <a:rPr lang="en-US" b="1" dirty="0"/>
              <a:t>not question marks.</a:t>
            </a:r>
            <a:endParaRPr lang="en-GB" b="1" dirty="0"/>
          </a:p>
          <a:p>
            <a:pPr lvl="1">
              <a:lnSpc>
                <a:spcPct val="100000"/>
              </a:lnSpc>
            </a:pPr>
            <a:r>
              <a:rPr lang="en-GB" dirty="0"/>
              <a:t>May I send you a cup of tea. (request)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Will you kindly send me any more information you get on the matter. (request)</a:t>
            </a:r>
          </a:p>
          <a:p>
            <a:pPr marL="0" indent="0">
              <a:buNone/>
            </a:pPr>
            <a:endParaRPr lang="en-GB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F0EB00-B88A-83D2-327E-41255D2C9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>
            <a:normAutofit fontScale="90000"/>
          </a:bodyPr>
          <a:lstStyle/>
          <a:p>
            <a:r>
              <a:rPr lang="en-US" dirty="0"/>
              <a:t>The Full Stop </a:t>
            </a:r>
            <a:r>
              <a:rPr lang="en-IN" dirty="0"/>
              <a:t>(</a:t>
            </a:r>
            <a:r>
              <a:rPr lang="en-IN" sz="4900" dirty="0"/>
              <a:t>.</a:t>
            </a:r>
            <a:r>
              <a:rPr lang="en-IN" dirty="0"/>
              <a:t>)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7946AC-1457-0F39-5797-756F61826517}"/>
              </a:ext>
            </a:extLst>
          </p:cNvPr>
          <p:cNvSpPr txBox="1"/>
          <p:nvPr/>
        </p:nvSpPr>
        <p:spPr>
          <a:xfrm>
            <a:off x="6162671" y="749644"/>
            <a:ext cx="5931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B27563-90CC-BFDF-3D40-7D94618F8F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1933" y="749644"/>
            <a:ext cx="3337168" cy="460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942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B1BFDD-5189-4863-9E5B-EEE6685A3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Full Stop </a:t>
            </a:r>
            <a:r>
              <a:rPr lang="en-IN" dirty="0"/>
              <a:t>(</a:t>
            </a:r>
            <a:r>
              <a:rPr lang="en-IN" sz="4900" dirty="0"/>
              <a:t>.</a:t>
            </a:r>
            <a:r>
              <a:rPr lang="en-IN" dirty="0"/>
              <a:t>)</a:t>
            </a:r>
          </a:p>
        </p:txBody>
      </p:sp>
      <p:sp>
        <p:nvSpPr>
          <p:cNvPr id="4" name="AutoShape 2" descr="Image of ">
            <a:extLst>
              <a:ext uri="{FF2B5EF4-FFF2-40B4-BE49-F238E27FC236}">
                <a16:creationId xmlns:a16="http://schemas.microsoft.com/office/drawing/2014/main" id="{6C5B4D67-66A6-4B31-88A2-3FDDEE3A95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09584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768D5B-82EC-9524-E421-5A45BE0171F5}"/>
              </a:ext>
            </a:extLst>
          </p:cNvPr>
          <p:cNvSpPr/>
          <p:nvPr/>
        </p:nvSpPr>
        <p:spPr>
          <a:xfrm>
            <a:off x="893015" y="1689263"/>
            <a:ext cx="1188720" cy="7549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Dr.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524073-7AAC-FA9B-09D7-267586AFF7EF}"/>
              </a:ext>
            </a:extLst>
          </p:cNvPr>
          <p:cNvSpPr/>
          <p:nvPr/>
        </p:nvSpPr>
        <p:spPr>
          <a:xfrm>
            <a:off x="2300057" y="1692805"/>
            <a:ext cx="1188720" cy="7549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Mr.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C7215A-6B79-724E-BB94-9A05E655E90C}"/>
              </a:ext>
            </a:extLst>
          </p:cNvPr>
          <p:cNvSpPr/>
          <p:nvPr/>
        </p:nvSpPr>
        <p:spPr>
          <a:xfrm>
            <a:off x="3708397" y="1685721"/>
            <a:ext cx="1188720" cy="7549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Ltd.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5C5CF7-ACD4-C351-7D62-991C0C951EC2}"/>
              </a:ext>
            </a:extLst>
          </p:cNvPr>
          <p:cNvSpPr/>
          <p:nvPr/>
        </p:nvSpPr>
        <p:spPr>
          <a:xfrm>
            <a:off x="5115439" y="1689263"/>
            <a:ext cx="1188720" cy="7549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Prof.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7F094E-C890-BDF5-9286-8D2D341F05E6}"/>
              </a:ext>
            </a:extLst>
          </p:cNvPr>
          <p:cNvSpPr/>
          <p:nvPr/>
        </p:nvSpPr>
        <p:spPr>
          <a:xfrm>
            <a:off x="6511076" y="1686722"/>
            <a:ext cx="1188720" cy="7549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St.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001E10-F7F8-0811-54D3-52635A0D1150}"/>
              </a:ext>
            </a:extLst>
          </p:cNvPr>
          <p:cNvSpPr/>
          <p:nvPr/>
        </p:nvSpPr>
        <p:spPr>
          <a:xfrm>
            <a:off x="7918118" y="1690264"/>
            <a:ext cx="1188720" cy="7549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Capt.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8BD1E5-4C94-AD1F-33B8-1C9E7257396E}"/>
              </a:ext>
            </a:extLst>
          </p:cNvPr>
          <p:cNvSpPr/>
          <p:nvPr/>
        </p:nvSpPr>
        <p:spPr>
          <a:xfrm>
            <a:off x="9326458" y="1683180"/>
            <a:ext cx="1188720" cy="7549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Adj.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520C0A-4126-0C39-C98C-CCBC09018C1B}"/>
              </a:ext>
            </a:extLst>
          </p:cNvPr>
          <p:cNvSpPr/>
          <p:nvPr/>
        </p:nvSpPr>
        <p:spPr>
          <a:xfrm>
            <a:off x="10733500" y="1686722"/>
            <a:ext cx="1188720" cy="7549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Jr.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3A180B-8B92-1849-3DCD-0494A878274F}"/>
              </a:ext>
            </a:extLst>
          </p:cNvPr>
          <p:cNvSpPr/>
          <p:nvPr/>
        </p:nvSpPr>
        <p:spPr>
          <a:xfrm>
            <a:off x="881784" y="3170956"/>
            <a:ext cx="2958695" cy="7549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A. P. J. Abdul Kalam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177724-A643-85A7-267B-82807D875EF5}"/>
              </a:ext>
            </a:extLst>
          </p:cNvPr>
          <p:cNvSpPr/>
          <p:nvPr/>
        </p:nvSpPr>
        <p:spPr>
          <a:xfrm>
            <a:off x="4030137" y="3163915"/>
            <a:ext cx="2002254" cy="7549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R. K. Narayan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40958E-14DE-BF88-7822-CF07B8922687}"/>
              </a:ext>
            </a:extLst>
          </p:cNvPr>
          <p:cNvSpPr/>
          <p:nvPr/>
        </p:nvSpPr>
        <p:spPr>
          <a:xfrm>
            <a:off x="6226395" y="3177005"/>
            <a:ext cx="1758081" cy="7549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P. V. Sindhu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4DDF62-F6D8-6194-8B22-C284CE162BF5}"/>
              </a:ext>
            </a:extLst>
          </p:cNvPr>
          <p:cNvSpPr/>
          <p:nvPr/>
        </p:nvSpPr>
        <p:spPr>
          <a:xfrm>
            <a:off x="8178480" y="3177005"/>
            <a:ext cx="2002254" cy="7549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M. K. Gandhi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BC8DD8-F112-42EF-8453-2F7D8FCAAD04}"/>
              </a:ext>
            </a:extLst>
          </p:cNvPr>
          <p:cNvSpPr/>
          <p:nvPr/>
        </p:nvSpPr>
        <p:spPr>
          <a:xfrm>
            <a:off x="10369525" y="3170956"/>
            <a:ext cx="1758081" cy="7549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C. V. Raman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D419C5-CD75-7F5C-3A0E-14B424362FBB}"/>
              </a:ext>
            </a:extLst>
          </p:cNvPr>
          <p:cNvSpPr/>
          <p:nvPr/>
        </p:nvSpPr>
        <p:spPr>
          <a:xfrm>
            <a:off x="889461" y="5133316"/>
            <a:ext cx="4860000" cy="7549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We stayed at Sunrise Hotels Pvt. Ltd.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797146-859C-6287-12C2-15D2814C0847}"/>
              </a:ext>
            </a:extLst>
          </p:cNvPr>
          <p:cNvSpPr/>
          <p:nvPr/>
        </p:nvSpPr>
        <p:spPr>
          <a:xfrm>
            <a:off x="5996874" y="5133316"/>
            <a:ext cx="4464000" cy="7549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His office is in Washington, D.C.</a:t>
            </a:r>
          </a:p>
        </p:txBody>
      </p:sp>
      <p:sp>
        <p:nvSpPr>
          <p:cNvPr id="23" name="Content Placeholder 1">
            <a:extLst>
              <a:ext uri="{FF2B5EF4-FFF2-40B4-BE49-F238E27FC236}">
                <a16:creationId xmlns:a16="http://schemas.microsoft.com/office/drawing/2014/main" id="{508017B4-A2DB-46E9-89E6-BFCECF030ACF}"/>
              </a:ext>
            </a:extLst>
          </p:cNvPr>
          <p:cNvSpPr txBox="1">
            <a:spLocks/>
          </p:cNvSpPr>
          <p:nvPr/>
        </p:nvSpPr>
        <p:spPr>
          <a:xfrm>
            <a:off x="0" y="708701"/>
            <a:ext cx="11929641" cy="55903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buFont typeface="+mj-lt"/>
              <a:buAutoNum type="arabicPeriod" startAt="3"/>
            </a:pPr>
            <a:r>
              <a:rPr lang="en-GB" b="1" dirty="0"/>
              <a:t>The full stop is </a:t>
            </a:r>
            <a:r>
              <a:rPr lang="en-GB" b="1" dirty="0">
                <a:solidFill>
                  <a:srgbClr val="C00000"/>
                </a:solidFill>
              </a:rPr>
              <a:t>used after abbreviations and initials.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Abbreviation</a:t>
            </a:r>
          </a:p>
          <a:p>
            <a:pPr lvl="1">
              <a:lnSpc>
                <a:spcPct val="100000"/>
              </a:lnSpc>
            </a:pPr>
            <a:endParaRPr lang="en-GB" dirty="0"/>
          </a:p>
          <a:p>
            <a:pPr lvl="1">
              <a:lnSpc>
                <a:spcPct val="100000"/>
              </a:lnSpc>
            </a:pPr>
            <a:endParaRPr lang="en-GB" dirty="0"/>
          </a:p>
          <a:p>
            <a:pPr lvl="1">
              <a:lnSpc>
                <a:spcPct val="100000"/>
              </a:lnSpc>
            </a:pPr>
            <a:endParaRPr lang="en-GB" dirty="0"/>
          </a:p>
          <a:p>
            <a:pPr lvl="1">
              <a:lnSpc>
                <a:spcPct val="100000"/>
              </a:lnSpc>
            </a:pPr>
            <a:r>
              <a:rPr lang="en-GB" dirty="0"/>
              <a:t>Initials</a:t>
            </a:r>
          </a:p>
          <a:p>
            <a:pPr lvl="1">
              <a:lnSpc>
                <a:spcPct val="100000"/>
              </a:lnSpc>
            </a:pPr>
            <a:endParaRPr lang="en-GB" dirty="0"/>
          </a:p>
          <a:p>
            <a:pPr lvl="1">
              <a:lnSpc>
                <a:spcPct val="100000"/>
              </a:lnSpc>
            </a:pPr>
            <a:endParaRPr lang="en-GB" dirty="0"/>
          </a:p>
          <a:p>
            <a:pPr lvl="1">
              <a:lnSpc>
                <a:spcPct val="100000"/>
              </a:lnSpc>
            </a:pPr>
            <a:endParaRPr lang="en-GB" dirty="0"/>
          </a:p>
          <a:p>
            <a:pPr>
              <a:lnSpc>
                <a:spcPct val="100000"/>
              </a:lnSpc>
            </a:pPr>
            <a:r>
              <a:rPr lang="en-GB" b="1" dirty="0"/>
              <a:t>Note</a:t>
            </a:r>
            <a:r>
              <a:rPr lang="en-GB" dirty="0"/>
              <a:t>: </a:t>
            </a:r>
            <a:r>
              <a:rPr lang="en-GB" b="1" dirty="0"/>
              <a:t>When a sentence ends with an abbreviation</a:t>
            </a:r>
            <a:r>
              <a:rPr lang="en-GB" dirty="0"/>
              <a:t>, </a:t>
            </a:r>
            <a:r>
              <a:rPr lang="en-GB" b="1" dirty="0">
                <a:solidFill>
                  <a:srgbClr val="C00000"/>
                </a:solidFill>
              </a:rPr>
              <a:t>one full stop is sufficient </a:t>
            </a:r>
            <a:r>
              <a:rPr lang="en-GB" dirty="0"/>
              <a:t>for both the </a:t>
            </a:r>
            <a:r>
              <a:rPr lang="en-GB" b="1" dirty="0"/>
              <a:t>abbreviation and the sentence.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8900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5603E-E4F3-C145-38D7-91C2876C4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9626F-D7E3-8F8D-C5F1-04532BBEA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The Comma </a:t>
            </a:r>
            <a:r>
              <a:rPr lang="en-IN" dirty="0"/>
              <a:t>(,)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4105F3-7CBE-4ABF-9397-11CDE19A2E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579" y="1045548"/>
            <a:ext cx="2833125" cy="345566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C16CA-AE34-6E64-9D47-ADA3F78621A6}"/>
              </a:ext>
            </a:extLst>
          </p:cNvPr>
          <p:cNvSpPr txBox="1">
            <a:spLocks/>
          </p:cNvSpPr>
          <p:nvPr/>
        </p:nvSpPr>
        <p:spPr>
          <a:xfrm>
            <a:off x="-1947" y="711200"/>
            <a:ext cx="9013526" cy="57599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GB" dirty="0"/>
              <a:t>The Comma (</a:t>
            </a:r>
            <a:r>
              <a:rPr lang="en-GB" b="1" dirty="0"/>
              <a:t>,</a:t>
            </a:r>
            <a:r>
              <a:rPr lang="en-GB" dirty="0"/>
              <a:t>) is the </a:t>
            </a:r>
            <a:r>
              <a:rPr lang="en-GB" b="1" dirty="0"/>
              <a:t>shortest pause</a:t>
            </a:r>
            <a:r>
              <a:rPr lang="en-GB" dirty="0"/>
              <a:t>, and is used </a:t>
            </a:r>
            <a:r>
              <a:rPr lang="en-GB" b="1" dirty="0">
                <a:solidFill>
                  <a:srgbClr val="C00000"/>
                </a:solidFill>
              </a:rPr>
              <a:t>to separate a series of words in the same construction.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He wrote his exercise neatly, quickly and correctly. 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We must work carefully, honestly and sincerely.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The room was painted red, blue, green and yellow.</a:t>
            </a:r>
          </a:p>
          <a:p>
            <a:pPr lvl="1">
              <a:lnSpc>
                <a:spcPct val="100000"/>
              </a:lnSpc>
            </a:pPr>
            <a:endParaRPr lang="en-GB" dirty="0"/>
          </a:p>
          <a:p>
            <a:pPr>
              <a:lnSpc>
                <a:spcPct val="100000"/>
              </a:lnSpc>
            </a:pPr>
            <a:r>
              <a:rPr lang="en-GB" b="1" dirty="0"/>
              <a:t>Note: </a:t>
            </a:r>
            <a:r>
              <a:rPr lang="en-US" dirty="0"/>
              <a:t>We </a:t>
            </a:r>
            <a:r>
              <a:rPr lang="en-US" b="1" dirty="0"/>
              <a:t>use a comma before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i="1" dirty="0">
                <a:solidFill>
                  <a:srgbClr val="002060"/>
                </a:solidFill>
              </a:rPr>
              <a:t>and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/>
              <a:t>in special cases, like the Oxford comma (used mostly in American English for clarity) or in long/complex sentences.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I bought apples, bananas, and oranges.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She finished her homework, and then she went out to play. 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At the shop, I bought pens, pencils, and erasers.</a:t>
            </a:r>
          </a:p>
          <a:p>
            <a:pPr>
              <a:lnSpc>
                <a:spcPct val="100000"/>
              </a:lnSpc>
            </a:pPr>
            <a:endParaRPr lang="en-GB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825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20EB1-29FB-AFF3-5CF2-CD99FFC98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3130712-F0E4-8072-D20B-DBF7F1AED766}"/>
              </a:ext>
            </a:extLst>
          </p:cNvPr>
          <p:cNvSpPr txBox="1">
            <a:spLocks/>
          </p:cNvSpPr>
          <p:nvPr/>
        </p:nvSpPr>
        <p:spPr>
          <a:xfrm>
            <a:off x="0" y="711200"/>
            <a:ext cx="12192000" cy="57599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buFont typeface="+mj-lt"/>
              <a:buAutoNum type="arabicPeriod" startAt="2"/>
            </a:pPr>
            <a:r>
              <a:rPr lang="en-US" dirty="0"/>
              <a:t>When we </a:t>
            </a:r>
            <a:r>
              <a:rPr lang="en-US" b="1" dirty="0">
                <a:solidFill>
                  <a:srgbClr val="C00000"/>
                </a:solidFill>
              </a:rPr>
              <a:t>talk directly to a person in a sentence</a:t>
            </a:r>
            <a:r>
              <a:rPr lang="en-US" dirty="0"/>
              <a:t>, we use a </a:t>
            </a:r>
            <a:r>
              <a:rPr lang="en-US" b="1" dirty="0">
                <a:solidFill>
                  <a:srgbClr val="C00000"/>
                </a:solidFill>
              </a:rPr>
              <a:t>comma to separate the name or title of that person</a:t>
            </a:r>
            <a:r>
              <a:rPr lang="en-US" dirty="0"/>
              <a:t>. This is called </a:t>
            </a:r>
            <a:r>
              <a:rPr lang="en-US" b="1" dirty="0"/>
              <a:t>a vocative comma</a:t>
            </a:r>
            <a:r>
              <a:rPr lang="en-US" dirty="0"/>
              <a:t>.</a:t>
            </a:r>
            <a:endParaRPr lang="en-GB" dirty="0"/>
          </a:p>
          <a:p>
            <a:pPr lvl="1">
              <a:lnSpc>
                <a:spcPct val="100000"/>
              </a:lnSpc>
            </a:pPr>
            <a:r>
              <a:rPr lang="en-GB" dirty="0"/>
              <a:t>How are you, Mohan? 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Here, </a:t>
            </a:r>
            <a:r>
              <a:rPr lang="en-US" i="1" dirty="0"/>
              <a:t>Mohan</a:t>
            </a:r>
            <a:r>
              <a:rPr lang="en-US" dirty="0"/>
              <a:t> is the person being addressed, so we put a comma before it.</a:t>
            </a:r>
          </a:p>
          <a:p>
            <a:pPr lvl="1">
              <a:lnSpc>
                <a:spcPct val="100000"/>
              </a:lnSpc>
            </a:pPr>
            <a:r>
              <a:rPr lang="en-IN" dirty="0"/>
              <a:t>Sit down, children.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Here, children is the person (group) being addressed, so we put a comma before it.</a:t>
            </a:r>
          </a:p>
          <a:p>
            <a:pPr marL="914400" lvl="2" indent="0">
              <a:lnSpc>
                <a:spcPct val="100000"/>
              </a:lnSpc>
              <a:buNone/>
            </a:pPr>
            <a:endParaRPr lang="en-GB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3"/>
            </a:pPr>
            <a:r>
              <a:rPr lang="en-US" dirty="0"/>
              <a:t>When </a:t>
            </a:r>
            <a:r>
              <a:rPr lang="en-US" b="1" dirty="0">
                <a:solidFill>
                  <a:srgbClr val="C00000"/>
                </a:solidFill>
              </a:rPr>
              <a:t>we quote someone’s exact words </a:t>
            </a:r>
            <a:r>
              <a:rPr lang="en-US" dirty="0"/>
              <a:t>in a sentence, we </a:t>
            </a:r>
            <a:r>
              <a:rPr lang="en-US" b="1" dirty="0"/>
              <a:t>use commas </a:t>
            </a:r>
            <a:r>
              <a:rPr lang="en-US" dirty="0"/>
              <a:t>(or sometimes colons) </a:t>
            </a:r>
            <a:r>
              <a:rPr lang="en-US" b="1" dirty="0">
                <a:solidFill>
                  <a:srgbClr val="C00000"/>
                </a:solidFill>
              </a:rPr>
              <a:t>to separate the quotation</a:t>
            </a:r>
            <a:r>
              <a:rPr lang="en-US" b="1" dirty="0"/>
              <a:t> from the rest of the sentence.</a:t>
            </a:r>
            <a:endParaRPr lang="en-GB" b="1" dirty="0"/>
          </a:p>
          <a:p>
            <a:pPr lvl="1">
              <a:lnSpc>
                <a:spcPct val="100000"/>
              </a:lnSpc>
            </a:pPr>
            <a:r>
              <a:rPr lang="en-GB" dirty="0"/>
              <a:t>“Exactly so,” said Alice.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She said, “I am very happy today.”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Rani said, “I will help you with your homework.”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The teacher said, “Please open your books.”</a:t>
            </a:r>
            <a:endParaRPr lang="en-GB" dirty="0"/>
          </a:p>
          <a:p>
            <a:pPr lvl="1">
              <a:lnSpc>
                <a:spcPct val="100000"/>
              </a:lnSpc>
            </a:pPr>
            <a:endParaRPr lang="en-GB" dirty="0"/>
          </a:p>
          <a:p>
            <a:pPr marL="0" indent="0">
              <a:buNone/>
            </a:pPr>
            <a:endParaRPr lang="en-IN" dirty="0"/>
          </a:p>
          <a:p>
            <a:pPr>
              <a:lnSpc>
                <a:spcPct val="100000"/>
              </a:lnSpc>
              <a:buFont typeface="Wingdings 3" panose="05040102010807070707" pitchFamily="18" charset="2"/>
              <a:buChar char="}"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61BBD0-67D5-CCC1-DE53-2B7B38B90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The Comma </a:t>
            </a:r>
            <a:r>
              <a:rPr lang="en-IN" dirty="0"/>
              <a:t>(,)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917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D81A3-4C3E-FFB8-34C5-60E13F47C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769CC29-B66A-719C-03B5-7E4E2D7A8C54}"/>
              </a:ext>
            </a:extLst>
          </p:cNvPr>
          <p:cNvSpPr txBox="1">
            <a:spLocks/>
          </p:cNvSpPr>
          <p:nvPr/>
        </p:nvSpPr>
        <p:spPr>
          <a:xfrm>
            <a:off x="0" y="711200"/>
            <a:ext cx="12192000" cy="57599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Connecting Closely Related Independent Clauses </a:t>
            </a:r>
            <a:endParaRPr lang="en-GB" b="1" dirty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b="1" dirty="0"/>
              <a:t>A semicolon is used to join two independent clauses (complete sentences) that are closely related in meaning but not joined by a conjunction (like "and," "but," or "or").</a:t>
            </a:r>
          </a:p>
          <a:p>
            <a:pPr lvl="2">
              <a:lnSpc>
                <a:spcPct val="100000"/>
              </a:lnSpc>
            </a:pPr>
            <a:r>
              <a:rPr lang="en-GB" dirty="0"/>
              <a:t>I like coffee</a:t>
            </a:r>
            <a:r>
              <a:rPr lang="en-GB" b="1" dirty="0"/>
              <a:t>; </a:t>
            </a:r>
            <a:r>
              <a:rPr lang="en-GB" dirty="0"/>
              <a:t>she prefers tea.</a:t>
            </a:r>
          </a:p>
          <a:p>
            <a:pPr lvl="2">
              <a:lnSpc>
                <a:spcPct val="100000"/>
              </a:lnSpc>
            </a:pPr>
            <a:r>
              <a:rPr lang="en-GB" dirty="0"/>
              <a:t>She loves reading</a:t>
            </a:r>
            <a:r>
              <a:rPr lang="en-GB" b="1" dirty="0"/>
              <a:t>; </a:t>
            </a:r>
            <a:r>
              <a:rPr lang="en-GB" dirty="0"/>
              <a:t>he prefers watching movies.</a:t>
            </a:r>
          </a:p>
          <a:p>
            <a:pPr marL="914400" lvl="2" indent="0">
              <a:lnSpc>
                <a:spcPct val="100000"/>
              </a:lnSpc>
              <a:buNone/>
            </a:pPr>
            <a:endParaRPr lang="en-GB" dirty="0"/>
          </a:p>
          <a:p>
            <a:pPr marL="457200" lvl="0" indent="-457200">
              <a:lnSpc>
                <a:spcPct val="100000"/>
              </a:lnSpc>
              <a:buClr>
                <a:srgbClr val="B84742"/>
              </a:buClr>
              <a:buFont typeface="+mj-lt"/>
              <a:buAutoNum type="arabicPeriod"/>
            </a:pPr>
            <a:r>
              <a:rPr lang="en-GB" b="1" dirty="0">
                <a:solidFill>
                  <a:srgbClr val="C00000"/>
                </a:solidFill>
              </a:rPr>
              <a:t>Introducing Complex List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A semicolon is used to separate items in a complex list, especially when the items themselves contain commas.</a:t>
            </a:r>
            <a:endParaRPr lang="en-GB" b="1" dirty="0"/>
          </a:p>
          <a:p>
            <a:pPr lvl="2">
              <a:lnSpc>
                <a:spcPct val="100000"/>
              </a:lnSpc>
            </a:pPr>
            <a:r>
              <a:rPr lang="en-GB" dirty="0"/>
              <a:t>We will visit three cities this summer Paris, France, Berlin, Germany, and Tokyo, Japan.</a:t>
            </a:r>
          </a:p>
          <a:p>
            <a:pPr lvl="2">
              <a:lnSpc>
                <a:spcPct val="100000"/>
              </a:lnSpc>
            </a:pPr>
            <a:r>
              <a:rPr lang="en-GB" dirty="0"/>
              <a:t>We will visit three cities this summer: Paris, France; Berlin, Germany; and Tokyo, Japan.</a:t>
            </a:r>
          </a:p>
          <a:p>
            <a:pPr lvl="2">
              <a:lnSpc>
                <a:spcPct val="100000"/>
              </a:lnSpc>
            </a:pPr>
            <a:r>
              <a:rPr lang="en-GB" dirty="0"/>
              <a:t>The team includes Mayank, the leader, Sneha, the coordinator, and Ravi, the assistant.</a:t>
            </a:r>
          </a:p>
          <a:p>
            <a:pPr lvl="2">
              <a:lnSpc>
                <a:spcPct val="100000"/>
              </a:lnSpc>
            </a:pPr>
            <a:r>
              <a:rPr lang="en-GB" dirty="0"/>
              <a:t>The team includes Mayank, the leader; Sneha, the coordinator; and Ravi, the assistant.</a:t>
            </a:r>
          </a:p>
          <a:p>
            <a:pPr lvl="1">
              <a:lnSpc>
                <a:spcPct val="100000"/>
              </a:lnSpc>
            </a:pPr>
            <a:endParaRPr lang="en-GB" dirty="0"/>
          </a:p>
          <a:p>
            <a:pPr marL="0" indent="0">
              <a:buNone/>
            </a:pPr>
            <a:endParaRPr lang="en-IN" dirty="0"/>
          </a:p>
          <a:p>
            <a:pPr>
              <a:lnSpc>
                <a:spcPct val="100000"/>
              </a:lnSpc>
              <a:buFont typeface="Wingdings 3" panose="05040102010807070707" pitchFamily="18" charset="2"/>
              <a:buChar char="}"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80F874-8B7C-814C-3D49-D1046BDCA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IN" dirty="0"/>
              <a:t>The Semicolon (;)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2663B0-0D5E-C65A-670B-36E308D9A5CB}"/>
              </a:ext>
            </a:extLst>
          </p:cNvPr>
          <p:cNvSpPr txBox="1"/>
          <p:nvPr/>
        </p:nvSpPr>
        <p:spPr>
          <a:xfrm>
            <a:off x="9080795" y="4261215"/>
            <a:ext cx="5242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✔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AEA371-D42C-5729-93C7-E2AD84D7EE71}"/>
              </a:ext>
            </a:extLst>
          </p:cNvPr>
          <p:cNvSpPr txBox="1"/>
          <p:nvPr/>
        </p:nvSpPr>
        <p:spPr>
          <a:xfrm>
            <a:off x="9135561" y="4002969"/>
            <a:ext cx="3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✘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55D016-5129-C225-03A3-104263F64B6A}"/>
              </a:ext>
            </a:extLst>
          </p:cNvPr>
          <p:cNvSpPr txBox="1"/>
          <p:nvPr/>
        </p:nvSpPr>
        <p:spPr>
          <a:xfrm>
            <a:off x="8997928" y="4949227"/>
            <a:ext cx="5242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✔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467BB6-7E70-F41D-B9F3-0B5CD1BDEC7E}"/>
              </a:ext>
            </a:extLst>
          </p:cNvPr>
          <p:cNvSpPr txBox="1"/>
          <p:nvPr/>
        </p:nvSpPr>
        <p:spPr>
          <a:xfrm>
            <a:off x="9052694" y="4690981"/>
            <a:ext cx="414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✘</a:t>
            </a:r>
          </a:p>
        </p:txBody>
      </p:sp>
    </p:spTree>
    <p:extLst>
      <p:ext uri="{BB962C8B-B14F-4D97-AF65-F5344CB8AC3E}">
        <p14:creationId xmlns:p14="http://schemas.microsoft.com/office/powerpoint/2010/main" val="1738333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1F151-7DDA-6BDE-AF8B-E2BD5D77E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22050-FB89-B1D3-3B13-6565CD454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1200"/>
            <a:ext cx="11929641" cy="5742608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GB" b="1" dirty="0">
                <a:solidFill>
                  <a:srgbClr val="C00000"/>
                </a:solidFill>
              </a:rPr>
              <a:t>Introducing List </a:t>
            </a:r>
          </a:p>
          <a:p>
            <a:pPr lvl="1">
              <a:lnSpc>
                <a:spcPct val="100000"/>
              </a:lnSpc>
            </a:pPr>
            <a:r>
              <a:rPr lang="en-GB" b="1" dirty="0"/>
              <a:t>Use a colon to introduce a list of items after a complete sentence.</a:t>
            </a:r>
          </a:p>
          <a:p>
            <a:pPr lvl="2">
              <a:lnSpc>
                <a:spcPct val="100000"/>
              </a:lnSpc>
            </a:pPr>
            <a:r>
              <a:rPr lang="en-GB" dirty="0"/>
              <a:t>The load distribution follows this pattern</a:t>
            </a:r>
            <a:r>
              <a:rPr lang="en-GB" b="1" dirty="0"/>
              <a:t>: uniform, point, and varying loads.</a:t>
            </a:r>
          </a:p>
          <a:p>
            <a:pPr lvl="2">
              <a:lnSpc>
                <a:spcPct val="100000"/>
              </a:lnSpc>
            </a:pPr>
            <a:r>
              <a:rPr lang="en-GB" dirty="0"/>
              <a:t>The program requires the following inputs</a:t>
            </a:r>
            <a:r>
              <a:rPr lang="en-GB" b="1" dirty="0"/>
              <a:t>: user name, password, and security key</a:t>
            </a:r>
            <a:r>
              <a:rPr lang="en-GB" dirty="0"/>
              <a:t>.</a:t>
            </a:r>
          </a:p>
          <a:p>
            <a:pPr lvl="1">
              <a:lnSpc>
                <a:spcPct val="100000"/>
              </a:lnSpc>
            </a:pPr>
            <a:endParaRPr lang="en-GB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GB" b="1" dirty="0">
                <a:solidFill>
                  <a:srgbClr val="C00000"/>
                </a:solidFill>
              </a:rPr>
              <a:t>Introducing an Explanation or Clarification</a:t>
            </a:r>
          </a:p>
          <a:p>
            <a:pPr lvl="1">
              <a:lnSpc>
                <a:spcPct val="100000"/>
              </a:lnSpc>
            </a:pPr>
            <a:r>
              <a:rPr lang="en-GB" b="1" dirty="0"/>
              <a:t>Use a colon to introduce an explanation, clarification, or further detail related to the sentence. </a:t>
            </a:r>
          </a:p>
          <a:p>
            <a:pPr lvl="2">
              <a:lnSpc>
                <a:spcPct val="100000"/>
              </a:lnSpc>
            </a:pPr>
            <a:r>
              <a:rPr lang="en-GB" dirty="0"/>
              <a:t>She had only one goal</a:t>
            </a:r>
            <a:r>
              <a:rPr lang="en-GB" b="1" dirty="0"/>
              <a:t>: to win the competition</a:t>
            </a:r>
            <a:r>
              <a:rPr lang="en-GB" dirty="0"/>
              <a:t>.</a:t>
            </a:r>
          </a:p>
          <a:p>
            <a:pPr lvl="2">
              <a:lnSpc>
                <a:spcPct val="100000"/>
              </a:lnSpc>
            </a:pPr>
            <a:r>
              <a:rPr lang="en-GB" dirty="0"/>
              <a:t>There is one rule in this class</a:t>
            </a:r>
            <a:r>
              <a:rPr lang="en-GB" b="1" dirty="0"/>
              <a:t>: respect each other.</a:t>
            </a:r>
          </a:p>
          <a:p>
            <a:pPr lvl="2">
              <a:lnSpc>
                <a:spcPct val="100000"/>
              </a:lnSpc>
            </a:pPr>
            <a:endParaRPr lang="en-GB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GB" b="1" dirty="0">
                <a:solidFill>
                  <a:srgbClr val="C00000"/>
                </a:solidFill>
              </a:rPr>
              <a:t> Introducing a Quote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 </a:t>
            </a:r>
            <a:r>
              <a:rPr lang="en-GB" b="1" dirty="0"/>
              <a:t>Use a colon to introduce a direct quote or statement after an independent clause.</a:t>
            </a:r>
          </a:p>
          <a:p>
            <a:pPr lvl="2">
              <a:lnSpc>
                <a:spcPct val="100000"/>
              </a:lnSpc>
            </a:pPr>
            <a:r>
              <a:rPr lang="en-GB" dirty="0"/>
              <a:t> He always says</a:t>
            </a:r>
            <a:r>
              <a:rPr lang="en-GB" b="1" dirty="0"/>
              <a:t>: “Hard work pays off.”</a:t>
            </a:r>
          </a:p>
          <a:p>
            <a:pPr lvl="2">
              <a:lnSpc>
                <a:spcPct val="100000"/>
              </a:lnSpc>
            </a:pPr>
            <a:r>
              <a:rPr lang="en-GB" dirty="0"/>
              <a:t>The teacher reminded us</a:t>
            </a:r>
            <a:r>
              <a:rPr lang="en-GB" b="1" dirty="0"/>
              <a:t>: “Honesty is the best policy.”</a:t>
            </a:r>
            <a:endParaRPr lang="en-IN" b="1" dirty="0"/>
          </a:p>
          <a:p>
            <a:pPr lvl="2">
              <a:lnSpc>
                <a:spcPct val="100000"/>
              </a:lnSpc>
            </a:pP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B943AF-4E3C-0525-A409-D698633F7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The Colon </a:t>
            </a:r>
            <a:r>
              <a:rPr lang="en-IN" dirty="0"/>
              <a:t>(:)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0F4F54-C097-9BAA-D937-CC50EBF8D26B}"/>
              </a:ext>
            </a:extLst>
          </p:cNvPr>
          <p:cNvSpPr txBox="1"/>
          <p:nvPr/>
        </p:nvSpPr>
        <p:spPr>
          <a:xfrm>
            <a:off x="6162671" y="749644"/>
            <a:ext cx="5931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7FADBC-DC5D-4054-AD98-0A413A536B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1593" y="893135"/>
            <a:ext cx="2099227" cy="217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737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48180-35D0-5899-98B7-03169F255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4690778-8D41-C6F3-689E-5EC7BD076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1200"/>
            <a:ext cx="11929641" cy="5742608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Adding Extra or Explanatory Information</a:t>
            </a:r>
            <a:endParaRPr lang="en-GB" b="1" dirty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b="1" dirty="0"/>
              <a:t>They are used to insert extra information or clarification in a sentence. The sentence remains meaningful even if the words inside parentheses are removed.</a:t>
            </a:r>
            <a:endParaRPr lang="en-GB" b="1" dirty="0"/>
          </a:p>
          <a:p>
            <a:pPr lvl="2">
              <a:lnSpc>
                <a:spcPct val="100000"/>
              </a:lnSpc>
            </a:pPr>
            <a:r>
              <a:rPr lang="en-US" dirty="0"/>
              <a:t>My brother (who is an engineer) works in Bangalore.</a:t>
            </a:r>
            <a:endParaRPr lang="en-GB" dirty="0"/>
          </a:p>
          <a:p>
            <a:pPr lvl="2">
              <a:lnSpc>
                <a:spcPct val="100000"/>
              </a:lnSpc>
            </a:pPr>
            <a:r>
              <a:rPr lang="en-US" dirty="0"/>
              <a:t>The new phone (which I bought yesterday) has excellent features.</a:t>
            </a:r>
            <a:endParaRPr lang="en-GB" dirty="0"/>
          </a:p>
          <a:p>
            <a:pPr lvl="1">
              <a:lnSpc>
                <a:spcPct val="100000"/>
              </a:lnSpc>
            </a:pPr>
            <a:endParaRPr lang="en-GB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GB" b="1" dirty="0">
                <a:solidFill>
                  <a:srgbClr val="C00000"/>
                </a:solidFill>
              </a:rPr>
              <a:t>Giving Meanings or Clarifications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Parentheses can be used to provide the meaning of a difficult word, abbreviation, or concept.</a:t>
            </a:r>
            <a:endParaRPr lang="en-GB" b="1" dirty="0"/>
          </a:p>
          <a:p>
            <a:pPr lvl="2">
              <a:lnSpc>
                <a:spcPct val="100000"/>
              </a:lnSpc>
            </a:pPr>
            <a:r>
              <a:rPr lang="en-US" dirty="0"/>
              <a:t>She suffers from insomnia (sleeplessness).</a:t>
            </a:r>
            <a:endParaRPr lang="en-GB" dirty="0"/>
          </a:p>
          <a:p>
            <a:pPr lvl="2">
              <a:lnSpc>
                <a:spcPct val="100000"/>
              </a:lnSpc>
            </a:pPr>
            <a:r>
              <a:rPr lang="en-US" dirty="0"/>
              <a:t>The WHO (World Health Organization) works for global health.</a:t>
            </a:r>
            <a:endParaRPr lang="en-GB" dirty="0"/>
          </a:p>
          <a:p>
            <a:pPr lvl="2">
              <a:lnSpc>
                <a:spcPct val="100000"/>
              </a:lnSpc>
            </a:pPr>
            <a:endParaRPr lang="en-GB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GB" b="1" dirty="0">
                <a:solidFill>
                  <a:srgbClr val="C00000"/>
                </a:solidFill>
              </a:rPr>
              <a:t>Indicating Lists or Numbers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Parentheses are often used to enclose numbers or letters in a list for clarity and organization.</a:t>
            </a:r>
            <a:endParaRPr lang="en-GB" b="1" dirty="0"/>
          </a:p>
          <a:p>
            <a:pPr lvl="2">
              <a:lnSpc>
                <a:spcPct val="100000"/>
              </a:lnSpc>
            </a:pPr>
            <a:r>
              <a:rPr lang="en-US" dirty="0"/>
              <a:t>The project requires three things: (1) time, (2) patience, and (3) creativity.</a:t>
            </a:r>
            <a:endParaRPr lang="en-GB" dirty="0"/>
          </a:p>
          <a:p>
            <a:pPr lvl="2">
              <a:lnSpc>
                <a:spcPct val="100000"/>
              </a:lnSpc>
            </a:pPr>
            <a:r>
              <a:rPr lang="en-US" dirty="0"/>
              <a:t>Please answer the following: (a) your name, (b) your age, (c) your address.</a:t>
            </a:r>
            <a:endParaRPr lang="en-IN" dirty="0"/>
          </a:p>
          <a:p>
            <a:pPr lvl="2">
              <a:lnSpc>
                <a:spcPct val="100000"/>
              </a:lnSpc>
            </a:pP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57E7CB-0AC6-B95D-9D9F-5514C5EA3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The Parentheses ( 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898B01-5FB5-213A-7EEF-0B4B3ED98C72}"/>
              </a:ext>
            </a:extLst>
          </p:cNvPr>
          <p:cNvSpPr txBox="1"/>
          <p:nvPr/>
        </p:nvSpPr>
        <p:spPr>
          <a:xfrm>
            <a:off x="6162671" y="749644"/>
            <a:ext cx="5931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9DA695-9697-A9C5-7D01-1960894B1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3017" y="1661789"/>
            <a:ext cx="1827109" cy="143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608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08D66-5780-BEBD-04C6-CF3CA9320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0B1EC75-38ED-DD37-910D-058BEB7EA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1200"/>
            <a:ext cx="11929641" cy="5742608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r>
              <a:rPr lang="en-US" b="1" dirty="0">
                <a:solidFill>
                  <a:srgbClr val="C00000"/>
                </a:solidFill>
              </a:rPr>
              <a:t>Showing Afterthoughts or Comments</a:t>
            </a:r>
            <a:endParaRPr lang="en-GB" b="1" dirty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b="1" dirty="0"/>
              <a:t>Parentheses can be used to add a personal remark, afterthought, or extra comment to a sentence.</a:t>
            </a:r>
            <a:endParaRPr lang="en-GB" b="1" dirty="0"/>
          </a:p>
          <a:p>
            <a:pPr lvl="2">
              <a:lnSpc>
                <a:spcPct val="100000"/>
              </a:lnSpc>
            </a:pPr>
            <a:r>
              <a:rPr lang="en-US" dirty="0"/>
              <a:t>He finally agreed to join us (after a lot of convincing).</a:t>
            </a:r>
            <a:endParaRPr lang="en-GB" dirty="0"/>
          </a:p>
          <a:p>
            <a:pPr lvl="2">
              <a:lnSpc>
                <a:spcPct val="100000"/>
              </a:lnSpc>
            </a:pPr>
            <a:r>
              <a:rPr lang="en-US" dirty="0"/>
              <a:t>The match was exciting (to say the least).</a:t>
            </a:r>
            <a:endParaRPr lang="en-GB" dirty="0"/>
          </a:p>
          <a:p>
            <a:pPr lvl="1">
              <a:lnSpc>
                <a:spcPct val="100000"/>
              </a:lnSpc>
            </a:pPr>
            <a:endParaRPr lang="en-GB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r>
              <a:rPr lang="en-US" b="1" dirty="0">
                <a:solidFill>
                  <a:srgbClr val="C00000"/>
                </a:solidFill>
              </a:rPr>
              <a:t>Indicating Alternatives or Optional Words</a:t>
            </a:r>
            <a:endParaRPr lang="en-GB" b="1" dirty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b="1" dirty="0"/>
              <a:t>Parentheses may enclose alternative words, spellings, or optional elements in a sentence.</a:t>
            </a:r>
            <a:endParaRPr lang="en-GB" b="1" dirty="0"/>
          </a:p>
          <a:p>
            <a:pPr lvl="2">
              <a:lnSpc>
                <a:spcPct val="100000"/>
              </a:lnSpc>
            </a:pPr>
            <a:r>
              <a:rPr lang="en-US" dirty="0"/>
              <a:t>Each student should bring his (or her) notebook.</a:t>
            </a:r>
            <a:endParaRPr lang="en-GB" dirty="0"/>
          </a:p>
          <a:p>
            <a:pPr lvl="2">
              <a:lnSpc>
                <a:spcPct val="100000"/>
              </a:lnSpc>
            </a:pPr>
            <a:r>
              <a:rPr lang="en-US" dirty="0"/>
              <a:t>The book(s) will be delivered tomorrow.</a:t>
            </a:r>
            <a:endParaRPr lang="en-GB" dirty="0"/>
          </a:p>
          <a:p>
            <a:pPr lvl="2">
              <a:lnSpc>
                <a:spcPct val="100000"/>
              </a:lnSpc>
            </a:pPr>
            <a:endParaRPr lang="en-GB" dirty="0"/>
          </a:p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r>
              <a:rPr lang="en-US" b="1" dirty="0">
                <a:solidFill>
                  <a:srgbClr val="C00000"/>
                </a:solidFill>
              </a:rPr>
              <a:t>Enclosing Dates, Years, or Acronyms</a:t>
            </a:r>
            <a:endParaRPr lang="en-GB" b="1" dirty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b="1" dirty="0"/>
              <a:t>Parentheses are used to enclose dates, years, or the full forms of acronyms.</a:t>
            </a:r>
            <a:endParaRPr lang="en-GB" b="1" dirty="0"/>
          </a:p>
          <a:p>
            <a:pPr lvl="2">
              <a:lnSpc>
                <a:spcPct val="100000"/>
              </a:lnSpc>
            </a:pPr>
            <a:r>
              <a:rPr lang="en-US" dirty="0"/>
              <a:t>World War II (1939–1945) changed the world.</a:t>
            </a:r>
            <a:endParaRPr lang="en-GB" dirty="0"/>
          </a:p>
          <a:p>
            <a:pPr lvl="2">
              <a:lnSpc>
                <a:spcPct val="100000"/>
              </a:lnSpc>
            </a:pPr>
            <a:r>
              <a:rPr lang="en-US" dirty="0"/>
              <a:t>NASA (National Aeronautics and Space Administration) launched the spacecraft.</a:t>
            </a:r>
            <a:endParaRPr lang="en-IN" dirty="0"/>
          </a:p>
          <a:p>
            <a:pPr lvl="2">
              <a:lnSpc>
                <a:spcPct val="100000"/>
              </a:lnSpc>
            </a:pP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6C0B29-0514-4FD7-568A-66BB04F13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The Parentheses ( 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998B89-F609-B970-58E0-8FB80E2C8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3017" y="1661789"/>
            <a:ext cx="1827109" cy="143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024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9734A-46AA-3C02-AB72-D8B353C99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0A359-0250-626F-DF88-F1AF8828F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1200"/>
            <a:ext cx="12192000" cy="5742608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fr-FR" b="1" dirty="0">
                <a:solidFill>
                  <a:srgbClr val="C00000"/>
                </a:solidFill>
              </a:rPr>
              <a:t>To </a:t>
            </a:r>
            <a:r>
              <a:rPr lang="fr-FR" b="1" dirty="0" err="1">
                <a:solidFill>
                  <a:srgbClr val="C00000"/>
                </a:solidFill>
              </a:rPr>
              <a:t>Ask</a:t>
            </a:r>
            <a:r>
              <a:rPr lang="fr-FR" b="1" dirty="0">
                <a:solidFill>
                  <a:srgbClr val="C00000"/>
                </a:solidFill>
              </a:rPr>
              <a:t> Direct Questions (Interrogative Sentences)</a:t>
            </a:r>
            <a:endParaRPr lang="en-GB" b="1" dirty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b="1" dirty="0"/>
              <a:t>Interrogative sentences are used to ask direct questions. 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What is your name?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Do you like ice cream?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Can you help me with this work?</a:t>
            </a:r>
            <a:endParaRPr lang="en-GB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GB" b="1" dirty="0">
                <a:solidFill>
                  <a:srgbClr val="C00000"/>
                </a:solidFill>
              </a:rPr>
              <a:t>Tag Questions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Tag questions are statements followed by a short question at the end, often used to confirm or check information. 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You are coming with us, aren’t you?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She can play the piano, can’t she?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Using a Question Mark for Multiple Questions in One Sentence</a:t>
            </a:r>
            <a:endParaRPr lang="en-GB" b="1" dirty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b="1" dirty="0"/>
              <a:t>When a sentence contains more than one question, a question mark can be used after each separate question instead of just one at the end. This clearly separates the questions and maintains clarity.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Is it raining? Should we carry an umbrella?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Did you finish your homework? Have you packed your bag?</a:t>
            </a:r>
            <a:endParaRPr lang="en-GB" dirty="0"/>
          </a:p>
          <a:p>
            <a:pPr lvl="2">
              <a:lnSpc>
                <a:spcPct val="100000"/>
              </a:lnSpc>
            </a:pP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FBB452-946B-9D4C-2D48-2974750E9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The Question Mark (?)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8C39CD-DECB-BDA7-7888-15CADF38167A}"/>
              </a:ext>
            </a:extLst>
          </p:cNvPr>
          <p:cNvSpPr txBox="1"/>
          <p:nvPr/>
        </p:nvSpPr>
        <p:spPr>
          <a:xfrm>
            <a:off x="6162671" y="749644"/>
            <a:ext cx="5931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IN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D4E102A-DCED-1376-9E9A-E9770352E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0440" y="749644"/>
            <a:ext cx="2989420" cy="2331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5832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2F456-9EC2-94DF-C451-77A1C1150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6AA77D6-E73B-4359-D49E-92CA6E52A216}"/>
              </a:ext>
            </a:extLst>
          </p:cNvPr>
          <p:cNvSpPr txBox="1">
            <a:spLocks/>
          </p:cNvSpPr>
          <p:nvPr/>
        </p:nvSpPr>
        <p:spPr>
          <a:xfrm>
            <a:off x="0" y="711200"/>
            <a:ext cx="12192000" cy="57599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Apostrophe for Possession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To show possession for singular nouns, add an apostrophe + s.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That is </a:t>
            </a:r>
            <a:r>
              <a:rPr lang="en-US" b="1" dirty="0"/>
              <a:t>Ravi’s</a:t>
            </a:r>
            <a:r>
              <a:rPr lang="en-US" dirty="0"/>
              <a:t> car. (The car belongs to Ravi)</a:t>
            </a:r>
            <a:endParaRPr lang="en-GB" dirty="0"/>
          </a:p>
          <a:p>
            <a:pPr lvl="2">
              <a:lnSpc>
                <a:spcPct val="100000"/>
              </a:lnSpc>
            </a:pPr>
            <a:r>
              <a:rPr lang="en-US" dirty="0"/>
              <a:t>That is the </a:t>
            </a:r>
            <a:r>
              <a:rPr lang="en-US" b="1" dirty="0"/>
              <a:t>dog’s</a:t>
            </a:r>
            <a:r>
              <a:rPr lang="en-US" dirty="0"/>
              <a:t> tail.</a:t>
            </a:r>
          </a:p>
          <a:p>
            <a:pPr lvl="1">
              <a:lnSpc>
                <a:spcPct val="100000"/>
              </a:lnSpc>
            </a:pPr>
            <a:r>
              <a:rPr lang="en-GB" b="1" dirty="0"/>
              <a:t>For plural nouns that already end with "s," add only an apostrophe (no additional "s").</a:t>
            </a:r>
          </a:p>
          <a:p>
            <a:pPr lvl="2">
              <a:lnSpc>
                <a:spcPct val="100000"/>
              </a:lnSpc>
            </a:pPr>
            <a:r>
              <a:rPr lang="en-GB" dirty="0"/>
              <a:t>The </a:t>
            </a:r>
            <a:r>
              <a:rPr lang="en-GB" b="1" dirty="0"/>
              <a:t>teachers' </a:t>
            </a:r>
            <a:r>
              <a:rPr lang="en-GB" dirty="0"/>
              <a:t>staff room is on the second floor.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The </a:t>
            </a:r>
            <a:r>
              <a:rPr lang="en-US" b="1" dirty="0"/>
              <a:t>workers’ protest</a:t>
            </a:r>
            <a:r>
              <a:rPr lang="en-US" dirty="0"/>
              <a:t> continued for hours. (Protest of the workers)</a:t>
            </a:r>
            <a:endParaRPr lang="en-GB" dirty="0"/>
          </a:p>
          <a:p>
            <a:pPr marL="914400" lvl="2" indent="0">
              <a:lnSpc>
                <a:spcPct val="100000"/>
              </a:lnSpc>
              <a:buNone/>
            </a:pPr>
            <a:endParaRPr lang="en-GB" dirty="0"/>
          </a:p>
          <a:p>
            <a:pPr marL="457200" lvl="0" indent="-457200">
              <a:lnSpc>
                <a:spcPct val="100000"/>
              </a:lnSpc>
              <a:buClr>
                <a:srgbClr val="B84742"/>
              </a:buClr>
              <a:buFont typeface="+mj-lt"/>
              <a:buAutoNum type="arabicPeriod"/>
            </a:pPr>
            <a:r>
              <a:rPr lang="en-GB" b="1" dirty="0">
                <a:solidFill>
                  <a:srgbClr val="C00000"/>
                </a:solidFill>
              </a:rPr>
              <a:t>Apostrophe for Reductions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An apostrophe is used to replace missing letters in contractions.</a:t>
            </a:r>
            <a:endParaRPr lang="en-GB" b="1" dirty="0"/>
          </a:p>
          <a:p>
            <a:pPr lvl="2">
              <a:lnSpc>
                <a:spcPct val="100000"/>
              </a:lnSpc>
              <a:buClr>
                <a:srgbClr val="B84742"/>
              </a:buClr>
            </a:pPr>
            <a:r>
              <a:rPr lang="en-GB" b="1" dirty="0">
                <a:solidFill>
                  <a:srgbClr val="212121"/>
                </a:solidFill>
              </a:rPr>
              <a:t>It’s </a:t>
            </a:r>
            <a:r>
              <a:rPr lang="en-GB" dirty="0">
                <a:solidFill>
                  <a:srgbClr val="212121"/>
                </a:solidFill>
              </a:rPr>
              <a:t>going to rain. (“It’s” is a contraction of “It is” or “It has”.)</a:t>
            </a:r>
          </a:p>
          <a:p>
            <a:pPr lvl="2">
              <a:lnSpc>
                <a:spcPct val="100000"/>
              </a:lnSpc>
              <a:buClr>
                <a:srgbClr val="B84742"/>
              </a:buClr>
            </a:pPr>
            <a:r>
              <a:rPr lang="en-GB" b="1" dirty="0">
                <a:solidFill>
                  <a:srgbClr val="212121"/>
                </a:solidFill>
              </a:rPr>
              <a:t>You’re</a:t>
            </a:r>
            <a:r>
              <a:rPr lang="en-GB" dirty="0">
                <a:solidFill>
                  <a:srgbClr val="212121"/>
                </a:solidFill>
              </a:rPr>
              <a:t> going to love this movie. (“</a:t>
            </a:r>
            <a:r>
              <a:rPr lang="en-US" dirty="0">
                <a:solidFill>
                  <a:srgbClr val="212121"/>
                </a:solidFill>
              </a:rPr>
              <a:t>You’re”  is a contraction of “You are”.)</a:t>
            </a:r>
            <a:endParaRPr lang="en-GB" dirty="0">
              <a:solidFill>
                <a:srgbClr val="212121"/>
              </a:solidFill>
            </a:endParaRPr>
          </a:p>
          <a:p>
            <a:pPr lvl="2">
              <a:lnSpc>
                <a:spcPct val="100000"/>
              </a:lnSpc>
              <a:buClr>
                <a:srgbClr val="B84742"/>
              </a:buClr>
            </a:pPr>
            <a:r>
              <a:rPr lang="en-GB" b="1" dirty="0">
                <a:solidFill>
                  <a:srgbClr val="212121"/>
                </a:solidFill>
              </a:rPr>
              <a:t>I’ve</a:t>
            </a:r>
            <a:r>
              <a:rPr lang="en-GB" dirty="0">
                <a:solidFill>
                  <a:srgbClr val="212121"/>
                </a:solidFill>
              </a:rPr>
              <a:t> already completed the assignment. (“</a:t>
            </a:r>
            <a:r>
              <a:rPr lang="en-US" dirty="0">
                <a:solidFill>
                  <a:srgbClr val="212121"/>
                </a:solidFill>
              </a:rPr>
              <a:t>I’ve” is a contraction of “I have”.)</a:t>
            </a:r>
          </a:p>
          <a:p>
            <a:pPr lvl="2">
              <a:lnSpc>
                <a:spcPct val="100000"/>
              </a:lnSpc>
              <a:buClr>
                <a:srgbClr val="B84742"/>
              </a:buClr>
            </a:pPr>
            <a:r>
              <a:rPr lang="en-US" b="1" dirty="0">
                <a:solidFill>
                  <a:srgbClr val="212121"/>
                </a:solidFill>
              </a:rPr>
              <a:t>How’s</a:t>
            </a:r>
            <a:r>
              <a:rPr lang="en-US" dirty="0">
                <a:solidFill>
                  <a:srgbClr val="212121"/>
                </a:solidFill>
              </a:rPr>
              <a:t> the weather today? </a:t>
            </a:r>
            <a:r>
              <a:rPr lang="en-GB" dirty="0">
                <a:solidFill>
                  <a:srgbClr val="212121"/>
                </a:solidFill>
              </a:rPr>
              <a:t>(“</a:t>
            </a:r>
            <a:r>
              <a:rPr lang="en-US" dirty="0">
                <a:solidFill>
                  <a:srgbClr val="212121"/>
                </a:solidFill>
              </a:rPr>
              <a:t>How’s” is a contraction of “How is” or “How has”.)</a:t>
            </a:r>
            <a:endParaRPr lang="en-GB" dirty="0">
              <a:solidFill>
                <a:srgbClr val="212121"/>
              </a:solidFill>
            </a:endParaRPr>
          </a:p>
          <a:p>
            <a:pPr lvl="2">
              <a:lnSpc>
                <a:spcPct val="100000"/>
              </a:lnSpc>
              <a:buClr>
                <a:srgbClr val="B84742"/>
              </a:buClr>
            </a:pPr>
            <a:r>
              <a:rPr lang="en-GB" dirty="0">
                <a:solidFill>
                  <a:srgbClr val="212121"/>
                </a:solidFill>
              </a:rPr>
              <a:t>He </a:t>
            </a:r>
            <a:r>
              <a:rPr lang="en-GB" b="1" dirty="0">
                <a:solidFill>
                  <a:srgbClr val="212121"/>
                </a:solidFill>
              </a:rPr>
              <a:t>won’t</a:t>
            </a:r>
            <a:r>
              <a:rPr lang="en-GB" dirty="0">
                <a:solidFill>
                  <a:srgbClr val="212121"/>
                </a:solidFill>
              </a:rPr>
              <a:t> be able to attend. (“</a:t>
            </a:r>
            <a:r>
              <a:rPr lang="en-US" dirty="0">
                <a:solidFill>
                  <a:srgbClr val="212121"/>
                </a:solidFill>
              </a:rPr>
              <a:t>won’t” is a contraction of “Will not”.)</a:t>
            </a:r>
          </a:p>
          <a:p>
            <a:pPr lvl="1">
              <a:lnSpc>
                <a:spcPct val="100000"/>
              </a:lnSpc>
            </a:pPr>
            <a:endParaRPr lang="en-GB" dirty="0"/>
          </a:p>
          <a:p>
            <a:pPr marL="0" indent="0">
              <a:buNone/>
            </a:pPr>
            <a:endParaRPr lang="en-IN" dirty="0"/>
          </a:p>
          <a:p>
            <a:pPr>
              <a:lnSpc>
                <a:spcPct val="100000"/>
              </a:lnSpc>
              <a:buFont typeface="Wingdings 3" panose="05040102010807070707" pitchFamily="18" charset="2"/>
              <a:buChar char="}"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0969DA-5BF7-A926-647A-9D2AA1843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GB" dirty="0"/>
              <a:t>The Apostrophe </a:t>
            </a:r>
            <a:r>
              <a:rPr lang="en-IN" dirty="0"/>
              <a:t>(‘)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608A8B-6C1E-4354-DCF3-6AA3CB586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813391"/>
            <a:ext cx="2590800" cy="157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097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8E557-A29E-00E0-8BF0-95B68C69D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10B38-3801-F780-EC36-04546DA6E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1200"/>
            <a:ext cx="12192000" cy="5742608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fr-FR" b="1" dirty="0" err="1">
                <a:solidFill>
                  <a:srgbClr val="C00000"/>
                </a:solidFill>
              </a:rPr>
              <a:t>Enclosing</a:t>
            </a:r>
            <a:r>
              <a:rPr lang="fr-FR" b="1" dirty="0">
                <a:solidFill>
                  <a:srgbClr val="C00000"/>
                </a:solidFill>
              </a:rPr>
              <a:t> Direct Speech</a:t>
            </a:r>
            <a:endParaRPr lang="en-GB" b="1" dirty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b="1" dirty="0"/>
              <a:t>Double inverted commas are used to show the exact words spoken by someone.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Ramesh said, “I will come tomorrow.”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“Please close the door,” requested the teacher.</a:t>
            </a:r>
          </a:p>
          <a:p>
            <a:pPr lvl="2">
              <a:lnSpc>
                <a:spcPct val="100000"/>
              </a:lnSpc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GB" b="1" dirty="0">
                <a:solidFill>
                  <a:srgbClr val="C00000"/>
                </a:solidFill>
              </a:rPr>
              <a:t>Quoting Text or Passages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Used to enclose exact words taken from a book, article, or speech.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The report stated, “Climate change is a global challenge.”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”In the play, Hamlet says, “To be, or not to be, that is the question.”</a:t>
            </a:r>
          </a:p>
          <a:p>
            <a:pPr lvl="2">
              <a:lnSpc>
                <a:spcPct val="100000"/>
              </a:lnSpc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Highlighting Titles of Short Works</a:t>
            </a:r>
            <a:endParaRPr lang="en-GB" b="1" dirty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b="1" dirty="0"/>
              <a:t>Double inverted commas are used for titles of poems, short stories, articles, songs, or chapters.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I loved reading “The Little Prince.”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My favorite poem is “The Road Not Taken.”</a:t>
            </a:r>
            <a:endParaRPr lang="en-GB" dirty="0"/>
          </a:p>
          <a:p>
            <a:pPr marL="914400" lvl="2" indent="0">
              <a:lnSpc>
                <a:spcPct val="100000"/>
              </a:lnSpc>
              <a:buNone/>
            </a:pP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5301D1-C97C-3B3E-CE9F-9D82C4DFE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The Double Inverted Comma (“”)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1E2E3B-0BE3-D604-598A-C67168748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6177" y="814744"/>
            <a:ext cx="2767505" cy="188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404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40905-40F0-E975-6509-8547A9C3D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45846-A833-3E90-0CA0-9F1659D90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1200"/>
            <a:ext cx="11983682" cy="5742608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r>
              <a:rPr lang="en-US" b="1" dirty="0">
                <a:solidFill>
                  <a:srgbClr val="C00000"/>
                </a:solidFill>
              </a:rPr>
              <a:t>Indicating Special Words or Irony</a:t>
            </a:r>
            <a:endParaRPr lang="en-GB" b="1" dirty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b="1" dirty="0"/>
              <a:t>Sometimes, double inverted commas are used to highlight a word or show irony.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He is really a “genius” at making mistakes.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The word “temporary” didn’t seem very temporary in that context.</a:t>
            </a:r>
          </a:p>
          <a:p>
            <a:pPr lvl="2"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IN" b="1" dirty="0"/>
              <a:t>Note:</a:t>
            </a:r>
          </a:p>
          <a:p>
            <a:pPr lvl="1">
              <a:lnSpc>
                <a:spcPct val="100000"/>
              </a:lnSpc>
            </a:pPr>
            <a:r>
              <a:rPr lang="en-IN" dirty="0"/>
              <a:t>The </a:t>
            </a:r>
            <a:r>
              <a:rPr lang="en-US" dirty="0"/>
              <a:t>Double inverted commas are also called </a:t>
            </a:r>
            <a:r>
              <a:rPr lang="en-US" b="1" dirty="0"/>
              <a:t>t</a:t>
            </a:r>
            <a:r>
              <a:rPr lang="en-IN" b="1" dirty="0"/>
              <a:t>he </a:t>
            </a:r>
            <a:r>
              <a:rPr lang="en-US" b="1" dirty="0"/>
              <a:t>quotation marks. 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In </a:t>
            </a:r>
            <a:r>
              <a:rPr lang="en-US" b="1" dirty="0"/>
              <a:t>British English, single inverted commas </a:t>
            </a:r>
            <a:r>
              <a:rPr lang="en-US" dirty="0"/>
              <a:t>(‘ ’) </a:t>
            </a:r>
            <a:r>
              <a:rPr lang="en-US" b="1" dirty="0"/>
              <a:t>are often used instead</a:t>
            </a:r>
            <a:r>
              <a:rPr lang="en-US" dirty="0"/>
              <a:t>, but double inverted commas (“ ”) are the most common in formal writing.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7DB0A1-6A4C-095A-3B6F-D0A84FEB6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The Double Inverted Comma (“”)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A6909B-DCA7-93FB-426A-056F93C9C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6177" y="814744"/>
            <a:ext cx="2767505" cy="188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569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E4990-705D-41FA-6C5D-610C85D03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68234-D865-37DF-7161-2D40C40B4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GB" dirty="0"/>
              <a:t>Single Inverted Comma (‘’)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D7C35D2-5135-85B9-6133-9809FE6A0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1200"/>
            <a:ext cx="11982893" cy="5742608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fr-FR" b="1" dirty="0">
                <a:solidFill>
                  <a:srgbClr val="C00000"/>
                </a:solidFill>
              </a:rPr>
              <a:t>Quotation </a:t>
            </a:r>
            <a:r>
              <a:rPr lang="fr-FR" b="1" dirty="0" err="1">
                <a:solidFill>
                  <a:srgbClr val="C00000"/>
                </a:solidFill>
              </a:rPr>
              <a:t>Within</a:t>
            </a:r>
            <a:r>
              <a:rPr lang="fr-FR" b="1" dirty="0">
                <a:solidFill>
                  <a:srgbClr val="C00000"/>
                </a:solidFill>
              </a:rPr>
              <a:t> a Quotation</a:t>
            </a:r>
            <a:endParaRPr lang="en-GB" b="1" dirty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b="1" dirty="0"/>
              <a:t>Single inverted commas are used when there is a quote inside another quote.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Ramesh said, “I heard Sita say, ‘I will join the club tomorrow.’”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The teacher asked, “Did he really say, ‘I don’t like homework’?”</a:t>
            </a:r>
          </a:p>
          <a:p>
            <a:pPr lvl="2">
              <a:lnSpc>
                <a:spcPct val="100000"/>
              </a:lnSpc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GB" b="1" dirty="0">
                <a:solidFill>
                  <a:srgbClr val="C00000"/>
                </a:solidFill>
              </a:rPr>
              <a:t>Titles in British English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In British English, single inverted commas are often used for titles of short works (poems, articles, chapters).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I enjoyed reading ‘The Little Prince’.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My favorite poem is ‘The Road Not Taken’.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We discussed the article ‘Benefits of Early Rising’.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Note: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In </a:t>
            </a:r>
            <a:r>
              <a:rPr lang="en-US" b="1" dirty="0"/>
              <a:t>American English, double inverted commas (“ ”) are preferred for quotations</a:t>
            </a:r>
            <a:r>
              <a:rPr lang="en-US" dirty="0"/>
              <a:t>, while </a:t>
            </a:r>
            <a:r>
              <a:rPr lang="en-US" b="1" dirty="0"/>
              <a:t>single inverted commas (‘ ’) are mostly used inside double quotes.</a:t>
            </a:r>
          </a:p>
          <a:p>
            <a:pPr marL="914400" lvl="2" indent="0">
              <a:lnSpc>
                <a:spcPct val="100000"/>
              </a:lnSpc>
              <a:buNone/>
            </a:pPr>
            <a:endParaRPr lang="en-IN" dirty="0"/>
          </a:p>
        </p:txBody>
      </p:sp>
      <p:pic>
        <p:nvPicPr>
          <p:cNvPr id="7" name="Picture 6" descr="A blue rectangle with a quote marks">
            <a:extLst>
              <a:ext uri="{FF2B5EF4-FFF2-40B4-BE49-F238E27FC236}">
                <a16:creationId xmlns:a16="http://schemas.microsoft.com/office/drawing/2014/main" id="{38400675-EE3C-ED19-C31F-70FFB41183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1592" y="711200"/>
            <a:ext cx="2996674" cy="204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341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4E486-CE0C-31B5-0F9E-709295C50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61EE2-7F8E-E1B5-A855-70D504526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GB" dirty="0"/>
              <a:t>Use of Double Inverted Comma with other Punctuation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D23DF-FD1C-8FE7-030B-88A7A1563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1200"/>
            <a:ext cx="12192000" cy="5742608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Full Stop and Comma with Quotation Marks</a:t>
            </a:r>
            <a:endParaRPr lang="en-GB" b="1" dirty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b="1" dirty="0"/>
              <a:t>The full stop (.) and comma (,) are always placed inside the ending quotation marks.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He said, “They are not here.”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“They are not here,” he said.</a:t>
            </a:r>
          </a:p>
          <a:p>
            <a:pPr lvl="2">
              <a:lnSpc>
                <a:spcPct val="100000"/>
              </a:lnSpc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Question Mark and Exclamation Mark (When Part of Quoted Material)</a:t>
            </a:r>
            <a:endParaRPr lang="en-GB" b="1" dirty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b="1" dirty="0"/>
              <a:t>If the question mark (?) or exclamation mark (!) belongs to the quoted words only, place it inside the quotation marks.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She asked, “When are you going to be promoted?”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He shouted, “Watch out!”</a:t>
            </a:r>
          </a:p>
          <a:p>
            <a:pPr lvl="2">
              <a:lnSpc>
                <a:spcPct val="100000"/>
              </a:lnSpc>
            </a:pP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Question Mark and Exclamation Mark (When for the Whole Sentence)</a:t>
            </a:r>
            <a:endParaRPr lang="en-GB" b="1" dirty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b="1" dirty="0"/>
              <a:t>If the question mark or exclamation mark applies to the entire sentence, not just the quoted words, place it outside the quotation marks.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Did she say, “You are to be promoted next month”?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Wow! Did he really shout, “I quit”?</a:t>
            </a:r>
            <a:endParaRPr lang="en-GB" dirty="0"/>
          </a:p>
          <a:p>
            <a:pPr marL="914400" lvl="2" indent="0">
              <a:lnSpc>
                <a:spcPct val="10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1239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2EA67-5963-904C-8414-67B5807F5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0D6D3-C685-A14E-DC08-ADA163579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GB" dirty="0"/>
              <a:t>Use of Double Inverted Comma with other Punctuation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DD64C-CCBB-BAE7-11DD-FDEC5A19E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1200"/>
            <a:ext cx="12192000" cy="5742608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buFont typeface="+mj-lt"/>
              <a:buAutoNum type="arabicPeriod" startAt="4"/>
            </a:pPr>
            <a:r>
              <a:rPr lang="en-US" b="1" dirty="0">
                <a:solidFill>
                  <a:srgbClr val="C00000"/>
                </a:solidFill>
              </a:rPr>
              <a:t>Colon and Semicolon with Quotation Marks</a:t>
            </a:r>
            <a:endParaRPr lang="en-GB" b="1" dirty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b="1" dirty="0"/>
              <a:t>The colon (:) and semicolon (;) are placed outside the quotation marks, unless they are part of the quoted material itself.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She said, “You are to be promoted next month”; consequently, I expected to be promoted.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He replied, “I agree with your plan”: this gave everyone confidence.</a:t>
            </a:r>
          </a:p>
          <a:p>
            <a:pPr lvl="2"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IN" b="1" dirty="0"/>
              <a:t>Quick Recap: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Full stop and comma → always inside</a:t>
            </a:r>
            <a:r>
              <a:rPr lang="en-US" dirty="0"/>
              <a:t> quotation marks.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? and ! → inside if part of quote, outside if for whole sentence.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; and : → outside, unless part of the quote.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38969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979CD-541D-82B6-D154-13B520A1D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74A08-186E-7A64-EAE8-746B06444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237CF-5E5D-5723-1194-E52170448352}"/>
              </a:ext>
            </a:extLst>
          </p:cNvPr>
          <p:cNvSpPr txBox="1">
            <a:spLocks/>
          </p:cNvSpPr>
          <p:nvPr/>
        </p:nvSpPr>
        <p:spPr>
          <a:xfrm>
            <a:off x="-1" y="711200"/>
            <a:ext cx="12192001" cy="57599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b="1" dirty="0"/>
              <a:t>Rewrite the sentences using correct punctuation.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The teacher said You must work hard consequently we all studied sincerely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The teacher said, “You must work hard”; consequently, we all studied sincerely. 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He likes cricket she prefers football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He likes cricket; she prefers football.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Did she say You are to be promoted next month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Did she say, “You are to be promoted next month”?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I bought apples bananas oranges and grapes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I bought apples, bananas, oranges, and grapes.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Sit down children</a:t>
            </a:r>
          </a:p>
          <a:p>
            <a:pPr lvl="1">
              <a:lnSpc>
                <a:spcPct val="100000"/>
              </a:lnSpc>
            </a:pPr>
            <a:r>
              <a:rPr lang="en-IN" b="1" dirty="0"/>
              <a:t>Sit down, children.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Rani said I will help you with your homework.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Rani said, “I will help you with your homework.”</a:t>
            </a:r>
          </a:p>
        </p:txBody>
      </p:sp>
    </p:spTree>
    <p:extLst>
      <p:ext uri="{BB962C8B-B14F-4D97-AF65-F5344CB8AC3E}">
        <p14:creationId xmlns:p14="http://schemas.microsoft.com/office/powerpoint/2010/main" val="3967449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A5270-5694-44C8-062D-368DB4AD9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9E9A8F6-E1AB-54DF-ABAB-BB638C0F0378}"/>
              </a:ext>
            </a:extLst>
          </p:cNvPr>
          <p:cNvSpPr txBox="1">
            <a:spLocks/>
          </p:cNvSpPr>
          <p:nvPr/>
        </p:nvSpPr>
        <p:spPr>
          <a:xfrm>
            <a:off x="-1" y="711200"/>
            <a:ext cx="12192001" cy="57599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b="1" dirty="0"/>
              <a:t>Rewrite the sentences using correct punctuation.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7"/>
            </a:pPr>
            <a:r>
              <a:rPr lang="en-US" dirty="0"/>
              <a:t>Dr R K Sharma is a well-known cardiologist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Dr. R. K. Sharma is a well-known cardiologist.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7"/>
            </a:pPr>
            <a:r>
              <a:rPr lang="en-US" dirty="0"/>
              <a:t>She had one goal to win the trophy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She had one goal: to win the trophy.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7"/>
            </a:pPr>
            <a:r>
              <a:rPr lang="en-US" dirty="0"/>
              <a:t>My cousin who is a doctor lives in Delhi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My cousin (who is a doctor) lives in Delhi.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7"/>
            </a:pPr>
            <a:r>
              <a:rPr lang="en-US" dirty="0"/>
              <a:t>Each student should bring his or her notebook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Each student should bring his or her notebook (or laptop).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7"/>
            </a:pPr>
            <a:r>
              <a:rPr lang="en-US" dirty="0"/>
              <a:t>He said I heard Sita say I will join tomorrow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He said, “I heard Sita say, ‘I will join tomorrow.’”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7"/>
            </a:pPr>
            <a:r>
              <a:rPr lang="en-US" dirty="0"/>
              <a:t>The conference will be held in Paris France Berlin Germany and Tokyo Japan</a:t>
            </a:r>
          </a:p>
          <a:p>
            <a:pPr lvl="1">
              <a:lnSpc>
                <a:spcPct val="100000"/>
              </a:lnSpc>
            </a:pPr>
            <a:r>
              <a:rPr lang="en-US" b="1" dirty="0"/>
              <a:t>The conference will be held in Paris, France; Berlin, Germany; and Tokyo, Japan.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3CCEC5-65DE-9F2B-3339-454ACB275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3629334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4CFD0-241B-BCE1-87AB-80BD2D44F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50E82A-B065-113C-8061-A70217A09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279" y="1883550"/>
            <a:ext cx="8918438" cy="2852737"/>
          </a:xfrm>
        </p:spPr>
        <p:txBody>
          <a:bodyPr/>
          <a:lstStyle/>
          <a:p>
            <a:r>
              <a:rPr lang="en-US" dirty="0"/>
              <a:t>Determiners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14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 txBox="1">
            <a:spLocks/>
          </p:cNvSpPr>
          <p:nvPr/>
        </p:nvSpPr>
        <p:spPr>
          <a:xfrm>
            <a:off x="0" y="711200"/>
            <a:ext cx="9291132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/>
          </a:p>
          <a:p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  <a:p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1065" y="777719"/>
            <a:ext cx="11991154" cy="5590565"/>
          </a:xfrm>
        </p:spPr>
        <p:txBody>
          <a:bodyPr/>
          <a:lstStyle/>
          <a:p>
            <a:r>
              <a:rPr lang="en-US" dirty="0"/>
              <a:t>Determiners help clarify whether a noun is </a:t>
            </a:r>
            <a:r>
              <a:rPr lang="en-US" b="1" dirty="0"/>
              <a:t>general or specific, </a:t>
            </a:r>
            <a:r>
              <a:rPr lang="en-US" dirty="0"/>
              <a:t>they also</a:t>
            </a:r>
            <a:r>
              <a:rPr lang="en-US" b="1" dirty="0"/>
              <a:t> </a:t>
            </a:r>
            <a:r>
              <a:rPr lang="en-US" dirty="0"/>
              <a:t>indicate </a:t>
            </a:r>
            <a:r>
              <a:rPr lang="en-US" b="1" dirty="0"/>
              <a:t>ownership</a:t>
            </a:r>
            <a:r>
              <a:rPr lang="en-US" dirty="0"/>
              <a:t>, </a:t>
            </a:r>
            <a:r>
              <a:rPr lang="en-US" b="1" dirty="0"/>
              <a:t>quantity </a:t>
            </a:r>
            <a:r>
              <a:rPr lang="en-US" dirty="0"/>
              <a:t>and</a:t>
            </a:r>
            <a:r>
              <a:rPr lang="en-US" b="1" dirty="0"/>
              <a:t> point out </a:t>
            </a:r>
            <a:r>
              <a:rPr lang="en-US" dirty="0"/>
              <a:t>a specific noun. </a:t>
            </a:r>
          </a:p>
          <a:p>
            <a:pPr lvl="1"/>
            <a:r>
              <a:rPr lang="en-US" b="1" dirty="0"/>
              <a:t>A</a:t>
            </a:r>
            <a:r>
              <a:rPr lang="en-US" dirty="0"/>
              <a:t> dog is barking loudly. (Any dog, not specific)</a:t>
            </a:r>
          </a:p>
          <a:p>
            <a:pPr lvl="1"/>
            <a:r>
              <a:rPr lang="en-US" b="1" dirty="0"/>
              <a:t>The</a:t>
            </a:r>
            <a:r>
              <a:rPr lang="en-US" dirty="0"/>
              <a:t> dog is very friendly. (A specific dog)</a:t>
            </a:r>
          </a:p>
          <a:p>
            <a:pPr lvl="1"/>
            <a:r>
              <a:rPr lang="en-US" b="1" dirty="0"/>
              <a:t>Her </a:t>
            </a:r>
            <a:r>
              <a:rPr lang="en-US" dirty="0"/>
              <a:t>car is new. (Indicates ownership)</a:t>
            </a:r>
          </a:p>
          <a:p>
            <a:pPr lvl="1"/>
            <a:r>
              <a:rPr lang="en-US" dirty="0"/>
              <a:t>I bought </a:t>
            </a:r>
            <a:r>
              <a:rPr lang="en-US" b="1" dirty="0"/>
              <a:t>many</a:t>
            </a:r>
            <a:r>
              <a:rPr lang="en-US" dirty="0"/>
              <a:t> apples. (Shows quantity)</a:t>
            </a:r>
          </a:p>
          <a:p>
            <a:pPr lvl="1"/>
            <a:r>
              <a:rPr lang="en-US" dirty="0"/>
              <a:t>There isn’t </a:t>
            </a:r>
            <a:r>
              <a:rPr lang="en-US" b="1" dirty="0"/>
              <a:t>much</a:t>
            </a:r>
            <a:r>
              <a:rPr lang="en-US" dirty="0"/>
              <a:t> milk in the glass. (Shows quantity)</a:t>
            </a:r>
          </a:p>
          <a:p>
            <a:pPr lvl="1"/>
            <a:r>
              <a:rPr lang="en-US" b="1" dirty="0"/>
              <a:t>That</a:t>
            </a:r>
            <a:r>
              <a:rPr lang="en-US" dirty="0"/>
              <a:t> movie was amazing. (Points out a specific thing)</a:t>
            </a:r>
          </a:p>
          <a:p>
            <a:pPr lvl="1"/>
            <a:endParaRPr lang="en-US" dirty="0"/>
          </a:p>
          <a:p>
            <a:r>
              <a:rPr lang="en-US" dirty="0"/>
              <a:t>Determiners always come </a:t>
            </a:r>
            <a:r>
              <a:rPr lang="en-US" b="1" dirty="0"/>
              <a:t>before a noun</a:t>
            </a:r>
            <a:r>
              <a:rPr lang="en-US" dirty="0"/>
              <a:t> (never after).</a:t>
            </a:r>
          </a:p>
          <a:p>
            <a:pPr lvl="1"/>
            <a:r>
              <a:rPr lang="en-US" b="1" dirty="0"/>
              <a:t>This book</a:t>
            </a:r>
            <a:r>
              <a:rPr lang="en-US" dirty="0"/>
              <a:t> is mine. </a:t>
            </a:r>
          </a:p>
          <a:p>
            <a:pPr lvl="1"/>
            <a:r>
              <a:rPr lang="en-US" dirty="0"/>
              <a:t>Book this is mine. </a:t>
            </a:r>
          </a:p>
          <a:p>
            <a:r>
              <a:rPr lang="en-US" dirty="0"/>
              <a:t>Adjectives and determiners are very similar because both come before nouns and give information about them. You can think of determiners as a type of adjective that </a:t>
            </a:r>
            <a:r>
              <a:rPr lang="en-US" b="1" dirty="0"/>
              <a:t>specifies or points out the noun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Determiners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1DE852-7FE6-7CEC-7863-92A61A45FA17}"/>
              </a:ext>
            </a:extLst>
          </p:cNvPr>
          <p:cNvSpPr txBox="1"/>
          <p:nvPr/>
        </p:nvSpPr>
        <p:spPr>
          <a:xfrm>
            <a:off x="2856516" y="4269005"/>
            <a:ext cx="5242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4B502F-5867-1D16-CDA8-5AAF00B155FD}"/>
              </a:ext>
            </a:extLst>
          </p:cNvPr>
          <p:cNvSpPr txBox="1"/>
          <p:nvPr/>
        </p:nvSpPr>
        <p:spPr>
          <a:xfrm>
            <a:off x="2900868" y="4615950"/>
            <a:ext cx="414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✘</a:t>
            </a:r>
          </a:p>
        </p:txBody>
      </p:sp>
    </p:spTree>
    <p:extLst>
      <p:ext uri="{BB962C8B-B14F-4D97-AF65-F5344CB8AC3E}">
        <p14:creationId xmlns:p14="http://schemas.microsoft.com/office/powerpoint/2010/main" val="3193315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BA48A-1C75-61A3-2609-7DE478602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6242E98-C1A3-847D-5A5F-45BBC729A1E1}"/>
              </a:ext>
            </a:extLst>
          </p:cNvPr>
          <p:cNvSpPr txBox="1">
            <a:spLocks/>
          </p:cNvSpPr>
          <p:nvPr/>
        </p:nvSpPr>
        <p:spPr>
          <a:xfrm>
            <a:off x="0" y="711200"/>
            <a:ext cx="9291132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/>
          </a:p>
          <a:p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  <a:p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A46FF6-3A32-D700-B09B-23854DF4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Determiners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710E93-E2A0-F5FA-9F1A-99362C080D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6596" y="1280853"/>
            <a:ext cx="4410691" cy="8859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4F32EB-E532-3F68-26D5-42D0E645F4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4762" y="2166802"/>
            <a:ext cx="4972744" cy="8859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97124C-1E5A-814C-A61F-4F38098887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339" y="3044815"/>
            <a:ext cx="5201376" cy="8573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03C82E-A5D5-4210-354B-9D83FB7CAF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381" y="3903056"/>
            <a:ext cx="5344271" cy="943107"/>
          </a:xfrm>
          <a:prstGeom prst="rect">
            <a:avLst/>
          </a:prstGeom>
        </p:spPr>
      </p:pic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C9A8EAD4-299F-C39B-B836-1E9ED625D2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8088644"/>
              </p:ext>
            </p:extLst>
          </p:nvPr>
        </p:nvGraphicFramePr>
        <p:xfrm>
          <a:off x="64841" y="969402"/>
          <a:ext cx="6248400" cy="46566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116057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31206709-27BF-4D1B-918C-57CB2F0DE8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graphicEl>
                                              <a:dgm id="{31206709-27BF-4D1B-918C-57CB2F0DE8E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A6AA9921-E77A-4D50-8F03-9190CFA8A7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graphicEl>
                                              <a:dgm id="{A6AA9921-E77A-4D50-8F03-9190CFA8A73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DD19FAE1-C7F5-4703-B66B-DAE3D38C44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>
                                            <p:graphicEl>
                                              <a:dgm id="{DD19FAE1-C7F5-4703-B66B-DAE3D38C44A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53FC90B1-5B16-42BE-869C-E8AA9DFB8F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>
                                            <p:graphicEl>
                                              <a:dgm id="{53FC90B1-5B16-42BE-869C-E8AA9DFB8F8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851525E2-EF4B-41EE-BCFE-4EFEED3690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">
                                            <p:graphicEl>
                                              <a:dgm id="{851525E2-EF4B-41EE-BCFE-4EFEED36907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897BB535-9EDE-46A8-A134-0108112BF6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8">
                                            <p:graphicEl>
                                              <a:dgm id="{897BB535-9EDE-46A8-A134-0108112BF66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13A31FC-20D8-4231-B414-DB94AF6845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">
                                            <p:graphicEl>
                                              <a:dgm id="{613A31FC-20D8-4231-B414-DB94AF68451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79A2681F-3E2C-4911-8A1D-49F8DFA97F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8">
                                            <p:graphicEl>
                                              <a:dgm id="{79A2681F-3E2C-4911-8A1D-49F8DFA97F3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E7C3341-5C69-4FCF-97C1-0B01A56096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8">
                                            <p:graphicEl>
                                              <a:dgm id="{EE7C3341-5C69-4FCF-97C1-0B01A560968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uiExpand="1">
        <p:bldSub>
          <a:bldDgm bld="lvlOne"/>
        </p:bldSub>
      </p:bldGraphic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 txBox="1">
            <a:spLocks/>
          </p:cNvSpPr>
          <p:nvPr/>
        </p:nvSpPr>
        <p:spPr>
          <a:xfrm>
            <a:off x="0" y="711200"/>
            <a:ext cx="9291132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/>
          </a:p>
          <a:p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  <a:p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1359" y="777719"/>
            <a:ext cx="11813767" cy="5590565"/>
          </a:xfrm>
        </p:spPr>
        <p:txBody>
          <a:bodyPr/>
          <a:lstStyle/>
          <a:p>
            <a:r>
              <a:rPr lang="en-US" b="1" dirty="0"/>
              <a:t>The possessives </a:t>
            </a:r>
            <a:r>
              <a:rPr lang="en-US" dirty="0"/>
              <a:t>determiners are words that show </a:t>
            </a:r>
            <a:r>
              <a:rPr lang="en-US" b="1" dirty="0">
                <a:solidFill>
                  <a:srgbClr val="C00000"/>
                </a:solidFill>
              </a:rPr>
              <a:t>ownership or possession</a:t>
            </a:r>
            <a:r>
              <a:rPr lang="en-US" dirty="0"/>
              <a:t> of something. They come </a:t>
            </a:r>
            <a:r>
              <a:rPr lang="en-US" b="1" dirty="0">
                <a:solidFill>
                  <a:srgbClr val="C00000"/>
                </a:solidFill>
              </a:rPr>
              <a:t>before a noun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 tell us </a:t>
            </a:r>
            <a:r>
              <a:rPr lang="en-US" b="1" dirty="0">
                <a:solidFill>
                  <a:srgbClr val="C00000"/>
                </a:solidFill>
              </a:rPr>
              <a:t>who the noun belongs to</a:t>
            </a:r>
            <a:r>
              <a:rPr lang="en-US" dirty="0"/>
              <a:t>.</a:t>
            </a:r>
          </a:p>
          <a:p>
            <a:r>
              <a:rPr lang="en-US" dirty="0"/>
              <a:t>Possessives include words like </a:t>
            </a:r>
            <a:r>
              <a:rPr lang="en-US" b="1" dirty="0"/>
              <a:t>my, your, his, her, our, </a:t>
            </a:r>
            <a:r>
              <a:rPr lang="en-US" dirty="0"/>
              <a:t>etc.</a:t>
            </a:r>
          </a:p>
          <a:p>
            <a:pPr lvl="1"/>
            <a:r>
              <a:rPr lang="en-US" dirty="0"/>
              <a:t>That is </a:t>
            </a:r>
            <a:r>
              <a:rPr lang="en-US" b="1" dirty="0"/>
              <a:t>my</a:t>
            </a:r>
            <a:r>
              <a:rPr lang="en-US" dirty="0"/>
              <a:t> pen on the table.</a:t>
            </a:r>
          </a:p>
          <a:p>
            <a:pPr lvl="1"/>
            <a:r>
              <a:rPr lang="en-US" dirty="0"/>
              <a:t>I need to find </a:t>
            </a:r>
            <a:r>
              <a:rPr lang="en-US" b="1" dirty="0"/>
              <a:t>my</a:t>
            </a:r>
            <a:r>
              <a:rPr lang="en-US" dirty="0"/>
              <a:t> glasses.</a:t>
            </a:r>
          </a:p>
          <a:p>
            <a:pPr lvl="1"/>
            <a:r>
              <a:rPr lang="en-US" b="1" dirty="0"/>
              <a:t>Your</a:t>
            </a:r>
            <a:r>
              <a:rPr lang="en-US" dirty="0"/>
              <a:t> book is on the chair.</a:t>
            </a:r>
          </a:p>
          <a:p>
            <a:pPr lvl="1"/>
            <a:r>
              <a:rPr lang="en-US" dirty="0"/>
              <a:t>Have you finished </a:t>
            </a:r>
            <a:r>
              <a:rPr lang="en-US" b="1" dirty="0"/>
              <a:t>your</a:t>
            </a:r>
            <a:r>
              <a:rPr lang="en-US" dirty="0"/>
              <a:t> homework?</a:t>
            </a:r>
          </a:p>
          <a:p>
            <a:pPr lvl="1"/>
            <a:r>
              <a:rPr lang="en-US" dirty="0"/>
              <a:t>He lost </a:t>
            </a:r>
            <a:r>
              <a:rPr lang="en-US" b="1" dirty="0"/>
              <a:t>his</a:t>
            </a:r>
            <a:r>
              <a:rPr lang="en-US" dirty="0"/>
              <a:t> phone yesterday.</a:t>
            </a:r>
          </a:p>
          <a:p>
            <a:pPr lvl="1"/>
            <a:r>
              <a:rPr lang="en-US" dirty="0"/>
              <a:t>He was looking for </a:t>
            </a:r>
            <a:r>
              <a:rPr lang="en-US" b="1" dirty="0"/>
              <a:t>his</a:t>
            </a:r>
            <a:r>
              <a:rPr lang="en-US" dirty="0"/>
              <a:t> jacket.</a:t>
            </a:r>
          </a:p>
          <a:p>
            <a:pPr lvl="1"/>
            <a:r>
              <a:rPr lang="en-US" dirty="0"/>
              <a:t>She brought </a:t>
            </a:r>
            <a:r>
              <a:rPr lang="en-US" b="1" dirty="0"/>
              <a:t>her </a:t>
            </a:r>
            <a:r>
              <a:rPr lang="en-US" dirty="0"/>
              <a:t>umbrella.</a:t>
            </a:r>
          </a:p>
          <a:p>
            <a:pPr lvl="1"/>
            <a:r>
              <a:rPr lang="en-US" dirty="0"/>
              <a:t>The dog is wagging </a:t>
            </a:r>
            <a:r>
              <a:rPr lang="en-US" b="1" dirty="0"/>
              <a:t>its</a:t>
            </a:r>
            <a:r>
              <a:rPr lang="en-US" dirty="0"/>
              <a:t> tail.</a:t>
            </a:r>
          </a:p>
          <a:p>
            <a:pPr lvl="1"/>
            <a:r>
              <a:rPr lang="en-US" dirty="0"/>
              <a:t>The bird is building </a:t>
            </a:r>
            <a:r>
              <a:rPr lang="en-US" b="1" dirty="0"/>
              <a:t>its</a:t>
            </a:r>
            <a:r>
              <a:rPr lang="en-US" dirty="0"/>
              <a:t> nest.</a:t>
            </a:r>
          </a:p>
          <a:p>
            <a:pPr lvl="1"/>
            <a:r>
              <a:rPr lang="en-US" b="1" dirty="0"/>
              <a:t>Our</a:t>
            </a:r>
            <a:r>
              <a:rPr lang="en-US" dirty="0"/>
              <a:t> garden has many flowers.</a:t>
            </a:r>
          </a:p>
          <a:p>
            <a:pPr lvl="1"/>
            <a:r>
              <a:rPr lang="en-US" b="1" dirty="0"/>
              <a:t>Their</a:t>
            </a:r>
            <a:r>
              <a:rPr lang="en-US" dirty="0"/>
              <a:t> car is parked outside.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Possessives </a:t>
            </a:r>
          </a:p>
        </p:txBody>
      </p:sp>
      <p:graphicFrame>
        <p:nvGraphicFramePr>
          <p:cNvPr id="10" name="Diagram 9"/>
          <p:cNvGraphicFramePr/>
          <p:nvPr/>
        </p:nvGraphicFramePr>
        <p:xfrm>
          <a:off x="9357360" y="626165"/>
          <a:ext cx="2926080" cy="5577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16663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63B27-35D5-10AC-27ED-8E5BE34F2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B11370D-4BC9-0A6E-3874-E30710010604}"/>
              </a:ext>
            </a:extLst>
          </p:cNvPr>
          <p:cNvSpPr txBox="1">
            <a:spLocks/>
          </p:cNvSpPr>
          <p:nvPr/>
        </p:nvSpPr>
        <p:spPr>
          <a:xfrm>
            <a:off x="0" y="711200"/>
            <a:ext cx="9291132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/>
          </a:p>
          <a:p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  <a:p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81D444-1DE7-0F5C-7CBD-EDE907B35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Quantifiers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9A266EC-79AD-7856-7C16-3FA8246230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3652933"/>
              </p:ext>
            </p:extLst>
          </p:nvPr>
        </p:nvGraphicFramePr>
        <p:xfrm>
          <a:off x="677259" y="2935858"/>
          <a:ext cx="10497560" cy="6118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6620">
                  <a:extLst>
                    <a:ext uri="{9D8B030D-6E8A-4147-A177-3AD203B41FA5}">
                      <a16:colId xmlns:a16="http://schemas.microsoft.com/office/drawing/2014/main" val="1898825626"/>
                    </a:ext>
                  </a:extLst>
                </a:gridCol>
                <a:gridCol w="5210940">
                  <a:extLst>
                    <a:ext uri="{9D8B030D-6E8A-4147-A177-3AD203B41FA5}">
                      <a16:colId xmlns:a16="http://schemas.microsoft.com/office/drawing/2014/main" val="765675397"/>
                    </a:ext>
                  </a:extLst>
                </a:gridCol>
              </a:tblGrid>
              <a:tr h="611829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solidFill>
                            <a:sysClr val="windowText" lastClr="000000"/>
                          </a:solidFill>
                        </a:rPr>
                        <a:t>Some</a:t>
                      </a:r>
                      <a:endParaRPr lang="en-IN" sz="2400" b="1" dirty="0">
                        <a:solidFill>
                          <a:sysClr val="windowText" lastClr="000000"/>
                        </a:solidFill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solidFill>
                            <a:sysClr val="windowText" lastClr="000000"/>
                          </a:solidFill>
                        </a:rPr>
                        <a:t>Any </a:t>
                      </a:r>
                      <a:endParaRPr lang="en-IN" sz="2400" b="1" dirty="0">
                        <a:solidFill>
                          <a:sysClr val="windowText" lastClr="000000"/>
                        </a:solidFill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25129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1D6AD42-CBDF-4617-0572-99788993AF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291719"/>
              </p:ext>
            </p:extLst>
          </p:nvPr>
        </p:nvGraphicFramePr>
        <p:xfrm>
          <a:off x="677259" y="3548160"/>
          <a:ext cx="10497560" cy="6118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9436">
                  <a:extLst>
                    <a:ext uri="{9D8B030D-6E8A-4147-A177-3AD203B41FA5}">
                      <a16:colId xmlns:a16="http://schemas.microsoft.com/office/drawing/2014/main" val="1898825626"/>
                    </a:ext>
                  </a:extLst>
                </a:gridCol>
                <a:gridCol w="5208124">
                  <a:extLst>
                    <a:ext uri="{9D8B030D-6E8A-4147-A177-3AD203B41FA5}">
                      <a16:colId xmlns:a16="http://schemas.microsoft.com/office/drawing/2014/main" val="765675397"/>
                    </a:ext>
                  </a:extLst>
                </a:gridCol>
              </a:tblGrid>
              <a:tr h="611829">
                <a:tc>
                  <a:txBody>
                    <a:bodyPr/>
                    <a:lstStyle/>
                    <a:p>
                      <a:pPr marL="0" lvl="1" indent="0"/>
                      <a:r>
                        <a:rPr lang="en-GB" sz="2000" dirty="0"/>
                        <a:t>Used in </a:t>
                      </a:r>
                      <a:r>
                        <a:rPr lang="en-GB" sz="2000" b="1" dirty="0"/>
                        <a:t>affirmative sentences.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Used in </a:t>
                      </a:r>
                      <a:r>
                        <a:rPr lang="en-GB" sz="2000" b="1" dirty="0"/>
                        <a:t>negative</a:t>
                      </a:r>
                      <a:r>
                        <a:rPr lang="en-GB" sz="2000" dirty="0"/>
                        <a:t> and</a:t>
                      </a:r>
                      <a:r>
                        <a:rPr lang="en-GB" sz="2000" b="1" dirty="0"/>
                        <a:t> </a:t>
                      </a:r>
                      <a:r>
                        <a:rPr lang="en-US" sz="2000" b="1" dirty="0"/>
                        <a:t>interrogative</a:t>
                      </a:r>
                      <a:r>
                        <a:rPr lang="en-US" sz="2000" dirty="0"/>
                        <a:t> sentences</a:t>
                      </a:r>
                      <a:endParaRPr lang="en-IN" sz="2000" b="0" dirty="0"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525129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76C48B6-063B-E052-91F8-760FF40415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193819"/>
              </p:ext>
            </p:extLst>
          </p:nvPr>
        </p:nvGraphicFramePr>
        <p:xfrm>
          <a:off x="677258" y="4159990"/>
          <a:ext cx="10497559" cy="4975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9436">
                  <a:extLst>
                    <a:ext uri="{9D8B030D-6E8A-4147-A177-3AD203B41FA5}">
                      <a16:colId xmlns:a16="http://schemas.microsoft.com/office/drawing/2014/main" val="1898825626"/>
                    </a:ext>
                  </a:extLst>
                </a:gridCol>
                <a:gridCol w="5208123">
                  <a:extLst>
                    <a:ext uri="{9D8B030D-6E8A-4147-A177-3AD203B41FA5}">
                      <a16:colId xmlns:a16="http://schemas.microsoft.com/office/drawing/2014/main" val="765675397"/>
                    </a:ext>
                  </a:extLst>
                </a:gridCol>
              </a:tblGrid>
              <a:tr h="4975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There are </a:t>
                      </a:r>
                      <a:r>
                        <a:rPr lang="en-US" sz="2000" b="1" dirty="0"/>
                        <a:t>some</a:t>
                      </a:r>
                      <a:r>
                        <a:rPr lang="en-US" sz="2000" dirty="0"/>
                        <a:t> books on the shelf.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I don’t see </a:t>
                      </a:r>
                      <a:r>
                        <a:rPr lang="en-US" sz="2000" b="1" dirty="0"/>
                        <a:t>any</a:t>
                      </a:r>
                      <a:r>
                        <a:rPr lang="en-US" sz="2000" dirty="0"/>
                        <a:t> chairs in the room.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525129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1016E92-14E8-5427-F8B9-1DF4E46B89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095920"/>
              </p:ext>
            </p:extLst>
          </p:nvPr>
        </p:nvGraphicFramePr>
        <p:xfrm>
          <a:off x="671080" y="4657534"/>
          <a:ext cx="10497559" cy="4975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9436">
                  <a:extLst>
                    <a:ext uri="{9D8B030D-6E8A-4147-A177-3AD203B41FA5}">
                      <a16:colId xmlns:a16="http://schemas.microsoft.com/office/drawing/2014/main" val="1898825626"/>
                    </a:ext>
                  </a:extLst>
                </a:gridCol>
                <a:gridCol w="5208123">
                  <a:extLst>
                    <a:ext uri="{9D8B030D-6E8A-4147-A177-3AD203B41FA5}">
                      <a16:colId xmlns:a16="http://schemas.microsoft.com/office/drawing/2014/main" val="765675397"/>
                    </a:ext>
                  </a:extLst>
                </a:gridCol>
              </a:tblGrid>
              <a:tr h="4975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We need to buy </a:t>
                      </a:r>
                      <a:r>
                        <a:rPr lang="en-US" sz="2000" b="1" dirty="0"/>
                        <a:t>some</a:t>
                      </a:r>
                      <a:r>
                        <a:rPr lang="en-US" sz="2000" dirty="0"/>
                        <a:t> bread from the store.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She didn’t bring </a:t>
                      </a:r>
                      <a:r>
                        <a:rPr lang="en-US" sz="2000" b="1" dirty="0"/>
                        <a:t>any</a:t>
                      </a:r>
                      <a:r>
                        <a:rPr lang="en-US" sz="2000" dirty="0"/>
                        <a:t> money with her.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525129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5980446-2A6F-5D67-6DCD-4F8BA50962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417921"/>
              </p:ext>
            </p:extLst>
          </p:nvPr>
        </p:nvGraphicFramePr>
        <p:xfrm>
          <a:off x="671080" y="5156302"/>
          <a:ext cx="10497559" cy="4975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9436">
                  <a:extLst>
                    <a:ext uri="{9D8B030D-6E8A-4147-A177-3AD203B41FA5}">
                      <a16:colId xmlns:a16="http://schemas.microsoft.com/office/drawing/2014/main" val="1898825626"/>
                    </a:ext>
                  </a:extLst>
                </a:gridCol>
                <a:gridCol w="5208123">
                  <a:extLst>
                    <a:ext uri="{9D8B030D-6E8A-4147-A177-3AD203B41FA5}">
                      <a16:colId xmlns:a16="http://schemas.microsoft.com/office/drawing/2014/main" val="765675397"/>
                    </a:ext>
                  </a:extLst>
                </a:gridCol>
              </a:tblGrid>
              <a:tr h="497544">
                <a:tc>
                  <a:txBody>
                    <a:bodyPr/>
                    <a:lstStyle/>
                    <a:p>
                      <a:r>
                        <a:rPr lang="en-US" sz="2000" b="0" dirty="0"/>
                        <a:t>She bought </a:t>
                      </a:r>
                      <a:r>
                        <a:rPr lang="en-US" sz="2000" b="1" dirty="0"/>
                        <a:t>some</a:t>
                      </a:r>
                      <a:r>
                        <a:rPr lang="en-US" sz="2000" b="0" dirty="0"/>
                        <a:t> flowers for her friend.</a:t>
                      </a:r>
                      <a:endParaRPr lang="en-IN" sz="2000" b="0" dirty="0"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Are there </a:t>
                      </a:r>
                      <a:r>
                        <a:rPr lang="en-US" sz="2000" b="1" dirty="0"/>
                        <a:t>any</a:t>
                      </a:r>
                      <a:r>
                        <a:rPr lang="en-US" sz="2000" dirty="0"/>
                        <a:t> messages for me?</a:t>
                      </a:r>
                      <a:endParaRPr lang="en-GB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5251295"/>
                  </a:ext>
                </a:extLst>
              </a:tr>
            </a:tbl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3D1AF93-AAB6-139D-E9A0-A7089FA5657A}"/>
              </a:ext>
            </a:extLst>
          </p:cNvPr>
          <p:cNvSpPr txBox="1">
            <a:spLocks/>
          </p:cNvSpPr>
          <p:nvPr/>
        </p:nvSpPr>
        <p:spPr>
          <a:xfrm>
            <a:off x="33977" y="774467"/>
            <a:ext cx="11707968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The quantifiers </a:t>
            </a:r>
            <a:r>
              <a:rPr lang="en-US"/>
              <a:t>are words used </a:t>
            </a:r>
            <a:r>
              <a:rPr lang="en-US" b="1">
                <a:solidFill>
                  <a:srgbClr val="C00000"/>
                </a:solidFill>
              </a:rPr>
              <a:t>before nouns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to show </a:t>
            </a:r>
            <a:r>
              <a:rPr lang="en-US" b="1">
                <a:solidFill>
                  <a:srgbClr val="C00000"/>
                </a:solidFill>
              </a:rPr>
              <a:t>how much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or </a:t>
            </a:r>
            <a:r>
              <a:rPr lang="en-US" b="1">
                <a:solidFill>
                  <a:srgbClr val="C00000"/>
                </a:solidFill>
              </a:rPr>
              <a:t>how many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of something there is. They express </a:t>
            </a:r>
            <a:r>
              <a:rPr lang="en-US" b="1">
                <a:solidFill>
                  <a:srgbClr val="C00000"/>
                </a:solidFill>
              </a:rPr>
              <a:t>quantity or amount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— either definite (exact) or indefinite (not exact).</a:t>
            </a:r>
          </a:p>
          <a:p>
            <a:r>
              <a:rPr lang="en-US"/>
              <a:t>Quantifiers include words like </a:t>
            </a:r>
            <a:r>
              <a:rPr lang="en-US" b="1"/>
              <a:t>much, some, any, a lot of, each, all, </a:t>
            </a:r>
            <a:r>
              <a:rPr lang="en-US"/>
              <a:t>etc.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/>
              <a:t>Some </a:t>
            </a:r>
            <a:r>
              <a:rPr lang="en-GB" b="1">
                <a:latin typeface="Lohit Gujarati" panose="020B0600000000000000" pitchFamily="34" charset="0"/>
                <a:cs typeface="Lohit Gujarati" panose="020B0600000000000000" pitchFamily="34" charset="0"/>
              </a:rPr>
              <a:t>(</a:t>
            </a:r>
            <a:r>
              <a:rPr lang="gu-IN" b="1">
                <a:latin typeface="Lohit Gujarati" panose="020B0600000000000000" pitchFamily="34" charset="0"/>
                <a:cs typeface="Lohit Gujarati" panose="020B0600000000000000" pitchFamily="34" charset="0"/>
              </a:rPr>
              <a:t>કેટલાક</a:t>
            </a:r>
            <a:r>
              <a:rPr lang="en-IN" b="1">
                <a:latin typeface="Lohit Gujarati" panose="020B0600000000000000" pitchFamily="34" charset="0"/>
                <a:cs typeface="Lohit Gujarati" panose="020B0600000000000000" pitchFamily="34" charset="0"/>
              </a:rPr>
              <a:t>) </a:t>
            </a:r>
            <a:r>
              <a:rPr lang="en-GB" b="1"/>
              <a:t>&amp; Any </a:t>
            </a:r>
            <a:r>
              <a:rPr lang="en-GB" b="1">
                <a:latin typeface="Lohit Gujarati" panose="020B0600000000000000" pitchFamily="34" charset="0"/>
                <a:cs typeface="Lohit Gujarati" panose="020B0600000000000000" pitchFamily="34" charset="0"/>
              </a:rPr>
              <a:t>(</a:t>
            </a:r>
            <a:r>
              <a:rPr lang="gu-IN" b="1">
                <a:latin typeface="Lohit Gujarati" panose="020B0600000000000000" pitchFamily="34" charset="0"/>
                <a:cs typeface="Lohit Gujarati" panose="020B0600000000000000" pitchFamily="34" charset="0"/>
              </a:rPr>
              <a:t>કોઈપણ</a:t>
            </a:r>
            <a:r>
              <a:rPr lang="en-IN" b="1">
                <a:latin typeface="Lohit Gujarati" panose="020B0600000000000000" pitchFamily="34" charset="0"/>
                <a:cs typeface="Lohit Gujarati" panose="020B0600000000000000" pitchFamily="34" charset="0"/>
              </a:rPr>
              <a:t>/</a:t>
            </a:r>
            <a:r>
              <a:rPr lang="gu-IN" b="1">
                <a:latin typeface="Lohit Gujarati" panose="020B0600000000000000" pitchFamily="34" charset="0"/>
                <a:cs typeface="Lohit Gujarati" panose="020B0600000000000000" pitchFamily="34" charset="0"/>
              </a:rPr>
              <a:t>કોઈ</a:t>
            </a:r>
            <a:r>
              <a:rPr lang="en-IN" b="1">
                <a:latin typeface="Lohit Gujarati" panose="020B0600000000000000" pitchFamily="34" charset="0"/>
                <a:cs typeface="Lohit Gujarati" panose="020B0600000000000000" pitchFamily="34" charset="0"/>
              </a:rPr>
              <a:t>)</a:t>
            </a:r>
            <a:r>
              <a:rPr lang="en-GB" b="1"/>
              <a:t>: </a:t>
            </a:r>
          </a:p>
          <a:p>
            <a:pPr lvl="1"/>
            <a:r>
              <a:rPr lang="en-GB" sz="2200"/>
              <a:t>Both are used with </a:t>
            </a:r>
            <a:r>
              <a:rPr lang="en-GB" sz="2200" b="1"/>
              <a:t>countable as well as uncountable nouns</a:t>
            </a:r>
            <a:r>
              <a:rPr lang="en-GB" sz="2200"/>
              <a:t> to show an </a:t>
            </a:r>
            <a:r>
              <a:rPr lang="en-US" sz="2200"/>
              <a:t>indefinite quantity.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846652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 txBox="1">
            <a:spLocks/>
          </p:cNvSpPr>
          <p:nvPr/>
        </p:nvSpPr>
        <p:spPr>
          <a:xfrm>
            <a:off x="0" y="711200"/>
            <a:ext cx="9291132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/>
          </a:p>
          <a:p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  <a:p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Quantifiers</a:t>
            </a:r>
          </a:p>
        </p:txBody>
      </p:sp>
      <p:sp>
        <p:nvSpPr>
          <p:cNvPr id="14" name="Content Placeholder 3"/>
          <p:cNvSpPr txBox="1">
            <a:spLocks/>
          </p:cNvSpPr>
          <p:nvPr/>
        </p:nvSpPr>
        <p:spPr>
          <a:xfrm>
            <a:off x="60230" y="777719"/>
            <a:ext cx="11768424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en-GB" b="1" dirty="0"/>
              <a:t>Several </a:t>
            </a:r>
            <a:r>
              <a:rPr lang="en-GB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(</a:t>
            </a:r>
            <a:r>
              <a:rPr lang="gu-IN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અનેક</a:t>
            </a:r>
            <a:r>
              <a:rPr lang="en-IN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/</a:t>
            </a:r>
            <a:r>
              <a:rPr lang="gu-IN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કેટલાંક</a:t>
            </a:r>
            <a:r>
              <a:rPr lang="en-IN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)</a:t>
            </a:r>
            <a:r>
              <a:rPr lang="en-GB" b="1" dirty="0"/>
              <a:t>: </a:t>
            </a:r>
          </a:p>
          <a:p>
            <a:pPr lvl="1"/>
            <a:r>
              <a:rPr lang="en-US" sz="2400" dirty="0"/>
              <a:t>It tells </a:t>
            </a:r>
            <a:r>
              <a:rPr lang="en-US" sz="2400" b="1" dirty="0"/>
              <a:t>how many</a:t>
            </a:r>
            <a:r>
              <a:rPr lang="en-US" sz="2400" dirty="0"/>
              <a:t> (an indefinite but more than two) of something there are. Always </a:t>
            </a:r>
            <a:r>
              <a:rPr lang="en-US" sz="2400" b="1" dirty="0"/>
              <a:t>used with plural</a:t>
            </a:r>
            <a:r>
              <a:rPr lang="en-US" sz="2400" dirty="0"/>
              <a:t> nouns.</a:t>
            </a:r>
            <a:endParaRPr lang="en-GB" sz="2200" b="1" dirty="0"/>
          </a:p>
          <a:p>
            <a:pPr lvl="2"/>
            <a:r>
              <a:rPr lang="en-US" sz="2000" b="1" dirty="0"/>
              <a:t>Several</a:t>
            </a:r>
            <a:r>
              <a:rPr lang="en-US" sz="2000" dirty="0"/>
              <a:t> students are absent today.</a:t>
            </a:r>
          </a:p>
          <a:p>
            <a:pPr lvl="3"/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આજે </a:t>
            </a:r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કેટલાંક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 વિદ્યાર્થી ગેરહાજર છે.</a:t>
            </a:r>
            <a:endParaRPr lang="en-IN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3"/>
            <a:endParaRPr lang="en-US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2"/>
            <a:r>
              <a:rPr lang="en-US" sz="2000" dirty="0"/>
              <a:t>She bought </a:t>
            </a:r>
            <a:r>
              <a:rPr lang="en-US" sz="2000" b="1" dirty="0"/>
              <a:t>several</a:t>
            </a:r>
            <a:r>
              <a:rPr lang="en-US" sz="2000" dirty="0"/>
              <a:t> books.</a:t>
            </a:r>
          </a:p>
          <a:p>
            <a:pPr lvl="3"/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તેણે </a:t>
            </a:r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કેટલાંક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 પુસ્તકો ખરીદી</a:t>
            </a:r>
            <a:endParaRPr lang="en-IN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3"/>
            <a:endParaRPr lang="en-US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2"/>
            <a:r>
              <a:rPr lang="en-US" sz="2000" dirty="0"/>
              <a:t>I met </a:t>
            </a:r>
            <a:r>
              <a:rPr lang="en-US" sz="2000" b="1" dirty="0"/>
              <a:t>several teachers</a:t>
            </a:r>
            <a:r>
              <a:rPr lang="en-US" sz="2000" dirty="0"/>
              <a:t> at the conference.</a:t>
            </a:r>
          </a:p>
          <a:p>
            <a:pPr lvl="3"/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મેં પરિસંવાદમાં </a:t>
            </a:r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કેટલાંક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 શિક્ષકોને મળ્યો.</a:t>
            </a:r>
            <a:r>
              <a:rPr lang="en-US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 </a:t>
            </a:r>
          </a:p>
          <a:p>
            <a:pPr lvl="3"/>
            <a:endParaRPr lang="en-US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2"/>
            <a:r>
              <a:rPr lang="en-US" sz="2000" dirty="0">
                <a:cs typeface="Lohit Gujarati" panose="020B0600000000000000" pitchFamily="34" charset="0"/>
              </a:rPr>
              <a:t>We visited </a:t>
            </a:r>
            <a:r>
              <a:rPr lang="en-US" sz="2000" b="1" dirty="0">
                <a:cs typeface="Lohit Gujarati" panose="020B0600000000000000" pitchFamily="34" charset="0"/>
              </a:rPr>
              <a:t>several </a:t>
            </a:r>
            <a:r>
              <a:rPr lang="en-US" sz="2000" dirty="0">
                <a:cs typeface="Lohit Gujarati" panose="020B0600000000000000" pitchFamily="34" charset="0"/>
              </a:rPr>
              <a:t>countries last year.</a:t>
            </a:r>
          </a:p>
          <a:p>
            <a:pPr lvl="3"/>
            <a:r>
              <a:rPr lang="gu-IN" sz="1800" dirty="0">
                <a:cs typeface="Lohit Gujarati" panose="020B0600000000000000" pitchFamily="34" charset="0"/>
              </a:rPr>
              <a:t>ગયા વર્ષે અમે </a:t>
            </a:r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કેટલાંક</a:t>
            </a:r>
            <a:r>
              <a:rPr lang="gu-IN" sz="1800" dirty="0">
                <a:cs typeface="Lohit Gujarati" panose="020B0600000000000000" pitchFamily="34" charset="0"/>
              </a:rPr>
              <a:t> દેશોની મુલાકાત લીધી.</a:t>
            </a:r>
            <a:endParaRPr lang="en-IN" sz="1800" dirty="0">
              <a:cs typeface="Lohit Gujarati" panose="020B0600000000000000" pitchFamily="34" charset="0"/>
            </a:endParaRPr>
          </a:p>
          <a:p>
            <a:pPr lvl="3"/>
            <a:endParaRPr lang="en-IN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marL="914400" lvl="2" indent="0">
              <a:buFont typeface="Wingdings" panose="05000000000000000000" pitchFamily="2" charset="2"/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27466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C5C77-72B1-6DA4-E52B-00B2F5ED4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76714-5D84-30A5-9EF3-51FC5DDAC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Quantifiers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6B7B9E5F-86FA-1F13-C291-2B21730681A0}"/>
              </a:ext>
            </a:extLst>
          </p:cNvPr>
          <p:cNvGraphicFramePr/>
          <p:nvPr/>
        </p:nvGraphicFramePr>
        <p:xfrm>
          <a:off x="9357360" y="626165"/>
          <a:ext cx="2926080" cy="5577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7F647ED1-ACFA-B29B-EA37-34EC49986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05" y="777719"/>
            <a:ext cx="11768424" cy="5590565"/>
          </a:xfrm>
        </p:spPr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GB" b="1" dirty="0"/>
              <a:t>Each </a:t>
            </a:r>
            <a:r>
              <a:rPr lang="en-GB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(</a:t>
            </a:r>
            <a:r>
              <a:rPr lang="gu-IN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દરેક</a:t>
            </a:r>
            <a:r>
              <a:rPr lang="en-IN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/</a:t>
            </a:r>
            <a:r>
              <a:rPr lang="gu-IN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પ્રત્યેક</a:t>
            </a:r>
            <a:r>
              <a:rPr lang="en-IN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)</a:t>
            </a:r>
            <a:r>
              <a:rPr lang="en-GB" b="1" dirty="0"/>
              <a:t>: </a:t>
            </a:r>
          </a:p>
          <a:p>
            <a:pPr lvl="1"/>
            <a:r>
              <a:rPr lang="en-GB" sz="2400" dirty="0"/>
              <a:t>Each refers to </a:t>
            </a:r>
            <a:r>
              <a:rPr lang="en-GB" sz="2400" b="1" dirty="0"/>
              <a:t>individual items within a group and emphasizes their individuality.</a:t>
            </a:r>
          </a:p>
          <a:p>
            <a:pPr lvl="2"/>
            <a:r>
              <a:rPr lang="en-US" sz="2000" dirty="0"/>
              <a:t>The teacher spoke to </a:t>
            </a:r>
            <a:r>
              <a:rPr lang="en-US" sz="2000" b="1" dirty="0"/>
              <a:t>each</a:t>
            </a:r>
            <a:r>
              <a:rPr lang="en-US" sz="2000" dirty="0"/>
              <a:t> parent after the meeting.</a:t>
            </a:r>
          </a:p>
          <a:p>
            <a:pPr lvl="3"/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મીટિંગ પછી શિક્ષકે દરેક વાલી સાથે વાત કરી.</a:t>
            </a:r>
            <a:endParaRPr lang="en-IN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3"/>
            <a:endParaRPr lang="en-US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2"/>
            <a:r>
              <a:rPr lang="en-US" sz="2000" dirty="0"/>
              <a:t>We checked </a:t>
            </a:r>
            <a:r>
              <a:rPr lang="en-US" sz="2000" b="1" dirty="0"/>
              <a:t>each</a:t>
            </a:r>
            <a:r>
              <a:rPr lang="en-US" sz="2000" dirty="0"/>
              <a:t> answer carefully before submitting the test.</a:t>
            </a:r>
          </a:p>
          <a:p>
            <a:pPr lvl="3"/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અમે ટેસ્ટ સબમિટ કરતા પહેલા </a:t>
            </a:r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દરેક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 જવાબ કાળજીપૂર્વક તપાસ્યા.</a:t>
            </a:r>
            <a:endParaRPr lang="en-IN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3"/>
            <a:endParaRPr lang="en-IN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2"/>
            <a:r>
              <a:rPr lang="en-US" sz="2000" b="1" dirty="0"/>
              <a:t>Each</a:t>
            </a:r>
            <a:r>
              <a:rPr lang="en-US" sz="2000" dirty="0"/>
              <a:t> student has a notebook.</a:t>
            </a:r>
          </a:p>
          <a:p>
            <a:pPr lvl="3"/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દરેક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 વિદ્યાર્થી પાસે નોટબુક છે.</a:t>
            </a:r>
            <a:endParaRPr lang="en-IN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3"/>
            <a:endParaRPr lang="en-IN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2"/>
            <a:r>
              <a:rPr lang="en-US" sz="2000" b="1" dirty="0"/>
              <a:t>Each</a:t>
            </a:r>
            <a:r>
              <a:rPr lang="en-US" sz="2000" dirty="0"/>
              <a:t> room in the hotel has a balcony.</a:t>
            </a:r>
          </a:p>
          <a:p>
            <a:pPr lvl="3"/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હોટેલની </a:t>
            </a:r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દરેક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 રૂમમાં બાલ્કની છે.</a:t>
            </a:r>
            <a:endParaRPr lang="en-GB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marL="914400" lvl="2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949950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90EC3-1442-F844-D511-B944F71AF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73EB69C-DDE3-4074-5FC9-95554F3E67C0}"/>
              </a:ext>
            </a:extLst>
          </p:cNvPr>
          <p:cNvSpPr txBox="1">
            <a:spLocks/>
          </p:cNvSpPr>
          <p:nvPr/>
        </p:nvSpPr>
        <p:spPr>
          <a:xfrm>
            <a:off x="0" y="711200"/>
            <a:ext cx="9291132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/>
          </a:p>
          <a:p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  <a:p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2CDB9A-04BF-08FF-AC57-E36E78500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Quantifiers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AB73C8E-135D-7E8E-87F3-1D3D71D6CB05}"/>
              </a:ext>
            </a:extLst>
          </p:cNvPr>
          <p:cNvSpPr txBox="1">
            <a:spLocks/>
          </p:cNvSpPr>
          <p:nvPr/>
        </p:nvSpPr>
        <p:spPr>
          <a:xfrm>
            <a:off x="50603" y="777719"/>
            <a:ext cx="11768424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4"/>
            </a:pPr>
            <a:r>
              <a:rPr lang="en-GB" b="1" dirty="0"/>
              <a:t>All </a:t>
            </a:r>
            <a:r>
              <a:rPr lang="en-GB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(</a:t>
            </a:r>
            <a:r>
              <a:rPr lang="gu-IN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બધા</a:t>
            </a:r>
            <a:r>
              <a:rPr lang="en-IN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/</a:t>
            </a:r>
            <a:r>
              <a:rPr lang="gu-IN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તમામ</a:t>
            </a:r>
            <a:r>
              <a:rPr lang="en-IN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)</a:t>
            </a:r>
            <a:r>
              <a:rPr lang="en-GB" b="1" dirty="0"/>
              <a:t>: </a:t>
            </a:r>
          </a:p>
          <a:p>
            <a:pPr lvl="1"/>
            <a:r>
              <a:rPr lang="en-GB" sz="2400" dirty="0"/>
              <a:t>Refers to the </a:t>
            </a:r>
            <a:r>
              <a:rPr lang="en-GB" sz="2400" b="1" dirty="0"/>
              <a:t>entire quantity </a:t>
            </a:r>
            <a:r>
              <a:rPr lang="en-GB" sz="2400" dirty="0"/>
              <a:t>or </a:t>
            </a:r>
            <a:r>
              <a:rPr lang="en-GB" sz="2400" b="1" dirty="0"/>
              <a:t>to emphasize the totality of something with plural noun or </a:t>
            </a:r>
            <a:r>
              <a:rPr lang="en-IN" sz="2400" b="1" dirty="0"/>
              <a:t>uncountable nouns</a:t>
            </a:r>
            <a:r>
              <a:rPr lang="en-GB" sz="2400" b="1" dirty="0"/>
              <a:t>.</a:t>
            </a:r>
          </a:p>
          <a:p>
            <a:pPr lvl="2"/>
            <a:r>
              <a:rPr lang="en-US" sz="2000" b="1" dirty="0"/>
              <a:t>All </a:t>
            </a:r>
            <a:r>
              <a:rPr lang="en-US" sz="2000" dirty="0"/>
              <a:t>students are present today.</a:t>
            </a:r>
          </a:p>
          <a:p>
            <a:pPr lvl="3"/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આજે </a:t>
            </a:r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બધા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 વિદ્યાર્થીઓ હાજર છે.</a:t>
            </a:r>
            <a:endParaRPr lang="en-IN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3"/>
            <a:endParaRPr lang="en-IN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2"/>
            <a:r>
              <a:rPr lang="en-US" sz="2000" b="1" dirty="0"/>
              <a:t>All</a:t>
            </a:r>
            <a:r>
              <a:rPr lang="en-US" sz="2000" dirty="0"/>
              <a:t> books are on the shelf.</a:t>
            </a:r>
          </a:p>
          <a:p>
            <a:pPr lvl="3"/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બધી 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પુસ્તકો શેલ્ફ પર છે.</a:t>
            </a:r>
            <a:endParaRPr lang="en-IN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3"/>
            <a:endParaRPr lang="en-IN" sz="1800" dirty="0"/>
          </a:p>
          <a:p>
            <a:pPr lvl="2"/>
            <a:r>
              <a:rPr lang="en-US" sz="2000" dirty="0"/>
              <a:t>All the milk is in the fridge.</a:t>
            </a:r>
          </a:p>
          <a:p>
            <a:pPr lvl="3"/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બધું 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દૂધ ફ્રિજમાં છે.</a:t>
            </a:r>
            <a:endParaRPr lang="en-IN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3"/>
            <a:endParaRPr lang="en-IN" sz="1800" b="1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2"/>
            <a:r>
              <a:rPr lang="en-US" sz="2000" b="1" dirty="0"/>
              <a:t>All</a:t>
            </a:r>
            <a:r>
              <a:rPr lang="en-US" sz="2000" dirty="0"/>
              <a:t> children love to play.</a:t>
            </a:r>
          </a:p>
          <a:p>
            <a:pPr lvl="3"/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બધા 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બાળકો રમવું પસંદ કરે છે.</a:t>
            </a:r>
            <a:endParaRPr lang="en-IN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3"/>
            <a:endParaRPr lang="en-IN" sz="1800" dirty="0"/>
          </a:p>
          <a:p>
            <a:pPr lvl="2"/>
            <a:r>
              <a:rPr lang="en-US" sz="2000" b="1" dirty="0"/>
              <a:t>All </a:t>
            </a:r>
            <a:r>
              <a:rPr lang="en-US" sz="2000" dirty="0"/>
              <a:t>of my friends came to the party.</a:t>
            </a:r>
          </a:p>
          <a:p>
            <a:pPr lvl="3"/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મારા </a:t>
            </a:r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બધા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 મિત્રો પાર્ટીમાં આવ્યા.</a:t>
            </a:r>
            <a:endParaRPr lang="en-IN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741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EA7048-3D78-4CD4-B509-C8E2BF8DE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Quantifiers</a:t>
            </a:r>
            <a:endParaRPr lang="en-IN" dirty="0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0E656BE2-1970-6D7F-C38D-8D7854685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15" y="764364"/>
            <a:ext cx="11929641" cy="5590565"/>
          </a:xfrm>
        </p:spPr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n-GB" b="1" dirty="0"/>
              <a:t>Much</a:t>
            </a:r>
            <a:r>
              <a:rPr lang="gu-IN" b="1" dirty="0"/>
              <a:t> (</a:t>
            </a:r>
            <a:r>
              <a:rPr lang="gu-IN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ઘણું</a:t>
            </a:r>
            <a:r>
              <a:rPr lang="gu-IN" dirty="0">
                <a:latin typeface="Lohit Gujarati" panose="020B0600000000000000" pitchFamily="34" charset="0"/>
                <a:cs typeface="Lohit Gujarati" panose="020B0600000000000000" pitchFamily="34" charset="0"/>
              </a:rPr>
              <a:t>/</a:t>
            </a:r>
            <a:r>
              <a:rPr lang="gu-IN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ઘણાં</a:t>
            </a:r>
            <a:r>
              <a:rPr lang="gu-IN" dirty="0">
                <a:latin typeface="Lohit Gujarati" panose="020B0600000000000000" pitchFamily="34" charset="0"/>
                <a:cs typeface="Lohit Gujarati" panose="020B0600000000000000" pitchFamily="34" charset="0"/>
              </a:rPr>
              <a:t>)</a:t>
            </a:r>
            <a:r>
              <a:rPr lang="en-GB" b="1" dirty="0"/>
              <a:t>: </a:t>
            </a:r>
          </a:p>
          <a:p>
            <a:pPr lvl="1"/>
            <a:r>
              <a:rPr lang="en-US" sz="2400" b="1" dirty="0"/>
              <a:t>Much</a:t>
            </a:r>
            <a:r>
              <a:rPr lang="en-US" sz="2400" dirty="0"/>
              <a:t> means </a:t>
            </a:r>
            <a:r>
              <a:rPr lang="en-US" sz="2400" b="1" dirty="0"/>
              <a:t>a large amount</a:t>
            </a:r>
            <a:r>
              <a:rPr lang="en-US" sz="2400" dirty="0"/>
              <a:t> or </a:t>
            </a:r>
            <a:r>
              <a:rPr lang="en-US" sz="2400" b="1" dirty="0"/>
              <a:t>a great quantity</a:t>
            </a:r>
            <a:r>
              <a:rPr lang="en-US" sz="2400" dirty="0"/>
              <a:t> — but it is used </a:t>
            </a:r>
            <a:r>
              <a:rPr lang="en-US" sz="2400" b="1" dirty="0"/>
              <a:t>only with uncountable nouns</a:t>
            </a:r>
            <a:r>
              <a:rPr lang="en-US" sz="2400" dirty="0"/>
              <a:t>.</a:t>
            </a:r>
            <a:endParaRPr lang="en-GB" sz="2200" b="1" dirty="0"/>
          </a:p>
          <a:p>
            <a:pPr lvl="2"/>
            <a:r>
              <a:rPr lang="en-US" sz="2000" dirty="0"/>
              <a:t>He has </a:t>
            </a:r>
            <a:r>
              <a:rPr lang="en-US" sz="2000" b="1" dirty="0"/>
              <a:t>much</a:t>
            </a:r>
            <a:r>
              <a:rPr lang="en-US" sz="2000" dirty="0"/>
              <a:t> experience in software development.</a:t>
            </a:r>
            <a:endParaRPr lang="gu-IN" sz="2000" dirty="0"/>
          </a:p>
          <a:p>
            <a:pPr lvl="3"/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તે વ્યક્તિને સોફ્ટવેર ડેવલપમેન્ટમાં </a:t>
            </a:r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ઘણો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 અનુભવ છે.</a:t>
            </a:r>
          </a:p>
          <a:p>
            <a:pPr lvl="3"/>
            <a:endParaRPr lang="en-GB" sz="1800" b="1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2"/>
            <a:r>
              <a:rPr lang="en-US" sz="2000" dirty="0"/>
              <a:t>There isn’t </a:t>
            </a:r>
            <a:r>
              <a:rPr lang="en-US" sz="2000" b="1" dirty="0"/>
              <a:t>much </a:t>
            </a:r>
            <a:r>
              <a:rPr lang="en-US" sz="2000" dirty="0"/>
              <a:t>water in the tank.</a:t>
            </a:r>
            <a:endParaRPr lang="gu-IN" sz="2000" dirty="0"/>
          </a:p>
          <a:p>
            <a:pPr lvl="3"/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ટાંકીમાં </a:t>
            </a:r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ઘણું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 પાણી નથી.</a:t>
            </a:r>
          </a:p>
          <a:p>
            <a:pPr lvl="3"/>
            <a:endParaRPr lang="gu-IN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2"/>
            <a:r>
              <a:rPr lang="en-US" sz="2000" dirty="0"/>
              <a:t>She doesn’t have </a:t>
            </a:r>
            <a:r>
              <a:rPr lang="en-US" sz="2000" b="1" dirty="0"/>
              <a:t>much</a:t>
            </a:r>
            <a:r>
              <a:rPr lang="en-US" sz="2000" dirty="0"/>
              <a:t> money.</a:t>
            </a:r>
            <a:endParaRPr lang="gu-IN" sz="2000" dirty="0"/>
          </a:p>
          <a:p>
            <a:pPr lvl="3"/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તેની પાસે </a:t>
            </a:r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ઘણાં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 પૈસા નથી.</a:t>
            </a:r>
          </a:p>
          <a:p>
            <a:pPr lvl="3"/>
            <a:endParaRPr lang="gu-IN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2"/>
            <a:r>
              <a:rPr lang="en-US" sz="2000" dirty="0"/>
              <a:t>We didn’t get </a:t>
            </a:r>
            <a:r>
              <a:rPr lang="en-US" sz="2000" b="1" dirty="0"/>
              <a:t>much</a:t>
            </a:r>
            <a:r>
              <a:rPr lang="en-US" sz="2000" dirty="0"/>
              <a:t> time to prepare.</a:t>
            </a:r>
            <a:endParaRPr lang="gu-IN" sz="2000" dirty="0"/>
          </a:p>
          <a:p>
            <a:pPr lvl="3"/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અમને તૈયાર થવા માટે </a:t>
            </a:r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ઘણો 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સમય મળ્યો નહીં.</a:t>
            </a:r>
          </a:p>
          <a:p>
            <a:pPr lvl="3"/>
            <a:endParaRPr lang="gu-IN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marL="914400" lvl="2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3322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 txBox="1">
            <a:spLocks/>
          </p:cNvSpPr>
          <p:nvPr/>
        </p:nvSpPr>
        <p:spPr>
          <a:xfrm>
            <a:off x="0" y="711200"/>
            <a:ext cx="9291132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/>
          </a:p>
          <a:p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  <a:p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Quantifiers</a:t>
            </a:r>
          </a:p>
        </p:txBody>
      </p:sp>
      <p:sp>
        <p:nvSpPr>
          <p:cNvPr id="7" name="Content Placeholder 3"/>
          <p:cNvSpPr txBox="1">
            <a:spLocks/>
          </p:cNvSpPr>
          <p:nvPr/>
        </p:nvSpPr>
        <p:spPr>
          <a:xfrm>
            <a:off x="49092" y="774643"/>
            <a:ext cx="12142908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6"/>
            </a:pPr>
            <a:r>
              <a:rPr lang="en-GB" b="1" dirty="0"/>
              <a:t>Many</a:t>
            </a:r>
            <a:r>
              <a:rPr lang="gu-IN" b="1" dirty="0"/>
              <a:t> (</a:t>
            </a:r>
            <a:r>
              <a:rPr lang="gu-IN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ઘણાં</a:t>
            </a:r>
            <a:r>
              <a:rPr lang="en-IN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/</a:t>
            </a:r>
            <a:r>
              <a:rPr lang="gu-IN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 કેટલાં)</a:t>
            </a:r>
            <a:r>
              <a:rPr lang="en-GB" b="1" dirty="0"/>
              <a:t>: </a:t>
            </a:r>
          </a:p>
          <a:p>
            <a:pPr lvl="1"/>
            <a:r>
              <a:rPr lang="en-GB" sz="2400" dirty="0"/>
              <a:t>Used with </a:t>
            </a:r>
            <a:r>
              <a:rPr lang="en-GB" sz="2400" b="1" dirty="0"/>
              <a:t>countable</a:t>
            </a:r>
            <a:r>
              <a:rPr lang="en-GB" sz="2400" dirty="0"/>
              <a:t> nouns to </a:t>
            </a:r>
            <a:r>
              <a:rPr lang="en-GB" sz="2400" b="1" dirty="0"/>
              <a:t>indicate a large number </a:t>
            </a:r>
            <a:r>
              <a:rPr lang="en-GB" sz="2400" dirty="0"/>
              <a:t>or </a:t>
            </a:r>
            <a:r>
              <a:rPr lang="en-GB" sz="2400" b="1" dirty="0"/>
              <a:t>quantity</a:t>
            </a:r>
            <a:r>
              <a:rPr lang="en-GB" sz="2400" dirty="0"/>
              <a:t>.</a:t>
            </a:r>
          </a:p>
          <a:p>
            <a:pPr lvl="2"/>
            <a:r>
              <a:rPr lang="en-US" sz="2000" dirty="0"/>
              <a:t>We saw </a:t>
            </a:r>
            <a:r>
              <a:rPr lang="en-US" sz="2000" b="1" dirty="0"/>
              <a:t>many</a:t>
            </a:r>
            <a:r>
              <a:rPr lang="en-US" sz="2000" dirty="0"/>
              <a:t> stars in the sky last night. </a:t>
            </a:r>
            <a:endParaRPr lang="gu-IN" sz="2000" dirty="0"/>
          </a:p>
          <a:p>
            <a:pPr lvl="3"/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ગઈ રાત્રે અમે આકાશમાં </a:t>
            </a:r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ઘણાં 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તારાઓ જોયા.</a:t>
            </a:r>
          </a:p>
          <a:p>
            <a:pPr lvl="3"/>
            <a:endParaRPr lang="gu-IN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2"/>
            <a:r>
              <a:rPr lang="en-US" sz="2000" b="1" dirty="0"/>
              <a:t>Many</a:t>
            </a:r>
            <a:r>
              <a:rPr lang="en-US" sz="2000" dirty="0"/>
              <a:t> students were absent today.</a:t>
            </a:r>
            <a:endParaRPr lang="gu-IN" sz="2000" dirty="0"/>
          </a:p>
          <a:p>
            <a:pPr lvl="3"/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આજે </a:t>
            </a:r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ઘણા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 વિદ્યાર્થીઓ ગેરહાજર હતા.</a:t>
            </a:r>
          </a:p>
          <a:p>
            <a:pPr lvl="3"/>
            <a:endParaRPr lang="gu-IN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2"/>
            <a:r>
              <a:rPr lang="en-US" sz="2000" dirty="0"/>
              <a:t>She has </a:t>
            </a:r>
            <a:r>
              <a:rPr lang="en-US" sz="2000" b="1" dirty="0"/>
              <a:t>many </a:t>
            </a:r>
            <a:r>
              <a:rPr lang="en-US" sz="2000" dirty="0"/>
              <a:t>friends in college.</a:t>
            </a:r>
            <a:endParaRPr lang="gu-IN" sz="2000" dirty="0"/>
          </a:p>
          <a:p>
            <a:pPr lvl="3"/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તેના કોલેજમાં </a:t>
            </a:r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ઘણા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 મિત્રો છે.</a:t>
            </a:r>
          </a:p>
          <a:p>
            <a:pPr lvl="3"/>
            <a:endParaRPr lang="gu-IN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2"/>
            <a:r>
              <a:rPr lang="en-US" sz="2000" dirty="0"/>
              <a:t>I don’t have </a:t>
            </a:r>
            <a:r>
              <a:rPr lang="en-US" sz="2000" b="1" dirty="0"/>
              <a:t>many</a:t>
            </a:r>
            <a:r>
              <a:rPr lang="en-US" sz="2000" dirty="0"/>
              <a:t> pencils left.</a:t>
            </a:r>
            <a:endParaRPr lang="gu-IN" sz="2000" dirty="0"/>
          </a:p>
          <a:p>
            <a:pPr lvl="3"/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મારી પાસે </a:t>
            </a:r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ઘણા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 પેન્સિલ્સ બાકી નથી.</a:t>
            </a:r>
          </a:p>
          <a:p>
            <a:pPr lvl="2"/>
            <a:endParaRPr lang="gu-IN" sz="2000" dirty="0"/>
          </a:p>
          <a:p>
            <a:pPr lvl="2"/>
            <a:r>
              <a:rPr lang="en-US" sz="2000" dirty="0"/>
              <a:t>How </a:t>
            </a:r>
            <a:r>
              <a:rPr lang="en-US" sz="2000" b="1" dirty="0"/>
              <a:t>many</a:t>
            </a:r>
            <a:r>
              <a:rPr lang="en-US" sz="2000" dirty="0"/>
              <a:t> apples are there in the basket?</a:t>
            </a:r>
            <a:endParaRPr lang="gu-IN" sz="2000" dirty="0"/>
          </a:p>
          <a:p>
            <a:pPr lvl="3"/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ટોપલીમાં </a:t>
            </a:r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કેટલાં 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સફરજન છે?</a:t>
            </a:r>
            <a:endParaRPr lang="en-GB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476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9BB66-6D5F-E6C2-00C8-D57D07FED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F9047F5-3198-8523-19EB-666E6D7A91BF}"/>
              </a:ext>
            </a:extLst>
          </p:cNvPr>
          <p:cNvSpPr txBox="1">
            <a:spLocks/>
          </p:cNvSpPr>
          <p:nvPr/>
        </p:nvSpPr>
        <p:spPr>
          <a:xfrm>
            <a:off x="0" y="711200"/>
            <a:ext cx="9291132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/>
          </a:p>
          <a:p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  <a:p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4B3387-5CA0-BD8B-20E9-B141FCB0C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Quantifiers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4394A2E-2E19-7F3F-5745-C146C72F2F8F}"/>
              </a:ext>
            </a:extLst>
          </p:cNvPr>
          <p:cNvSpPr txBox="1">
            <a:spLocks/>
          </p:cNvSpPr>
          <p:nvPr/>
        </p:nvSpPr>
        <p:spPr>
          <a:xfrm>
            <a:off x="49092" y="785276"/>
            <a:ext cx="12142908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7"/>
            </a:pPr>
            <a:r>
              <a:rPr lang="en-GB" b="1" dirty="0"/>
              <a:t>A lot of / lots of</a:t>
            </a:r>
            <a:r>
              <a:rPr lang="gu-IN" b="1" dirty="0"/>
              <a:t> </a:t>
            </a:r>
            <a:r>
              <a:rPr lang="gu-IN" dirty="0">
                <a:latin typeface="Lohit Gujarati" panose="020B0600000000000000" pitchFamily="34" charset="0"/>
                <a:cs typeface="Lohit Gujarati" panose="020B0600000000000000" pitchFamily="34" charset="0"/>
              </a:rPr>
              <a:t>(ઘણા/બહુ બધું)</a:t>
            </a:r>
            <a:r>
              <a:rPr lang="en-GB" b="1" dirty="0"/>
              <a:t>: </a:t>
            </a:r>
          </a:p>
          <a:p>
            <a:pPr lvl="1"/>
            <a:r>
              <a:rPr lang="en-GB" sz="2400" dirty="0"/>
              <a:t>A lot of is </a:t>
            </a:r>
            <a:r>
              <a:rPr lang="en-GB" sz="2400" b="1" dirty="0"/>
              <a:t>formal, </a:t>
            </a:r>
            <a:r>
              <a:rPr lang="en-GB" sz="2400" dirty="0"/>
              <a:t>whereas</a:t>
            </a:r>
            <a:r>
              <a:rPr lang="en-GB" sz="2400" b="1" dirty="0"/>
              <a:t> lots of </a:t>
            </a:r>
            <a:r>
              <a:rPr lang="en-GB" sz="2400" dirty="0"/>
              <a:t>is </a:t>
            </a:r>
            <a:r>
              <a:rPr lang="en-GB" sz="2400" b="1" dirty="0"/>
              <a:t>informal. </a:t>
            </a:r>
            <a:r>
              <a:rPr lang="en-GB" sz="2400" dirty="0"/>
              <a:t>Both</a:t>
            </a:r>
            <a:r>
              <a:rPr lang="en-GB" sz="2400" b="1" dirty="0"/>
              <a:t> </a:t>
            </a:r>
            <a:r>
              <a:rPr lang="en-GB" sz="2400" dirty="0"/>
              <a:t>can be used with </a:t>
            </a:r>
            <a:r>
              <a:rPr lang="en-GB" sz="2400" b="1" dirty="0"/>
              <a:t>both countable and uncountable nouns </a:t>
            </a:r>
            <a:r>
              <a:rPr lang="en-GB" sz="2400" dirty="0"/>
              <a:t>to indicate </a:t>
            </a:r>
            <a:r>
              <a:rPr lang="en-GB" sz="2400" b="1" dirty="0"/>
              <a:t>a large quantity or number.</a:t>
            </a:r>
          </a:p>
          <a:p>
            <a:pPr lvl="2"/>
            <a:r>
              <a:rPr lang="en-US" sz="2000" dirty="0"/>
              <a:t>There are </a:t>
            </a:r>
            <a:r>
              <a:rPr lang="en-US" sz="2000" b="1" dirty="0"/>
              <a:t>a lot of </a:t>
            </a:r>
            <a:r>
              <a:rPr lang="en-US" sz="2000" dirty="0"/>
              <a:t>chairs in the hall.</a:t>
            </a:r>
            <a:endParaRPr lang="gu-IN" sz="2000" dirty="0"/>
          </a:p>
          <a:p>
            <a:pPr lvl="3"/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હોલમાં </a:t>
            </a:r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ઘણી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 બધી ખુરશીઓ છે.</a:t>
            </a:r>
          </a:p>
          <a:p>
            <a:pPr lvl="2"/>
            <a:endParaRPr lang="en-US" sz="2000" dirty="0"/>
          </a:p>
          <a:p>
            <a:pPr lvl="2"/>
            <a:r>
              <a:rPr lang="en-US" sz="2000" dirty="0"/>
              <a:t>She has </a:t>
            </a:r>
            <a:r>
              <a:rPr lang="en-US" sz="2000" b="1" dirty="0"/>
              <a:t>lots of </a:t>
            </a:r>
            <a:r>
              <a:rPr lang="en-US" sz="2000" dirty="0"/>
              <a:t>patience when dealing with children.</a:t>
            </a:r>
            <a:endParaRPr lang="gu-IN" sz="2000" dirty="0"/>
          </a:p>
          <a:p>
            <a:pPr lvl="3"/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બાળકો સાથે વ્યવહાર કરતી વખતે તેની પાસે </a:t>
            </a:r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બહુ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 ધીરજ છે.</a:t>
            </a:r>
          </a:p>
          <a:p>
            <a:pPr lvl="3"/>
            <a:endParaRPr lang="gu-IN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2"/>
            <a:r>
              <a:rPr lang="en-US" sz="2000" b="1" dirty="0"/>
              <a:t>Lots of</a:t>
            </a:r>
            <a:r>
              <a:rPr lang="en-US" sz="2000" dirty="0"/>
              <a:t> people came to the party.</a:t>
            </a:r>
            <a:endParaRPr lang="gu-IN" sz="2000" dirty="0"/>
          </a:p>
          <a:p>
            <a:pPr lvl="3"/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પાર્ટીમાં </a:t>
            </a:r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ઘણાં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 લોકો આવ્યા.</a:t>
            </a:r>
          </a:p>
          <a:p>
            <a:pPr marL="1371600" lvl="3" indent="0">
              <a:buNone/>
            </a:pPr>
            <a:endParaRPr lang="gu-IN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2"/>
            <a:r>
              <a:rPr lang="en-US" sz="2000" dirty="0"/>
              <a:t>We have </a:t>
            </a:r>
            <a:r>
              <a:rPr lang="en-US" sz="2000" b="1" dirty="0"/>
              <a:t>a lot of</a:t>
            </a:r>
            <a:r>
              <a:rPr lang="en-US" sz="2000" dirty="0"/>
              <a:t> work to do today.</a:t>
            </a:r>
            <a:endParaRPr lang="gu-IN" sz="2000" dirty="0"/>
          </a:p>
          <a:p>
            <a:pPr lvl="3"/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આજે અમારે </a:t>
            </a:r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ઘણું 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કામ કરવાનું છે.</a:t>
            </a:r>
          </a:p>
          <a:p>
            <a:pPr lvl="3"/>
            <a:endParaRPr lang="gu-IN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2"/>
            <a:r>
              <a:rPr lang="en-US" sz="2000" dirty="0"/>
              <a:t>He spent </a:t>
            </a:r>
            <a:r>
              <a:rPr lang="en-US" sz="2000" b="1" dirty="0"/>
              <a:t>lots of</a:t>
            </a:r>
            <a:r>
              <a:rPr lang="en-US" sz="2000" dirty="0"/>
              <a:t> money on his car.</a:t>
            </a:r>
            <a:endParaRPr lang="gu-IN" sz="2000" dirty="0"/>
          </a:p>
          <a:p>
            <a:pPr lvl="3"/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તેણે તેની કાર પર </a:t>
            </a:r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ઘણાં 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પૈસા ખર્ચ્યા.</a:t>
            </a:r>
            <a:endParaRPr lang="en-GB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607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27BDF-7BDB-7650-BF63-94F7F14E3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AD3C8-D224-9026-96FC-E0F9591E1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Quantifiers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927FC201-4CAB-69AE-549D-B4184AAD0F1D}"/>
              </a:ext>
            </a:extLst>
          </p:cNvPr>
          <p:cNvGraphicFramePr/>
          <p:nvPr/>
        </p:nvGraphicFramePr>
        <p:xfrm>
          <a:off x="9357360" y="626165"/>
          <a:ext cx="2926080" cy="5577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E79E3CA-13B8-F63B-BB21-F3BB37C62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36" y="767541"/>
            <a:ext cx="11806210" cy="5590565"/>
          </a:xfrm>
        </p:spPr>
        <p:txBody>
          <a:bodyPr/>
          <a:lstStyle/>
          <a:p>
            <a:pPr marL="457200" indent="-457200">
              <a:buFont typeface="+mj-lt"/>
              <a:buAutoNum type="arabicPeriod" startAt="8"/>
            </a:pPr>
            <a:r>
              <a:rPr lang="en-GB" b="1" dirty="0"/>
              <a:t>A little / little</a:t>
            </a:r>
            <a:r>
              <a:rPr lang="gu-IN" b="1" dirty="0"/>
              <a:t> </a:t>
            </a:r>
            <a:r>
              <a:rPr lang="gu-IN" sz="22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(થોડો/થોડો</a:t>
            </a:r>
            <a:r>
              <a:rPr lang="gu-IN" sz="2200" dirty="0">
                <a:latin typeface="Lohit Gujarati" panose="020B0600000000000000" pitchFamily="34" charset="0"/>
                <a:cs typeface="Lohit Gujarati" panose="020B0600000000000000" pitchFamily="34" charset="0"/>
              </a:rPr>
              <a:t> </a:t>
            </a:r>
            <a:r>
              <a:rPr lang="gu-IN" sz="22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જ)</a:t>
            </a:r>
            <a:r>
              <a:rPr lang="en-GB" b="1" dirty="0"/>
              <a:t>: </a:t>
            </a:r>
          </a:p>
          <a:p>
            <a:pPr lvl="1"/>
            <a:r>
              <a:rPr lang="en-GB" sz="2400" b="1" dirty="0">
                <a:solidFill>
                  <a:srgbClr val="C00000"/>
                </a:solidFill>
              </a:rPr>
              <a:t>A little </a:t>
            </a:r>
            <a:r>
              <a:rPr lang="en-GB" sz="2400" dirty="0"/>
              <a:t>is used with </a:t>
            </a:r>
            <a:r>
              <a:rPr lang="en-GB" sz="2400" b="1" dirty="0"/>
              <a:t>uncountable nouns. </a:t>
            </a:r>
            <a:r>
              <a:rPr lang="en-GB" sz="2400" dirty="0"/>
              <a:t>It means </a:t>
            </a:r>
            <a:r>
              <a:rPr lang="en-GB" sz="2400" b="1" dirty="0"/>
              <a:t>‘at least something.’</a:t>
            </a:r>
            <a:endParaRPr lang="en-GB" sz="2400" dirty="0"/>
          </a:p>
          <a:p>
            <a:pPr lvl="1"/>
            <a:r>
              <a:rPr lang="en-GB" sz="2400" b="1" dirty="0">
                <a:solidFill>
                  <a:srgbClr val="C00000"/>
                </a:solidFill>
              </a:rPr>
              <a:t>Little</a:t>
            </a:r>
            <a:r>
              <a:rPr lang="en-GB" sz="2400" dirty="0"/>
              <a:t> is used with </a:t>
            </a:r>
            <a:r>
              <a:rPr lang="en-GB" sz="2400" b="1" dirty="0"/>
              <a:t>uncountable nouns. </a:t>
            </a:r>
            <a:r>
              <a:rPr lang="en-GB" sz="2400" dirty="0"/>
              <a:t>It means </a:t>
            </a:r>
            <a:r>
              <a:rPr lang="en-GB" sz="2400" b="1" dirty="0"/>
              <a:t>‘almost nothing.’ (Negative)</a:t>
            </a:r>
          </a:p>
          <a:p>
            <a:pPr marL="914400" lvl="2" indent="0">
              <a:buNone/>
            </a:pPr>
            <a:endParaRPr lang="en-GB" sz="2000" b="1" dirty="0"/>
          </a:p>
          <a:p>
            <a:pPr marL="914400" lvl="2" indent="0">
              <a:buNone/>
            </a:pPr>
            <a:endParaRPr lang="en-GB" sz="20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EA801A8-D64B-29CC-3B2C-0AE3EAA80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628134"/>
              </p:ext>
            </p:extLst>
          </p:nvPr>
        </p:nvGraphicFramePr>
        <p:xfrm>
          <a:off x="602831" y="2098609"/>
          <a:ext cx="10497560" cy="6118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6620">
                  <a:extLst>
                    <a:ext uri="{9D8B030D-6E8A-4147-A177-3AD203B41FA5}">
                      <a16:colId xmlns:a16="http://schemas.microsoft.com/office/drawing/2014/main" val="1898825626"/>
                    </a:ext>
                  </a:extLst>
                </a:gridCol>
                <a:gridCol w="5210940">
                  <a:extLst>
                    <a:ext uri="{9D8B030D-6E8A-4147-A177-3AD203B41FA5}">
                      <a16:colId xmlns:a16="http://schemas.microsoft.com/office/drawing/2014/main" val="765675397"/>
                    </a:ext>
                  </a:extLst>
                </a:gridCol>
              </a:tblGrid>
              <a:tr h="611829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A Little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solidFill>
                            <a:sysClr val="windowText" lastClr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Little</a:t>
                      </a:r>
                      <a:endParaRPr lang="en-IN" sz="2400" b="1" dirty="0">
                        <a:solidFill>
                          <a:sysClr val="windowText" lastClr="000000"/>
                        </a:solidFill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25129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D4AB473-351F-69CA-E011-74C9858804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352355"/>
              </p:ext>
            </p:extLst>
          </p:nvPr>
        </p:nvGraphicFramePr>
        <p:xfrm>
          <a:off x="602831" y="2710911"/>
          <a:ext cx="10497560" cy="67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9436">
                  <a:extLst>
                    <a:ext uri="{9D8B030D-6E8A-4147-A177-3AD203B41FA5}">
                      <a16:colId xmlns:a16="http://schemas.microsoft.com/office/drawing/2014/main" val="1898825626"/>
                    </a:ext>
                  </a:extLst>
                </a:gridCol>
                <a:gridCol w="5208124">
                  <a:extLst>
                    <a:ext uri="{9D8B030D-6E8A-4147-A177-3AD203B41FA5}">
                      <a16:colId xmlns:a16="http://schemas.microsoft.com/office/drawing/2014/main" val="765675397"/>
                    </a:ext>
                  </a:extLst>
                </a:gridCol>
              </a:tblGrid>
              <a:tr h="611829">
                <a:tc>
                  <a:txBody>
                    <a:bodyPr/>
                    <a:lstStyle/>
                    <a:p>
                      <a:pPr marL="0" lvl="1" indent="0"/>
                      <a:r>
                        <a:rPr lang="en-US" sz="2000" dirty="0"/>
                        <a:t>He showed </a:t>
                      </a:r>
                      <a:r>
                        <a:rPr lang="en-US" sz="2000" b="1" dirty="0"/>
                        <a:t>a little </a:t>
                      </a:r>
                      <a:r>
                        <a:rPr lang="en-US" sz="2000" dirty="0"/>
                        <a:t>interest in the topic.</a:t>
                      </a:r>
                      <a:r>
                        <a:rPr lang="gu-IN" sz="2000" dirty="0"/>
                        <a:t> </a:t>
                      </a:r>
                    </a:p>
                    <a:p>
                      <a:pPr marL="0" lvl="1" indent="0"/>
                      <a:r>
                        <a:rPr lang="gu-IN" sz="1800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તેણે વિષયમાં થોડી રુચિ દાખવી.</a:t>
                      </a:r>
                      <a:endParaRPr lang="en-GB" sz="1800" b="1" dirty="0">
                        <a:latin typeface="Lohit Gujarati" panose="020B0600000000000000" pitchFamily="34" charset="0"/>
                        <a:cs typeface="Lohit Gujarati" panose="020B060000000000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There is </a:t>
                      </a:r>
                      <a:r>
                        <a:rPr lang="en-US" sz="2000" b="1" dirty="0"/>
                        <a:t>little</a:t>
                      </a:r>
                      <a:r>
                        <a:rPr lang="en-US" sz="2000" dirty="0"/>
                        <a:t> sugar left in the jar.</a:t>
                      </a:r>
                      <a:endParaRPr lang="gu-IN" sz="2000" dirty="0"/>
                    </a:p>
                    <a:p>
                      <a:r>
                        <a:rPr lang="gu-IN" sz="1800" b="0" dirty="0">
                          <a:latin typeface="Lohit Gujarati" panose="020B0600000000000000" pitchFamily="34" charset="0"/>
                          <a:ea typeface="Roboto Condensed" panose="02000000000000000000" pitchFamily="2" charset="0"/>
                          <a:cs typeface="Lohit Gujarati" panose="020B0600000000000000" pitchFamily="34" charset="0"/>
                        </a:rPr>
                        <a:t>બરણીમાં </a:t>
                      </a:r>
                      <a:r>
                        <a:rPr lang="gu-IN" sz="1800" b="1" dirty="0">
                          <a:latin typeface="Lohit Gujarati" panose="020B0600000000000000" pitchFamily="34" charset="0"/>
                          <a:ea typeface="Roboto Condensed" panose="02000000000000000000" pitchFamily="2" charset="0"/>
                          <a:cs typeface="Lohit Gujarati" panose="020B0600000000000000" pitchFamily="34" charset="0"/>
                        </a:rPr>
                        <a:t>થોડી</a:t>
                      </a:r>
                      <a:r>
                        <a:rPr lang="gu-IN" sz="1800" b="1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જ </a:t>
                      </a:r>
                      <a:r>
                        <a:rPr lang="gu-IN" sz="1800" b="0" dirty="0">
                          <a:latin typeface="Lohit Gujarati" panose="020B0600000000000000" pitchFamily="34" charset="0"/>
                          <a:ea typeface="Roboto Condensed" panose="02000000000000000000" pitchFamily="2" charset="0"/>
                          <a:cs typeface="Lohit Gujarati" panose="020B0600000000000000" pitchFamily="34" charset="0"/>
                        </a:rPr>
                        <a:t> ખાંડ બાકી છે.</a:t>
                      </a:r>
                      <a:endParaRPr lang="en-IN" sz="1800" b="0" dirty="0">
                        <a:latin typeface="Lohit Gujarati" panose="020B0600000000000000" pitchFamily="34" charset="0"/>
                        <a:ea typeface="Roboto Condensed" panose="02000000000000000000" pitchFamily="2" charset="0"/>
                        <a:cs typeface="Lohit Gujarati" panose="020B0600000000000000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525129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DF05BEA-0A7D-6908-C09F-9B4DC07368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702598"/>
              </p:ext>
            </p:extLst>
          </p:nvPr>
        </p:nvGraphicFramePr>
        <p:xfrm>
          <a:off x="602830" y="3380387"/>
          <a:ext cx="10497559" cy="67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9436">
                  <a:extLst>
                    <a:ext uri="{9D8B030D-6E8A-4147-A177-3AD203B41FA5}">
                      <a16:colId xmlns:a16="http://schemas.microsoft.com/office/drawing/2014/main" val="1898825626"/>
                    </a:ext>
                  </a:extLst>
                </a:gridCol>
                <a:gridCol w="5208123">
                  <a:extLst>
                    <a:ext uri="{9D8B030D-6E8A-4147-A177-3AD203B41FA5}">
                      <a16:colId xmlns:a16="http://schemas.microsoft.com/office/drawing/2014/main" val="765675397"/>
                    </a:ext>
                  </a:extLst>
                </a:gridCol>
              </a:tblGrid>
              <a:tr h="4975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There is </a:t>
                      </a:r>
                      <a:r>
                        <a:rPr lang="en-US" sz="2000" b="1" dirty="0"/>
                        <a:t>a little</a:t>
                      </a:r>
                      <a:r>
                        <a:rPr lang="en-US" sz="2000" dirty="0"/>
                        <a:t> milk in the fridge.</a:t>
                      </a:r>
                      <a:endParaRPr lang="gu-IN" sz="2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gu-IN" sz="1800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ફ્રિજમાં થોડું દૂધ છે.</a:t>
                      </a:r>
                      <a:endParaRPr lang="en-US" sz="1800" dirty="0">
                        <a:latin typeface="Lohit Gujarati" panose="020B0600000000000000" pitchFamily="34" charset="0"/>
                        <a:cs typeface="Lohit Gujarati" panose="020B060000000000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He has </a:t>
                      </a:r>
                      <a:r>
                        <a:rPr lang="en-US" sz="2000" b="1" dirty="0"/>
                        <a:t>little</a:t>
                      </a:r>
                      <a:r>
                        <a:rPr lang="en-US" sz="2000" dirty="0"/>
                        <a:t> interest in sports.</a:t>
                      </a:r>
                      <a:endParaRPr lang="gu-IN" sz="2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gu-IN" sz="1800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તેને રમતગમતમાં </a:t>
                      </a:r>
                      <a:r>
                        <a:rPr lang="gu-IN" sz="1800" b="1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થોડો</a:t>
                      </a:r>
                      <a:r>
                        <a:rPr lang="gu-IN" sz="1800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 </a:t>
                      </a:r>
                      <a:r>
                        <a:rPr lang="gu-IN" sz="1800" b="1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જ </a:t>
                      </a:r>
                      <a:r>
                        <a:rPr lang="gu-IN" sz="1800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રસ છે.</a:t>
                      </a:r>
                      <a:endParaRPr lang="en-US" sz="1800" dirty="0">
                        <a:latin typeface="Lohit Gujarati" panose="020B0600000000000000" pitchFamily="34" charset="0"/>
                        <a:cs typeface="Lohit Gujarati" panose="020B0600000000000000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525129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E060C6B-05A3-A2C8-8616-0FD55D493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328769"/>
              </p:ext>
            </p:extLst>
          </p:nvPr>
        </p:nvGraphicFramePr>
        <p:xfrm>
          <a:off x="596652" y="4048053"/>
          <a:ext cx="10497559" cy="67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9436">
                  <a:extLst>
                    <a:ext uri="{9D8B030D-6E8A-4147-A177-3AD203B41FA5}">
                      <a16:colId xmlns:a16="http://schemas.microsoft.com/office/drawing/2014/main" val="1898825626"/>
                    </a:ext>
                  </a:extLst>
                </a:gridCol>
                <a:gridCol w="5208123">
                  <a:extLst>
                    <a:ext uri="{9D8B030D-6E8A-4147-A177-3AD203B41FA5}">
                      <a16:colId xmlns:a16="http://schemas.microsoft.com/office/drawing/2014/main" val="765675397"/>
                    </a:ext>
                  </a:extLst>
                </a:gridCol>
              </a:tblGrid>
              <a:tr h="4975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I felt </a:t>
                      </a:r>
                      <a:r>
                        <a:rPr lang="en-US" sz="2000" b="1" dirty="0"/>
                        <a:t>a little</a:t>
                      </a:r>
                      <a:r>
                        <a:rPr lang="en-US" sz="2000" dirty="0"/>
                        <a:t> tired after the long walk.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gu-IN" sz="1800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લાંબુ ચાલ્યા પછી મને </a:t>
                      </a:r>
                      <a:r>
                        <a:rPr lang="gu-IN" sz="1800" b="1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થોડો </a:t>
                      </a:r>
                      <a:r>
                        <a:rPr lang="gu-IN" sz="1800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થાક લાગ્યો.</a:t>
                      </a:r>
                      <a:endParaRPr lang="en-US" sz="1800" dirty="0">
                        <a:latin typeface="Lohit Gujarati" panose="020B0600000000000000" pitchFamily="34" charset="0"/>
                        <a:cs typeface="Lohit Gujarati" panose="020B060000000000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We have </a:t>
                      </a:r>
                      <a:r>
                        <a:rPr lang="en-US" sz="2000" b="1" dirty="0"/>
                        <a:t>little </a:t>
                      </a:r>
                      <a:r>
                        <a:rPr lang="en-US" sz="2000" dirty="0"/>
                        <a:t>time to finish the project.</a:t>
                      </a:r>
                      <a:endParaRPr lang="gu-IN" sz="2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gu-IN" sz="1800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અમારી પાસે પ્રોજેક્ટ પૂર્ણ કરવા માટે </a:t>
                      </a:r>
                      <a:r>
                        <a:rPr lang="gu-IN" sz="1800" b="1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થોડો</a:t>
                      </a:r>
                      <a:r>
                        <a:rPr lang="gu-IN" sz="1800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 </a:t>
                      </a:r>
                      <a:r>
                        <a:rPr lang="gu-IN" sz="1800" b="1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જ </a:t>
                      </a:r>
                      <a:r>
                        <a:rPr lang="gu-IN" sz="1800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સમય છે.</a:t>
                      </a:r>
                      <a:endParaRPr lang="en-US" sz="1800" dirty="0">
                        <a:latin typeface="Lohit Gujarati" panose="020B0600000000000000" pitchFamily="34" charset="0"/>
                        <a:cs typeface="Lohit Gujarati" panose="020B0600000000000000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5251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1685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6AF064-E837-4CB0-BAEB-EFA13DBBD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Quantifiers</a:t>
            </a:r>
            <a:endParaRPr lang="en-IN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BE594BC2-698E-42F8-9F15-1C941F97BFE4}"/>
              </a:ext>
            </a:extLst>
          </p:cNvPr>
          <p:cNvSpPr txBox="1">
            <a:spLocks/>
          </p:cNvSpPr>
          <p:nvPr/>
        </p:nvSpPr>
        <p:spPr>
          <a:xfrm>
            <a:off x="35490" y="735853"/>
            <a:ext cx="11929641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9"/>
            </a:pPr>
            <a:r>
              <a:rPr lang="en-GB" b="1" dirty="0"/>
              <a:t>A few (</a:t>
            </a:r>
            <a:r>
              <a:rPr lang="gu-IN" dirty="0">
                <a:latin typeface="Lohit Gujarati" panose="020B0600000000000000" pitchFamily="34" charset="0"/>
                <a:cs typeface="Lohit Gujarati" panose="020B0600000000000000" pitchFamily="34" charset="0"/>
              </a:rPr>
              <a:t>થોડા, થોડા જ</a:t>
            </a:r>
            <a:r>
              <a:rPr lang="en-IN" dirty="0"/>
              <a:t>)</a:t>
            </a:r>
            <a:r>
              <a:rPr lang="en-GB" b="1" dirty="0"/>
              <a:t>/ few </a:t>
            </a:r>
            <a:r>
              <a:rPr lang="en-GB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(</a:t>
            </a:r>
            <a:r>
              <a:rPr lang="gu-IN" dirty="0">
                <a:latin typeface="Lohit Gujarati" panose="020B0600000000000000" pitchFamily="34" charset="0"/>
                <a:cs typeface="Lohit Gujarati" panose="020B0600000000000000" pitchFamily="34" charset="0"/>
              </a:rPr>
              <a:t>ખૂબ ઓછા</a:t>
            </a:r>
            <a:r>
              <a:rPr lang="en-IN" dirty="0">
                <a:latin typeface="Lohit Gujarati" panose="020B0600000000000000" pitchFamily="34" charset="0"/>
                <a:cs typeface="Lohit Gujarati" panose="020B0600000000000000" pitchFamily="34" charset="0"/>
              </a:rPr>
              <a:t>)</a:t>
            </a:r>
            <a:r>
              <a:rPr lang="en-GB" b="1" dirty="0"/>
              <a:t>: </a:t>
            </a:r>
          </a:p>
          <a:p>
            <a:pPr lvl="1"/>
            <a:r>
              <a:rPr lang="en-GB" sz="2400" b="1" dirty="0">
                <a:solidFill>
                  <a:srgbClr val="C00000"/>
                </a:solidFill>
              </a:rPr>
              <a:t>A Few </a:t>
            </a:r>
            <a:r>
              <a:rPr lang="en-GB" sz="2400" dirty="0"/>
              <a:t>is used with </a:t>
            </a:r>
            <a:r>
              <a:rPr lang="en-GB" sz="2400" b="1" dirty="0"/>
              <a:t>countable nouns</a:t>
            </a:r>
            <a:r>
              <a:rPr lang="en-GB" sz="2400" dirty="0"/>
              <a:t>. It means </a:t>
            </a:r>
            <a:r>
              <a:rPr lang="en-GB" sz="2400" b="1" dirty="0"/>
              <a:t>‘at least some.’</a:t>
            </a:r>
            <a:endParaRPr lang="en-GB" sz="2400" b="1" dirty="0">
              <a:solidFill>
                <a:srgbClr val="C00000"/>
              </a:solidFill>
            </a:endParaRPr>
          </a:p>
          <a:p>
            <a:pPr lvl="1"/>
            <a:r>
              <a:rPr lang="en-GB" sz="2400" b="1" dirty="0">
                <a:solidFill>
                  <a:srgbClr val="C00000"/>
                </a:solidFill>
              </a:rPr>
              <a:t>Few</a:t>
            </a:r>
            <a:r>
              <a:rPr lang="en-GB" sz="2400" dirty="0"/>
              <a:t> is used with </a:t>
            </a:r>
            <a:r>
              <a:rPr lang="en-GB" sz="2400" b="1" dirty="0"/>
              <a:t>countable nouns</a:t>
            </a:r>
            <a:r>
              <a:rPr lang="en-GB" sz="2400" dirty="0"/>
              <a:t>. It means </a:t>
            </a:r>
            <a:r>
              <a:rPr lang="en-GB" sz="2400" b="1" dirty="0"/>
              <a:t>‘almost none.’ (Negative)</a:t>
            </a:r>
          </a:p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85DE6E5-2D68-B100-404D-254A61573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108254"/>
              </p:ext>
            </p:extLst>
          </p:nvPr>
        </p:nvGraphicFramePr>
        <p:xfrm>
          <a:off x="602831" y="2098609"/>
          <a:ext cx="10497560" cy="6118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6620">
                  <a:extLst>
                    <a:ext uri="{9D8B030D-6E8A-4147-A177-3AD203B41FA5}">
                      <a16:colId xmlns:a16="http://schemas.microsoft.com/office/drawing/2014/main" val="1898825626"/>
                    </a:ext>
                  </a:extLst>
                </a:gridCol>
                <a:gridCol w="5210940">
                  <a:extLst>
                    <a:ext uri="{9D8B030D-6E8A-4147-A177-3AD203B41FA5}">
                      <a16:colId xmlns:a16="http://schemas.microsoft.com/office/drawing/2014/main" val="765675397"/>
                    </a:ext>
                  </a:extLst>
                </a:gridCol>
              </a:tblGrid>
              <a:tr h="611829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ysClr val="windowText" lastClr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A Few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solidFill>
                            <a:sysClr val="windowText" lastClr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Few</a:t>
                      </a:r>
                      <a:endParaRPr lang="en-IN" sz="2400" b="1" dirty="0">
                        <a:solidFill>
                          <a:sysClr val="windowText" lastClr="000000"/>
                        </a:solidFill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25129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0EC8950-4153-5FCB-FDE1-B0B96B3F03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845913"/>
              </p:ext>
            </p:extLst>
          </p:nvPr>
        </p:nvGraphicFramePr>
        <p:xfrm>
          <a:off x="602831" y="2710911"/>
          <a:ext cx="10497560" cy="67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9436">
                  <a:extLst>
                    <a:ext uri="{9D8B030D-6E8A-4147-A177-3AD203B41FA5}">
                      <a16:colId xmlns:a16="http://schemas.microsoft.com/office/drawing/2014/main" val="1898825626"/>
                    </a:ext>
                  </a:extLst>
                </a:gridCol>
                <a:gridCol w="5208124">
                  <a:extLst>
                    <a:ext uri="{9D8B030D-6E8A-4147-A177-3AD203B41FA5}">
                      <a16:colId xmlns:a16="http://schemas.microsoft.com/office/drawing/2014/main" val="765675397"/>
                    </a:ext>
                  </a:extLst>
                </a:gridCol>
              </a:tblGrid>
              <a:tr h="611829">
                <a:tc>
                  <a:txBody>
                    <a:bodyPr/>
                    <a:lstStyle/>
                    <a:p>
                      <a:pPr marL="0" lvl="1" indent="0"/>
                      <a:r>
                        <a:rPr lang="en-US" sz="2000" dirty="0"/>
                        <a:t>I have </a:t>
                      </a:r>
                      <a:r>
                        <a:rPr lang="en-US" sz="2000" b="1" dirty="0"/>
                        <a:t>a few</a:t>
                      </a:r>
                      <a:r>
                        <a:rPr lang="en-US" sz="2000" dirty="0"/>
                        <a:t> books to read.</a:t>
                      </a:r>
                      <a:endParaRPr lang="gu-IN" sz="2000" dirty="0"/>
                    </a:p>
                    <a:p>
                      <a:pPr marL="0" lvl="1" indent="0"/>
                      <a:r>
                        <a:rPr lang="gu-IN" sz="1800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મારા પાસે વાંચવા માટે </a:t>
                      </a:r>
                      <a:r>
                        <a:rPr lang="gu-IN" sz="1800" b="1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થોડી </a:t>
                      </a:r>
                      <a:r>
                        <a:rPr lang="gu-IN" sz="1800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પુસ્તકો છે.</a:t>
                      </a:r>
                      <a:endParaRPr lang="en-GB" sz="1800" b="1" dirty="0">
                        <a:latin typeface="Lohit Gujarati" panose="020B0600000000000000" pitchFamily="34" charset="0"/>
                        <a:cs typeface="Lohit Gujarati" panose="020B060000000000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Few</a:t>
                      </a:r>
                      <a:r>
                        <a:rPr lang="en-US" sz="2000" dirty="0"/>
                        <a:t> students attended the lecture.</a:t>
                      </a:r>
                    </a:p>
                    <a:p>
                      <a:r>
                        <a:rPr lang="gu-IN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લેકચર માટે </a:t>
                      </a:r>
                      <a:r>
                        <a:rPr lang="gu-IN" b="1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બહુ ઓછા </a:t>
                      </a:r>
                      <a:r>
                        <a:rPr lang="gu-IN" b="0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વિદ્યાર્થીઓ </a:t>
                      </a:r>
                      <a:r>
                        <a:rPr lang="gu-IN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હાજર હતા.</a:t>
                      </a:r>
                      <a:endParaRPr lang="en-IN" sz="1800" b="0" dirty="0">
                        <a:latin typeface="Lohit Gujarati" panose="020B0600000000000000" pitchFamily="34" charset="0"/>
                        <a:ea typeface="Roboto Condensed" panose="02000000000000000000" pitchFamily="2" charset="0"/>
                        <a:cs typeface="Lohit Gujarati" panose="020B0600000000000000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525129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D09CA06-F149-3C34-E0C3-A5A78F593F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743028"/>
              </p:ext>
            </p:extLst>
          </p:nvPr>
        </p:nvGraphicFramePr>
        <p:xfrm>
          <a:off x="602830" y="3380387"/>
          <a:ext cx="10497559" cy="67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9436">
                  <a:extLst>
                    <a:ext uri="{9D8B030D-6E8A-4147-A177-3AD203B41FA5}">
                      <a16:colId xmlns:a16="http://schemas.microsoft.com/office/drawing/2014/main" val="1898825626"/>
                    </a:ext>
                  </a:extLst>
                </a:gridCol>
                <a:gridCol w="5208123">
                  <a:extLst>
                    <a:ext uri="{9D8B030D-6E8A-4147-A177-3AD203B41FA5}">
                      <a16:colId xmlns:a16="http://schemas.microsoft.com/office/drawing/2014/main" val="765675397"/>
                    </a:ext>
                  </a:extLst>
                </a:gridCol>
              </a:tblGrid>
              <a:tr h="4975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She invited </a:t>
                      </a:r>
                      <a:r>
                        <a:rPr lang="en-US" sz="2000" b="1" dirty="0"/>
                        <a:t>a few</a:t>
                      </a:r>
                      <a:r>
                        <a:rPr lang="en-US" sz="2000" dirty="0"/>
                        <a:t> friends to her party.</a:t>
                      </a:r>
                      <a:endParaRPr lang="gu-IN" sz="2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gu-IN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તેણે </a:t>
                      </a:r>
                      <a:r>
                        <a:rPr lang="gu-IN" b="1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થોડા </a:t>
                      </a:r>
                      <a:r>
                        <a:rPr lang="gu-IN" b="0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મિત્રો</a:t>
                      </a:r>
                      <a:r>
                        <a:rPr lang="gu-IN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 પાર્ટી માટે આમંત્રણ આપ્યા.</a:t>
                      </a:r>
                      <a:endParaRPr lang="en-US" sz="1800" dirty="0">
                        <a:latin typeface="Lohit Gujarati" panose="020B0600000000000000" pitchFamily="34" charset="0"/>
                        <a:cs typeface="Lohit Gujarati" panose="020B060000000000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He has </a:t>
                      </a:r>
                      <a:r>
                        <a:rPr lang="en-US" sz="2000" b="1" dirty="0"/>
                        <a:t>few </a:t>
                      </a:r>
                      <a:r>
                        <a:rPr lang="en-US" sz="2000" dirty="0"/>
                        <a:t>friends in the city.</a:t>
                      </a:r>
                      <a:endParaRPr lang="gu-IN" sz="2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gu-IN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તેના શહેરમાં </a:t>
                      </a:r>
                      <a:r>
                        <a:rPr lang="gu-IN" b="1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થોડા જ </a:t>
                      </a:r>
                      <a:r>
                        <a:rPr lang="gu-IN" b="0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મિત્રો </a:t>
                      </a:r>
                      <a:r>
                        <a:rPr lang="gu-IN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છે.</a:t>
                      </a:r>
                      <a:endParaRPr lang="en-US" sz="1800" dirty="0">
                        <a:latin typeface="Lohit Gujarati" panose="020B0600000000000000" pitchFamily="34" charset="0"/>
                        <a:cs typeface="Lohit Gujarati" panose="020B0600000000000000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525129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300611A-4D42-3EA6-115A-881319CE9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30662"/>
              </p:ext>
            </p:extLst>
          </p:nvPr>
        </p:nvGraphicFramePr>
        <p:xfrm>
          <a:off x="596652" y="4048053"/>
          <a:ext cx="10497559" cy="67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9436">
                  <a:extLst>
                    <a:ext uri="{9D8B030D-6E8A-4147-A177-3AD203B41FA5}">
                      <a16:colId xmlns:a16="http://schemas.microsoft.com/office/drawing/2014/main" val="1898825626"/>
                    </a:ext>
                  </a:extLst>
                </a:gridCol>
                <a:gridCol w="5208123">
                  <a:extLst>
                    <a:ext uri="{9D8B030D-6E8A-4147-A177-3AD203B41FA5}">
                      <a16:colId xmlns:a16="http://schemas.microsoft.com/office/drawing/2014/main" val="765675397"/>
                    </a:ext>
                  </a:extLst>
                </a:gridCol>
              </a:tblGrid>
              <a:tr h="4183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We have </a:t>
                      </a:r>
                      <a:r>
                        <a:rPr lang="en-US" sz="2000" b="1" dirty="0"/>
                        <a:t>a few </a:t>
                      </a:r>
                      <a:r>
                        <a:rPr lang="en-US" sz="2000" dirty="0"/>
                        <a:t>minutes before the train arrives.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gu-IN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ટ્રેન આવતાં પહેલાં અમારે </a:t>
                      </a:r>
                      <a:r>
                        <a:rPr lang="gu-IN" b="1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થોડી </a:t>
                      </a:r>
                      <a:r>
                        <a:rPr lang="gu-IN" b="0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મિનિટો</a:t>
                      </a:r>
                      <a:r>
                        <a:rPr lang="gu-IN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 છે.</a:t>
                      </a:r>
                      <a:endParaRPr lang="en-US" sz="1800" dirty="0">
                        <a:latin typeface="Lohit Gujarati" panose="020B0600000000000000" pitchFamily="34" charset="0"/>
                        <a:cs typeface="Lohit Gujarati" panose="020B0600000000000000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Few </a:t>
                      </a:r>
                      <a:r>
                        <a:rPr lang="en-US" sz="2000" dirty="0"/>
                        <a:t>people know the truth about the incident.</a:t>
                      </a:r>
                      <a:endParaRPr lang="gu-IN" sz="2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gu-IN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ઘટનાની સત્યતા વિશે </a:t>
                      </a:r>
                      <a:r>
                        <a:rPr lang="gu-IN" b="1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થોડા જ </a:t>
                      </a:r>
                      <a:r>
                        <a:rPr lang="gu-IN" b="0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લોકો </a:t>
                      </a:r>
                      <a:r>
                        <a:rPr lang="gu-IN" dirty="0">
                          <a:latin typeface="Lohit Gujarati" panose="020B0600000000000000" pitchFamily="34" charset="0"/>
                          <a:cs typeface="Lohit Gujarati" panose="020B0600000000000000" pitchFamily="34" charset="0"/>
                        </a:rPr>
                        <a:t>જાણે છે</a:t>
                      </a:r>
                      <a:endParaRPr lang="en-US" sz="1800" dirty="0">
                        <a:latin typeface="Lohit Gujarati" panose="020B0600000000000000" pitchFamily="34" charset="0"/>
                        <a:cs typeface="Lohit Gujarati" panose="020B0600000000000000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5251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4462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C8C8F-9809-ECF1-B7EF-CB63E074F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965356-BE85-E8C8-0BDB-AB1BF88DA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Quantifiers</a:t>
            </a:r>
            <a:endParaRPr lang="en-IN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249E6C9A-883A-31E5-D2B1-B5682E1D5F00}"/>
              </a:ext>
            </a:extLst>
          </p:cNvPr>
          <p:cNvSpPr txBox="1">
            <a:spLocks/>
          </p:cNvSpPr>
          <p:nvPr/>
        </p:nvSpPr>
        <p:spPr>
          <a:xfrm>
            <a:off x="35490" y="735853"/>
            <a:ext cx="11929641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10"/>
            </a:pPr>
            <a:r>
              <a:rPr lang="en-GB" b="1" dirty="0"/>
              <a:t>Another </a:t>
            </a:r>
            <a:r>
              <a:rPr lang="en-GB" dirty="0">
                <a:latin typeface="Lohit Gujarati" panose="020B0600000000000000" pitchFamily="34" charset="0"/>
                <a:cs typeface="Lohit Gujarati" panose="020B0600000000000000" pitchFamily="34" charset="0"/>
              </a:rPr>
              <a:t>(</a:t>
            </a:r>
            <a:r>
              <a:rPr lang="gu-IN" dirty="0">
                <a:latin typeface="Lohit Gujarati" panose="020B0600000000000000" pitchFamily="34" charset="0"/>
                <a:cs typeface="Lohit Gujarati" panose="020B0600000000000000" pitchFamily="34" charset="0"/>
              </a:rPr>
              <a:t>બીજું/અન્ય</a:t>
            </a:r>
            <a:r>
              <a:rPr lang="en-IN" dirty="0">
                <a:latin typeface="Lohit Gujarati" panose="020B0600000000000000" pitchFamily="34" charset="0"/>
                <a:cs typeface="Lohit Gujarati" panose="020B0600000000000000" pitchFamily="34" charset="0"/>
              </a:rPr>
              <a:t>/</a:t>
            </a:r>
            <a:r>
              <a:rPr lang="gu-IN" dirty="0">
                <a:latin typeface="Lohit Gujarati" panose="020B0600000000000000" pitchFamily="34" charset="0"/>
                <a:cs typeface="Lohit Gujarati" panose="020B0600000000000000" pitchFamily="34" charset="0"/>
              </a:rPr>
              <a:t>વધુ એક)</a:t>
            </a:r>
            <a:r>
              <a:rPr lang="en-GB" b="1" dirty="0"/>
              <a:t>: </a:t>
            </a:r>
          </a:p>
          <a:p>
            <a:pPr lvl="1"/>
            <a:r>
              <a:rPr lang="en-US" sz="2400" dirty="0"/>
              <a:t>“Another” means </a:t>
            </a:r>
            <a:r>
              <a:rPr lang="en-US" sz="2400" b="1" dirty="0"/>
              <a:t>one more</a:t>
            </a:r>
            <a:r>
              <a:rPr lang="en-US" sz="2400" dirty="0"/>
              <a:t>, </a:t>
            </a:r>
            <a:r>
              <a:rPr lang="en-US" sz="2400" b="1" dirty="0"/>
              <a:t>an additional one</a:t>
            </a:r>
            <a:r>
              <a:rPr lang="en-US" sz="2400" dirty="0"/>
              <a:t>, or </a:t>
            </a:r>
            <a:r>
              <a:rPr lang="en-US" sz="2400" b="1" dirty="0"/>
              <a:t>a different one</a:t>
            </a:r>
            <a:r>
              <a:rPr lang="en-US" sz="2400" dirty="0"/>
              <a:t>. It is used </a:t>
            </a:r>
            <a:r>
              <a:rPr lang="en-US" sz="2400" b="1" dirty="0"/>
              <a:t>before singular countable nouns</a:t>
            </a:r>
            <a:r>
              <a:rPr lang="en-US" sz="2400" dirty="0"/>
              <a:t>.</a:t>
            </a:r>
            <a:endParaRPr lang="en-IN" dirty="0"/>
          </a:p>
          <a:p>
            <a:pPr lvl="1"/>
            <a:r>
              <a:rPr lang="en-US" sz="2400" dirty="0"/>
              <a:t>Used when referring to something </a:t>
            </a:r>
            <a:r>
              <a:rPr lang="en-US" sz="2400" b="1" dirty="0"/>
              <a:t>in addition to what already exists</a:t>
            </a:r>
            <a:r>
              <a:rPr lang="en-US" sz="2400" dirty="0"/>
              <a:t>.</a:t>
            </a:r>
          </a:p>
          <a:p>
            <a:pPr lvl="2"/>
            <a:r>
              <a:rPr lang="en-US" sz="2200" dirty="0"/>
              <a:t>Can I have </a:t>
            </a:r>
            <a:r>
              <a:rPr lang="en-US" sz="2200" b="1" dirty="0"/>
              <a:t>another</a:t>
            </a:r>
            <a:r>
              <a:rPr lang="en-US" sz="2200" dirty="0"/>
              <a:t> cup of tea?</a:t>
            </a:r>
          </a:p>
          <a:p>
            <a:pPr lvl="3"/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શું મને </a:t>
            </a:r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બીજો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 કપ ચા મળશે?</a:t>
            </a:r>
            <a:endParaRPr lang="en-IN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3"/>
            <a:endParaRPr lang="en-IN" sz="20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2"/>
            <a:r>
              <a:rPr lang="en-US" sz="2200" dirty="0"/>
              <a:t>She bought </a:t>
            </a:r>
            <a:r>
              <a:rPr lang="en-US" sz="2200" b="1" dirty="0"/>
              <a:t>another</a:t>
            </a:r>
            <a:r>
              <a:rPr lang="en-US" sz="2200" dirty="0"/>
              <a:t> dress yesterday.</a:t>
            </a:r>
          </a:p>
          <a:p>
            <a:pPr lvl="3"/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તેણે કાલે </a:t>
            </a:r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એક વધુ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 ડ્રેસ ખરીદ્યો.</a:t>
            </a:r>
            <a:endParaRPr lang="en-IN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2"/>
            <a:endParaRPr lang="en-IN" sz="2200" dirty="0"/>
          </a:p>
          <a:p>
            <a:pPr lvl="2"/>
            <a:r>
              <a:rPr lang="en-US" sz="2000" dirty="0"/>
              <a:t>Let’s try </a:t>
            </a:r>
            <a:r>
              <a:rPr lang="en-US" sz="2000" b="1" dirty="0"/>
              <a:t>another </a:t>
            </a:r>
            <a:r>
              <a:rPr lang="en-US" sz="2000" dirty="0"/>
              <a:t>restaurant tonight.</a:t>
            </a:r>
          </a:p>
          <a:p>
            <a:pPr lvl="3"/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આજે રાત્રે </a:t>
            </a:r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બીજા  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રેસ્ટોરન્ટ અજમાવીએ.</a:t>
            </a:r>
          </a:p>
          <a:p>
            <a:pPr lvl="3"/>
            <a:endParaRPr lang="gu-IN" sz="1800" dirty="0"/>
          </a:p>
          <a:p>
            <a:pPr lvl="2"/>
            <a:r>
              <a:rPr lang="en-US" sz="2000" dirty="0"/>
              <a:t>He took </a:t>
            </a:r>
            <a:r>
              <a:rPr lang="en-US" sz="2000" b="1" dirty="0"/>
              <a:t>another </a:t>
            </a:r>
            <a:r>
              <a:rPr lang="en-US" sz="2000" dirty="0"/>
              <a:t>route to avoid traffic.</a:t>
            </a:r>
            <a:endParaRPr lang="gu-IN" sz="2000" dirty="0"/>
          </a:p>
          <a:p>
            <a:pPr lvl="3"/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ટ્રાફિક ટાળવા માટે તેણે </a:t>
            </a:r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બીજો 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રસ્તો લીધો.</a:t>
            </a:r>
            <a:endParaRPr lang="en-GB" sz="1800" b="1" dirty="0">
              <a:solidFill>
                <a:srgbClr val="C00000"/>
              </a:solidFill>
              <a:latin typeface="Lohit Gujarati" panose="020B0600000000000000" pitchFamily="34" charset="0"/>
              <a:cs typeface="Lohit Gujarati" panose="020B06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657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75A1D-B22A-2F60-259E-9381C82C2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BE26D7B-46B1-9A94-3EDB-EA9B8EE4E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Quantifiers</a:t>
            </a:r>
            <a:endParaRPr lang="en-IN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C691C53C-529E-E2A7-1334-AABDA04C1EA8}"/>
              </a:ext>
            </a:extLst>
          </p:cNvPr>
          <p:cNvSpPr txBox="1">
            <a:spLocks/>
          </p:cNvSpPr>
          <p:nvPr/>
        </p:nvSpPr>
        <p:spPr>
          <a:xfrm>
            <a:off x="35490" y="735853"/>
            <a:ext cx="11929641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11"/>
            </a:pPr>
            <a:r>
              <a:rPr lang="en-GB" b="1" dirty="0"/>
              <a:t>Most </a:t>
            </a:r>
            <a:r>
              <a:rPr lang="en-GB" dirty="0">
                <a:latin typeface="Lohit Gujarati" panose="020B0600000000000000" pitchFamily="34" charset="0"/>
                <a:cs typeface="Lohit Gujarati" panose="020B0600000000000000" pitchFamily="34" charset="0"/>
              </a:rPr>
              <a:t>(</a:t>
            </a:r>
            <a:r>
              <a:rPr lang="gu-IN" dirty="0">
                <a:latin typeface="Lohit Gujarati" panose="020B0600000000000000" pitchFamily="34" charset="0"/>
                <a:cs typeface="Lohit Gujarati" panose="020B0600000000000000" pitchFamily="34" charset="0"/>
              </a:rPr>
              <a:t>સૌથી વધુ</a:t>
            </a:r>
            <a:r>
              <a:rPr lang="en-IN" dirty="0">
                <a:latin typeface="Lohit Gujarati" panose="020B0600000000000000" pitchFamily="34" charset="0"/>
                <a:cs typeface="Lohit Gujarati" panose="020B0600000000000000" pitchFamily="34" charset="0"/>
              </a:rPr>
              <a:t>/</a:t>
            </a:r>
            <a:r>
              <a:rPr lang="gu-IN" dirty="0">
                <a:latin typeface="Lohit Gujarati" panose="020B0600000000000000" pitchFamily="34" charset="0"/>
                <a:cs typeface="Lohit Gujarati" panose="020B0600000000000000" pitchFamily="34" charset="0"/>
              </a:rPr>
              <a:t>વધારેમાં વધારે/મોટાભાગના)</a:t>
            </a:r>
            <a:r>
              <a:rPr lang="en-GB" b="1" dirty="0"/>
              <a:t>: </a:t>
            </a:r>
          </a:p>
          <a:p>
            <a:pPr lvl="1"/>
            <a:r>
              <a:rPr lang="en-US" sz="2400" dirty="0"/>
              <a:t>“Most” means </a:t>
            </a:r>
            <a:r>
              <a:rPr lang="en-US" sz="2400" b="1" dirty="0"/>
              <a:t>the largest part</a:t>
            </a:r>
            <a:r>
              <a:rPr lang="en-US" sz="2400" dirty="0"/>
              <a:t>, </a:t>
            </a:r>
            <a:r>
              <a:rPr lang="en-US" sz="2400" b="1" dirty="0"/>
              <a:t>the majority</a:t>
            </a:r>
            <a:r>
              <a:rPr lang="en-US" sz="2400" dirty="0"/>
              <a:t>, or </a:t>
            </a:r>
            <a:r>
              <a:rPr lang="en-US" sz="2400" b="1" dirty="0"/>
              <a:t>almost all</a:t>
            </a:r>
            <a:r>
              <a:rPr lang="en-US" sz="2400" dirty="0"/>
              <a:t> of something.</a:t>
            </a:r>
            <a:endParaRPr lang="gu-IN" sz="2400" dirty="0"/>
          </a:p>
          <a:p>
            <a:pPr lvl="1"/>
            <a:r>
              <a:rPr lang="en-US" sz="2400" dirty="0"/>
              <a:t>It shows </a:t>
            </a:r>
            <a:r>
              <a:rPr lang="en-US" sz="2400" b="1" dirty="0"/>
              <a:t>quantity</a:t>
            </a:r>
            <a:r>
              <a:rPr lang="en-US" sz="2400" dirty="0"/>
              <a:t> — usually more than half or nearly all.</a:t>
            </a:r>
            <a:endParaRPr lang="gu-IN" sz="2400" dirty="0"/>
          </a:p>
          <a:p>
            <a:pPr lvl="2"/>
            <a:r>
              <a:rPr lang="en-IN" sz="2000" b="1" dirty="0"/>
              <a:t>Most</a:t>
            </a:r>
            <a:r>
              <a:rPr lang="en-IN" sz="2000" dirty="0"/>
              <a:t> people like chocolate.</a:t>
            </a:r>
            <a:endParaRPr lang="gu-IN" sz="2000" dirty="0"/>
          </a:p>
          <a:p>
            <a:pPr lvl="3"/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મોટાભાગના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 લોકો ચોકલેટ પસંદ કરે છે.</a:t>
            </a:r>
          </a:p>
          <a:p>
            <a:pPr lvl="2"/>
            <a:endParaRPr lang="gu-IN" sz="2000" dirty="0"/>
          </a:p>
          <a:p>
            <a:pPr lvl="2"/>
            <a:r>
              <a:rPr lang="en-IN" sz="2000" b="1" dirty="0"/>
              <a:t>Most</a:t>
            </a:r>
            <a:r>
              <a:rPr lang="en-IN" sz="2000" dirty="0"/>
              <a:t> students passed the exam.</a:t>
            </a:r>
            <a:endParaRPr lang="gu-IN" sz="2000" dirty="0"/>
          </a:p>
          <a:p>
            <a:pPr lvl="3"/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મોટાભાગના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 વિદ્યાર્થીઓ પરીક્ષા પાસ થયા.</a:t>
            </a:r>
          </a:p>
          <a:p>
            <a:pPr lvl="2"/>
            <a:endParaRPr lang="gu-IN" sz="2000" dirty="0"/>
          </a:p>
          <a:p>
            <a:pPr lvl="2"/>
            <a:r>
              <a:rPr lang="en-IN" sz="2000" b="1" dirty="0"/>
              <a:t>Most</a:t>
            </a:r>
            <a:r>
              <a:rPr lang="en-IN" sz="2000" dirty="0"/>
              <a:t> water animals live in the sea.</a:t>
            </a:r>
            <a:endParaRPr lang="gu-IN" sz="2000" dirty="0"/>
          </a:p>
          <a:p>
            <a:pPr lvl="3"/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મોટાભાગના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 જલચર પ્રાણીઓ સમુદ્રમાં રહે છે.</a:t>
            </a:r>
            <a:endParaRPr lang="en-IN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3"/>
            <a:endParaRPr lang="gu-IN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2"/>
            <a:r>
              <a:rPr lang="en-US" sz="2000" b="1" dirty="0"/>
              <a:t>Most</a:t>
            </a:r>
            <a:r>
              <a:rPr lang="en-US" sz="2000" dirty="0"/>
              <a:t> houses in this area are old.</a:t>
            </a:r>
          </a:p>
          <a:p>
            <a:pPr lvl="3"/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આ વિસ્તારમાં </a:t>
            </a:r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મોટાભાગના 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મકાનો જૂના છે.</a:t>
            </a:r>
            <a:endParaRPr lang="en-GB" sz="1800" b="1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9071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0C391-1C23-0EC9-E6B6-020BD326B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CF64AC1-06CE-FDA9-BD46-3E99817AD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Quantifiers</a:t>
            </a:r>
            <a:endParaRPr lang="en-IN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8EA67D41-B9E1-59E6-92A3-BCF4F570B6EF}"/>
              </a:ext>
            </a:extLst>
          </p:cNvPr>
          <p:cNvSpPr txBox="1">
            <a:spLocks/>
          </p:cNvSpPr>
          <p:nvPr/>
        </p:nvSpPr>
        <p:spPr>
          <a:xfrm>
            <a:off x="35490" y="735853"/>
            <a:ext cx="11929641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12"/>
            </a:pPr>
            <a:r>
              <a:rPr lang="en-GB" b="1" dirty="0"/>
              <a:t>Almost </a:t>
            </a:r>
            <a:r>
              <a:rPr lang="en-GB" dirty="0">
                <a:latin typeface="Lohit Gujarati" panose="020B0600000000000000" pitchFamily="34" charset="0"/>
                <a:cs typeface="Lohit Gujarati" panose="020B0600000000000000" pitchFamily="34" charset="0"/>
              </a:rPr>
              <a:t>(</a:t>
            </a:r>
            <a:r>
              <a:rPr lang="gu-IN" dirty="0">
                <a:latin typeface="Lohit Gujarati" panose="020B0600000000000000" pitchFamily="34" charset="0"/>
                <a:cs typeface="Lohit Gujarati" panose="020B0600000000000000" pitchFamily="34" charset="0"/>
              </a:rPr>
              <a:t>લગભગ</a:t>
            </a:r>
            <a:r>
              <a:rPr lang="en-IN" dirty="0">
                <a:latin typeface="Lohit Gujarati" panose="020B0600000000000000" pitchFamily="34" charset="0"/>
                <a:cs typeface="Lohit Gujarati" panose="020B0600000000000000" pitchFamily="34" charset="0"/>
              </a:rPr>
              <a:t>/</a:t>
            </a:r>
            <a:r>
              <a:rPr lang="gu-IN" dirty="0">
                <a:latin typeface="Lohit Gujarati" panose="020B0600000000000000" pitchFamily="34" charset="0"/>
                <a:cs typeface="Lohit Gujarati" panose="020B0600000000000000" pitchFamily="34" charset="0"/>
              </a:rPr>
              <a:t>મોટા ભાગે)</a:t>
            </a:r>
            <a:r>
              <a:rPr lang="en-GB" b="1" dirty="0"/>
              <a:t>: </a:t>
            </a:r>
          </a:p>
          <a:p>
            <a:pPr lvl="1"/>
            <a:r>
              <a:rPr lang="en-US" sz="2400" dirty="0"/>
              <a:t>“Almost” means </a:t>
            </a:r>
            <a:r>
              <a:rPr lang="en-US" sz="2400" b="1" dirty="0"/>
              <a:t>nearly</a:t>
            </a:r>
            <a:r>
              <a:rPr lang="en-US" sz="2400" dirty="0"/>
              <a:t>, </a:t>
            </a:r>
            <a:r>
              <a:rPr lang="en-US" sz="2400" b="1" dirty="0"/>
              <a:t>not completely</a:t>
            </a:r>
            <a:r>
              <a:rPr lang="en-US" sz="2400" dirty="0"/>
              <a:t>, or </a:t>
            </a:r>
            <a:r>
              <a:rPr lang="en-US" sz="2400" b="1" dirty="0"/>
              <a:t>close to</a:t>
            </a:r>
            <a:r>
              <a:rPr lang="en-US" sz="2400" dirty="0"/>
              <a:t> something — but </a:t>
            </a:r>
            <a:r>
              <a:rPr lang="en-US" sz="2400" b="1" dirty="0"/>
              <a:t>not all or not quite</a:t>
            </a:r>
            <a:r>
              <a:rPr lang="en-US" sz="2400" dirty="0"/>
              <a:t>.</a:t>
            </a:r>
          </a:p>
          <a:p>
            <a:pPr lvl="1"/>
            <a:r>
              <a:rPr lang="en-US" sz="2400" dirty="0"/>
              <a:t>It tells us that something is </a:t>
            </a:r>
            <a:r>
              <a:rPr lang="en-US" sz="2400" b="1" dirty="0"/>
              <a:t>very near to being true or complete</a:t>
            </a:r>
            <a:r>
              <a:rPr lang="en-US" sz="2400" dirty="0"/>
              <a:t>.</a:t>
            </a:r>
          </a:p>
          <a:p>
            <a:pPr lvl="2"/>
            <a:r>
              <a:rPr lang="en-US" sz="2000" b="1" dirty="0"/>
              <a:t>Almost </a:t>
            </a:r>
            <a:r>
              <a:rPr lang="en-US" sz="2000" dirty="0"/>
              <a:t>all students passed the exam.</a:t>
            </a:r>
          </a:p>
          <a:p>
            <a:pPr lvl="3"/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લગભગ 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બધા વિદ્યાર્થીઓ પરીક્ષા પાસ થયા.</a:t>
            </a:r>
            <a:endParaRPr lang="en-IN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2"/>
            <a:endParaRPr lang="en-IN" sz="2000" dirty="0"/>
          </a:p>
          <a:p>
            <a:pPr lvl="2"/>
            <a:r>
              <a:rPr lang="en-US" sz="2000" b="1" dirty="0"/>
              <a:t>Almost</a:t>
            </a:r>
            <a:r>
              <a:rPr lang="en-US" sz="2000" dirty="0"/>
              <a:t> every shop was closed on Sunday.</a:t>
            </a:r>
          </a:p>
          <a:p>
            <a:pPr lvl="3"/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લગભગ 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દરેક દુકાન રવિવારે બંધ હતી.</a:t>
            </a:r>
            <a:endParaRPr lang="en-IN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2"/>
            <a:endParaRPr lang="en-IN" sz="2000" dirty="0"/>
          </a:p>
          <a:p>
            <a:pPr lvl="2"/>
            <a:r>
              <a:rPr lang="en-US" sz="2000" b="1" dirty="0"/>
              <a:t>Almost </a:t>
            </a:r>
            <a:r>
              <a:rPr lang="en-US" sz="2000" dirty="0"/>
              <a:t>no people attended the meeting.</a:t>
            </a:r>
          </a:p>
          <a:p>
            <a:pPr lvl="3"/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લગભગ 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કોઈ લોકો મીટિંગમાં આવ્યા નહીં.</a:t>
            </a:r>
            <a:endParaRPr lang="en-IN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2"/>
            <a:endParaRPr lang="en-IN" sz="2000" dirty="0"/>
          </a:p>
          <a:p>
            <a:pPr lvl="2"/>
            <a:r>
              <a:rPr lang="en-US" sz="2000" b="1" dirty="0"/>
              <a:t>Almost </a:t>
            </a:r>
            <a:r>
              <a:rPr lang="en-US" sz="2000" dirty="0"/>
              <a:t>everyone agreed with the plan.</a:t>
            </a:r>
          </a:p>
          <a:p>
            <a:pPr lvl="3"/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લગભગ 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દરેક વ્યક્તિએ યોજના સાથે સહમતી વ્યક્ત કરી.</a:t>
            </a:r>
            <a:endParaRPr lang="en-GB" sz="1800" b="1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0056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AC6C2-92DE-5900-A583-4948CAA32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B38EEC-C2C9-500B-25E4-B4DBB9664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Quantifiers</a:t>
            </a:r>
            <a:endParaRPr lang="en-IN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6005AC56-4D23-EE48-03D6-E56597896EAD}"/>
              </a:ext>
            </a:extLst>
          </p:cNvPr>
          <p:cNvSpPr txBox="1">
            <a:spLocks/>
          </p:cNvSpPr>
          <p:nvPr/>
        </p:nvSpPr>
        <p:spPr>
          <a:xfrm>
            <a:off x="35490" y="735853"/>
            <a:ext cx="11929641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13"/>
            </a:pPr>
            <a:r>
              <a:rPr lang="en-GB" b="1" dirty="0"/>
              <a:t>At least </a:t>
            </a:r>
            <a:r>
              <a:rPr lang="en-GB" dirty="0">
                <a:latin typeface="Lohit Gujarati" panose="020B0600000000000000" pitchFamily="34" charset="0"/>
                <a:cs typeface="Lohit Gujarati" panose="020B0600000000000000" pitchFamily="34" charset="0"/>
              </a:rPr>
              <a:t>(</a:t>
            </a:r>
            <a:r>
              <a:rPr lang="gu-IN" dirty="0">
                <a:latin typeface="Lohit Gujarati" panose="020B0600000000000000" pitchFamily="34" charset="0"/>
                <a:cs typeface="Lohit Gujarati" panose="020B0600000000000000" pitchFamily="34" charset="0"/>
              </a:rPr>
              <a:t>ઓછામાં ઓછું)</a:t>
            </a:r>
            <a:r>
              <a:rPr lang="en-GB" b="1" dirty="0"/>
              <a:t>: </a:t>
            </a:r>
          </a:p>
          <a:p>
            <a:pPr lvl="1"/>
            <a:r>
              <a:rPr lang="en-US" sz="2400" dirty="0"/>
              <a:t>“</a:t>
            </a:r>
            <a:r>
              <a:rPr lang="en-US" sz="2400" b="1" dirty="0"/>
              <a:t>At least</a:t>
            </a:r>
            <a:r>
              <a:rPr lang="en-US" sz="2400" dirty="0"/>
              <a:t>” means </a:t>
            </a:r>
            <a:r>
              <a:rPr lang="en-US" sz="2400" b="1" dirty="0"/>
              <a:t>not less than</a:t>
            </a:r>
            <a:r>
              <a:rPr lang="en-US" sz="2400" dirty="0"/>
              <a:t> or </a:t>
            </a:r>
            <a:r>
              <a:rPr lang="en-US" sz="2400" b="1" dirty="0"/>
              <a:t>a minimum of something</a:t>
            </a:r>
            <a:r>
              <a:rPr lang="en-US" sz="2400" dirty="0"/>
              <a:t>.</a:t>
            </a:r>
          </a:p>
          <a:p>
            <a:pPr lvl="1"/>
            <a:r>
              <a:rPr lang="en-US" sz="2400" dirty="0"/>
              <a:t>It shows the </a:t>
            </a:r>
            <a:r>
              <a:rPr lang="en-US" sz="2400" b="1" dirty="0"/>
              <a:t>lowest possible amount, number, or degree</a:t>
            </a:r>
            <a:r>
              <a:rPr lang="en-US" sz="2400" dirty="0"/>
              <a:t> — there could be more, but </a:t>
            </a:r>
            <a:r>
              <a:rPr lang="en-US" sz="2400" b="1" dirty="0"/>
              <a:t>not less</a:t>
            </a:r>
            <a:r>
              <a:rPr lang="en-US" sz="2400" dirty="0"/>
              <a:t> than that.</a:t>
            </a:r>
          </a:p>
          <a:p>
            <a:pPr lvl="2"/>
            <a:r>
              <a:rPr lang="en-US" sz="2000" dirty="0"/>
              <a:t>You should sleep </a:t>
            </a:r>
            <a:r>
              <a:rPr lang="en-US" sz="2000" b="1" dirty="0"/>
              <a:t>at least </a:t>
            </a:r>
            <a:r>
              <a:rPr lang="en-US" sz="2000" dirty="0"/>
              <a:t>eight hours every night.</a:t>
            </a:r>
          </a:p>
          <a:p>
            <a:pPr lvl="3"/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તમને દરરોજ </a:t>
            </a:r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ઓછામાં ઓછા 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આઠ કલાક ઊંઘવી જોઈએ.</a:t>
            </a:r>
            <a:endParaRPr lang="en-IN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3"/>
            <a:endParaRPr lang="en-IN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2"/>
            <a:r>
              <a:rPr lang="en-US" sz="2000" dirty="0"/>
              <a:t>We need </a:t>
            </a:r>
            <a:r>
              <a:rPr lang="en-US" sz="2000" b="1" dirty="0"/>
              <a:t>at least </a:t>
            </a:r>
            <a:r>
              <a:rPr lang="en-US" sz="2000" dirty="0"/>
              <a:t>ten volunteers for this project.</a:t>
            </a:r>
          </a:p>
          <a:p>
            <a:pPr lvl="3"/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આ પ્રોજેક્ટ માટે </a:t>
            </a:r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ઓછામાં ઓછા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 દસ સ્વયંસેવકો જરૂરી છે.</a:t>
            </a:r>
            <a:endParaRPr lang="en-IN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3"/>
            <a:endParaRPr lang="en-IN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2"/>
            <a:r>
              <a:rPr lang="en-US" sz="2000" dirty="0"/>
              <a:t>Bring </a:t>
            </a:r>
            <a:r>
              <a:rPr lang="en-US" sz="2000" b="1" dirty="0"/>
              <a:t>at least </a:t>
            </a:r>
            <a:r>
              <a:rPr lang="en-US" sz="2000" dirty="0"/>
              <a:t>some food for the trip.</a:t>
            </a:r>
          </a:p>
          <a:p>
            <a:pPr lvl="3"/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પ્રવાસ માટે </a:t>
            </a:r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ઓછામાં ઓછું 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થોડું ખોરાક લાવો.</a:t>
            </a:r>
            <a:endParaRPr lang="en-IN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3"/>
            <a:endParaRPr lang="en-IN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2"/>
            <a:r>
              <a:rPr lang="en-US" sz="2000" dirty="0"/>
              <a:t>He has </a:t>
            </a:r>
            <a:r>
              <a:rPr lang="en-US" sz="2000" b="1" dirty="0"/>
              <a:t>at least </a:t>
            </a:r>
            <a:r>
              <a:rPr lang="en-US" sz="2000" dirty="0"/>
              <a:t>two years of experience.</a:t>
            </a:r>
          </a:p>
          <a:p>
            <a:pPr lvl="3"/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તેને </a:t>
            </a:r>
            <a:r>
              <a:rPr lang="gu-IN" sz="1800" b="1" dirty="0">
                <a:latin typeface="Lohit Gujarati" panose="020B0600000000000000" pitchFamily="34" charset="0"/>
                <a:cs typeface="Lohit Gujarati" panose="020B0600000000000000" pitchFamily="34" charset="0"/>
              </a:rPr>
              <a:t>ઓછામાં ઓછા </a:t>
            </a:r>
            <a:r>
              <a:rPr lang="gu-IN" sz="18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બે વર્ષનો અનુભવ છે.</a:t>
            </a:r>
            <a:endParaRPr lang="en-IN" sz="1800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lvl="3"/>
            <a:endParaRPr lang="en-GB" sz="1800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8115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 txBox="1">
            <a:spLocks/>
          </p:cNvSpPr>
          <p:nvPr/>
        </p:nvSpPr>
        <p:spPr>
          <a:xfrm>
            <a:off x="0" y="711200"/>
            <a:ext cx="9291132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/>
          </a:p>
          <a:p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  <a:p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7800" y="777719"/>
            <a:ext cx="11775981" cy="5590565"/>
          </a:xfrm>
        </p:spPr>
        <p:txBody>
          <a:bodyPr/>
          <a:lstStyle/>
          <a:p>
            <a:r>
              <a:rPr lang="en-US" dirty="0"/>
              <a:t>Demonstratives are words that </a:t>
            </a:r>
            <a:r>
              <a:rPr lang="en-US" b="1" dirty="0">
                <a:solidFill>
                  <a:srgbClr val="002060"/>
                </a:solidFill>
              </a:rPr>
              <a:t>point to specific nouns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indicate distance (near or far) </a:t>
            </a:r>
            <a:r>
              <a:rPr lang="en-US" dirty="0"/>
              <a:t>in relation to the speaker.</a:t>
            </a:r>
          </a:p>
          <a:p>
            <a:r>
              <a:rPr lang="en-US" dirty="0"/>
              <a:t>Demonstratives include the words </a:t>
            </a:r>
            <a:r>
              <a:rPr lang="en-US" b="1" dirty="0"/>
              <a:t>this, that, these,</a:t>
            </a:r>
            <a:r>
              <a:rPr lang="en-US" dirty="0"/>
              <a:t> and </a:t>
            </a:r>
            <a:r>
              <a:rPr lang="en-US" b="1" dirty="0"/>
              <a:t>those.</a:t>
            </a:r>
            <a:endParaRPr lang="en-US" dirty="0"/>
          </a:p>
          <a:p>
            <a:pPr lvl="1"/>
            <a:r>
              <a:rPr lang="en-US" b="1" dirty="0"/>
              <a:t>This </a:t>
            </a:r>
            <a:r>
              <a:rPr lang="en-US" dirty="0"/>
              <a:t>pen is mine. (The pen is near the speaker.)</a:t>
            </a:r>
          </a:p>
          <a:p>
            <a:pPr lvl="1"/>
            <a:r>
              <a:rPr lang="en-US" dirty="0"/>
              <a:t>I love </a:t>
            </a:r>
            <a:r>
              <a:rPr lang="en-US" b="1" dirty="0"/>
              <a:t>this </a:t>
            </a:r>
            <a:r>
              <a:rPr lang="en-US" dirty="0"/>
              <a:t>city. (The city is being talked about in the present moment.)</a:t>
            </a:r>
          </a:p>
          <a:p>
            <a:pPr lvl="1"/>
            <a:r>
              <a:rPr lang="en-US" b="1" dirty="0"/>
              <a:t>That</a:t>
            </a:r>
            <a:r>
              <a:rPr lang="en-US" dirty="0"/>
              <a:t> dog is barking. (The dog is far from the speaker.)</a:t>
            </a:r>
          </a:p>
          <a:p>
            <a:pPr lvl="1"/>
            <a:r>
              <a:rPr lang="en-US" dirty="0"/>
              <a:t>I remember </a:t>
            </a:r>
            <a:r>
              <a:rPr lang="en-US" b="1" dirty="0"/>
              <a:t>that </a:t>
            </a:r>
            <a:r>
              <a:rPr lang="en-US" dirty="0"/>
              <a:t>day very well. (The day being remembered is in the past.)</a:t>
            </a:r>
          </a:p>
          <a:p>
            <a:pPr lvl="1"/>
            <a:r>
              <a:rPr lang="en-US" b="1" dirty="0"/>
              <a:t>These</a:t>
            </a:r>
            <a:r>
              <a:rPr lang="en-US" dirty="0"/>
              <a:t> shoes are very comfortable. (The shoes are near the speaker.)</a:t>
            </a:r>
          </a:p>
          <a:p>
            <a:pPr lvl="1"/>
            <a:r>
              <a:rPr lang="en-US" dirty="0"/>
              <a:t>I bought </a:t>
            </a:r>
            <a:r>
              <a:rPr lang="en-US" b="1" dirty="0"/>
              <a:t>these </a:t>
            </a:r>
            <a:r>
              <a:rPr lang="en-US" dirty="0"/>
              <a:t>books yesterday. (The books are nearby.)</a:t>
            </a:r>
          </a:p>
          <a:p>
            <a:pPr lvl="1"/>
            <a:r>
              <a:rPr lang="en-US" b="1" dirty="0"/>
              <a:t>Those</a:t>
            </a:r>
            <a:r>
              <a:rPr lang="en-US" dirty="0"/>
              <a:t> buildings are really tall. (The buildings are at a distance.)</a:t>
            </a:r>
          </a:p>
          <a:p>
            <a:pPr lvl="1"/>
            <a:r>
              <a:rPr lang="en-US" dirty="0"/>
              <a:t>Can you see </a:t>
            </a:r>
            <a:r>
              <a:rPr lang="en-US" b="1" dirty="0"/>
              <a:t>those</a:t>
            </a:r>
            <a:r>
              <a:rPr lang="en-US" dirty="0"/>
              <a:t> birds in the sky? (The birds are far away.)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Demonstratives</a:t>
            </a:r>
          </a:p>
        </p:txBody>
      </p:sp>
    </p:spTree>
    <p:extLst>
      <p:ext uri="{BB962C8B-B14F-4D97-AF65-F5344CB8AC3E}">
        <p14:creationId xmlns:p14="http://schemas.microsoft.com/office/powerpoint/2010/main" val="1039369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4" name="Google Shape;2084;p81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References</a:t>
            </a:r>
            <a:endParaRPr/>
          </a:p>
        </p:txBody>
      </p:sp>
      <p:graphicFrame>
        <p:nvGraphicFramePr>
          <p:cNvPr id="2085" name="Google Shape;2085;p81"/>
          <p:cNvGraphicFramePr/>
          <p:nvPr/>
        </p:nvGraphicFramePr>
        <p:xfrm>
          <a:off x="280124" y="886486"/>
          <a:ext cx="7764650" cy="24689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93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0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/>
                        <a:t>Book References:</a:t>
                      </a:r>
                      <a:endParaRPr sz="2400" b="1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1.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dirty="0"/>
                        <a:t>English Grammar &amp; Composition, 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dirty="0"/>
                        <a:t>Fifth Edition, Wren &amp; Martin by S. Chand 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0" i="0" u="none" strike="noStrike" dirty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2.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dirty="0"/>
                        <a:t>Essential English Grammar &amp; Composition, 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dirty="0"/>
                        <a:t>Seventh Edition, James Thomas by Holy book</a:t>
                      </a:r>
                      <a:endParaRPr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86" name="Google Shape;2086;p81"/>
          <p:cNvGraphicFramePr/>
          <p:nvPr>
            <p:extLst>
              <p:ext uri="{D42A27DB-BD31-4B8C-83A1-F6EECF244321}">
                <p14:modId xmlns:p14="http://schemas.microsoft.com/office/powerpoint/2010/main" val="571290195"/>
              </p:ext>
            </p:extLst>
          </p:nvPr>
        </p:nvGraphicFramePr>
        <p:xfrm>
          <a:off x="315790" y="3183483"/>
          <a:ext cx="7641425" cy="24689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91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2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725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3.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/>
                        <a:t>My Blue Book of Grammar,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/>
                        <a:t>First Edition, Joseph Dominic by Sheth Publication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0" i="0" u="none" strike="noStrike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4.</a:t>
                      </a:r>
                      <a:endParaRPr sz="24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2400" u="none" strike="noStrike" kern="1200" baseline="0" dirty="0"/>
                        <a:t>General English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2400" u="none" strike="noStrike" kern="1200" baseline="0" dirty="0"/>
                        <a:t>English Edition by Lucent Publication</a:t>
                      </a: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088" name="Google Shape;2088;p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47009" y="711201"/>
            <a:ext cx="1973648" cy="28004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9" name="Google Shape;2089;p8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23120" y="3648955"/>
            <a:ext cx="3021426" cy="28004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0" name="Google Shape;2090;p8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44546" y="711201"/>
            <a:ext cx="1835600" cy="28004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A blue and purple cover&#10;&#10;AI-generated content may be incorrect.">
            <a:extLst>
              <a:ext uri="{FF2B5EF4-FFF2-40B4-BE49-F238E27FC236}">
                <a16:creationId xmlns:a16="http://schemas.microsoft.com/office/drawing/2014/main" id="{12CF19DD-5DF3-3CB6-ED66-15660C8C518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4546" y="3648954"/>
            <a:ext cx="1835600" cy="2800483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Google Shape;2095;p8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/>
              <a:buNone/>
            </a:pPr>
            <a:r>
              <a:rPr lang="en-US" i="1" dirty="0"/>
              <a:t>Thank You</a:t>
            </a:r>
            <a:endParaRPr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24427</TotalTime>
  <Words>9073</Words>
  <Application>Microsoft Office PowerPoint</Application>
  <PresentationFormat>Widescreen</PresentationFormat>
  <Paragraphs>1222</Paragraphs>
  <Slides>80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92" baseType="lpstr">
      <vt:lpstr>Lohit Gujarati</vt:lpstr>
      <vt:lpstr>Wingdings 2</vt:lpstr>
      <vt:lpstr>Wingdings</vt:lpstr>
      <vt:lpstr>Roboto Condensed</vt:lpstr>
      <vt:lpstr>Roboto</vt:lpstr>
      <vt:lpstr>Teko</vt:lpstr>
      <vt:lpstr>Calibri</vt:lpstr>
      <vt:lpstr>Arial</vt:lpstr>
      <vt:lpstr>Noto Sans Symbols</vt:lpstr>
      <vt:lpstr>Roboto Condensed Light</vt:lpstr>
      <vt:lpstr>Wingdings 3</vt:lpstr>
      <vt:lpstr>1_Office Theme</vt:lpstr>
      <vt:lpstr>Unit-4 Essential Grammar  </vt:lpstr>
      <vt:lpstr>PowerPoint Presentation</vt:lpstr>
      <vt:lpstr>Noun-Pronoun Agreement</vt:lpstr>
      <vt:lpstr>Noun-Pronoun Agreement</vt:lpstr>
      <vt:lpstr>Noun-Pronoun Agreement</vt:lpstr>
      <vt:lpstr>Noun-Pronoun Agreement</vt:lpstr>
      <vt:lpstr>Noun-Pronoun Agreement</vt:lpstr>
      <vt:lpstr>Noun-Pronoun Agreement</vt:lpstr>
      <vt:lpstr>Noun-Pronoun Agreement</vt:lpstr>
      <vt:lpstr>Noun-Pronoun Agreement</vt:lpstr>
      <vt:lpstr>Noun-Pronoun Agreement</vt:lpstr>
      <vt:lpstr>Subject-Verb Agreement</vt:lpstr>
      <vt:lpstr>Subject-Verb Agreement</vt:lpstr>
      <vt:lpstr>Subject-Verb Agreement</vt:lpstr>
      <vt:lpstr>Subject-Verb Agreement</vt:lpstr>
      <vt:lpstr>Subject-Verb Agreement</vt:lpstr>
      <vt:lpstr>Subject-Verb Agreement</vt:lpstr>
      <vt:lpstr>Subject-Verb Agreement</vt:lpstr>
      <vt:lpstr>Subject-Verb Agreement</vt:lpstr>
      <vt:lpstr>Subject-Verb Agreement</vt:lpstr>
      <vt:lpstr>Subject-Verb Agreement</vt:lpstr>
      <vt:lpstr>Subject-Verb Agreement</vt:lpstr>
      <vt:lpstr>Subject-Verb Agreement</vt:lpstr>
      <vt:lpstr>Subject-Verb Agreement</vt:lpstr>
      <vt:lpstr>Subject–Verb Agreement Practice </vt:lpstr>
      <vt:lpstr>Subject–Verb Agreement Practice </vt:lpstr>
      <vt:lpstr>Subject–Verb Agreement Practice </vt:lpstr>
      <vt:lpstr>Conditional Sentences</vt:lpstr>
      <vt:lpstr>Conditional Sentences</vt:lpstr>
      <vt:lpstr>Types of Conditional Sentences</vt:lpstr>
      <vt:lpstr>Conditional Sentences – Zero Conditional</vt:lpstr>
      <vt:lpstr>Conditional Sentences – Zero Conditional</vt:lpstr>
      <vt:lpstr>Conditional Sentences – First Conditional</vt:lpstr>
      <vt:lpstr>Conditional Sentences – First Conditional</vt:lpstr>
      <vt:lpstr>Conditional Sentences – Second Conditional</vt:lpstr>
      <vt:lpstr>Conditional Sentences – Second Conditional</vt:lpstr>
      <vt:lpstr>Conditional Sentences – Third Conditional</vt:lpstr>
      <vt:lpstr>Conditional Sentences – Third Conditional</vt:lpstr>
      <vt:lpstr>Comparison of Conditional Sentences</vt:lpstr>
      <vt:lpstr>Conditional Sentences Practice </vt:lpstr>
      <vt:lpstr>Conditional Sentences Practice </vt:lpstr>
      <vt:lpstr>Punctuation</vt:lpstr>
      <vt:lpstr>Punctuation</vt:lpstr>
      <vt:lpstr>The Full Stop (.)</vt:lpstr>
      <vt:lpstr>The Full Stop (.)</vt:lpstr>
      <vt:lpstr>The Comma (,)</vt:lpstr>
      <vt:lpstr>The Comma (,)</vt:lpstr>
      <vt:lpstr>The Semicolon (;)</vt:lpstr>
      <vt:lpstr>The Colon (:)</vt:lpstr>
      <vt:lpstr>The Parentheses ( )</vt:lpstr>
      <vt:lpstr>The Parentheses ( )</vt:lpstr>
      <vt:lpstr>The Question Mark (?)</vt:lpstr>
      <vt:lpstr>The Apostrophe (‘)</vt:lpstr>
      <vt:lpstr>The Double Inverted Comma (“”)</vt:lpstr>
      <vt:lpstr>The Double Inverted Comma (“”)</vt:lpstr>
      <vt:lpstr>Single Inverted Comma (‘’)</vt:lpstr>
      <vt:lpstr>Use of Double Inverted Comma with other Punctuation</vt:lpstr>
      <vt:lpstr>Use of Double Inverted Comma with other Punctuation</vt:lpstr>
      <vt:lpstr>Exercise</vt:lpstr>
      <vt:lpstr>Exercise</vt:lpstr>
      <vt:lpstr>Determiners </vt:lpstr>
      <vt:lpstr>Determiners</vt:lpstr>
      <vt:lpstr>Determiners</vt:lpstr>
      <vt:lpstr>Possessives </vt:lpstr>
      <vt:lpstr>Quantifiers</vt:lpstr>
      <vt:lpstr>Quantifiers</vt:lpstr>
      <vt:lpstr>Quantifiers</vt:lpstr>
      <vt:lpstr>Quantifiers</vt:lpstr>
      <vt:lpstr>Quantifiers</vt:lpstr>
      <vt:lpstr>Quantifiers</vt:lpstr>
      <vt:lpstr>Quantifiers</vt:lpstr>
      <vt:lpstr>Quantifiers</vt:lpstr>
      <vt:lpstr>Quantifiers</vt:lpstr>
      <vt:lpstr>Quantifiers</vt:lpstr>
      <vt:lpstr>Quantifiers</vt:lpstr>
      <vt:lpstr>Quantifiers</vt:lpstr>
      <vt:lpstr>Quantifiers</vt:lpstr>
      <vt:lpstr>Demonstratives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Chauhan</dc:creator>
  <cp:lastModifiedBy>Dr. Nitin Chauhan</cp:lastModifiedBy>
  <cp:revision>2292</cp:revision>
  <dcterms:created xsi:type="dcterms:W3CDTF">2020-06-11T07:03:50Z</dcterms:created>
  <dcterms:modified xsi:type="dcterms:W3CDTF">2026-03-01T14:25:09Z</dcterms:modified>
</cp:coreProperties>
</file>