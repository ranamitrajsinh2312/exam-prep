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1" r:id="rId1"/>
  </p:sldMasterIdLst>
  <p:notesMasterIdLst>
    <p:notesMasterId r:id="rId19"/>
  </p:notesMasterIdLst>
  <p:handoutMasterIdLst>
    <p:handoutMasterId r:id="rId20"/>
  </p:handoutMasterIdLst>
  <p:sldIdLst>
    <p:sldId id="257" r:id="rId2"/>
    <p:sldId id="459" r:id="rId3"/>
    <p:sldId id="694" r:id="rId4"/>
    <p:sldId id="745" r:id="rId5"/>
    <p:sldId id="746" r:id="rId6"/>
    <p:sldId id="747" r:id="rId7"/>
    <p:sldId id="749" r:id="rId8"/>
    <p:sldId id="750" r:id="rId9"/>
    <p:sldId id="751" r:id="rId10"/>
    <p:sldId id="752" r:id="rId11"/>
    <p:sldId id="753" r:id="rId12"/>
    <p:sldId id="755" r:id="rId13"/>
    <p:sldId id="754" r:id="rId14"/>
    <p:sldId id="756" r:id="rId15"/>
    <p:sldId id="757" r:id="rId16"/>
    <p:sldId id="758" r:id="rId17"/>
    <p:sldId id="337" r:id="rId18"/>
  </p:sldIdLst>
  <p:sldSz cx="12192000" cy="6858000"/>
  <p:notesSz cx="6858000" cy="91440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Roboto" panose="02000000000000000000" pitchFamily="2" charset="0"/>
      <p:regular r:id="rId25"/>
      <p:bold r:id="rId26"/>
      <p:italic r:id="rId27"/>
      <p:boldItalic r:id="rId28"/>
    </p:embeddedFont>
    <p:embeddedFont>
      <p:font typeface="Roboto Condensed" panose="02000000000000000000" pitchFamily="2" charset="0"/>
      <p:regular r:id="rId29"/>
      <p:bold r:id="rId30"/>
      <p:italic r:id="rId31"/>
      <p:boldItalic r:id="rId32"/>
    </p:embeddedFont>
    <p:embeddedFont>
      <p:font typeface="Roboto Condensed Light" panose="02000000000000000000" pitchFamily="2" charset="0"/>
      <p:regular r:id="rId33"/>
      <p:italic r:id="rId34"/>
    </p:embeddedFont>
    <p:embeddedFont>
      <p:font typeface="Wingdings 3" panose="05040102010807070707" pitchFamily="18" charset="2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0i2Cg3Iv+6AEuk4S6Ie/Vw==" hashData="1iW7ndfWT9n6FZS27M4TuNufwlPnO5wjytV0hKEZBgo1bCcJIo19cdSQ7Qcq/f/BU56Uhfd5TMvYkuSzRWl4dg=="/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9FE"/>
    <a:srgbClr val="C00000"/>
    <a:srgbClr val="002060"/>
    <a:srgbClr val="2981C0"/>
    <a:srgbClr val="0C77C3"/>
    <a:srgbClr val="FFFFFF"/>
    <a:srgbClr val="A0C061"/>
    <a:srgbClr val="3572EB"/>
    <a:srgbClr val="B9B9B9"/>
    <a:srgbClr val="95DD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19" autoAdjust="0"/>
    <p:restoredTop sz="96091" autoAdjust="0"/>
  </p:normalViewPr>
  <p:slideViewPr>
    <p:cSldViewPr snapToGrid="0">
      <p:cViewPr varScale="1">
        <p:scale>
          <a:sx n="85" d="100"/>
          <a:sy n="85" d="100"/>
        </p:scale>
        <p:origin x="504" y="8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640"/>
    </p:cViewPr>
  </p:outlin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tableStyles" Target="tableStyles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35693-2F5F-4C2C-AA37-8E54880345AD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8E920D-5A96-474F-9B79-F5AA1EF5E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931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FBB180-F380-4DDD-8F5B-4775C6561492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BE1D88-AA76-442E-88A9-1A7935C1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014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8D6B6-2896-E93A-2770-A9E1E0FB3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244C6B-9C83-166A-53A7-C0FF54B761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AD68C7-A354-FE2D-EE8C-7131F17184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Gif</a:t>
            </a:r>
            <a:r>
              <a:rPr lang="en-US" baseline="0" dirty="0"/>
              <a:t> Reference: </a:t>
            </a:r>
            <a:r>
              <a:rPr lang="en-IN" dirty="0"/>
              <a:t>https://tenor.com/view/tkthpsharma-gif-23317246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1C1CB-9946-033C-7871-48CB841981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686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Google Shape;2092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3" name="Google Shape;2093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102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2.png"/><Relationship Id="rId5" Type="http://schemas.openxmlformats.org/officeDocument/2006/relationships/image" Target="../media/image8.png"/><Relationship Id="rId10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1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1866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090100" y="96297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2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  <p:sp>
        <p:nvSpPr>
          <p:cNvPr id="23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</a:p>
        </p:txBody>
      </p:sp>
    </p:spTree>
    <p:extLst>
      <p:ext uri="{BB962C8B-B14F-4D97-AF65-F5344CB8AC3E}">
        <p14:creationId xmlns:p14="http://schemas.microsoft.com/office/powerpoint/2010/main" val="2653306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228104" y="5850944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-2" y="6858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2532317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08039" y="5952522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 eaLnBrk="1" latinLnBrk="0" hangingPunct="1"/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2785172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08039" y="5952522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4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  <a:endParaRPr lang="en-US" dirty="0">
              <a:solidFill>
                <a:srgbClr val="212121">
                  <a:lumMod val="90000"/>
                  <a:lumOff val="10000"/>
                </a:srgbClr>
              </a:solidFill>
              <a:latin typeface="+mj-lt"/>
              <a:ea typeface="Roboto Condensed Light" panose="02000000000000000000" pitchFamily="2" charset="0"/>
            </a:endParaRPr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3914843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 eaLnBrk="1" latinLnBrk="0" hangingPunct="1"/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TCS Placement Practice</a:t>
            </a:r>
            <a:endParaRPr lang="en-IN" dirty="0">
              <a:effectLst/>
            </a:endParaRPr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kern="120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1414731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92111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34543" y="921114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 eaLnBrk="1" latinLnBrk="0" hangingPunct="1"/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TCS Placement Practice</a:t>
            </a:r>
            <a:endParaRPr lang="en-IN" dirty="0">
              <a:effectLst/>
            </a:endParaRP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 eaLnBrk="1" latinLnBrk="0" hangingPunct="1"/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Prof. Radhika Bhateliya</a:t>
            </a:r>
            <a:endParaRPr lang="en-I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4706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29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9053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</a:p>
        </p:txBody>
      </p:sp>
      <p:sp>
        <p:nvSpPr>
          <p:cNvPr id="3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47253" y="6608527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1955476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77041" y="242508"/>
            <a:ext cx="1649043" cy="501287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3795758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242441" y="5980196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3391409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6816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52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96667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A1721-8CF9-09D4-7B12-699E396EF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72E8E8-F1D1-9CEB-19A2-607B5CDC6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8/7/2026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78542-39B3-1981-0439-143C4EAFD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DC2D7-54FF-1FD8-3A27-F62D6E72F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1425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52807"/>
            <a:ext cx="11929641" cy="5601201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oogle Shape;60;p54"/>
          <p:cNvGrpSpPr/>
          <p:nvPr userDrawn="1"/>
        </p:nvGrpSpPr>
        <p:grpSpPr>
          <a:xfrm>
            <a:off x="10721798" y="852808"/>
            <a:ext cx="1339024" cy="407045"/>
            <a:chOff x="10721798" y="852808"/>
            <a:chExt cx="1339024" cy="407045"/>
          </a:xfrm>
        </p:grpSpPr>
        <p:pic>
          <p:nvPicPr>
            <p:cNvPr id="15" name="Google Shape;61;p5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62;p54"/>
            <p:cNvSpPr/>
            <p:nvPr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sp>
        <p:nvSpPr>
          <p:cNvPr id="2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  <a:endParaRPr lang="en-US" dirty="0">
              <a:solidFill>
                <a:srgbClr val="212121">
                  <a:lumMod val="90000"/>
                  <a:lumOff val="10000"/>
                </a:srgbClr>
              </a:solidFill>
              <a:latin typeface="+mj-lt"/>
              <a:ea typeface="Roboto Condensed Light" panose="02000000000000000000" pitchFamily="2" charset="0"/>
            </a:endParaRP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30625043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14088" y="-5993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272" y="1999976"/>
            <a:ext cx="2973402" cy="321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436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8/7/2026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999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25" r:id="rId2"/>
    <p:sldLayoutId id="2147483719" r:id="rId3"/>
    <p:sldLayoutId id="2147483724" r:id="rId4"/>
    <p:sldLayoutId id="2147483720" r:id="rId5"/>
    <p:sldLayoutId id="2147483663" r:id="rId6"/>
    <p:sldLayoutId id="2147483689" r:id="rId7"/>
    <p:sldLayoutId id="2147483667" r:id="rId8"/>
    <p:sldLayoutId id="2147483669" r:id="rId9"/>
    <p:sldLayoutId id="2147483670" r:id="rId10"/>
    <p:sldLayoutId id="2147483671" r:id="rId11"/>
    <p:sldLayoutId id="2147483705" r:id="rId12"/>
    <p:sldLayoutId id="2147483727" r:id="rId13"/>
    <p:sldLayoutId id="2147483726" r:id="rId14"/>
    <p:sldLayoutId id="2147483728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hyperlink" Target="mailto:Swati.sharma@darshan.ac.in" TargetMode="Externa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B33F9D0-79AF-43AC-AF9D-363E78BA5B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218" y="1327132"/>
            <a:ext cx="7276373" cy="2848166"/>
          </a:xfrm>
        </p:spPr>
        <p:txBody>
          <a:bodyPr/>
          <a:lstStyle/>
          <a:p>
            <a:r>
              <a:rPr lang="en-US" dirty="0">
                <a:ea typeface="Roboto Condensed Light" panose="02000000000000000000" pitchFamily="2" charset="0"/>
              </a:rPr>
              <a:t>Grammar </a:t>
            </a:r>
            <a:br>
              <a:rPr lang="en-US" dirty="0">
                <a:ea typeface="Roboto Condensed Light" panose="02000000000000000000" pitchFamily="2" charset="0"/>
              </a:rPr>
            </a:br>
            <a:r>
              <a:rPr lang="en-US" dirty="0">
                <a:ea typeface="Roboto Condensed Light" panose="02000000000000000000" pitchFamily="2" charset="0"/>
              </a:rPr>
              <a:t>Practice 1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6EA47D8-8426-4DBD-BFF3-4005B9628A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radhika.bhateliya@darshan.ac.in</a:t>
            </a:r>
            <a:r>
              <a:rPr lang="en-US" dirty="0"/>
              <a:t>	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4B68CD4-73FE-4D9C-A25E-10B975B947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9428035992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3D8A79D-333F-44B3-B1A0-1780CA0E35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Humanities and Science Department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4423574-50B3-4C1F-BB03-4625B3BB7D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Radhika J Bhateliya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8C932FB-1928-4F3D-87A8-4A34E30617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TCS Placement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5961" y="1641307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  <a:latin typeface="+mj-lt"/>
              </a:rPr>
              <a:t> 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4A8E46D0-2CA0-8369-BD56-792E84BA509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prstClr val="white">
                <a:lumMod val="65000"/>
              </a:prstClr>
            </a:solidFill>
          </a:ln>
        </p:spPr>
      </p:pic>
    </p:spTree>
    <p:extLst>
      <p:ext uri="{BB962C8B-B14F-4D97-AF65-F5344CB8AC3E}">
        <p14:creationId xmlns:p14="http://schemas.microsoft.com/office/powerpoint/2010/main" val="3899380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506852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731706"/>
            <a:ext cx="199445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Topics </a:t>
            </a:r>
            <a:endParaRPr lang="en-US" sz="2400" dirty="0"/>
          </a:p>
          <a:p>
            <a:pPr marL="800100" lvl="1" indent="-342900"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Practice</a:t>
            </a:r>
          </a:p>
          <a:p>
            <a:pPr marL="800100" lvl="1" indent="-342900"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28625" lvl="2"/>
            <a:endParaRPr lang="en-US" sz="2400" dirty="0"/>
          </a:p>
          <a:p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169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251DD-9690-C6A9-5387-18349EBC1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5AF518-2ABE-6D6C-01A1-FF1E2071D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8918438" cy="2852737"/>
          </a:xfrm>
        </p:spPr>
        <p:txBody>
          <a:bodyPr/>
          <a:lstStyle/>
          <a:p>
            <a:r>
              <a:rPr lang="en-US" dirty="0">
                <a:ea typeface="Roboto Condensed Light" panose="02000000000000000000" pitchFamily="2" charset="0"/>
              </a:rPr>
              <a:t>Grammar Practice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685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12622-201C-769D-D3BD-03D282CF1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B31DDE-8FF3-1B5F-288E-268039C09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pPr lvl="0"/>
            <a:r>
              <a:rPr lang="en-IN" dirty="0"/>
              <a:t>By the time the executive board convenes next Friday, the financial audit team </a:t>
            </a:r>
            <a:r>
              <a:rPr lang="en-IN" b="1" dirty="0"/>
              <a:t>______</a:t>
            </a:r>
            <a:r>
              <a:rPr lang="en-IN" dirty="0"/>
              <a:t>  its review of the quarterly ledger.</a:t>
            </a:r>
          </a:p>
          <a:p>
            <a:pPr lvl="1"/>
            <a:r>
              <a:rPr lang="en-IN" dirty="0"/>
              <a:t>[Ans: will have completed / will have finalized / is going to have concluded]</a:t>
            </a:r>
          </a:p>
          <a:p>
            <a:pPr lvl="0"/>
            <a:r>
              <a:rPr lang="en-IN" dirty="0"/>
              <a:t>The lead architect insisted that the project manager </a:t>
            </a:r>
            <a:r>
              <a:rPr lang="en-IN" b="1" dirty="0"/>
              <a:t>______</a:t>
            </a:r>
            <a:r>
              <a:rPr lang="en-IN" dirty="0"/>
              <a:t> the updated structural blueprints before construction resumed.</a:t>
            </a:r>
          </a:p>
          <a:p>
            <a:pPr lvl="1"/>
            <a:r>
              <a:rPr lang="en-IN" dirty="0"/>
              <a:t>[Ans: submit / present / tender / provide]</a:t>
            </a:r>
          </a:p>
          <a:p>
            <a:pPr lvl="0"/>
            <a:r>
              <a:rPr lang="en-IN" dirty="0"/>
              <a:t>Mounting a critical recovery operation during an active cyberattack requires </a:t>
            </a:r>
            <a:r>
              <a:rPr lang="en-IN" b="1" dirty="0"/>
              <a:t>______</a:t>
            </a:r>
            <a:r>
              <a:rPr lang="en-IN" dirty="0"/>
              <a:t> degree of operational composure.</a:t>
            </a:r>
          </a:p>
          <a:p>
            <a:pPr lvl="1"/>
            <a:r>
              <a:rPr lang="en-IN" dirty="0"/>
              <a:t>[Ans: extraordinary / exceptional / immense]</a:t>
            </a:r>
          </a:p>
          <a:p>
            <a:pPr lvl="0"/>
            <a:r>
              <a:rPr lang="en-IN" dirty="0"/>
              <a:t>Neither the lead database administrator nor the senior software engineers </a:t>
            </a:r>
            <a:r>
              <a:rPr lang="en-IN" b="1" dirty="0"/>
              <a:t>______</a:t>
            </a:r>
            <a:r>
              <a:rPr lang="en-IN" dirty="0"/>
              <a:t> prepared for the sudden network outage during the deployment.</a:t>
            </a:r>
          </a:p>
          <a:p>
            <a:pPr lvl="1"/>
            <a:r>
              <a:rPr lang="en-IN" dirty="0"/>
              <a:t>[Ans: were / had been]</a:t>
            </a:r>
          </a:p>
          <a:p>
            <a:pPr lvl="0"/>
            <a:r>
              <a:rPr lang="en-IN" dirty="0"/>
              <a:t>Having worked in software development for over a decade, she navigates complex technical architectures </a:t>
            </a:r>
            <a:r>
              <a:rPr lang="en-IN" b="1" dirty="0"/>
              <a:t>______</a:t>
            </a:r>
          </a:p>
          <a:p>
            <a:pPr lvl="1"/>
            <a:r>
              <a:rPr lang="en-IN" dirty="0"/>
              <a:t> [Ans: effortlessly / adeptly / </a:t>
            </a:r>
            <a:r>
              <a:rPr lang="en-IN" dirty="0" err="1"/>
              <a:t>skillfully</a:t>
            </a:r>
            <a:r>
              <a:rPr lang="en-IN" dirty="0"/>
              <a:t> / seamlessly].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E6C72B-825E-1295-FF49-9CDE64B7E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147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A9DAD-8164-3510-52AD-170C05EF6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2626FD-6E3B-75AE-5903-5985A6A1B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pPr lvl="0"/>
            <a:r>
              <a:rPr lang="en-IN" dirty="0"/>
              <a:t>The committee members debated the policy change among </a:t>
            </a:r>
            <a:r>
              <a:rPr lang="en-IN" b="1" dirty="0"/>
              <a:t>______</a:t>
            </a:r>
            <a:r>
              <a:rPr lang="en-IN" dirty="0"/>
              <a:t> for over two hours before reaching a consensus.</a:t>
            </a:r>
          </a:p>
          <a:p>
            <a:pPr lvl="1"/>
            <a:r>
              <a:rPr lang="en-IN" dirty="0"/>
              <a:t>[Ans: themselves / one another]</a:t>
            </a:r>
          </a:p>
          <a:p>
            <a:pPr lvl="0"/>
            <a:r>
              <a:rPr lang="en-IN" dirty="0"/>
              <a:t>The project manager spoke so </a:t>
            </a:r>
            <a:r>
              <a:rPr lang="en-IN" b="1" dirty="0"/>
              <a:t>______</a:t>
            </a:r>
            <a:r>
              <a:rPr lang="en-IN" dirty="0"/>
              <a:t> about the new product roadmap that the investors immediately approved the budget.</a:t>
            </a:r>
          </a:p>
          <a:p>
            <a:pPr lvl="1"/>
            <a:r>
              <a:rPr lang="en-IN" dirty="0"/>
              <a:t>[Ans: articulately / eloquently / persuasively / compellingly]</a:t>
            </a:r>
          </a:p>
          <a:p>
            <a:pPr lvl="0"/>
            <a:r>
              <a:rPr lang="en-IN" dirty="0"/>
              <a:t>If the QA engineering team </a:t>
            </a:r>
            <a:r>
              <a:rPr lang="en-IN" b="1" dirty="0"/>
              <a:t>______</a:t>
            </a:r>
            <a:r>
              <a:rPr lang="en-IN" dirty="0"/>
              <a:t> the memory leak during staging, the production server would not have crashed yesterday.</a:t>
            </a:r>
          </a:p>
          <a:p>
            <a:pPr lvl="1"/>
            <a:r>
              <a:rPr lang="en-IN" dirty="0"/>
              <a:t>[Ans: had caught / had identified / had detected]</a:t>
            </a:r>
          </a:p>
          <a:p>
            <a:pPr lvl="0"/>
            <a:r>
              <a:rPr lang="en-IN" dirty="0"/>
              <a:t>The firm decided to hire </a:t>
            </a:r>
            <a:r>
              <a:rPr lang="en-IN" b="1" dirty="0"/>
              <a:t>______</a:t>
            </a:r>
            <a:r>
              <a:rPr lang="en-IN" dirty="0"/>
              <a:t> consulting agency to oversee its digital expansion.</a:t>
            </a:r>
          </a:p>
          <a:p>
            <a:pPr lvl="1"/>
            <a:r>
              <a:rPr lang="en-IN" dirty="0"/>
              <a:t>[Ans: European / an European-based / an international]</a:t>
            </a:r>
          </a:p>
          <a:p>
            <a:pPr lvl="0"/>
            <a:r>
              <a:rPr lang="en-IN" dirty="0"/>
              <a:t>Rarely </a:t>
            </a:r>
            <a:r>
              <a:rPr lang="en-IN" b="1" dirty="0"/>
              <a:t>______</a:t>
            </a:r>
            <a:r>
              <a:rPr lang="en-IN" dirty="0"/>
              <a:t> a junior developer encounter such a complex concurrency issue in their first month on the job.</a:t>
            </a:r>
          </a:p>
          <a:p>
            <a:pPr lvl="1"/>
            <a:r>
              <a:rPr lang="en-IN" dirty="0"/>
              <a:t>[Ans: does / will / has]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EA3F8B7-2124-7464-FB66-FB166DE6B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6666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F32F5-9B02-0789-4C07-AB38A9AE2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A973EC-F586-F696-608C-D9DCF375F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pPr lvl="0"/>
            <a:r>
              <a:rPr lang="en-IN" dirty="0"/>
              <a:t>She is one of those rare software engineers who </a:t>
            </a:r>
            <a:r>
              <a:rPr lang="en-IN" b="1" dirty="0"/>
              <a:t>______</a:t>
            </a:r>
            <a:r>
              <a:rPr lang="en-IN" dirty="0"/>
              <a:t> both in technical execution and client management.</a:t>
            </a:r>
          </a:p>
          <a:p>
            <a:pPr lvl="1"/>
            <a:r>
              <a:rPr lang="en-IN" dirty="0"/>
              <a:t>[Ans: excel / thrive / succeed]</a:t>
            </a:r>
          </a:p>
          <a:p>
            <a:pPr lvl="0"/>
            <a:r>
              <a:rPr lang="en-IN" dirty="0"/>
              <a:t>The marketing director insisted on reviewing </a:t>
            </a:r>
            <a:r>
              <a:rPr lang="en-IN" b="1" dirty="0"/>
              <a:t>______</a:t>
            </a:r>
            <a:r>
              <a:rPr lang="en-IN" dirty="0"/>
              <a:t> detail of the press release before it was dispatched to the media.</a:t>
            </a:r>
          </a:p>
          <a:p>
            <a:pPr lvl="1"/>
            <a:r>
              <a:rPr lang="en-IN" dirty="0"/>
              <a:t>[Ans: every / each / all]</a:t>
            </a:r>
          </a:p>
          <a:p>
            <a:pPr lvl="0"/>
            <a:r>
              <a:rPr lang="en-IN" dirty="0"/>
              <a:t>Although the new encryption framework is highly secure, its user interface remains surprisingly </a:t>
            </a:r>
            <a:r>
              <a:rPr lang="en-IN" b="1" dirty="0"/>
              <a:t>______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[Ans: intuitive / accessible / straightforward / user-friendly].</a:t>
            </a:r>
          </a:p>
          <a:p>
            <a:pPr lvl="0"/>
            <a:r>
              <a:rPr lang="en-IN" dirty="0"/>
              <a:t>The system administrator spent </a:t>
            </a:r>
            <a:r>
              <a:rPr lang="en-IN" b="1" dirty="0"/>
              <a:t>______</a:t>
            </a:r>
            <a:r>
              <a:rPr lang="en-IN" dirty="0"/>
              <a:t> whole afternoon troubleshooting the unexpected server latency.</a:t>
            </a:r>
          </a:p>
          <a:p>
            <a:pPr lvl="1"/>
            <a:r>
              <a:rPr lang="en-IN" dirty="0"/>
              <a:t>[Ans: the / an entire]		</a:t>
            </a:r>
          </a:p>
          <a:p>
            <a:pPr lvl="0"/>
            <a:r>
              <a:rPr lang="en-IN" dirty="0"/>
              <a:t>By next December, our research and development division </a:t>
            </a:r>
            <a:r>
              <a:rPr lang="en-IN" b="1" dirty="0"/>
              <a:t>______</a:t>
            </a:r>
            <a:r>
              <a:rPr lang="en-IN" dirty="0"/>
              <a:t> on the quantum computing project for three years.</a:t>
            </a:r>
          </a:p>
          <a:p>
            <a:pPr lvl="1"/>
            <a:r>
              <a:rPr lang="en-IN" dirty="0"/>
              <a:t>[Ans: will have been working / will have been operating / will have been collaborating]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4E3FB7-4012-1395-6C58-97168EA30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5485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27B5D-444A-B06B-0E9A-4B25F2F64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3B141A-C7A6-FB3C-220E-9C83AB87C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700642"/>
          </a:xfrm>
        </p:spPr>
        <p:txBody>
          <a:bodyPr/>
          <a:lstStyle/>
          <a:p>
            <a:pPr lvl="0"/>
            <a:r>
              <a:rPr lang="en-IN" dirty="0"/>
              <a:t>The CEO was eager to know </a:t>
            </a:r>
            <a:r>
              <a:rPr lang="en-IN" b="1" dirty="0"/>
              <a:t>______</a:t>
            </a:r>
            <a:r>
              <a:rPr lang="en-IN" dirty="0"/>
              <a:t> proposal had been selected for the enterprise expansion.</a:t>
            </a:r>
          </a:p>
          <a:p>
            <a:pPr lvl="1"/>
            <a:r>
              <a:rPr lang="en-IN" dirty="0"/>
              <a:t>[Ans: whose / which team's]</a:t>
            </a:r>
          </a:p>
          <a:p>
            <a:pPr lvl="0"/>
            <a:r>
              <a:rPr lang="en-IN" dirty="0"/>
              <a:t>Neither of the proposed database migration plans </a:t>
            </a:r>
            <a:r>
              <a:rPr lang="en-IN" b="1" dirty="0"/>
              <a:t>______</a:t>
            </a:r>
            <a:r>
              <a:rPr lang="en-IN" dirty="0"/>
              <a:t> viable given our strict hardware constraints.</a:t>
            </a:r>
          </a:p>
          <a:p>
            <a:pPr lvl="1"/>
            <a:r>
              <a:rPr lang="en-IN" dirty="0"/>
              <a:t>[Ans: is / seems / appears]</a:t>
            </a:r>
          </a:p>
          <a:p>
            <a:pPr lvl="0"/>
            <a:r>
              <a:rPr lang="en-IN" dirty="0"/>
              <a:t>The candidate answered the technical interviewer's questions </a:t>
            </a:r>
            <a:r>
              <a:rPr lang="en-IN" b="1" dirty="0"/>
              <a:t>______</a:t>
            </a:r>
            <a:r>
              <a:rPr lang="en-IN" dirty="0"/>
              <a:t> and without hesitation.</a:t>
            </a:r>
          </a:p>
          <a:p>
            <a:pPr lvl="1"/>
            <a:r>
              <a:rPr lang="en-IN" dirty="0"/>
              <a:t>[Ans: intelligently / incisively / thoroughly / confidently]</a:t>
            </a:r>
          </a:p>
          <a:p>
            <a:pPr lvl="0"/>
            <a:r>
              <a:rPr lang="en-IN" dirty="0"/>
              <a:t>It is vital that every remote employee </a:t>
            </a:r>
            <a:r>
              <a:rPr lang="en-IN" b="1" dirty="0"/>
              <a:t>______</a:t>
            </a:r>
            <a:r>
              <a:rPr lang="en-IN" dirty="0"/>
              <a:t> with the newly instituted cybersecurity protocols.</a:t>
            </a:r>
          </a:p>
          <a:p>
            <a:pPr lvl="1"/>
            <a:r>
              <a:rPr lang="en-IN" dirty="0"/>
              <a:t> [Ans: comply / abide / align / conform] </a:t>
            </a:r>
          </a:p>
          <a:p>
            <a:pPr lvl="0"/>
            <a:r>
              <a:rPr lang="en-IN" dirty="0"/>
              <a:t>The company recently purchased </a:t>
            </a:r>
            <a:r>
              <a:rPr lang="en-IN" b="1" dirty="0"/>
              <a:t>______</a:t>
            </a:r>
            <a:r>
              <a:rPr lang="en-IN" dirty="0"/>
              <a:t> equipment to upgrade its automated manufacturing pipeline.</a:t>
            </a:r>
          </a:p>
          <a:p>
            <a:pPr lvl="1"/>
            <a:r>
              <a:rPr lang="en-IN" dirty="0"/>
              <a:t>[Ans: state-of-the-art / sophisticated / advanced / high-end]</a:t>
            </a:r>
          </a:p>
          <a:p>
            <a:r>
              <a:rPr lang="en-IN" dirty="0"/>
              <a:t>Scarcely </a:t>
            </a:r>
            <a:r>
              <a:rPr lang="en-IN" b="1" dirty="0"/>
              <a:t>______</a:t>
            </a:r>
            <a:r>
              <a:rPr lang="en-IN" dirty="0"/>
              <a:t> the system migration finished when a major network failure disrupted the database.</a:t>
            </a:r>
          </a:p>
          <a:p>
            <a:pPr lvl="1"/>
            <a:r>
              <a:rPr lang="en-IN" dirty="0"/>
              <a:t>[Ans: had / did]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6F74D6B-EB14-0099-2387-F51404D62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099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E1A96-ED04-E685-DDF6-AC91BB716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52A1D2-AE03-D0BA-3A67-91A4BEAA0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pPr lvl="0"/>
            <a:r>
              <a:rPr lang="en-IN" dirty="0"/>
              <a:t>The legal department advised the board </a:t>
            </a:r>
            <a:r>
              <a:rPr lang="en-IN" b="1" dirty="0"/>
              <a:t>______</a:t>
            </a:r>
            <a:r>
              <a:rPr lang="en-IN" dirty="0"/>
              <a:t> signing the acquisition contract without further due diligence.</a:t>
            </a:r>
          </a:p>
          <a:p>
            <a:pPr lvl="1"/>
            <a:r>
              <a:rPr lang="en-IN" dirty="0"/>
              <a:t>[Ans: against / not to pursue]</a:t>
            </a:r>
          </a:p>
          <a:p>
            <a:pPr lvl="0"/>
            <a:r>
              <a:rPr lang="en-IN" dirty="0"/>
              <a:t>Either the primary database cluster or the backup cloud servers </a:t>
            </a:r>
            <a:r>
              <a:rPr lang="en-IN" b="1" dirty="0"/>
              <a:t>______</a:t>
            </a:r>
            <a:r>
              <a:rPr lang="en-IN" dirty="0"/>
              <a:t> immediate infrastructure maintenance.</a:t>
            </a:r>
          </a:p>
          <a:p>
            <a:pPr lvl="1"/>
            <a:r>
              <a:rPr lang="en-IN" dirty="0"/>
              <a:t>[Ans: need / require / must undergo]</a:t>
            </a:r>
          </a:p>
          <a:p>
            <a:pPr lvl="0"/>
            <a:r>
              <a:rPr lang="en-IN" dirty="0"/>
              <a:t>He is </a:t>
            </a:r>
            <a:r>
              <a:rPr lang="en-IN" b="1" dirty="0"/>
              <a:t>______</a:t>
            </a:r>
            <a:r>
              <a:rPr lang="en-IN" dirty="0"/>
              <a:t> honest officer who refused to compromise on regulatory compliance standards.</a:t>
            </a:r>
          </a:p>
          <a:p>
            <a:pPr lvl="1"/>
            <a:r>
              <a:rPr lang="en-IN" dirty="0"/>
              <a:t>[Ans: an / a remarkably / a exceptionally]</a:t>
            </a:r>
          </a:p>
          <a:p>
            <a:pPr lvl="0"/>
            <a:r>
              <a:rPr lang="en-IN" dirty="0"/>
              <a:t>While the regional manager was presenting the quarterly figures, the network server </a:t>
            </a:r>
            <a:r>
              <a:rPr lang="en-IN" b="1" dirty="0"/>
              <a:t>______ </a:t>
            </a:r>
            <a:r>
              <a:rPr lang="en-IN" dirty="0"/>
              <a:t>offline due to a power surge.</a:t>
            </a:r>
          </a:p>
          <a:p>
            <a:pPr lvl="1"/>
            <a:r>
              <a:rPr lang="en-IN" dirty="0"/>
              <a:t> [Ans: went / collapsed / shut / failed]</a:t>
            </a:r>
          </a:p>
          <a:p>
            <a:pPr lvl="0"/>
            <a:r>
              <a:rPr lang="en-IN" dirty="0"/>
              <a:t>The new policy applies to everyone in the organization, </a:t>
            </a:r>
            <a:r>
              <a:rPr lang="en-IN" b="1" dirty="0"/>
              <a:t>______</a:t>
            </a:r>
            <a:r>
              <a:rPr lang="en-IN" dirty="0"/>
              <a:t> contractor personnel and temporary staff.</a:t>
            </a:r>
          </a:p>
          <a:p>
            <a:pPr lvl="1"/>
            <a:r>
              <a:rPr lang="en-IN" dirty="0"/>
              <a:t>[Ans: including / extending to]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01C003-DAA1-3C7A-EDEF-F1F0867C2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143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1F622-2767-4851-3B4B-5B0B2A3E6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C7FAD4-D406-BACE-1E2A-E16A1626C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pPr lvl="0"/>
            <a:r>
              <a:rPr lang="en-IN" dirty="0"/>
              <a:t>The team lead demanded to know who </a:t>
            </a:r>
            <a:r>
              <a:rPr lang="en-IN" b="1" dirty="0"/>
              <a:t>______</a:t>
            </a:r>
            <a:r>
              <a:rPr lang="en-IN" dirty="0"/>
              <a:t> the unapproved push to the main production branch.</a:t>
            </a:r>
          </a:p>
          <a:p>
            <a:pPr lvl="1"/>
            <a:r>
              <a:rPr lang="en-IN" dirty="0"/>
              <a:t>[Ans: had authorized / authorized / was responsible for authorizing]</a:t>
            </a:r>
          </a:p>
          <a:p>
            <a:pPr lvl="0"/>
            <a:r>
              <a:rPr lang="en-IN" dirty="0"/>
              <a:t>She performed </a:t>
            </a:r>
            <a:r>
              <a:rPr lang="en-IN" b="1" dirty="0"/>
              <a:t>______</a:t>
            </a:r>
            <a:r>
              <a:rPr lang="en-IN" dirty="0"/>
              <a:t> well during the high-stakes client presentation.</a:t>
            </a:r>
          </a:p>
          <a:p>
            <a:pPr lvl="1"/>
            <a:r>
              <a:rPr lang="en-IN" dirty="0"/>
              <a:t>[Ans: exceptionally / remarkably / extraordinarily]</a:t>
            </a:r>
          </a:p>
          <a:p>
            <a:pPr lvl="0"/>
            <a:r>
              <a:rPr lang="en-IN" b="1" dirty="0"/>
              <a:t>______</a:t>
            </a:r>
            <a:r>
              <a:rPr lang="en-IN" dirty="0"/>
              <a:t> level of dedication demonstrated by the engineering track inspired the entire workforce.</a:t>
            </a:r>
          </a:p>
          <a:p>
            <a:pPr lvl="1"/>
            <a:r>
              <a:rPr lang="en-IN" dirty="0"/>
              <a:t>[Ans: The / Such / This]</a:t>
            </a:r>
          </a:p>
          <a:p>
            <a:pPr lvl="0"/>
            <a:r>
              <a:rPr lang="en-IN" dirty="0"/>
              <a:t>Unless the client </a:t>
            </a:r>
            <a:r>
              <a:rPr lang="en-IN" b="1" dirty="0"/>
              <a:t>______</a:t>
            </a:r>
            <a:r>
              <a:rPr lang="en-IN" dirty="0"/>
              <a:t> the contract by 5 PM today, the project start date will be deferred.</a:t>
            </a:r>
          </a:p>
          <a:p>
            <a:pPr lvl="1"/>
            <a:r>
              <a:rPr lang="en-IN" dirty="0"/>
              <a:t>[Ans: signs / approves / ratifies / endorses]</a:t>
            </a:r>
          </a:p>
          <a:p>
            <a:pPr lvl="0"/>
            <a:r>
              <a:rPr lang="en-IN" dirty="0"/>
              <a:t>The analyst worked </a:t>
            </a:r>
            <a:r>
              <a:rPr lang="en-IN" b="1" dirty="0"/>
              <a:t>______</a:t>
            </a:r>
            <a:r>
              <a:rPr lang="en-IN" dirty="0"/>
              <a:t> throughout the night to finish the risk assessment report.</a:t>
            </a:r>
          </a:p>
          <a:p>
            <a:pPr lvl="1"/>
            <a:r>
              <a:rPr lang="en-IN" dirty="0"/>
              <a:t>[Ans: diligently / tirelessly / meticulously / systematically]</a:t>
            </a:r>
          </a:p>
          <a:p>
            <a:r>
              <a:rPr lang="en-IN" dirty="0"/>
              <a:t>He is the engineer </a:t>
            </a:r>
            <a:r>
              <a:rPr lang="en-IN" b="1" dirty="0"/>
              <a:t>______</a:t>
            </a:r>
            <a:r>
              <a:rPr lang="en-IN" dirty="0"/>
              <a:t> the board appointed to lead the digital transformation initiative.</a:t>
            </a:r>
          </a:p>
          <a:p>
            <a:pPr lvl="1"/>
            <a:r>
              <a:rPr lang="en-IN" dirty="0"/>
              <a:t>[Ans: whom / who]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0A02048-A8C8-13C6-4C2B-D11D4AD6A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1374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CB8B3-B9EC-C970-CD6E-1F4151252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62E0D7A-1DF3-9831-FE49-4426307F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pPr lvl="0"/>
            <a:r>
              <a:rPr lang="en-IN" dirty="0"/>
              <a:t>We had </a:t>
            </a:r>
            <a:r>
              <a:rPr lang="en-IN" b="1" dirty="0"/>
              <a:t>______</a:t>
            </a:r>
            <a:r>
              <a:rPr lang="en-IN" dirty="0"/>
              <a:t> entered the conference hall when the keynote speaker began her opening address.</a:t>
            </a:r>
          </a:p>
          <a:p>
            <a:pPr lvl="1"/>
            <a:r>
              <a:rPr lang="en-IN" dirty="0"/>
              <a:t>[Ans: hardly / barely / scarcely]</a:t>
            </a:r>
          </a:p>
          <a:p>
            <a:pPr lvl="0"/>
            <a:r>
              <a:rPr lang="en-IN" dirty="0"/>
              <a:t>The data </a:t>
            </a:r>
            <a:r>
              <a:rPr lang="en-IN" dirty="0" err="1"/>
              <a:t>center</a:t>
            </a:r>
            <a:r>
              <a:rPr lang="en-IN" dirty="0"/>
              <a:t> experienced </a:t>
            </a:r>
            <a:r>
              <a:rPr lang="en-IN" b="1" dirty="0"/>
              <a:t>______</a:t>
            </a:r>
            <a:r>
              <a:rPr lang="en-IN" dirty="0"/>
              <a:t> outage following the electrical thunderstorm last night.</a:t>
            </a:r>
          </a:p>
          <a:p>
            <a:pPr lvl="1"/>
            <a:r>
              <a:rPr lang="en-IN" dirty="0"/>
              <a:t>[Ans: an / unprecedented / severe]</a:t>
            </a:r>
          </a:p>
          <a:p>
            <a:pPr lvl="0"/>
            <a:r>
              <a:rPr lang="en-IN" dirty="0"/>
              <a:t>A number of key deliverables </a:t>
            </a:r>
            <a:r>
              <a:rPr lang="en-IN" b="1" dirty="0"/>
              <a:t>______</a:t>
            </a:r>
            <a:r>
              <a:rPr lang="en-IN" dirty="0"/>
              <a:t> delayed due to unexpected supply chain disruptions.</a:t>
            </a:r>
          </a:p>
          <a:p>
            <a:pPr lvl="1"/>
            <a:r>
              <a:rPr lang="en-IN" dirty="0"/>
              <a:t>[Ans: have been / were / are being]</a:t>
            </a:r>
          </a:p>
          <a:p>
            <a:pPr lvl="0"/>
            <a:r>
              <a:rPr lang="en-IN" dirty="0"/>
              <a:t>The senior consultant spoke </a:t>
            </a:r>
            <a:r>
              <a:rPr lang="en-IN" b="1" dirty="0"/>
              <a:t>______</a:t>
            </a:r>
            <a:r>
              <a:rPr lang="en-IN" dirty="0"/>
              <a:t> of the software team's recent architecture redesign.</a:t>
            </a:r>
          </a:p>
          <a:p>
            <a:pPr lvl="1"/>
            <a:r>
              <a:rPr lang="en-IN" dirty="0"/>
              <a:t>[Ans: highly / </a:t>
            </a:r>
            <a:r>
              <a:rPr lang="en-IN" dirty="0" err="1"/>
              <a:t>favorably</a:t>
            </a:r>
            <a:r>
              <a:rPr lang="en-IN" dirty="0"/>
              <a:t> / approvingly]</a:t>
            </a:r>
          </a:p>
          <a:p>
            <a:pPr lvl="0"/>
            <a:r>
              <a:rPr lang="en-IN" dirty="0"/>
              <a:t>Had I known about the system vulnerability earlier, I </a:t>
            </a:r>
            <a:r>
              <a:rPr lang="en-IN" b="1" dirty="0"/>
              <a:t>______</a:t>
            </a:r>
            <a:r>
              <a:rPr lang="en-IN" dirty="0"/>
              <a:t> the security operations </a:t>
            </a:r>
            <a:r>
              <a:rPr lang="en-IN" dirty="0" err="1"/>
              <a:t>center</a:t>
            </a:r>
            <a:r>
              <a:rPr lang="en-IN" dirty="0"/>
              <a:t> immediately.	</a:t>
            </a:r>
          </a:p>
          <a:p>
            <a:pPr lvl="1"/>
            <a:r>
              <a:rPr lang="en-IN" dirty="0"/>
              <a:t> [Ans: would have alerted / would have notified / would have informed] </a:t>
            </a:r>
          </a:p>
          <a:p>
            <a:r>
              <a:rPr lang="en-IN" dirty="0"/>
              <a:t>The firm prides </a:t>
            </a:r>
            <a:r>
              <a:rPr lang="en-IN" b="1" dirty="0"/>
              <a:t>______</a:t>
            </a:r>
            <a:r>
              <a:rPr lang="en-IN" dirty="0"/>
              <a:t> on maintaining complete transparency with its institutional investors.</a:t>
            </a:r>
          </a:p>
          <a:p>
            <a:pPr lvl="1"/>
            <a:r>
              <a:rPr lang="en-IN" dirty="0"/>
              <a:t>[Ans: itself]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59C95E-96E2-250D-E763-02CFCF2D7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4537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1371D-4DBC-3221-42F2-1C657375C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A97014-BCDB-C8D0-9E32-E491E65ED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dirty="0"/>
              <a:t>The company believes that teamwork and trust are the foundation </a:t>
            </a:r>
            <a:r>
              <a:rPr lang="en-IN" b="1" dirty="0"/>
              <a:t>______</a:t>
            </a:r>
            <a:r>
              <a:rPr lang="en-IN" dirty="0"/>
              <a:t> long-term success. </a:t>
            </a:r>
          </a:p>
          <a:p>
            <a:pPr lvl="1"/>
            <a:r>
              <a:rPr lang="en-IN" dirty="0"/>
              <a:t>of / for / behind </a:t>
            </a:r>
          </a:p>
          <a:p>
            <a:r>
              <a:rPr lang="en-IN" dirty="0"/>
              <a:t>To capture a larger share of the enterprise sector, the firm intends to </a:t>
            </a:r>
            <a:r>
              <a:rPr lang="en-IN" b="1" dirty="0"/>
              <a:t>______</a:t>
            </a:r>
            <a:r>
              <a:rPr lang="en-IN" dirty="0"/>
              <a:t> its software services globally. </a:t>
            </a:r>
          </a:p>
          <a:p>
            <a:pPr lvl="1"/>
            <a:r>
              <a:rPr lang="en-IN" dirty="0"/>
              <a:t>expand / grow / scale / diversify / proliferate</a:t>
            </a:r>
          </a:p>
          <a:p>
            <a:r>
              <a:rPr lang="en-IN" dirty="0"/>
              <a:t>Before granting database clearance, security administrators must strictly </a:t>
            </a:r>
            <a:r>
              <a:rPr lang="en-IN" b="1" dirty="0"/>
              <a:t>______</a:t>
            </a:r>
            <a:r>
              <a:rPr lang="en-IN" dirty="0"/>
              <a:t> all incoming system credentials. </a:t>
            </a:r>
          </a:p>
          <a:p>
            <a:pPr lvl="1"/>
            <a:r>
              <a:rPr lang="en-IN" dirty="0"/>
              <a:t>test / check / verify / validate / authenticate</a:t>
            </a:r>
          </a:p>
          <a:p>
            <a:r>
              <a:rPr lang="en-IN" dirty="0"/>
              <a:t>The market research team worked for two weeks to </a:t>
            </a:r>
            <a:r>
              <a:rPr lang="en-IN" b="1" dirty="0"/>
              <a:t>______</a:t>
            </a:r>
            <a:r>
              <a:rPr lang="en-IN" dirty="0"/>
              <a:t> regional performance metrics into one report. </a:t>
            </a:r>
          </a:p>
          <a:p>
            <a:pPr lvl="1"/>
            <a:r>
              <a:rPr lang="en-IN" dirty="0"/>
              <a:t>collect / gather / compile / aggregate / consolidate</a:t>
            </a:r>
          </a:p>
          <a:p>
            <a:r>
              <a:rPr lang="en-IN" dirty="0"/>
              <a:t>In light of the recent economic adjustments, the corporate board requested managers to </a:t>
            </a:r>
            <a:r>
              <a:rPr lang="en-IN" b="1" dirty="0"/>
              <a:t>______</a:t>
            </a:r>
            <a:r>
              <a:rPr lang="en-IN" dirty="0"/>
              <a:t> operational costs. </a:t>
            </a:r>
          </a:p>
          <a:p>
            <a:pPr lvl="1"/>
            <a:r>
              <a:rPr lang="en-IN" dirty="0"/>
              <a:t>drop / cut / reduce / limit / curtail / optimize 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5D55FD-5A6B-EB89-C7D8-9AE87A7FD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3224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F69DF-7242-B918-0C60-47D60EA67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F93DAE-F126-0314-712F-7C156EFDB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pPr lvl="0"/>
            <a:r>
              <a:rPr lang="en-IN" b="1" dirty="0"/>
              <a:t>______</a:t>
            </a:r>
            <a:r>
              <a:rPr lang="en-IN" dirty="0"/>
              <a:t> conduct is expected from all corporate executives handling sensitive financial assets.</a:t>
            </a:r>
          </a:p>
          <a:p>
            <a:pPr lvl="1"/>
            <a:r>
              <a:rPr lang="en-IN" dirty="0"/>
              <a:t>[Ans: Honest / Integrity / High / Ethical]</a:t>
            </a:r>
          </a:p>
          <a:p>
            <a:pPr lvl="0"/>
            <a:r>
              <a:rPr lang="en-IN" dirty="0"/>
              <a:t>No sooner </a:t>
            </a:r>
            <a:r>
              <a:rPr lang="en-IN" b="1" dirty="0"/>
              <a:t>______</a:t>
            </a:r>
            <a:r>
              <a:rPr lang="en-IN" dirty="0"/>
              <a:t> the software update deployed than users began reporting unexpected layout glitches.</a:t>
            </a:r>
          </a:p>
          <a:p>
            <a:pPr lvl="1"/>
            <a:r>
              <a:rPr lang="en-IN" dirty="0"/>
              <a:t>[Ans: had / did]</a:t>
            </a:r>
          </a:p>
          <a:p>
            <a:pPr lvl="0"/>
            <a:r>
              <a:rPr lang="en-IN" dirty="0"/>
              <a:t>The manager asked us to divide the remaining project budget </a:t>
            </a:r>
            <a:r>
              <a:rPr lang="en-IN" b="1" dirty="0"/>
              <a:t>______</a:t>
            </a:r>
            <a:r>
              <a:rPr lang="en-IN" dirty="0"/>
              <a:t> the three operational departments.</a:t>
            </a:r>
          </a:p>
          <a:p>
            <a:pPr lvl="1"/>
            <a:r>
              <a:rPr lang="en-IN" dirty="0"/>
              <a:t>[Ans: among / between]</a:t>
            </a:r>
          </a:p>
          <a:p>
            <a:pPr lvl="0"/>
            <a:r>
              <a:rPr lang="en-IN" dirty="0"/>
              <a:t>By the time the audit ends next month, the compliance officer </a:t>
            </a:r>
            <a:r>
              <a:rPr lang="en-IN" b="1" dirty="0"/>
              <a:t>______</a:t>
            </a:r>
            <a:r>
              <a:rPr lang="en-IN" dirty="0"/>
              <a:t> every internal record.</a:t>
            </a:r>
          </a:p>
          <a:p>
            <a:pPr lvl="1"/>
            <a:r>
              <a:rPr lang="en-IN" dirty="0"/>
              <a:t>[Ans: will have inspected / will have audited / is going to have reviewed]</a:t>
            </a:r>
          </a:p>
          <a:p>
            <a:pPr lvl="0"/>
            <a:r>
              <a:rPr lang="en-IN" dirty="0"/>
              <a:t>It was </a:t>
            </a:r>
            <a:r>
              <a:rPr lang="en-IN" b="1" dirty="0"/>
              <a:t>______</a:t>
            </a:r>
            <a:r>
              <a:rPr lang="en-IN" dirty="0"/>
              <a:t> unusual error that puzzled even the most experienced system architects.</a:t>
            </a:r>
          </a:p>
          <a:p>
            <a:pPr lvl="1"/>
            <a:r>
              <a:rPr lang="en-IN" dirty="0"/>
              <a:t>[Ans: an / extremely / exceptionally]</a:t>
            </a:r>
          </a:p>
          <a:p>
            <a:r>
              <a:rPr lang="en-IN" dirty="0"/>
              <a:t>The team was amazed at </a:t>
            </a:r>
            <a:r>
              <a:rPr lang="en-IN" b="1" dirty="0"/>
              <a:t>______</a:t>
            </a:r>
            <a:r>
              <a:rPr lang="en-IN" dirty="0"/>
              <a:t> quickly the new developer adapted to the complex codebase.</a:t>
            </a:r>
          </a:p>
          <a:p>
            <a:pPr lvl="1"/>
            <a:r>
              <a:rPr lang="en-IN" dirty="0"/>
              <a:t>[Ans: how / the speed with which]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9131BF5-D618-9254-51C2-5AD5125C1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6292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47082-5713-D4CE-0DC1-16B60F678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984983-50AF-9DF7-1BC3-D03AA0679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pPr lvl="0"/>
            <a:r>
              <a:rPr lang="en-IN" dirty="0"/>
              <a:t>The CFO, along with her financial analysis team, </a:t>
            </a:r>
            <a:r>
              <a:rPr lang="en-IN" b="1" dirty="0"/>
              <a:t>______</a:t>
            </a:r>
            <a:r>
              <a:rPr lang="en-IN" dirty="0"/>
              <a:t> attending the global economics summit in Zurich.</a:t>
            </a:r>
          </a:p>
          <a:p>
            <a:pPr lvl="1"/>
            <a:r>
              <a:rPr lang="en-IN" dirty="0"/>
              <a:t>[Ans: is / was / has been]</a:t>
            </a:r>
          </a:p>
          <a:p>
            <a:pPr lvl="0"/>
            <a:r>
              <a:rPr lang="en-IN" dirty="0"/>
              <a:t>She spoke </a:t>
            </a:r>
            <a:r>
              <a:rPr lang="en-IN" b="1" dirty="0"/>
              <a:t>______</a:t>
            </a:r>
            <a:r>
              <a:rPr lang="en-IN" dirty="0"/>
              <a:t> confidently during the panel discussion that she received multiple job offers afterward.</a:t>
            </a:r>
          </a:p>
          <a:p>
            <a:pPr lvl="1"/>
            <a:r>
              <a:rPr lang="en-IN" dirty="0"/>
              <a:t>[Ans: so / very / exceptionally]</a:t>
            </a:r>
          </a:p>
          <a:p>
            <a:pPr lvl="0"/>
            <a:r>
              <a:rPr lang="en-IN" dirty="0"/>
              <a:t>The software development lifecycle requires </a:t>
            </a:r>
            <a:r>
              <a:rPr lang="en-IN" b="1" dirty="0"/>
              <a:t>______</a:t>
            </a:r>
            <a:r>
              <a:rPr lang="en-IN" dirty="0"/>
              <a:t> disciplined approach to quality assurance.</a:t>
            </a:r>
          </a:p>
          <a:p>
            <a:pPr lvl="1"/>
            <a:r>
              <a:rPr lang="en-IN" dirty="0"/>
              <a:t>[Ans: a / consistent / rigorous / meticulous]</a:t>
            </a:r>
          </a:p>
          <a:p>
            <a:pPr lvl="0"/>
            <a:r>
              <a:rPr lang="en-IN" dirty="0"/>
              <a:t>If the team </a:t>
            </a:r>
            <a:r>
              <a:rPr lang="en-IN" b="1" dirty="0"/>
              <a:t>______</a:t>
            </a:r>
            <a:r>
              <a:rPr lang="en-IN" dirty="0"/>
              <a:t> to meet its weekly milestones, the platform will launch ahead of schedule.</a:t>
            </a:r>
          </a:p>
          <a:p>
            <a:pPr lvl="1"/>
            <a:r>
              <a:rPr lang="en-IN" dirty="0"/>
              <a:t>[Ans: continues / persists]</a:t>
            </a:r>
          </a:p>
          <a:p>
            <a:pPr lvl="0"/>
            <a:r>
              <a:rPr lang="en-IN" dirty="0"/>
              <a:t>Not only the project lead but also the developers </a:t>
            </a:r>
            <a:r>
              <a:rPr lang="en-IN" b="1" dirty="0"/>
              <a:t>______</a:t>
            </a:r>
            <a:r>
              <a:rPr lang="en-IN" dirty="0"/>
              <a:t> praised for resolving the critical bug over the weekend.</a:t>
            </a:r>
          </a:p>
          <a:p>
            <a:pPr lvl="1"/>
            <a:r>
              <a:rPr lang="en-IN" dirty="0"/>
              <a:t>[Ans: were / are]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0839C8-D49E-4D6F-5146-9A36E440E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567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20F40-1E8A-7CF8-D29D-971AAD7B9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086073-08B9-D491-E73D-96DB6E582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pPr lvl="0"/>
            <a:r>
              <a:rPr lang="en-IN" dirty="0"/>
              <a:t>The research paper provides </a:t>
            </a:r>
            <a:r>
              <a:rPr lang="en-IN" b="1" dirty="0"/>
              <a:t>______</a:t>
            </a:r>
            <a:r>
              <a:rPr lang="en-IN" dirty="0"/>
              <a:t> analysis of consumer </a:t>
            </a:r>
            <a:r>
              <a:rPr lang="en-IN" dirty="0" err="1"/>
              <a:t>behavior</a:t>
            </a:r>
            <a:r>
              <a:rPr lang="en-IN" dirty="0"/>
              <a:t> in emerging digital markets.</a:t>
            </a:r>
          </a:p>
          <a:p>
            <a:pPr lvl="1"/>
            <a:r>
              <a:rPr lang="en-IN" dirty="0"/>
              <a:t>[Ans: an / insightful / comprehensive / in-depth]</a:t>
            </a:r>
          </a:p>
          <a:p>
            <a:pPr lvl="0"/>
            <a:r>
              <a:rPr lang="en-IN" dirty="0"/>
              <a:t>Before the end of the current fiscal quarter, the board </a:t>
            </a:r>
            <a:r>
              <a:rPr lang="en-IN" b="1" dirty="0"/>
              <a:t>______</a:t>
            </a:r>
            <a:r>
              <a:rPr lang="en-IN" dirty="0"/>
              <a:t> on the proposed corporate merger.</a:t>
            </a:r>
          </a:p>
          <a:p>
            <a:pPr lvl="1"/>
            <a:r>
              <a:rPr lang="en-IN" dirty="0"/>
              <a:t>[Ans: will decide / will have decided / is set to decide]</a:t>
            </a:r>
          </a:p>
          <a:p>
            <a:pPr lvl="0"/>
            <a:r>
              <a:rPr lang="en-IN" dirty="0"/>
              <a:t>The consultant worked </a:t>
            </a:r>
            <a:r>
              <a:rPr lang="en-IN" b="1" dirty="0"/>
              <a:t>______</a:t>
            </a:r>
            <a:r>
              <a:rPr lang="en-IN" dirty="0"/>
              <a:t> to complete the security audit before the regulatory deadline.</a:t>
            </a:r>
          </a:p>
          <a:p>
            <a:pPr lvl="1"/>
            <a:r>
              <a:rPr lang="en-IN" dirty="0"/>
              <a:t> [Ans: efficiently / productively / capably] </a:t>
            </a:r>
          </a:p>
          <a:p>
            <a:pPr lvl="0"/>
            <a:r>
              <a:rPr lang="en-IN" dirty="0"/>
              <a:t>The candidate </a:t>
            </a:r>
            <a:r>
              <a:rPr lang="en-IN" b="1" dirty="0"/>
              <a:t>______</a:t>
            </a:r>
            <a:r>
              <a:rPr lang="en-IN" dirty="0"/>
              <a:t> resume was selected yesterday will be interviewed by the engineering director tomorrow.</a:t>
            </a:r>
          </a:p>
          <a:p>
            <a:pPr lvl="1"/>
            <a:r>
              <a:rPr lang="en-IN" dirty="0"/>
              <a:t>[Ans: whose]</a:t>
            </a:r>
          </a:p>
          <a:p>
            <a:pPr lvl="0"/>
            <a:r>
              <a:rPr lang="en-IN" dirty="0"/>
              <a:t>The system admin managed to restore the corrupted database </a:t>
            </a:r>
            <a:r>
              <a:rPr lang="en-IN" b="1" dirty="0"/>
              <a:t>______</a:t>
            </a:r>
            <a:r>
              <a:rPr lang="en-IN" dirty="0"/>
              <a:t> losing any critical user records.</a:t>
            </a:r>
          </a:p>
          <a:p>
            <a:pPr lvl="1"/>
            <a:r>
              <a:rPr lang="en-IN" dirty="0"/>
              <a:t>[Ans: without / avoiding]</a:t>
            </a:r>
          </a:p>
          <a:p>
            <a:r>
              <a:rPr lang="en-IN" dirty="0"/>
              <a:t>It is essential that the IT department </a:t>
            </a:r>
            <a:r>
              <a:rPr lang="en-IN" b="1" dirty="0"/>
              <a:t>______</a:t>
            </a:r>
            <a:r>
              <a:rPr lang="en-IN" dirty="0"/>
              <a:t> all server security protocols immediately.</a:t>
            </a:r>
          </a:p>
          <a:p>
            <a:pPr lvl="1"/>
            <a:r>
              <a:rPr lang="en-IN" dirty="0"/>
              <a:t>[Ans: upgrade / modernize / patch]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CA3661-ED9A-8486-9FF4-CCB0016B0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1480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B7DB3-5F76-6459-8FE8-8C76F413A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DCD6F5-C248-0ECC-26A7-936B35D35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pPr lvl="0"/>
            <a:r>
              <a:rPr lang="en-IN" dirty="0"/>
              <a:t>The company experienced </a:t>
            </a:r>
            <a:r>
              <a:rPr lang="en-IN" b="1" dirty="0"/>
              <a:t>______</a:t>
            </a:r>
            <a:r>
              <a:rPr lang="en-IN" dirty="0"/>
              <a:t> sudden surge in customer subscriptions after launching the mobile app.</a:t>
            </a:r>
          </a:p>
          <a:p>
            <a:pPr lvl="1"/>
            <a:r>
              <a:rPr lang="en-IN" dirty="0"/>
              <a:t>[Ans: a / dramatic / rapid / substantial]</a:t>
            </a:r>
          </a:p>
          <a:p>
            <a:pPr lvl="0"/>
            <a:r>
              <a:rPr lang="en-IN" dirty="0"/>
              <a:t>Neither of the two software solutions </a:t>
            </a:r>
            <a:r>
              <a:rPr lang="en-IN" b="1" dirty="0"/>
              <a:t>______</a:t>
            </a:r>
            <a:r>
              <a:rPr lang="en-IN" dirty="0"/>
              <a:t> all our enterprise compliance criteria.</a:t>
            </a:r>
          </a:p>
          <a:p>
            <a:pPr lvl="1"/>
            <a:r>
              <a:rPr lang="en-IN" dirty="0"/>
              <a:t>[Ans: meets / satisfies / </a:t>
            </a:r>
            <a:r>
              <a:rPr lang="en-IN" dirty="0" err="1"/>
              <a:t>fulfills</a:t>
            </a:r>
            <a:r>
              <a:rPr lang="en-IN" dirty="0"/>
              <a:t>]</a:t>
            </a:r>
          </a:p>
          <a:p>
            <a:pPr lvl="0"/>
            <a:r>
              <a:rPr lang="en-IN" dirty="0"/>
              <a:t>The director requested a </a:t>
            </a:r>
            <a:r>
              <a:rPr lang="en-IN" b="1" dirty="0"/>
              <a:t>______</a:t>
            </a:r>
            <a:r>
              <a:rPr lang="en-IN" dirty="0"/>
              <a:t> explanation of why the deployment was delayed.</a:t>
            </a:r>
          </a:p>
          <a:p>
            <a:pPr lvl="1"/>
            <a:r>
              <a:rPr lang="en-IN" dirty="0"/>
              <a:t>[Ans: detailed / comprehensive / thorough / exhaustive]</a:t>
            </a:r>
          </a:p>
          <a:p>
            <a:pPr lvl="0"/>
            <a:r>
              <a:rPr lang="en-IN" dirty="0"/>
              <a:t>By the time you receive this notification, your account credentials </a:t>
            </a:r>
            <a:r>
              <a:rPr lang="en-IN" b="1" dirty="0"/>
              <a:t>______</a:t>
            </a:r>
            <a:r>
              <a:rPr lang="en-IN" dirty="0"/>
              <a:t> updated in the primary directory.</a:t>
            </a:r>
          </a:p>
          <a:p>
            <a:pPr lvl="1"/>
            <a:r>
              <a:rPr lang="en-IN" dirty="0"/>
              <a:t>[Ans: will have been / will be]</a:t>
            </a:r>
          </a:p>
          <a:p>
            <a:pPr lvl="0"/>
            <a:r>
              <a:rPr lang="en-IN" dirty="0"/>
              <a:t>She is </a:t>
            </a:r>
            <a:r>
              <a:rPr lang="en-IN" b="1" dirty="0"/>
              <a:t>______</a:t>
            </a:r>
            <a:r>
              <a:rPr lang="en-IN" dirty="0"/>
              <a:t> talented developer who consistently delivers clean, efficient code.</a:t>
            </a:r>
          </a:p>
          <a:p>
            <a:pPr lvl="1"/>
            <a:r>
              <a:rPr lang="en-IN" dirty="0"/>
              <a:t>[Ans: a / highly / exceptionally]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029A02-52D6-5B24-54F9-3C4010AB6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070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E3ED5-CAF7-731B-0C6B-EDCB36C4F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827369A-8D06-0022-18F1-3ACD9BFD3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pPr lvl="0"/>
            <a:r>
              <a:rPr lang="en-IN" dirty="0"/>
              <a:t>The project team worked </a:t>
            </a:r>
            <a:r>
              <a:rPr lang="en-IN" b="1" dirty="0"/>
              <a:t>______</a:t>
            </a:r>
            <a:r>
              <a:rPr lang="en-IN" dirty="0"/>
              <a:t> to deliver the client deliverable ahead of time.</a:t>
            </a:r>
          </a:p>
          <a:p>
            <a:pPr lvl="1"/>
            <a:r>
              <a:rPr lang="en-IN" dirty="0"/>
              <a:t>[Ans: collaboratively / harmoniously / in tandem]</a:t>
            </a:r>
          </a:p>
          <a:p>
            <a:pPr lvl="0"/>
            <a:r>
              <a:rPr lang="en-IN" dirty="0"/>
              <a:t>Every employee must present </a:t>
            </a:r>
            <a:r>
              <a:rPr lang="en-IN" b="1" dirty="0"/>
              <a:t>______</a:t>
            </a:r>
            <a:r>
              <a:rPr lang="en-IN" dirty="0"/>
              <a:t> security badge upon entering the corporate facility.</a:t>
            </a:r>
          </a:p>
          <a:p>
            <a:pPr lvl="1"/>
            <a:r>
              <a:rPr lang="en-IN" dirty="0"/>
              <a:t>[Ans: their / an official / a valid]</a:t>
            </a:r>
          </a:p>
          <a:p>
            <a:pPr lvl="0"/>
            <a:r>
              <a:rPr lang="en-IN" dirty="0"/>
              <a:t>The team </a:t>
            </a:r>
            <a:r>
              <a:rPr lang="en-IN" b="1" dirty="0"/>
              <a:t>______</a:t>
            </a:r>
            <a:r>
              <a:rPr lang="en-IN" dirty="0"/>
              <a:t> for the source of the memory leak for hours before finally isolating the faulty module.</a:t>
            </a:r>
          </a:p>
          <a:p>
            <a:pPr lvl="1"/>
            <a:r>
              <a:rPr lang="en-IN" dirty="0"/>
              <a:t>[Ans: had been searching / had searched / was searching]</a:t>
            </a:r>
          </a:p>
          <a:p>
            <a:pPr lvl="0"/>
            <a:r>
              <a:rPr lang="en-IN" dirty="0"/>
              <a:t>He answered the client's questions </a:t>
            </a:r>
            <a:r>
              <a:rPr lang="en-IN" b="1" dirty="0"/>
              <a:t>______</a:t>
            </a:r>
            <a:r>
              <a:rPr lang="en-IN" dirty="0"/>
              <a:t> despite the tense negotiation atmosphere.</a:t>
            </a:r>
          </a:p>
          <a:p>
            <a:pPr lvl="1"/>
            <a:r>
              <a:rPr lang="en-IN" dirty="0"/>
              <a:t>[Ans: tactfully / diplomatically / professionally / courteously]</a:t>
            </a:r>
          </a:p>
          <a:p>
            <a:pPr lvl="0"/>
            <a:r>
              <a:rPr lang="en-IN" b="1" dirty="0"/>
              <a:t>______</a:t>
            </a:r>
            <a:r>
              <a:rPr lang="en-IN" dirty="0"/>
              <a:t> environmental impact of industrial waste has prompted governments to enforce stricter environmental compliance policies.</a:t>
            </a:r>
          </a:p>
          <a:p>
            <a:pPr lvl="1"/>
            <a:r>
              <a:rPr lang="en-IN" dirty="0"/>
              <a:t>[Ans: The / Severe / High]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68EBC5-B201-71F4-3246-302E1EC02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3135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Google Shape;2095;p8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6000"/>
              <a:buFont typeface="Roboto Condensed"/>
              <a:buNone/>
            </a:pPr>
            <a:r>
              <a:rPr lang="en-US" i="1" dirty="0"/>
              <a:t>Thank You</a:t>
            </a:r>
            <a:endParaRPr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23451</TotalTime>
  <Words>1875</Words>
  <Application>Microsoft Office PowerPoint</Application>
  <PresentationFormat>Widescreen</PresentationFormat>
  <Paragraphs>169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Roboto</vt:lpstr>
      <vt:lpstr>Calibri</vt:lpstr>
      <vt:lpstr>Wingdings 3</vt:lpstr>
      <vt:lpstr>Roboto Condensed Light</vt:lpstr>
      <vt:lpstr>Wingdings</vt:lpstr>
      <vt:lpstr>Arial</vt:lpstr>
      <vt:lpstr>Roboto Condensed</vt:lpstr>
      <vt:lpstr>1_Office Theme</vt:lpstr>
      <vt:lpstr>Grammar  Practice 1</vt:lpstr>
      <vt:lpstr>PowerPoint Presentation</vt:lpstr>
      <vt:lpstr>Grammar Practice 1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Nitin Chauhan</dc:creator>
  <cp:lastModifiedBy>prashant chauhan</cp:lastModifiedBy>
  <cp:revision>2276</cp:revision>
  <dcterms:created xsi:type="dcterms:W3CDTF">2020-06-11T07:03:50Z</dcterms:created>
  <dcterms:modified xsi:type="dcterms:W3CDTF">2026-08-07T04:14:39Z</dcterms:modified>
</cp:coreProperties>
</file>