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19"/>
  </p:notesMasterIdLst>
  <p:handoutMasterIdLst>
    <p:handoutMasterId r:id="rId20"/>
  </p:handoutMasterIdLst>
  <p:sldIdLst>
    <p:sldId id="257" r:id="rId2"/>
    <p:sldId id="459" r:id="rId3"/>
    <p:sldId id="694" r:id="rId4"/>
    <p:sldId id="745" r:id="rId5"/>
    <p:sldId id="746" r:id="rId6"/>
    <p:sldId id="747" r:id="rId7"/>
    <p:sldId id="749" r:id="rId8"/>
    <p:sldId id="750" r:id="rId9"/>
    <p:sldId id="751" r:id="rId10"/>
    <p:sldId id="752" r:id="rId11"/>
    <p:sldId id="753" r:id="rId12"/>
    <p:sldId id="755" r:id="rId13"/>
    <p:sldId id="754" r:id="rId14"/>
    <p:sldId id="756" r:id="rId15"/>
    <p:sldId id="757" r:id="rId16"/>
    <p:sldId id="758" r:id="rId17"/>
    <p:sldId id="337" r:id="rId18"/>
  </p:sldIdLst>
  <p:sldSz cx="12192000" cy="6858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Roboto Condensed" panose="02000000000000000000" pitchFamily="2" charset="0"/>
      <p:regular r:id="rId29"/>
      <p:bold r:id="rId30"/>
      <p:italic r:id="rId31"/>
      <p:boldItalic r:id="rId32"/>
    </p:embeddedFont>
    <p:embeddedFont>
      <p:font typeface="Roboto Condensed Light" panose="02000000000000000000" pitchFamily="2" charset="0"/>
      <p:regular r:id="rId33"/>
      <p:italic r:id="rId34"/>
    </p:embeddedFont>
    <p:embeddedFont>
      <p:font typeface="Wingdings 3" panose="05040102010807070707" pitchFamily="18" charset="2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tGXlokWBVfL4LjexkuYLEA==" hashData="EDOQpvjGDSOdRl15Ws29z1U5o3SncLc+5M0j2d5aJcQ4IE2phR4kJnyUvuUs8JhMKNFy38viscsYvB3pKJTiLg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9FE"/>
    <a:srgbClr val="C00000"/>
    <a:srgbClr val="002060"/>
    <a:srgbClr val="2981C0"/>
    <a:srgbClr val="0C77C3"/>
    <a:srgbClr val="FFFFFF"/>
    <a:srgbClr val="A0C061"/>
    <a:srgbClr val="3572EB"/>
    <a:srgbClr val="B9B9B9"/>
    <a:srgbClr val="95D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9" autoAdjust="0"/>
    <p:restoredTop sz="96091" autoAdjust="0"/>
  </p:normalViewPr>
  <p:slideViewPr>
    <p:cSldViewPr snapToGrid="0">
      <p:cViewPr varScale="1">
        <p:scale>
          <a:sx n="85" d="100"/>
          <a:sy n="85" d="100"/>
        </p:scale>
        <p:origin x="504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64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35693-2F5F-4C2C-AA37-8E54880345AD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E920D-5A96-474F-9B79-F5AA1EF5E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3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BB180-F380-4DDD-8F5B-4775C656149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E1D88-AA76-442E-88A9-1A7935C1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1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D6B6-2896-E93A-2770-A9E1E0FB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44C6B-9C83-166A-53A7-C0FF54B76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D68C7-A354-FE2D-EE8C-7131F1718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Gif</a:t>
            </a:r>
            <a:r>
              <a:rPr lang="en-US" baseline="0" dirty="0"/>
              <a:t> Reference: </a:t>
            </a:r>
            <a:r>
              <a:rPr lang="en-IN" dirty="0"/>
              <a:t>https://tenor.com/view/tkthpsharma-gif-23317246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1C1CB-9946-033C-7871-48CB84198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68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102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1866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090100" y="96297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</p:spTree>
    <p:extLst>
      <p:ext uri="{BB962C8B-B14F-4D97-AF65-F5344CB8AC3E}">
        <p14:creationId xmlns:p14="http://schemas.microsoft.com/office/powerpoint/2010/main" val="265330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28104" y="585094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-2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253231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27851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91484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TCS Placement Practice</a:t>
            </a:r>
            <a:endParaRPr lang="en-IN" dirty="0">
              <a:effectLst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141473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92111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34543" y="92111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TCS Placement Practice</a:t>
            </a:r>
            <a:endParaRPr lang="en-IN" dirty="0">
              <a:effectLst/>
            </a:endParaRP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Prof. Radhika Bhateliya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470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9053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3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47253" y="6608527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195547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77041" y="242508"/>
            <a:ext cx="1649043" cy="501287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79575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42441" y="5980196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39140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1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52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666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1721-8CF9-09D4-7B12-699E396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2E8E8-F1D1-9CEB-19A2-607B5CDC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78542-39B3-1981-0439-143C4EAF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DC2D7-54FF-1FD8-3A27-F62D6E72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142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52807"/>
            <a:ext cx="11929641" cy="560120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oogle Shape;60;p54"/>
          <p:cNvGrpSpPr/>
          <p:nvPr userDrawn="1"/>
        </p:nvGrpSpPr>
        <p:grpSpPr>
          <a:xfrm>
            <a:off x="10721798" y="852808"/>
            <a:ext cx="1339024" cy="407045"/>
            <a:chOff x="10721798" y="852808"/>
            <a:chExt cx="1339024" cy="407045"/>
          </a:xfrm>
        </p:grpSpPr>
        <p:pic>
          <p:nvPicPr>
            <p:cNvPr id="15" name="Google Shape;61;p5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62;p54"/>
            <p:cNvSpPr/>
            <p:nvPr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06250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14088" y="-599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72" y="1999976"/>
            <a:ext cx="2973402" cy="321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3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9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5" r:id="rId2"/>
    <p:sldLayoutId id="2147483719" r:id="rId3"/>
    <p:sldLayoutId id="2147483724" r:id="rId4"/>
    <p:sldLayoutId id="2147483720" r:id="rId5"/>
    <p:sldLayoutId id="2147483663" r:id="rId6"/>
    <p:sldLayoutId id="2147483689" r:id="rId7"/>
    <p:sldLayoutId id="2147483667" r:id="rId8"/>
    <p:sldLayoutId id="2147483669" r:id="rId9"/>
    <p:sldLayoutId id="2147483670" r:id="rId10"/>
    <p:sldLayoutId id="2147483671" r:id="rId11"/>
    <p:sldLayoutId id="2147483705" r:id="rId12"/>
    <p:sldLayoutId id="2147483727" r:id="rId13"/>
    <p:sldLayoutId id="2147483726" r:id="rId14"/>
    <p:sldLayoutId id="214748372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mailto:Swati.sharma@darshan.ac.in" TargetMode="Externa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33F9D0-79AF-43AC-AF9D-363E78BA5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218" y="1327132"/>
            <a:ext cx="7276373" cy="2848166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Grammar </a:t>
            </a:r>
            <a:br>
              <a:rPr lang="en-US" dirty="0">
                <a:ea typeface="Roboto Condensed Light" panose="02000000000000000000" pitchFamily="2" charset="0"/>
              </a:rPr>
            </a:br>
            <a:r>
              <a:rPr lang="en-US" dirty="0">
                <a:ea typeface="Roboto Condensed Light" panose="02000000000000000000" pitchFamily="2" charset="0"/>
              </a:rPr>
              <a:t>Practice II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EA47D8-8426-4DBD-BFF3-4005B9628A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radhika.bhateliya@darshan.ac.in</a:t>
            </a:r>
            <a:r>
              <a:rPr lang="en-US" dirty="0"/>
              <a:t>	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B68CD4-73FE-4D9C-A25E-10B975B94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9428035992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D8A79D-333F-44B3-B1A0-1780CA0E3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Humanities and Science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423574-50B3-4C1F-BB03-4625B3BB7D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Radhika J Bhateliya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C932FB-1928-4F3D-87A8-4A34E3061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TCS Placement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5961" y="1641307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A8E46D0-2CA0-8369-BD56-792E84BA50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prstClr val="white">
                <a:lumMod val="65000"/>
              </a:prstClr>
            </a:solidFill>
          </a:ln>
        </p:spPr>
      </p:pic>
    </p:spTree>
    <p:extLst>
      <p:ext uri="{BB962C8B-B14F-4D97-AF65-F5344CB8AC3E}">
        <p14:creationId xmlns:p14="http://schemas.microsoft.com/office/powerpoint/2010/main" val="389938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685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31706"/>
            <a:ext cx="19944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Topics </a:t>
            </a:r>
            <a:endParaRPr lang="en-US" sz="2400" dirty="0"/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Practice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28625" lvl="2"/>
            <a:endParaRPr lang="en-US" sz="2400" dirty="0"/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6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251DD-9690-C6A9-5387-18349EBC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5AF518-2ABE-6D6C-01A1-FF1E2071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8918438" cy="2852737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Grammar </a:t>
            </a:r>
            <a:r>
              <a:rPr lang="en-US">
                <a:ea typeface="Roboto Condensed Light" panose="02000000000000000000" pitchFamily="2" charset="0"/>
              </a:rPr>
              <a:t>Practice 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8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12622-201C-769D-D3BD-03D282CF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B31DDE-8FF3-1B5F-288E-268039C09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By the time the executive board convenes next Friday, the financial audit team </a:t>
            </a:r>
            <a:r>
              <a:rPr lang="en-IN" b="1" dirty="0"/>
              <a:t>______</a:t>
            </a:r>
            <a:r>
              <a:rPr lang="en-IN" dirty="0"/>
              <a:t> its review of the quarterly ledger.</a:t>
            </a:r>
          </a:p>
          <a:p>
            <a:pPr lvl="1"/>
            <a:r>
              <a:rPr lang="en-IN" dirty="0"/>
              <a:t>[Ans: will have completed / will have finalized / is going to have concluded]</a:t>
            </a:r>
          </a:p>
          <a:p>
            <a:pPr lvl="0"/>
            <a:r>
              <a:rPr lang="en-IN" dirty="0"/>
              <a:t>If the software engineering team </a:t>
            </a:r>
            <a:r>
              <a:rPr lang="en-IN" b="1" dirty="0"/>
              <a:t>______</a:t>
            </a:r>
            <a:r>
              <a:rPr lang="en-IN" dirty="0"/>
              <a:t> the memory leak during staging, the production server would not have crashed yesterday.</a:t>
            </a:r>
          </a:p>
          <a:p>
            <a:pPr lvl="1"/>
            <a:r>
              <a:rPr lang="en-IN" dirty="0"/>
              <a:t>[Ans: had caught / had identified / had detected]</a:t>
            </a:r>
          </a:p>
          <a:p>
            <a:pPr lvl="0"/>
            <a:r>
              <a:rPr lang="en-IN" dirty="0"/>
              <a:t>Convert to Passive: </a:t>
            </a:r>
            <a:r>
              <a:rPr lang="en-IN" i="1" dirty="0"/>
              <a:t>The technical lead is reviewing the backend security logs.</a:t>
            </a:r>
            <a:endParaRPr lang="en-IN" dirty="0"/>
          </a:p>
          <a:p>
            <a:pPr lvl="1"/>
            <a:r>
              <a:rPr lang="en-IN" dirty="0"/>
              <a:t>[Ans: The backend security logs are being reviewed by the technical lead.]</a:t>
            </a:r>
          </a:p>
          <a:p>
            <a:pPr lvl="0"/>
            <a:r>
              <a:rPr lang="en-IN" dirty="0"/>
              <a:t>Convert to Indirect Speech: </a:t>
            </a:r>
            <a:r>
              <a:rPr lang="en-IN" i="1" dirty="0"/>
              <a:t>The manager said, "We must submit the quarterly budget before 5 PM today."</a:t>
            </a:r>
            <a:endParaRPr lang="en-IN" dirty="0"/>
          </a:p>
          <a:p>
            <a:pPr lvl="1"/>
            <a:r>
              <a:rPr lang="en-IN" dirty="0"/>
              <a:t>[Ans: The manager stated that they had to submit the quarterly budget before 5 PM that day / The manager said that the team was required to submit the quarterly budget before 5 PM that day.]</a:t>
            </a:r>
          </a:p>
          <a:p>
            <a:pPr lvl="0"/>
            <a:r>
              <a:rPr lang="en-IN" dirty="0"/>
              <a:t>Identify the structural type </a:t>
            </a:r>
            <a:r>
              <a:rPr lang="en-IN" i="1" dirty="0"/>
              <a:t>Although the new feature passed all initial tests, the QA team requested an extra day for load testing, so the release was delayed.</a:t>
            </a:r>
            <a:endParaRPr lang="en-IN" dirty="0"/>
          </a:p>
          <a:p>
            <a:pPr lvl="1"/>
            <a:r>
              <a:rPr lang="en-IN" dirty="0"/>
              <a:t>[Ans: Compound-Complex Sentence]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E6C72B-825E-1295-FF49-9CDE64B7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4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A9DAD-8164-3510-52AD-170C05EF6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2626FD-6E3B-75AE-5903-5985A6A1B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By next December, our research division </a:t>
            </a:r>
            <a:r>
              <a:rPr lang="en-IN" b="1" dirty="0"/>
              <a:t>______</a:t>
            </a:r>
            <a:r>
              <a:rPr lang="en-IN" dirty="0"/>
              <a:t> on the quantum computing initiative for three years.</a:t>
            </a:r>
          </a:p>
          <a:p>
            <a:pPr lvl="1"/>
            <a:r>
              <a:rPr lang="en-IN" dirty="0"/>
              <a:t>[Ans: will have been working / will have been operating / will have been collaborating]</a:t>
            </a:r>
          </a:p>
          <a:p>
            <a:pPr lvl="0"/>
            <a:r>
              <a:rPr lang="en-IN" dirty="0"/>
              <a:t>Unless the client </a:t>
            </a:r>
            <a:r>
              <a:rPr lang="en-IN" b="1" dirty="0"/>
              <a:t>______</a:t>
            </a:r>
            <a:r>
              <a:rPr lang="en-IN" dirty="0"/>
              <a:t> the service contract by 5 PM today, the project start date will be deferred.</a:t>
            </a:r>
          </a:p>
          <a:p>
            <a:pPr lvl="1"/>
            <a:r>
              <a:rPr lang="en-IN" dirty="0"/>
              <a:t>[Ans: signs / approves / ratifies / endorses]</a:t>
            </a:r>
          </a:p>
          <a:p>
            <a:pPr lvl="0"/>
            <a:r>
              <a:rPr lang="en-IN" dirty="0"/>
              <a:t>Convert to Active: </a:t>
            </a:r>
            <a:r>
              <a:rPr lang="en-IN" i="1" dirty="0"/>
              <a:t>All unauthorized access attempts are immediately flagged by the security firewall.</a:t>
            </a:r>
            <a:endParaRPr lang="en-IN" dirty="0"/>
          </a:p>
          <a:p>
            <a:pPr lvl="1"/>
            <a:r>
              <a:rPr lang="en-IN" dirty="0"/>
              <a:t>[Ans: The security firewall immediately flags all unauthorized access attempts.]</a:t>
            </a:r>
          </a:p>
          <a:p>
            <a:pPr lvl="0"/>
            <a:r>
              <a:rPr lang="en-IN" dirty="0"/>
              <a:t>Convert to Direct Speech: </a:t>
            </a:r>
            <a:r>
              <a:rPr lang="en-IN" i="1" dirty="0"/>
              <a:t>She asked the senior engineer if the database migration had been completed on time.</a:t>
            </a:r>
            <a:endParaRPr lang="en-IN" dirty="0"/>
          </a:p>
          <a:p>
            <a:pPr lvl="1"/>
            <a:r>
              <a:rPr lang="en-IN" dirty="0"/>
              <a:t>[Ans: She asked the senior engineer, "Has the database migration been completed on time?" / She inquired, "Was the database migration completed on time?"]</a:t>
            </a:r>
          </a:p>
          <a:p>
            <a:pPr lvl="0"/>
            <a:r>
              <a:rPr lang="en-IN" dirty="0"/>
              <a:t>Identify the functional type - </a:t>
            </a:r>
            <a:r>
              <a:rPr lang="en-IN" i="1" dirty="0"/>
              <a:t>Please ensure all confidential files are encrypted prior to sending.</a:t>
            </a:r>
            <a:endParaRPr lang="en-IN" dirty="0"/>
          </a:p>
          <a:p>
            <a:pPr lvl="1"/>
            <a:r>
              <a:rPr lang="en-IN" dirty="0"/>
              <a:t>[Ans: Imperative Sentence]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A3F8B7-2124-7464-FB66-FB166DE6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666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32F5-9B02-0789-4C07-AB38A9AE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A973EC-F586-F696-608C-D9DCF375F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Rarely </a:t>
            </a:r>
            <a:r>
              <a:rPr lang="en-IN" b="1" dirty="0"/>
              <a:t>______</a:t>
            </a:r>
            <a:r>
              <a:rPr lang="en-IN" dirty="0"/>
              <a:t> a junior developer encounter such a complex concurrency issue during their first month.</a:t>
            </a:r>
          </a:p>
          <a:p>
            <a:pPr lvl="1"/>
            <a:r>
              <a:rPr lang="en-IN" dirty="0"/>
              <a:t>[Ans: does / will / has]</a:t>
            </a:r>
          </a:p>
          <a:p>
            <a:pPr lvl="0"/>
            <a:r>
              <a:rPr lang="en-IN" dirty="0"/>
              <a:t>If the firm </a:t>
            </a:r>
            <a:r>
              <a:rPr lang="en-IN" b="1" dirty="0"/>
              <a:t>______</a:t>
            </a:r>
            <a:r>
              <a:rPr lang="en-IN" dirty="0"/>
              <a:t> its operations into Europe, it would need to comply with GDPR regulations.</a:t>
            </a:r>
          </a:p>
          <a:p>
            <a:pPr lvl="1"/>
            <a:r>
              <a:rPr lang="en-IN" dirty="0"/>
              <a:t>[Ans: were to expand / expands / should expand]</a:t>
            </a:r>
          </a:p>
          <a:p>
            <a:pPr lvl="0"/>
            <a:r>
              <a:rPr lang="en-IN" dirty="0"/>
              <a:t>Convert to Passive: </a:t>
            </a:r>
            <a:r>
              <a:rPr lang="en-IN" i="1" dirty="0"/>
              <a:t>The company has deployed a new machine learning model to detect transaction fraud.</a:t>
            </a:r>
            <a:endParaRPr lang="en-IN" dirty="0"/>
          </a:p>
          <a:p>
            <a:pPr lvl="1"/>
            <a:r>
              <a:rPr lang="en-IN" dirty="0"/>
              <a:t>[Ans: A new machine learning model has been deployed by the company to detect transaction fraud.]</a:t>
            </a:r>
          </a:p>
          <a:p>
            <a:pPr lvl="0"/>
            <a:r>
              <a:rPr lang="en-IN" dirty="0"/>
              <a:t>Convert to Indirect Speech: </a:t>
            </a:r>
            <a:r>
              <a:rPr lang="en-IN" i="1" dirty="0"/>
              <a:t>He said, "I have been refactoring this module for three hours."</a:t>
            </a:r>
            <a:endParaRPr lang="en-IN" dirty="0"/>
          </a:p>
          <a:p>
            <a:pPr lvl="1"/>
            <a:r>
              <a:rPr lang="en-IN" dirty="0"/>
              <a:t>[Ans: He explained that he had been refactoring that module for three hours / He stated he had been refactoring the module for three hours.]</a:t>
            </a:r>
          </a:p>
          <a:p>
            <a:pPr lvl="0"/>
            <a:r>
              <a:rPr lang="en-IN" dirty="0"/>
              <a:t>Identify the structural type: </a:t>
            </a:r>
            <a:r>
              <a:rPr lang="en-IN" i="1" dirty="0"/>
              <a:t>The CEO delivered an inspiring keynote, and the shareholders applauded enthusiastically.</a:t>
            </a:r>
            <a:endParaRPr lang="en-IN" dirty="0"/>
          </a:p>
          <a:p>
            <a:pPr lvl="1"/>
            <a:r>
              <a:rPr lang="en-IN" dirty="0"/>
              <a:t>[Ans: Compound Sentence]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4E3FB7-4012-1395-6C58-97168EA3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48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7B5D-444A-B06B-0E9A-4B25F2F6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3B141A-C7A6-FB3C-220E-9C83AB87C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700642"/>
          </a:xfrm>
        </p:spPr>
        <p:txBody>
          <a:bodyPr/>
          <a:lstStyle/>
          <a:p>
            <a:pPr lvl="0"/>
            <a:r>
              <a:rPr lang="en-IN" dirty="0"/>
              <a:t>While the regional manager was presenting the quarterly figures, the primary network server </a:t>
            </a:r>
            <a:r>
              <a:rPr lang="en-IN" b="1" dirty="0"/>
              <a:t>______</a:t>
            </a:r>
            <a:r>
              <a:rPr lang="en-IN" dirty="0"/>
              <a:t> offline.</a:t>
            </a:r>
          </a:p>
          <a:p>
            <a:pPr lvl="1"/>
            <a:r>
              <a:rPr lang="en-IN" dirty="0"/>
              <a:t>[Ans: went / collapsed / shut down / failed]</a:t>
            </a:r>
          </a:p>
          <a:p>
            <a:pPr lvl="0"/>
            <a:r>
              <a:rPr lang="en-IN" dirty="0"/>
              <a:t>Had I known about the critical system vulnerability earlier, I </a:t>
            </a:r>
            <a:r>
              <a:rPr lang="en-IN" b="1" dirty="0"/>
              <a:t>______</a:t>
            </a:r>
            <a:r>
              <a:rPr lang="en-IN" dirty="0"/>
              <a:t> the security operations </a:t>
            </a:r>
            <a:r>
              <a:rPr lang="en-IN" dirty="0" err="1"/>
              <a:t>center</a:t>
            </a:r>
            <a:r>
              <a:rPr lang="en-IN" dirty="0"/>
              <a:t> immediately.</a:t>
            </a:r>
          </a:p>
          <a:p>
            <a:pPr lvl="1"/>
            <a:r>
              <a:rPr lang="en-IN" dirty="0"/>
              <a:t>[Ans: would have alerted / would have notified / would have informed]</a:t>
            </a:r>
          </a:p>
          <a:p>
            <a:pPr lvl="0"/>
            <a:r>
              <a:rPr lang="en-IN" dirty="0"/>
              <a:t>Convert to Active: </a:t>
            </a:r>
            <a:r>
              <a:rPr lang="en-IN" i="1" dirty="0"/>
              <a:t>The legacy codebase was rewritten by the development team over the weekend.</a:t>
            </a:r>
            <a:endParaRPr lang="en-IN" dirty="0"/>
          </a:p>
          <a:p>
            <a:pPr lvl="1"/>
            <a:r>
              <a:rPr lang="en-IN" dirty="0"/>
              <a:t>[Ans: The development team rewrote the legacy codebase over the weekend.]</a:t>
            </a:r>
          </a:p>
          <a:p>
            <a:pPr lvl="0"/>
            <a:r>
              <a:rPr lang="en-IN" dirty="0"/>
              <a:t>Convert to Indirect Speech: </a:t>
            </a:r>
            <a:r>
              <a:rPr lang="en-IN" i="1" dirty="0"/>
              <a:t>The auditor asked, "Why were these financial discrepancies not reported earlier?"</a:t>
            </a:r>
            <a:endParaRPr lang="en-IN" dirty="0"/>
          </a:p>
          <a:p>
            <a:pPr lvl="1"/>
            <a:r>
              <a:rPr lang="en-IN" dirty="0"/>
              <a:t>[Ans: The auditor inquired why those financial discrepancies had not been reported earlier.]</a:t>
            </a:r>
          </a:p>
          <a:p>
            <a:pPr lvl="0"/>
            <a:r>
              <a:rPr lang="en-IN" dirty="0"/>
              <a:t>Identify the functional type: </a:t>
            </a:r>
            <a:r>
              <a:rPr lang="en-IN" i="1" dirty="0"/>
              <a:t>What an extraordinary breakthrough this quantum algorithm is!</a:t>
            </a:r>
            <a:endParaRPr lang="en-IN" dirty="0"/>
          </a:p>
          <a:p>
            <a:pPr lvl="1"/>
            <a:r>
              <a:rPr lang="en-IN" dirty="0"/>
              <a:t>[Ans: Exclamatory Sentence]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F74D6B-EB14-0099-2387-F51404D62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09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1A96-ED04-E685-DDF6-AC91BB71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52A1D2-AE03-D0BA-3A67-91A4BEAA0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No sooner </a:t>
            </a:r>
            <a:r>
              <a:rPr lang="en-IN" b="1" dirty="0"/>
              <a:t>______</a:t>
            </a:r>
            <a:r>
              <a:rPr lang="en-IN" dirty="0"/>
              <a:t> the software update deployed than users began reporting unexpected layout glitches.</a:t>
            </a:r>
          </a:p>
          <a:p>
            <a:pPr lvl="1"/>
            <a:r>
              <a:rPr lang="en-IN" dirty="0"/>
              <a:t>[Ans: had / did]</a:t>
            </a:r>
          </a:p>
          <a:p>
            <a:pPr lvl="0"/>
            <a:r>
              <a:rPr lang="en-IN" dirty="0"/>
              <a:t>Provided that the server infrastructure </a:t>
            </a:r>
            <a:r>
              <a:rPr lang="en-IN" b="1" dirty="0"/>
              <a:t>______</a:t>
            </a:r>
            <a:r>
              <a:rPr lang="en-IN" dirty="0"/>
              <a:t> stable under stress testing, we will launch the platform on Monday.</a:t>
            </a:r>
          </a:p>
          <a:p>
            <a:pPr lvl="1"/>
            <a:r>
              <a:rPr lang="en-IN" dirty="0"/>
              <a:t>[Ans: remains / stays]</a:t>
            </a:r>
          </a:p>
          <a:p>
            <a:pPr lvl="0"/>
            <a:r>
              <a:rPr lang="en-IN" dirty="0"/>
              <a:t>Convert to Passive: </a:t>
            </a:r>
            <a:r>
              <a:rPr lang="en-IN" i="1" dirty="0"/>
              <a:t>The board will announce the name of the new CEO tomorrow morning.</a:t>
            </a:r>
            <a:endParaRPr lang="en-IN" dirty="0"/>
          </a:p>
          <a:p>
            <a:pPr lvl="1"/>
            <a:r>
              <a:rPr lang="en-IN" dirty="0"/>
              <a:t>[Ans: The name of the new CEO will be announced by the board tomorrow morning.]</a:t>
            </a:r>
          </a:p>
          <a:p>
            <a:pPr lvl="0"/>
            <a:r>
              <a:rPr lang="en-IN" dirty="0"/>
              <a:t>Convert to Direct Speech: </a:t>
            </a:r>
            <a:r>
              <a:rPr lang="en-IN" i="1" dirty="0"/>
              <a:t>The instructor told the students not to alter the core configuration settings.</a:t>
            </a:r>
            <a:endParaRPr lang="en-IN" dirty="0"/>
          </a:p>
          <a:p>
            <a:pPr lvl="1"/>
            <a:r>
              <a:rPr lang="en-IN" dirty="0"/>
              <a:t>[Ans: The instructor said to the students, "Do not alter the core configuration settings."]</a:t>
            </a:r>
          </a:p>
          <a:p>
            <a:pPr lvl="0"/>
            <a:r>
              <a:rPr lang="en-IN" dirty="0"/>
              <a:t>Identify the structural type: </a:t>
            </a:r>
            <a:r>
              <a:rPr lang="en-IN" i="1" dirty="0"/>
              <a:t>Because the server crashed during peak hours, the company suffered significant revenue loss.</a:t>
            </a:r>
            <a:endParaRPr lang="en-IN" dirty="0"/>
          </a:p>
          <a:p>
            <a:pPr lvl="1"/>
            <a:r>
              <a:rPr lang="en-IN" dirty="0"/>
              <a:t>[Ans: Complex Sentence]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01C003-DAA1-3C7A-EDEF-F1F0867C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14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1F622-2767-4851-3B4B-5B0B2A3E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C7FAD4-D406-BACE-1E2A-E16A1626C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The compliance officer </a:t>
            </a:r>
            <a:r>
              <a:rPr lang="en-IN" b="1" dirty="0"/>
              <a:t>______</a:t>
            </a:r>
            <a:r>
              <a:rPr lang="en-IN" dirty="0"/>
              <a:t> for the missing transaction records for hours before finally locating them in the secondary archive.</a:t>
            </a:r>
          </a:p>
          <a:p>
            <a:pPr lvl="1"/>
            <a:r>
              <a:rPr lang="en-IN" dirty="0"/>
              <a:t>[Ans: had been searching / had searched / was searching]</a:t>
            </a:r>
          </a:p>
          <a:p>
            <a:pPr lvl="0"/>
            <a:r>
              <a:rPr lang="en-IN" dirty="0"/>
              <a:t>If you </a:t>
            </a:r>
            <a:r>
              <a:rPr lang="en-IN" b="1" dirty="0"/>
              <a:t>______</a:t>
            </a:r>
            <a:r>
              <a:rPr lang="en-IN" dirty="0"/>
              <a:t> all the security benchmarks, the system will automatically grant administrative access.</a:t>
            </a:r>
          </a:p>
          <a:p>
            <a:pPr lvl="1"/>
            <a:r>
              <a:rPr lang="en-IN" dirty="0"/>
              <a:t>[Ans: meet / </a:t>
            </a:r>
            <a:r>
              <a:rPr lang="en-IN" dirty="0" err="1"/>
              <a:t>fulfill</a:t>
            </a:r>
            <a:r>
              <a:rPr lang="en-IN" dirty="0"/>
              <a:t> / satisfy]</a:t>
            </a:r>
          </a:p>
          <a:p>
            <a:pPr lvl="0"/>
            <a:r>
              <a:rPr lang="en-IN" dirty="0"/>
              <a:t>Convert to Active: </a:t>
            </a:r>
            <a:r>
              <a:rPr lang="en-IN" i="1" dirty="0"/>
              <a:t>A comprehensive safety audit is being conducted by the compliance team.</a:t>
            </a:r>
            <a:endParaRPr lang="en-IN" dirty="0"/>
          </a:p>
          <a:p>
            <a:pPr lvl="1"/>
            <a:r>
              <a:rPr lang="en-IN" dirty="0"/>
              <a:t>[Ans: The compliance team is conducting a comprehensive safety audit.]</a:t>
            </a:r>
          </a:p>
          <a:p>
            <a:pPr lvl="0"/>
            <a:r>
              <a:rPr lang="en-IN" dirty="0"/>
              <a:t>Convert to Indirect Speech: </a:t>
            </a:r>
            <a:r>
              <a:rPr lang="en-IN" i="1" dirty="0"/>
              <a:t>The candidate asked, "When will the final interview results be announced?"</a:t>
            </a:r>
            <a:endParaRPr lang="en-IN" dirty="0"/>
          </a:p>
          <a:p>
            <a:pPr lvl="1"/>
            <a:r>
              <a:rPr lang="en-IN" dirty="0"/>
              <a:t>[Ans: The candidate inquired when the final interview results would be announced.]</a:t>
            </a:r>
          </a:p>
          <a:p>
            <a:pPr lvl="0"/>
            <a:r>
              <a:rPr lang="en-IN" dirty="0"/>
              <a:t>Identify the functional type: </a:t>
            </a:r>
            <a:r>
              <a:rPr lang="en-IN" i="1" dirty="0"/>
              <a:t>Do you believe this cloud architecture will scale effectively under heavy load?</a:t>
            </a:r>
            <a:endParaRPr lang="en-IN" dirty="0"/>
          </a:p>
          <a:p>
            <a:pPr lvl="1"/>
            <a:r>
              <a:rPr lang="en-IN" dirty="0"/>
              <a:t>[Ans: Interrogative Sentence]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A02048-A8C8-13C6-4C2B-D11D4AD6A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137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CB8B3-B9EC-C970-CD6E-1F415125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2E0D7A-1DF3-9831-FE49-4426307F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By the time you receive this notification, your account credentials </a:t>
            </a:r>
            <a:r>
              <a:rPr lang="en-IN" b="1" dirty="0"/>
              <a:t>______</a:t>
            </a:r>
            <a:r>
              <a:rPr lang="en-IN" dirty="0"/>
              <a:t> updated in the primary directory.</a:t>
            </a:r>
          </a:p>
          <a:p>
            <a:pPr lvl="1"/>
            <a:r>
              <a:rPr lang="en-IN" dirty="0"/>
              <a:t>[Ans: will have been / will be]</a:t>
            </a:r>
          </a:p>
          <a:p>
            <a:pPr lvl="0"/>
            <a:r>
              <a:rPr lang="en-IN" dirty="0"/>
              <a:t>Were the company to face a sudden market downturn, it </a:t>
            </a:r>
            <a:r>
              <a:rPr lang="en-IN" b="1" dirty="0"/>
              <a:t>______</a:t>
            </a:r>
            <a:r>
              <a:rPr lang="en-IN" dirty="0"/>
              <a:t> on its cash reserves.</a:t>
            </a:r>
          </a:p>
          <a:p>
            <a:pPr lvl="1"/>
            <a:r>
              <a:rPr lang="en-IN" dirty="0"/>
              <a:t>[Ans: would rely / would fall back]</a:t>
            </a:r>
          </a:p>
          <a:p>
            <a:pPr lvl="0"/>
            <a:r>
              <a:rPr lang="en-IN" dirty="0"/>
              <a:t>Convert to Passive: </a:t>
            </a:r>
            <a:r>
              <a:rPr lang="en-IN" i="1" dirty="0"/>
              <a:t>The team had completed the UI design before the deadline.</a:t>
            </a:r>
            <a:endParaRPr lang="en-IN" dirty="0"/>
          </a:p>
          <a:p>
            <a:pPr lvl="1"/>
            <a:r>
              <a:rPr lang="en-IN" dirty="0"/>
              <a:t>[Ans: The UI design had been completed by the team before the deadline.]</a:t>
            </a:r>
          </a:p>
          <a:p>
            <a:pPr lvl="0"/>
            <a:r>
              <a:rPr lang="en-IN" dirty="0"/>
              <a:t>Convert to Indirect Speech: </a:t>
            </a:r>
            <a:r>
              <a:rPr lang="en-IN" i="1" dirty="0"/>
              <a:t>The team lead said to the developer, "Fix this critical bug immediately."</a:t>
            </a:r>
            <a:endParaRPr lang="en-IN" dirty="0"/>
          </a:p>
          <a:p>
            <a:pPr lvl="1"/>
            <a:r>
              <a:rPr lang="en-IN" dirty="0"/>
              <a:t>[Ans: The team lead ordered the developer to fix that critical bug immediately / The team lead instructed the developer to resolve the critical bug without delay.]</a:t>
            </a:r>
          </a:p>
          <a:p>
            <a:pPr lvl="0"/>
            <a:r>
              <a:rPr lang="en-IN" dirty="0"/>
              <a:t>Identify the structural type: </a:t>
            </a:r>
            <a:r>
              <a:rPr lang="en-IN" i="1" dirty="0"/>
              <a:t>The cybersecurity expert audited the network, but he found no vulnerabilities.</a:t>
            </a:r>
            <a:endParaRPr lang="en-IN" dirty="0"/>
          </a:p>
          <a:p>
            <a:pPr lvl="1"/>
            <a:r>
              <a:rPr lang="en-IN" dirty="0"/>
              <a:t>[Ans: Compound Sentence]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59C95E-96E2-250D-E763-02CFCF2D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53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1371D-4DBC-3221-42F2-1C657375C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A97014-BCDB-C8D0-9E32-E491E65ED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Scarcely </a:t>
            </a:r>
            <a:r>
              <a:rPr lang="en-IN" b="1" dirty="0"/>
              <a:t>______</a:t>
            </a:r>
            <a:r>
              <a:rPr lang="en-IN" dirty="0"/>
              <a:t> the system migration finished when a major power failure disrupted the server room.</a:t>
            </a:r>
          </a:p>
          <a:p>
            <a:pPr lvl="1"/>
            <a:r>
              <a:rPr lang="en-IN" dirty="0"/>
              <a:t>[Ans: had / did]</a:t>
            </a:r>
          </a:p>
          <a:p>
            <a:pPr lvl="0"/>
            <a:r>
              <a:rPr lang="en-IN" dirty="0"/>
              <a:t>Even if the vendor </a:t>
            </a:r>
            <a:r>
              <a:rPr lang="en-IN" b="1" dirty="0"/>
              <a:t>______</a:t>
            </a:r>
            <a:r>
              <a:rPr lang="en-IN" dirty="0"/>
              <a:t> the pricing model, we will still explore alternative options.</a:t>
            </a:r>
          </a:p>
          <a:p>
            <a:pPr lvl="1"/>
            <a:r>
              <a:rPr lang="en-IN" dirty="0"/>
              <a:t>[Ans: lowers / slashes / reduces]</a:t>
            </a:r>
          </a:p>
          <a:p>
            <a:pPr lvl="0"/>
            <a:r>
              <a:rPr lang="en-IN" dirty="0"/>
              <a:t>Convert to Active: </a:t>
            </a:r>
            <a:r>
              <a:rPr lang="en-IN" i="1" dirty="0"/>
              <a:t>The bug was fixed and tested by the QA specialist.</a:t>
            </a:r>
            <a:endParaRPr lang="en-IN" dirty="0"/>
          </a:p>
          <a:p>
            <a:pPr lvl="1"/>
            <a:r>
              <a:rPr lang="en-IN" dirty="0"/>
              <a:t>[Ans: The QA specialist fixed and tested the bug.]</a:t>
            </a:r>
          </a:p>
          <a:p>
            <a:pPr lvl="0"/>
            <a:r>
              <a:rPr lang="en-IN" dirty="0"/>
              <a:t>Convert to Direct Speech: </a:t>
            </a:r>
            <a:r>
              <a:rPr lang="en-IN" i="1" dirty="0"/>
              <a:t>She mentioned that she would be attending the tech conference in Berlin.</a:t>
            </a:r>
            <a:endParaRPr lang="en-IN" dirty="0"/>
          </a:p>
          <a:p>
            <a:pPr lvl="1"/>
            <a:r>
              <a:rPr lang="en-IN" dirty="0"/>
              <a:t>[Ans: She said, "I will be attending the tech conference in Berlin."]</a:t>
            </a:r>
          </a:p>
          <a:p>
            <a:pPr lvl="0"/>
            <a:r>
              <a:rPr lang="en-IN" dirty="0"/>
              <a:t>Identify the functional type: </a:t>
            </a:r>
            <a:r>
              <a:rPr lang="en-IN" i="1" dirty="0"/>
              <a:t>The system architecture requires a complete redesign to improve efficiency.</a:t>
            </a:r>
            <a:endParaRPr lang="en-IN" dirty="0"/>
          </a:p>
          <a:p>
            <a:pPr lvl="1"/>
            <a:r>
              <a:rPr lang="en-IN" dirty="0"/>
              <a:t>[Ans: Assertive / Declarative Sentence]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5D55FD-5A6B-EB89-C7D8-9AE87A7F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22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69DF-7242-B918-0C60-47D60EA67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F93DAE-F126-0314-712F-7C156EFDB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Before the end of the current fiscal quarter, the board </a:t>
            </a:r>
            <a:r>
              <a:rPr lang="en-IN" b="1" dirty="0"/>
              <a:t>______</a:t>
            </a:r>
            <a:r>
              <a:rPr lang="en-IN" dirty="0"/>
              <a:t> on the proposed acquisition.</a:t>
            </a:r>
          </a:p>
          <a:p>
            <a:pPr lvl="1"/>
            <a:r>
              <a:rPr lang="en-IN" dirty="0"/>
              <a:t>[Ans: will decide / will have decided / is set to decide]</a:t>
            </a:r>
          </a:p>
          <a:p>
            <a:pPr lvl="0"/>
            <a:r>
              <a:rPr lang="en-IN" dirty="0"/>
              <a:t>Should you </a:t>
            </a:r>
            <a:r>
              <a:rPr lang="en-IN" b="1" dirty="0"/>
              <a:t>______</a:t>
            </a:r>
            <a:r>
              <a:rPr lang="en-IN" dirty="0"/>
              <a:t> further assistance regarding your account, please contact technical support.</a:t>
            </a:r>
          </a:p>
          <a:p>
            <a:pPr lvl="1"/>
            <a:r>
              <a:rPr lang="en-IN" dirty="0"/>
              <a:t>[Ans: require / need / demand]</a:t>
            </a:r>
          </a:p>
          <a:p>
            <a:pPr lvl="0"/>
            <a:r>
              <a:rPr lang="en-IN" dirty="0"/>
              <a:t>Convert to Passive: </a:t>
            </a:r>
            <a:r>
              <a:rPr lang="en-IN" i="1" dirty="0"/>
              <a:t>They are building a state-of-the-art research facility in Hyderabad.</a:t>
            </a:r>
            <a:endParaRPr lang="en-IN" dirty="0"/>
          </a:p>
          <a:p>
            <a:pPr lvl="1"/>
            <a:r>
              <a:rPr lang="en-IN" dirty="0"/>
              <a:t>[Ans: A state-of-the-art research facility is being built in Hyderabad.]</a:t>
            </a:r>
          </a:p>
          <a:p>
            <a:pPr lvl="0"/>
            <a:r>
              <a:rPr lang="en-IN" dirty="0"/>
              <a:t>Convert to Indirect Speech: </a:t>
            </a:r>
            <a:r>
              <a:rPr lang="en-IN" i="1" dirty="0"/>
              <a:t>The director said, "What a remarkable performance the team delivered this year!"</a:t>
            </a:r>
            <a:endParaRPr lang="en-IN" dirty="0"/>
          </a:p>
          <a:p>
            <a:pPr lvl="1"/>
            <a:r>
              <a:rPr lang="en-IN" dirty="0"/>
              <a:t>[Ans: The director exclaimed with appreciation that the team had delivered a remarkable performance that year.]</a:t>
            </a:r>
          </a:p>
          <a:p>
            <a:pPr lvl="0"/>
            <a:r>
              <a:rPr lang="en-IN" dirty="0"/>
              <a:t>Identify the structural type: </a:t>
            </a:r>
            <a:r>
              <a:rPr lang="en-IN" i="1" dirty="0"/>
              <a:t>Although the client requested several last-minute changes, the developers adapted quickly, and the product was delivered on time.</a:t>
            </a:r>
            <a:endParaRPr lang="en-IN" dirty="0"/>
          </a:p>
          <a:p>
            <a:pPr lvl="1"/>
            <a:r>
              <a:rPr lang="en-IN" dirty="0"/>
              <a:t>[Ans: Compound-Complex Sentence]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131BF5-D618-9254-51C2-5AD5125C1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6292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47082-5713-D4CE-0DC1-16B60F67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984983-50AF-9DF7-1BC3-D03AA0679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The research team </a:t>
            </a:r>
            <a:r>
              <a:rPr lang="en-IN" b="1" dirty="0"/>
              <a:t>______</a:t>
            </a:r>
            <a:r>
              <a:rPr lang="en-IN" dirty="0"/>
              <a:t> consumer </a:t>
            </a:r>
            <a:r>
              <a:rPr lang="en-IN" dirty="0" err="1"/>
              <a:t>behavior</a:t>
            </a:r>
            <a:r>
              <a:rPr lang="en-IN" dirty="0"/>
              <a:t> data since the start of the quarter.</a:t>
            </a:r>
          </a:p>
          <a:p>
            <a:pPr lvl="1"/>
            <a:r>
              <a:rPr lang="en-IN" dirty="0"/>
              <a:t>[Ans: has been </a:t>
            </a:r>
            <a:r>
              <a:rPr lang="en-IN" dirty="0" err="1"/>
              <a:t>analyzing</a:t>
            </a:r>
            <a:r>
              <a:rPr lang="en-IN" dirty="0"/>
              <a:t> / has </a:t>
            </a:r>
            <a:r>
              <a:rPr lang="en-IN" dirty="0" err="1"/>
              <a:t>analyzed</a:t>
            </a:r>
            <a:r>
              <a:rPr lang="en-IN" dirty="0"/>
              <a:t> / is </a:t>
            </a:r>
            <a:r>
              <a:rPr lang="en-IN" dirty="0" err="1"/>
              <a:t>analyzing</a:t>
            </a:r>
            <a:r>
              <a:rPr lang="en-IN" dirty="0"/>
              <a:t>]</a:t>
            </a:r>
          </a:p>
          <a:p>
            <a:pPr lvl="0"/>
            <a:r>
              <a:rPr lang="en-IN" dirty="0"/>
              <a:t>If the system </a:t>
            </a:r>
            <a:r>
              <a:rPr lang="en-IN" b="1" dirty="0"/>
              <a:t>______</a:t>
            </a:r>
            <a:r>
              <a:rPr lang="en-IN" dirty="0"/>
              <a:t> regularly, the cyber intrusion would have been prevented.</a:t>
            </a:r>
          </a:p>
          <a:p>
            <a:pPr lvl="1"/>
            <a:r>
              <a:rPr lang="en-IN" dirty="0"/>
              <a:t>[Ans: had been patched / had been updated]</a:t>
            </a:r>
          </a:p>
          <a:p>
            <a:pPr lvl="0"/>
            <a:r>
              <a:rPr lang="en-IN" dirty="0"/>
              <a:t>Convert to Active: </a:t>
            </a:r>
            <a:r>
              <a:rPr lang="en-IN" i="1" dirty="0"/>
              <a:t>A new privacy policy has been drafted by the legal team.</a:t>
            </a:r>
            <a:endParaRPr lang="en-IN" dirty="0"/>
          </a:p>
          <a:p>
            <a:pPr lvl="1"/>
            <a:r>
              <a:rPr lang="en-IN" dirty="0"/>
              <a:t>[Ans: The legal team has drafted a new privacy policy.]</a:t>
            </a:r>
          </a:p>
          <a:p>
            <a:pPr lvl="0"/>
            <a:r>
              <a:rPr lang="en-IN" dirty="0"/>
              <a:t>Convert to Indirect Speech: </a:t>
            </a:r>
            <a:r>
              <a:rPr lang="en-IN" i="1" dirty="0"/>
              <a:t>The consultant asked, "Can we streamline this workflow further?"</a:t>
            </a:r>
            <a:endParaRPr lang="en-IN" dirty="0"/>
          </a:p>
          <a:p>
            <a:pPr lvl="1"/>
            <a:r>
              <a:rPr lang="en-IN" dirty="0"/>
              <a:t>[Ans: The consultant inquired whether they could streamline that workflow further.]</a:t>
            </a:r>
          </a:p>
          <a:p>
            <a:pPr lvl="0"/>
            <a:r>
              <a:rPr lang="en-IN" dirty="0"/>
              <a:t>Identify the functional type: </a:t>
            </a:r>
            <a:r>
              <a:rPr lang="en-IN" i="1" dirty="0"/>
              <a:t>Do not execute unverified scripts on the production server!</a:t>
            </a:r>
            <a:endParaRPr lang="en-IN" dirty="0"/>
          </a:p>
          <a:p>
            <a:pPr lvl="1"/>
            <a:r>
              <a:rPr lang="en-IN" dirty="0"/>
              <a:t>[Ans: Imperative Sentence]</a:t>
            </a:r>
          </a:p>
          <a:p>
            <a:pPr lvl="0"/>
            <a:r>
              <a:rPr lang="en-IN" dirty="0"/>
              <a:t>By 2028, the company </a:t>
            </a:r>
            <a:r>
              <a:rPr lang="en-IN" b="1" dirty="0"/>
              <a:t>______</a:t>
            </a:r>
            <a:r>
              <a:rPr lang="en-IN" dirty="0"/>
              <a:t> regional offices across five continents.</a:t>
            </a:r>
          </a:p>
          <a:p>
            <a:pPr lvl="1"/>
            <a:r>
              <a:rPr lang="en-IN" dirty="0"/>
              <a:t>[Ans: will have established / will establish / is going to establish]</a:t>
            </a:r>
          </a:p>
          <a:p>
            <a:pPr lvl="0"/>
            <a:r>
              <a:rPr lang="en-IN" dirty="0"/>
              <a:t>Supposing the server crash </a:t>
            </a:r>
            <a:r>
              <a:rPr lang="en-IN" b="1" dirty="0"/>
              <a:t>______</a:t>
            </a:r>
            <a:r>
              <a:rPr lang="en-IN" dirty="0"/>
              <a:t>, what backup protocol will the team activate?</a:t>
            </a:r>
          </a:p>
          <a:p>
            <a:pPr lvl="1"/>
            <a:r>
              <a:rPr lang="en-IN" dirty="0"/>
              <a:t>[Ans: recurs / happens again]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0839C8-D49E-4D6F-5146-9A36E440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6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0F40-1E8A-7CF8-D29D-971AAD7B9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086073-08B9-D491-E73D-96DB6E582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Convert to Passive: </a:t>
            </a:r>
            <a:r>
              <a:rPr lang="en-IN" i="1" dirty="0"/>
              <a:t>The system administrator will revoke all expired user credentials by midnight.</a:t>
            </a:r>
            <a:endParaRPr lang="en-IN" dirty="0"/>
          </a:p>
          <a:p>
            <a:pPr lvl="1"/>
            <a:r>
              <a:rPr lang="en-IN" dirty="0"/>
              <a:t>[Ans: All expired user credentials will be revoked by the system administrator by midnight.]</a:t>
            </a:r>
          </a:p>
          <a:p>
            <a:pPr lvl="0"/>
            <a:r>
              <a:rPr lang="en-IN" dirty="0"/>
              <a:t>Convert to Direct Speech: </a:t>
            </a:r>
            <a:r>
              <a:rPr lang="en-IN" i="1" dirty="0"/>
              <a:t>He asked me whether I had verified the API endpoints.</a:t>
            </a:r>
            <a:endParaRPr lang="en-IN" dirty="0"/>
          </a:p>
          <a:p>
            <a:pPr lvl="1"/>
            <a:r>
              <a:rPr lang="en-IN" dirty="0"/>
              <a:t>[Ans: He asked me, "Have you verified the API endpoints?"]</a:t>
            </a:r>
          </a:p>
          <a:p>
            <a:pPr lvl="0"/>
            <a:r>
              <a:rPr lang="en-IN" dirty="0"/>
              <a:t>Identify the structural type: </a:t>
            </a:r>
            <a:r>
              <a:rPr lang="en-IN" i="1" dirty="0"/>
              <a:t>The mobile application features an intuitive interface.</a:t>
            </a:r>
            <a:endParaRPr lang="en-IN" dirty="0"/>
          </a:p>
          <a:p>
            <a:pPr lvl="1"/>
            <a:r>
              <a:rPr lang="en-IN" dirty="0"/>
              <a:t>[Ans: Simple Sentence]</a:t>
            </a:r>
          </a:p>
          <a:p>
            <a:pPr lvl="0"/>
            <a:r>
              <a:rPr lang="en-IN" dirty="0"/>
              <a:t>The team </a:t>
            </a:r>
            <a:r>
              <a:rPr lang="en-IN" b="1" dirty="0"/>
              <a:t>______</a:t>
            </a:r>
            <a:r>
              <a:rPr lang="en-IN" dirty="0"/>
              <a:t> the legacy code when the project manager announced a change in requirements.</a:t>
            </a:r>
          </a:p>
          <a:p>
            <a:pPr lvl="1"/>
            <a:r>
              <a:rPr lang="en-IN" dirty="0"/>
              <a:t>[Ans: was refactoring / had been refactoring]</a:t>
            </a:r>
          </a:p>
          <a:p>
            <a:pPr lvl="0"/>
            <a:r>
              <a:rPr lang="en-IN" dirty="0"/>
              <a:t>As long as all stakeholders </a:t>
            </a:r>
            <a:r>
              <a:rPr lang="en-IN" b="1" dirty="0"/>
              <a:t>______ </a:t>
            </a:r>
            <a:r>
              <a:rPr lang="en-IN" dirty="0"/>
              <a:t>, the contract will be executed tomorrow.</a:t>
            </a:r>
          </a:p>
          <a:p>
            <a:pPr lvl="1"/>
            <a:r>
              <a:rPr lang="en-IN" dirty="0"/>
              <a:t>[Ans: agree / consent / align]</a:t>
            </a:r>
          </a:p>
          <a:p>
            <a:pPr lvl="0"/>
            <a:r>
              <a:rPr lang="en-IN" dirty="0"/>
              <a:t>Convert to Active: </a:t>
            </a:r>
            <a:r>
              <a:rPr lang="en-IN" i="1" dirty="0"/>
              <a:t>The novel algorithm was developed by a team of data scientists in Bengaluru.</a:t>
            </a:r>
            <a:endParaRPr lang="en-IN" dirty="0"/>
          </a:p>
          <a:p>
            <a:pPr lvl="1"/>
            <a:r>
              <a:rPr lang="en-IN" dirty="0"/>
              <a:t>[Ans: A team of data scientists in Bengaluru developed the novel algorithm.]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CA3661-ED9A-8486-9FF4-CCB0016B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148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7DB3-5F76-6459-8FE8-8C76F413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DCD6F5-C248-0ECC-26A7-936B35D35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Convert to Indirect Speech: </a:t>
            </a:r>
            <a:r>
              <a:rPr lang="en-IN" i="1" dirty="0"/>
              <a:t>She said, "Let us review the security metrics before making a final decision."</a:t>
            </a:r>
            <a:endParaRPr lang="en-IN" dirty="0"/>
          </a:p>
          <a:p>
            <a:pPr lvl="1"/>
            <a:r>
              <a:rPr lang="en-IN" dirty="0"/>
              <a:t>[Ans: She suggested that they review the security metrics before making a final decision / She proposed reviewing the security metrics prior to reaching a final decision.]</a:t>
            </a:r>
          </a:p>
          <a:p>
            <a:pPr lvl="0"/>
            <a:r>
              <a:rPr lang="en-IN" dirty="0"/>
              <a:t>Identify the functional type: </a:t>
            </a:r>
            <a:r>
              <a:rPr lang="en-IN" i="1" dirty="0"/>
              <a:t>How efficiently this automated pipeline processes incoming data!</a:t>
            </a:r>
            <a:endParaRPr lang="en-IN" dirty="0"/>
          </a:p>
          <a:p>
            <a:pPr lvl="1"/>
            <a:r>
              <a:rPr lang="en-IN" dirty="0"/>
              <a:t>[Ans: Exclamatory Sentence]</a:t>
            </a:r>
          </a:p>
          <a:p>
            <a:pPr lvl="0"/>
            <a:r>
              <a:rPr lang="en-IN" dirty="0"/>
              <a:t>Hardship and dedication </a:t>
            </a:r>
            <a:r>
              <a:rPr lang="en-IN" b="1" dirty="0"/>
              <a:t>______</a:t>
            </a:r>
            <a:r>
              <a:rPr lang="en-IN" dirty="0"/>
              <a:t> the career path of many successful entrepreneurs.</a:t>
            </a:r>
          </a:p>
          <a:p>
            <a:pPr lvl="1"/>
            <a:r>
              <a:rPr lang="en-IN" dirty="0"/>
              <a:t>[Ans: have defined / define / defined]</a:t>
            </a:r>
          </a:p>
          <a:p>
            <a:pPr lvl="0"/>
            <a:r>
              <a:rPr lang="en-IN" dirty="0"/>
              <a:t>But for your timely guidance, the project </a:t>
            </a:r>
            <a:r>
              <a:rPr lang="en-IN" b="1" dirty="0"/>
              <a:t>______</a:t>
            </a:r>
            <a:r>
              <a:rPr lang="en-IN" dirty="0"/>
              <a:t> completely.</a:t>
            </a:r>
          </a:p>
          <a:p>
            <a:pPr lvl="1"/>
            <a:r>
              <a:rPr lang="en-IN" dirty="0"/>
              <a:t>[Ans: would have failed / would have stalled / would have suffered]</a:t>
            </a:r>
          </a:p>
          <a:p>
            <a:pPr lvl="0"/>
            <a:r>
              <a:rPr lang="en-IN" dirty="0"/>
              <a:t>Convert to Passive: </a:t>
            </a:r>
            <a:r>
              <a:rPr lang="en-IN" i="1" dirty="0"/>
              <a:t>The CEO addressed the concerns of the employees during the town hall.</a:t>
            </a:r>
            <a:endParaRPr lang="en-IN" dirty="0"/>
          </a:p>
          <a:p>
            <a:pPr lvl="1"/>
            <a:r>
              <a:rPr lang="en-IN" dirty="0"/>
              <a:t>[Ans: The concerns of the employees were addressed by the CEO during the town hall.]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029A02-52D6-5B24-54F9-3C4010AB6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07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E3ED5-CAF7-731B-0C6B-EDCB36C4F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27369A-8D06-0022-18F1-3ACD9BFD3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 lvl="0"/>
            <a:r>
              <a:rPr lang="en-IN" dirty="0"/>
              <a:t>Convert to Indirect Speech: </a:t>
            </a:r>
            <a:r>
              <a:rPr lang="en-IN" i="1" dirty="0"/>
              <a:t>The officer said, "Do you have permission to access these restricted files?"</a:t>
            </a:r>
            <a:endParaRPr lang="en-IN" dirty="0"/>
          </a:p>
          <a:p>
            <a:pPr lvl="1"/>
            <a:r>
              <a:rPr lang="en-IN" dirty="0"/>
              <a:t>[Ans: The officer asked if I had permission to access those restricted files.]</a:t>
            </a:r>
          </a:p>
          <a:p>
            <a:pPr lvl="0"/>
            <a:r>
              <a:rPr lang="en-IN" dirty="0"/>
              <a:t>Identify the structural type: </a:t>
            </a:r>
            <a:r>
              <a:rPr lang="en-IN" i="1" dirty="0"/>
              <a:t>Since the system upgrade was successful, performance improved dramatically.</a:t>
            </a:r>
            <a:endParaRPr lang="en-IN" dirty="0"/>
          </a:p>
          <a:p>
            <a:pPr lvl="1"/>
            <a:r>
              <a:rPr lang="en-IN" dirty="0"/>
              <a:t>[Ans: Complex Sentence]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68EBC5-B201-71F4-3246-302E1EC02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13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i="1" dirty="0"/>
              <a:t>Thank You</a:t>
            </a:r>
            <a:endParaRPr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23477</TotalTime>
  <Words>2036</Words>
  <Application>Microsoft Office PowerPoint</Application>
  <PresentationFormat>Widescreen</PresentationFormat>
  <Paragraphs>159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Roboto</vt:lpstr>
      <vt:lpstr>Calibri</vt:lpstr>
      <vt:lpstr>Wingdings 3</vt:lpstr>
      <vt:lpstr>Roboto Condensed Light</vt:lpstr>
      <vt:lpstr>Wingdings</vt:lpstr>
      <vt:lpstr>Arial</vt:lpstr>
      <vt:lpstr>Roboto Condensed</vt:lpstr>
      <vt:lpstr>1_Office Theme</vt:lpstr>
      <vt:lpstr>Grammar  Practice II</vt:lpstr>
      <vt:lpstr>PowerPoint Presentation</vt:lpstr>
      <vt:lpstr>Grammar Practice II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Chauhan</dc:creator>
  <cp:lastModifiedBy>prashant chauhan</cp:lastModifiedBy>
  <cp:revision>2278</cp:revision>
  <dcterms:created xsi:type="dcterms:W3CDTF">2020-06-11T07:03:50Z</dcterms:created>
  <dcterms:modified xsi:type="dcterms:W3CDTF">2026-08-07T03:56:01Z</dcterms:modified>
</cp:coreProperties>
</file>