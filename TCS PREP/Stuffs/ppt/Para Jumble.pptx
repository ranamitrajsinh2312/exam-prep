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38"/>
  </p:notesMasterIdLst>
  <p:handoutMasterIdLst>
    <p:handoutMasterId r:id="rId39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9" r:id="rId8"/>
    <p:sldId id="750" r:id="rId9"/>
    <p:sldId id="751" r:id="rId10"/>
    <p:sldId id="752" r:id="rId11"/>
    <p:sldId id="753" r:id="rId12"/>
    <p:sldId id="754" r:id="rId13"/>
    <p:sldId id="755" r:id="rId14"/>
    <p:sldId id="756" r:id="rId15"/>
    <p:sldId id="757" r:id="rId16"/>
    <p:sldId id="758" r:id="rId17"/>
    <p:sldId id="759" r:id="rId18"/>
    <p:sldId id="760" r:id="rId19"/>
    <p:sldId id="761" r:id="rId20"/>
    <p:sldId id="762" r:id="rId21"/>
    <p:sldId id="763" r:id="rId22"/>
    <p:sldId id="764" r:id="rId23"/>
    <p:sldId id="765" r:id="rId24"/>
    <p:sldId id="766" r:id="rId25"/>
    <p:sldId id="767" r:id="rId26"/>
    <p:sldId id="768" r:id="rId27"/>
    <p:sldId id="769" r:id="rId28"/>
    <p:sldId id="770" r:id="rId29"/>
    <p:sldId id="771" r:id="rId30"/>
    <p:sldId id="772" r:id="rId31"/>
    <p:sldId id="773" r:id="rId32"/>
    <p:sldId id="774" r:id="rId33"/>
    <p:sldId id="775" r:id="rId34"/>
    <p:sldId id="776" r:id="rId35"/>
    <p:sldId id="777" r:id="rId36"/>
    <p:sldId id="337" r:id="rId37"/>
  </p:sldIdLst>
  <p:sldSz cx="12192000" cy="6858000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  <p:embeddedFont>
      <p:font typeface="Roboto Condensed" panose="02000000000000000000" pitchFamily="2" charset="0"/>
      <p:regular r:id="rId49"/>
      <p:bold r:id="rId50"/>
      <p:italic r:id="rId51"/>
      <p:boldItalic r:id="rId52"/>
    </p:embeddedFont>
    <p:embeddedFont>
      <p:font typeface="Roboto Condensed Light" panose="02000000000000000000" pitchFamily="2" charset="0"/>
      <p:regular r:id="rId53"/>
      <p:italic r:id="rId54"/>
    </p:embeddedFont>
    <p:embeddedFont>
      <p:font typeface="Wingdings 3" panose="05040102010807070707" pitchFamily="18" charset="2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pmm9VqJgCQHkmzMvpkWRZg==" hashData="b515DxnvmwP7pED83MggHLY0YR4pzUC5NEtKz8hA04q0kFAC91ze68mBmsb3m4YMNcMnB1j/l4zKJXexuEuj6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Para Jumble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Tips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Para Jumble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B31DDE-8FF3-1B5F-288E-268039C09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2060820" cy="5590565"/>
              </a:xfrm>
            </p:spPr>
            <p:txBody>
              <a:bodyPr/>
              <a:lstStyle/>
              <a:p>
                <a:pPr lvl="0"/>
                <a:r>
                  <a:rPr lang="en-IN" b="1" dirty="0"/>
                  <a:t>Find the Opening Sentence (Independent Sentence):</a:t>
                </a:r>
                <a:endParaRPr lang="en-IN" dirty="0"/>
              </a:p>
              <a:p>
                <a:pPr lvl="1"/>
                <a:r>
                  <a:rPr lang="en-IN" dirty="0"/>
                  <a:t>The first sentence is usually a general statement, introduces a main topic/noun, or sets a background.</a:t>
                </a:r>
              </a:p>
              <a:p>
                <a:pPr lvl="1"/>
                <a:r>
                  <a:rPr lang="en-IN" b="1" dirty="0"/>
                  <a:t>Red Flags (Cannot be the 1st sentence):</a:t>
                </a:r>
                <a:r>
                  <a:rPr lang="en-IN" dirty="0"/>
                  <a:t> Sentences starting with pronouns (</a:t>
                </a:r>
                <a:r>
                  <a:rPr lang="en-IN" i="1" dirty="0"/>
                  <a:t>he, she, it, they</a:t>
                </a:r>
                <a:r>
                  <a:rPr lang="en-IN" dirty="0"/>
                  <a:t>), transition words (</a:t>
                </a:r>
                <a:r>
                  <a:rPr lang="en-IN" i="1" dirty="0"/>
                  <a:t>however, therefore, furthermore, as a result</a:t>
                </a:r>
                <a:r>
                  <a:rPr lang="en-IN" dirty="0"/>
                  <a:t>), or demonstratives (</a:t>
                </a:r>
                <a:r>
                  <a:rPr lang="en-IN" i="1" dirty="0"/>
                  <a:t>this, these, that</a:t>
                </a:r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Identify Mandatory Pairs (Connections between sentences):</a:t>
                </a:r>
                <a:endParaRPr lang="en-IN" dirty="0"/>
              </a:p>
              <a:p>
                <a:pPr lvl="1"/>
                <a:r>
                  <a:rPr lang="en-IN" b="1" dirty="0"/>
                  <a:t>Noun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Pronoun:</a:t>
                </a:r>
                <a:r>
                  <a:rPr lang="en-IN" dirty="0"/>
                  <a:t> A sentence introducing a noun (</a:t>
                </a:r>
                <a:r>
                  <a:rPr lang="en-IN" i="1" dirty="0"/>
                  <a:t>e.g., "Dr. Kalam..."</a:t>
                </a:r>
                <a:r>
                  <a:rPr lang="en-IN" dirty="0"/>
                  <a:t>) will always come BEFORE a sentence using its pronoun (</a:t>
                </a:r>
                <a:r>
                  <a:rPr lang="en-IN" i="1" dirty="0"/>
                  <a:t>e.g., "He was..."</a:t>
                </a:r>
                <a:r>
                  <a:rPr lang="en-IN" dirty="0"/>
                  <a:t>).</a:t>
                </a:r>
              </a:p>
              <a:p>
                <a:pPr lvl="1"/>
                <a:r>
                  <a:rPr lang="en-IN" b="1" dirty="0"/>
                  <a:t>Full Name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Short Name:</a:t>
                </a:r>
                <a:r>
                  <a:rPr lang="en-IN" dirty="0"/>
                  <a:t> </a:t>
                </a:r>
                <a:r>
                  <a:rPr lang="en-IN" i="1" dirty="0"/>
                  <a:t>"Albert Einstein"</a:t>
                </a:r>
                <a:r>
                  <a:rPr lang="en-IN" dirty="0"/>
                  <a:t> comes before </a:t>
                </a:r>
                <a:r>
                  <a:rPr lang="en-IN" i="1" dirty="0"/>
                  <a:t>"Einstein"</a:t>
                </a:r>
                <a:r>
                  <a:rPr lang="en-IN" dirty="0"/>
                  <a:t>.</a:t>
                </a:r>
              </a:p>
              <a:p>
                <a:pPr lvl="1"/>
                <a:r>
                  <a:rPr lang="en-IN" b="1" dirty="0"/>
                  <a:t>Chronology / Cause &amp; Effect:</a:t>
                </a:r>
                <a:r>
                  <a:rPr lang="en-IN" dirty="0"/>
                  <a:t> Actions happen in time order (Past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Present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Future), or an event occurs before its consequence (</a:t>
                </a:r>
                <a:r>
                  <a:rPr lang="en-IN" i="1" dirty="0"/>
                  <a:t>Because X happened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Y occurred</a:t>
                </a:r>
                <a:r>
                  <a:rPr lang="en-IN" dirty="0"/>
                  <a:t>).</a:t>
                </a:r>
              </a:p>
              <a:p>
                <a:pPr lvl="1"/>
                <a:r>
                  <a:rPr lang="en-IN" b="1" dirty="0"/>
                  <a:t>General to Specific:</a:t>
                </a:r>
                <a:r>
                  <a:rPr lang="en-IN" dirty="0"/>
                  <a:t> A broad statement (</a:t>
                </a:r>
                <a:r>
                  <a:rPr lang="en-IN" i="1" dirty="0"/>
                  <a:t>"Technology has transformed businesses"</a:t>
                </a:r>
                <a:r>
                  <a:rPr lang="en-IN" dirty="0"/>
                  <a:t>) comes before specific details (</a:t>
                </a:r>
                <a:r>
                  <a:rPr lang="en-IN" i="1" dirty="0"/>
                  <a:t>"AI tools now handle customer service"</a:t>
                </a:r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Look for Transition Words / Signal Words:</a:t>
                </a:r>
                <a:endParaRPr lang="en-IN" dirty="0"/>
              </a:p>
              <a:p>
                <a:pPr lvl="1"/>
                <a:r>
                  <a:rPr lang="en-IN" b="1" dirty="0"/>
                  <a:t>Addition:</a:t>
                </a:r>
                <a:r>
                  <a:rPr lang="en-IN" dirty="0"/>
                  <a:t> </a:t>
                </a:r>
                <a:r>
                  <a:rPr lang="en-IN" i="1" dirty="0"/>
                  <a:t>Furthermore, moreover, in addition, also</a:t>
                </a:r>
                <a:r>
                  <a:rPr lang="en-IN" dirty="0"/>
                  <a:t> (Must follow an existing idea).</a:t>
                </a:r>
              </a:p>
              <a:p>
                <a:pPr lvl="1"/>
                <a:r>
                  <a:rPr lang="en-IN" b="1" dirty="0"/>
                  <a:t>Contrast:</a:t>
                </a:r>
                <a:r>
                  <a:rPr lang="en-IN" dirty="0"/>
                  <a:t> </a:t>
                </a:r>
                <a:r>
                  <a:rPr lang="en-IN" i="1" dirty="0"/>
                  <a:t>However, but, on the other hand, nonetheless</a:t>
                </a:r>
                <a:r>
                  <a:rPr lang="en-IN" dirty="0"/>
                  <a:t> (Connects two opposing ideas).</a:t>
                </a:r>
              </a:p>
              <a:p>
                <a:pPr lvl="1"/>
                <a:r>
                  <a:rPr lang="en-IN" b="1" dirty="0"/>
                  <a:t>Conclusion:</a:t>
                </a:r>
                <a:r>
                  <a:rPr lang="en-IN" dirty="0"/>
                  <a:t> </a:t>
                </a:r>
                <a:r>
                  <a:rPr lang="en-IN" i="1" dirty="0"/>
                  <a:t>Therefore, thus, hence, in conclusion</a:t>
                </a:r>
                <a:r>
                  <a:rPr lang="en-IN" dirty="0"/>
                  <a:t> (Usually near the end).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B31DDE-8FF3-1B5F-288E-268039C09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2060820" cy="5590565"/>
              </a:xfrm>
              <a:blipFill>
                <a:blip r:embed="rId2"/>
                <a:stretch>
                  <a:fillRect l="-708" t="-1418" r="-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9DAD-8164-3510-52AD-170C05EF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626FD-6E3B-75AE-5903-5985A6A1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Find the Closing Sentence:</a:t>
            </a:r>
            <a:endParaRPr lang="en-IN" dirty="0"/>
          </a:p>
          <a:p>
            <a:pPr lvl="1"/>
            <a:r>
              <a:rPr lang="en-IN" dirty="0"/>
              <a:t>Look for a sentence that summarizes the main point, states a final result, or offers a concluding thought.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3F8B7-2124-7464-FB66-FB166DE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6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2F5-9B02-0789-4C07-AB38A9AE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973EC-F586-F696-608C-D9DCF375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However, without proper planning, these rapid changes can cause confusion among employees.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Digital transformation has become a top priority for modern enterprises.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Therefore, leadership must communicate the vision clearly to ensure a smooth transition.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Companies are adopting cloud computing and AI tools to increase efficiency.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E3FB7-4012-1395-6C58-97168EA3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4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7B5D-444A-B06B-0E9A-4B25F2F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B141A-C7A6-FB3C-220E-9C83AB87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He noticed that many small business owners struggled to keep track of their daily expenses.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Today, his mobile application is used by over a million small vendors across the country.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To solve this, he developed a simple, user-friendly accounting app.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Rahul started his career as a freelance software developer in Pune.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D – A – C – B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F74D6B-EB14-0099-2387-F51404D6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9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1A96-ED04-E685-DDF6-AC91BB71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2A1D2-AE03-D0BA-3A67-91A4BEAA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3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As a result, productivity drops and team members experience physical and mental fatigue.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While working extra hours may seem necessary during project deadlines, long-term overwork leads to burnout.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Organizations must encourage regular breaks and enforce clear boundaries between work and personal life.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Continuous stress without recovery time impairs a person's decision-making abilities.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1C003-DAA1-3C7A-EDEF-F1F0867C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4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F622-2767-4851-3B4B-5B0B2A3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7FAD4-D406-BACE-1E2A-E16A1626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4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These attacks often trick employees into revealing sensitive corporate passwords.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Phishing remains one of the most common cyber threats facing organizations today.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Consequently, regular cybersecurity training is essential to help staff identify suspicious emails.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Attackers usually send fake messages that mimic legitimate communications from banks or managers.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02048-A8C8-13C6-4C2B-D11D4AD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3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B8B3-B9EC-C970-CD6E-1F415125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E0D7A-1DF3-9831-FE49-4426307F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5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On the other hand, passive listening often leads to misunderstandings and missed project details.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Effective communication requires both active listening and clear expression.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When team members listen attentively, they can identify problems early and collaborate better.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Thus, developing strong listening habits is vital for professional success.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C – A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59C95E-96E2-250D-E763-02CFCF2D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5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371D-4DBC-3221-42F2-1C657375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97014-BCDB-C8D0-9E32-E491E65E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6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This continuous feedback loop helps developers fix bugs before the software reaches customers.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In traditional software development, testing occurred only after the entire application was built.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Modern teams, however, integrate automated testing throughout the development process.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This older approach frequently delayed releases due to last-minute bug discoveries.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C – A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5D55FD-5A6B-EB89-C7D8-9AE87A7F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082-5713-D4CE-0DC1-16B60F67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984983-50AF-9DF7-1BC3-D03AA067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7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It allows employees to work from anywhere while maintaining flexible daily schedules.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Nevertheless, remote work requires strong self-discipline to avoid distractions at home.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Without clear time management, the line between personal life and professional duties becomes blurred.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Remote work has fundamentally altered how modern companies operate.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D – A – B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0839C8-D49E-4D6F-5146-9A36E440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B255-2EEB-3DB3-8765-739A0D9D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2B03C3-63BF-9D72-278A-E731B2475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8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 board of directors reviewed the proposal during their quarterly meeting.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After a lengthy debate, they voted unanimously to approve the expansion budget.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 marketing team submitted a detailed plan to expand operations into European markets.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This funding will allow the company to establish regional offices in London and Berlin.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C – A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365465-FDF7-D7CC-49FA-8A75B96F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13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90F4-6C8F-24DB-2D1E-B8C9952A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FDE04-5AE3-5146-0053-F53FCB7A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9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Plastic waste takes hundreds of years to decompose in natural environments.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Consequently, marine life suffers severe harm as toxic microplastics contaminate the food chain.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Millions of tons of single-use plastic end up in oceans every year.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Switching to biodegradable materials is therefore critical for environmental preservation.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C – A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5903B7-78C3-340B-562D-7A04133C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18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C1B5-0E67-4483-927A-41B467B7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0D836E-7F26-7DAC-49B1-853CEEED6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10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This makes it difficult for consumers to distinguish between authentic reviews and paid promotions.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E-commerce platforms rely heavily on customer ratings to build buyer trust.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To combat this issue, platforms are deploying AI algorithms to detect fake testimonials.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However, many sellers attempt to manipulate rankings by purchasing fake positive reviews.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F2B81E-EBD2-2B84-778E-F8C45994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61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242DA-2EA7-7012-C1AD-5A6D3688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8FB168-E621-2105-B87C-30D42141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11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Renewable energy sources, such as solar and wind power, are growing rapidly.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Furthermore, government subsidies have made installing solar panels far more affordable.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This growth is largely driven by falling technology costs over the past decade.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As a result, clean energy is becoming a viable alternative to fossil fuels worldwide.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A – C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BC068-F91D-6383-732B-CDBB5F9A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77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94B5-6DB6-71C1-672B-20FCA48F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7DD8D-C207-B443-313A-F473912D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12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Unclear requirements can cause developers to build features that do not meet client needs.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Clear project specifications are essential before writing any lines of code.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Investing time in requirements gathering early saves money and avoids rework later.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Such misalignments lead to costly revisions and missed delivery deadlines.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A – D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E447BB-2F94-428A-E944-FF20839B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1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58B01-3989-D822-21D8-C5CAA3E2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24DFBD-0C66-A92C-9E95-F94B38CD0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13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Over time, these small savings accumulate into a substantial financial safety net.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Building an emergency fund is a critical step in personal financial planning.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Financial experts recommend setting aside a small percentage of monthly income automatically.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This fund provides peace of mind during unexpected life events like job loss or medical emergencies.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C – A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AEE0B5-C2F1-A69F-B36D-2F61BFF6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93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1D0A-3836-6C72-C817-541482E5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D9415F-9F1D-9154-6669-4EDA9F9A5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14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 candidate prepared thoroughly by studying the company's recent product launches.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Her detailed knowledge of the firm impressed the interviewing panel immensely.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Shortly after the final round, she received a formal job offer letter.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During the interview, she answered complex technical questions with complete confidence.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A – D – B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55FF2B-CD1F-67F6-3F37-71F25FFF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832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E9FB-9DEF-FE52-09D6-A3248080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C29D5D-0651-AC2D-54F6-40539FF2D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15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However, improperly managed data collection poses severe threats to user privacy.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Data has become the most valuable asset for modern tech organizations.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Therefore, governments are enforcing stricter regulations like GDPR to safeguard personal information.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Companies use consumer data to personalize services and optimize their operational decisions.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5EC6EA-F1EC-C64F-1B8A-F5277294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23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3F7D7-8E5C-E1EA-2357-5FC279CB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BC7471-5D5C-FB46-B7FC-597B1F523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16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Frequent breaks allow the mind to process information and refresh cognitive focus.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Studying for hours without interruption actually decreases information retention.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 Pomodoro technique, for instance, recommends 25 minutes of study followed by a 5-minute rest.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Adopting this structured approach prevents mental burnout during long exam preparations.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A – C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DF451C-4703-6101-ABBC-C135BC7F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66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856C-E5DD-51B9-A5D0-4CD22565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BE4537-1232-5B66-7ED5-15F226181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17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 company launched a new software product last month.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Due to these technical glitches, user ratings dropped sharply in the first two weeks.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However, initial users reported frequent application crashes and slow loading times.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The engineering team immediately released a patch to resolve the bugs and restore stability.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A – C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601F32-8BB1-A187-F4EB-4A382D3D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48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CC02-DE3B-254F-B7BF-53B95147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28FDD8-9C78-5314-1B3F-DDBDC1FE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18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Reading regularly exposes individuals to sophisticated vocabulary and varied writing styles.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This enhanced vocabulary allows people to express complex ideas more clearly in professional settings.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Consequently, strong readers often demonstrate superior written and verbal communication skills.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Developing a consistent reading habit is one of the best ways to improve language proficiency.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D – A – B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2FB2AA-722A-1F9E-C466-7014A592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10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398B3-9577-0F29-05A1-817B27D6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54C5E2-1979-30A3-CC97-4E1D643AC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19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Without proper documentation, maintenance becomes difficult when original developers leave the team.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Code documentation is often neglected by developers under tight project deadlines.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Writing clear comments and system manuals ensures long-term software maintainability.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Therefore, engineering leads must enforce documentation standards as part of the code review process.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A – C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FC1004-A813-7662-3B4D-6681AA61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0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91A7-87CE-7965-C7AE-659DF1D2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734081-1E2D-139D-7FBA-F6E4DC1C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20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Electric vehicles produce zero tailpipe emissions during operation.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As battery prices drop and charging infrastructure expands, EV adoption is surging worldwide.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This makes them a cleaner alternative to traditional gasoline-powered cars.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Transportation accounts for a significant portion of global greenhouse gas emissions.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D – A – C – B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55DE79-CDB4-7D97-2754-97CDD3B4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1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D165-8F0B-6CE1-D249-8A09BDD4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A1A754-38D2-36DC-800B-29BF133AF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21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It allows employees to access files and software from any location.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This flexibility has fundamentally changed how modern teams operate.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Cloud computing has transformed corporate operations across the globe.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As a result, geographic barriers no longer limit project collaboration.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C – A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BCC3F-63B4-B1C8-46F8-8646583B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53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35AEF-A2ED-53CC-BCFD-4EC6648A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27F71-6D3C-87D7-DEEC-A4ABC616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22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To prevent this, developers perform rigorous code reviews before deployment.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A single unhandled exception can cause an entire application to crash.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Software errors can lead to severe operational disruptions for businesses.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Peer reviews help identify hidden bugs early in the development cycle.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C – B – A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049EF6-2F0C-A8A0-A7BC-3F826C6F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51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3F90-6587-9E94-A9A8-7791FD2E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E11E54-480A-A302-A8DD-0FE1ED98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23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He spent months </a:t>
            </a:r>
            <a:r>
              <a:rPr lang="en-IN" dirty="0" err="1"/>
              <a:t>analyzing</a:t>
            </a:r>
            <a:r>
              <a:rPr lang="en-IN" dirty="0"/>
              <a:t> customer </a:t>
            </a:r>
            <a:r>
              <a:rPr lang="en-IN" dirty="0" err="1"/>
              <a:t>behavior</a:t>
            </a:r>
            <a:r>
              <a:rPr lang="en-IN" dirty="0"/>
              <a:t> to refine the user interface.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Arjun launched an e-commerce platform for local artisans in 2021.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This dedication resulted in a 40% increase in monthly active users.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Initial feedback indicated that the website layout was too confusing.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107897-9630-FFC7-D571-65143E70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83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A2F6-F89F-0186-8EB5-CC2252A9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243B88-4E6C-1A7F-5CB6-70072DBE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24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These notifications often shatter focus and reduce overall task performance.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Constant digital interruptions make it difficult to maintain deep concentration.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Turning off non-essential alerts allows workers to regain control over their time.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Smartphones constantly chime with social media updates and unread emails.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C46C49-4A51-3F98-1F56-8411E0DE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03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12B54-B1A7-EBD3-3213-17D08F11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F4D384-487A-7A88-71A9-C2D1F1E57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25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However, excessive consumption can lead to sleep disturbances and anxiety.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Caffeine is one of the most widely consumed natural stimulants worldwide.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Consequently, health experts recommend limiting intake to reasonable daily amounts.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It helps people feel more alert and less tired by blocking fatigue signals.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D1D596-82EC-7FCE-F945-F4B298C2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3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D44D-819F-E03C-BC23-8C5FC5BC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66ABBD-E092-4327-066B-2F866E44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26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This rapid feedback loop allows developers to release software patches in hours rather than months.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Traditional software updates used to take months to design and distribute.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Modern CI/CD pipelines automate the testing and deployment phases completely.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Developers now push code updates into production multiple times a day.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C – D – A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6EE6BE-66F8-AD92-800D-D9A40D953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6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07ED-4DE4-8123-04A8-9B3A0A35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CAE552-3AFB-CBCD-EDFD-71EACA41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27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Investing in clean energy infrastructure creates thousands of green jobs.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Shifting away from fossil fuels is necessary to combat climate change.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Therefore, governments should incentivize clean energy investments immediately.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Beyond environmental benefits, this transition offers substantial economic growth.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D – A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4FFDBF-6349-4F2E-5688-CE583540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8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7252-A9AB-3389-EBD0-E0C2D224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30E031-0E11-E905-F9EC-E618B605C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8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The candidate explained how she managed a cross-functional team during a crisis.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Her structured communication style impressed the hiring managers.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Priya walked into the interview room feeling confident and well-prepared.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As a result, she was offered the senior team lead position later that day.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C – A – B – 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978A28-0F84-56C4-3DFD-827B90A8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1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E4FE-103D-916E-44D1-394EBD33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1E9C30-A319-474A-09D6-5672A8F7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Question 29</a:t>
            </a:r>
          </a:p>
          <a:p>
            <a:pPr lvl="0"/>
            <a:r>
              <a:rPr lang="en-IN" b="1" dirty="0"/>
              <a:t>A.</a:t>
            </a:r>
            <a:r>
              <a:rPr lang="en-IN" dirty="0"/>
              <a:t> Without adequate sleep, the brain struggles to consolidate memories effectively.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Sleep plays a crucial role in maintaining optimal cognitive function.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Prioritizing 7 to 8 hours of rest ensures high daily mental performance.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This leads to noticeable memory lapses and reduced decision-making speed.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B – A – D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FF3CB1-74F2-8493-A7DF-F8794720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22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A744-7D38-767A-9693-7FB66F68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C91A21-AF10-9F77-F791-BB252AF82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/>
              <a:t>Question 30</a:t>
            </a:r>
            <a:endParaRPr lang="en-IN" b="1" dirty="0"/>
          </a:p>
          <a:p>
            <a:pPr lvl="0"/>
            <a:r>
              <a:rPr lang="en-IN" b="1" dirty="0"/>
              <a:t>A.</a:t>
            </a:r>
            <a:r>
              <a:rPr lang="en-IN" dirty="0"/>
              <a:t> High customer churn rates indicate underlying dissatisfaction with a service.</a:t>
            </a:r>
          </a:p>
          <a:p>
            <a:pPr lvl="0"/>
            <a:r>
              <a:rPr lang="en-IN" b="1" dirty="0"/>
              <a:t>B.</a:t>
            </a:r>
            <a:r>
              <a:rPr lang="en-IN" dirty="0"/>
              <a:t> By listening to complaints, businesses can fix flaws before losing more users.</a:t>
            </a:r>
          </a:p>
          <a:p>
            <a:pPr lvl="0"/>
            <a:r>
              <a:rPr lang="en-IN" b="1" dirty="0"/>
              <a:t>C.</a:t>
            </a:r>
            <a:r>
              <a:rPr lang="en-IN" dirty="0"/>
              <a:t> Therefore, tracking user churn is vital for long-term customer retention.</a:t>
            </a:r>
          </a:p>
          <a:p>
            <a:pPr lvl="0"/>
            <a:r>
              <a:rPr lang="en-IN" b="1" dirty="0"/>
              <a:t>D.</a:t>
            </a:r>
            <a:r>
              <a:rPr lang="en-IN" dirty="0"/>
              <a:t> </a:t>
            </a:r>
            <a:r>
              <a:rPr lang="en-IN" dirty="0" err="1"/>
              <a:t>Analyzing</a:t>
            </a:r>
            <a:r>
              <a:rPr lang="en-IN" dirty="0"/>
              <a:t> exit feedback provides valuable insights into user frustrations.</a:t>
            </a:r>
          </a:p>
          <a:p>
            <a:r>
              <a:rPr lang="en-IN" b="1" dirty="0"/>
              <a:t>Correct Sequence:</a:t>
            </a:r>
            <a:r>
              <a:rPr lang="en-IN" dirty="0"/>
              <a:t> </a:t>
            </a:r>
            <a:r>
              <a:rPr lang="en-IN" b="1" dirty="0"/>
              <a:t>A – D – B – 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CF5A9E-F8CA-FE37-5118-5E452E9E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21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23378</TotalTime>
  <Words>2503</Words>
  <Application>Microsoft Office PowerPoint</Application>
  <PresentationFormat>Widescreen</PresentationFormat>
  <Paragraphs>243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Cambria Math</vt:lpstr>
      <vt:lpstr>1_Office Theme</vt:lpstr>
      <vt:lpstr>Para Jumble</vt:lpstr>
      <vt:lpstr>PowerPoint Presentation</vt:lpstr>
      <vt:lpstr>Para Jumble</vt:lpstr>
      <vt:lpstr>Tips </vt:lpstr>
      <vt:lpstr>Tips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2275</cp:revision>
  <dcterms:created xsi:type="dcterms:W3CDTF">2020-06-11T07:03:50Z</dcterms:created>
  <dcterms:modified xsi:type="dcterms:W3CDTF">2026-08-07T03:57:07Z</dcterms:modified>
</cp:coreProperties>
</file>