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1" r:id="rId1"/>
  </p:sldMasterIdLst>
  <p:notesMasterIdLst>
    <p:notesMasterId r:id="rId26"/>
  </p:notesMasterIdLst>
  <p:handoutMasterIdLst>
    <p:handoutMasterId r:id="rId27"/>
  </p:handoutMasterIdLst>
  <p:sldIdLst>
    <p:sldId id="257" r:id="rId2"/>
    <p:sldId id="459" r:id="rId3"/>
    <p:sldId id="694" r:id="rId4"/>
    <p:sldId id="745" r:id="rId5"/>
    <p:sldId id="746" r:id="rId6"/>
    <p:sldId id="747" r:id="rId7"/>
    <p:sldId id="748" r:id="rId8"/>
    <p:sldId id="749" r:id="rId9"/>
    <p:sldId id="750" r:id="rId10"/>
    <p:sldId id="751" r:id="rId11"/>
    <p:sldId id="752" r:id="rId12"/>
    <p:sldId id="753" r:id="rId13"/>
    <p:sldId id="754" r:id="rId14"/>
    <p:sldId id="755" r:id="rId15"/>
    <p:sldId id="756" r:id="rId16"/>
    <p:sldId id="757" r:id="rId17"/>
    <p:sldId id="758" r:id="rId18"/>
    <p:sldId id="759" r:id="rId19"/>
    <p:sldId id="760" r:id="rId20"/>
    <p:sldId id="761" r:id="rId21"/>
    <p:sldId id="762" r:id="rId22"/>
    <p:sldId id="763" r:id="rId23"/>
    <p:sldId id="764" r:id="rId24"/>
    <p:sldId id="337" r:id="rId25"/>
  </p:sldIdLst>
  <p:sldSz cx="12192000" cy="6858000"/>
  <p:notesSz cx="6858000" cy="9144000"/>
  <p:embeddedFontLst>
    <p:embeddedFont>
      <p:font typeface="Calibri" panose="020F0502020204030204" pitchFamily="34" charset="0"/>
      <p:regular r:id="rId28"/>
      <p:bold r:id="rId29"/>
      <p:italic r:id="rId30"/>
      <p:boldItalic r:id="rId31"/>
    </p:embeddedFont>
    <p:embeddedFont>
      <p:font typeface="Roboto" panose="02000000000000000000" pitchFamily="2" charset="0"/>
      <p:regular r:id="rId32"/>
      <p:bold r:id="rId33"/>
      <p:italic r:id="rId34"/>
      <p:boldItalic r:id="rId35"/>
    </p:embeddedFont>
    <p:embeddedFont>
      <p:font typeface="Roboto Condensed" panose="02000000000000000000" pitchFamily="2" charset="0"/>
      <p:regular r:id="rId36"/>
      <p:bold r:id="rId37"/>
      <p:italic r:id="rId38"/>
      <p:boldItalic r:id="rId39"/>
    </p:embeddedFont>
    <p:embeddedFont>
      <p:font typeface="Roboto Condensed Light" panose="02000000000000000000" pitchFamily="2" charset="0"/>
      <p:regular r:id="rId40"/>
      <p:italic r:id="rId41"/>
    </p:embeddedFont>
    <p:embeddedFont>
      <p:font typeface="Wingdings 3" panose="05040102010807070707" pitchFamily="18" charset="2"/>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ZsIXb7zLCG3ZeLVLb6HZMA==" hashData="1qgI7fh3XukTxTqYzTVuHciwq/Ua2JCjNz9o4nmq8xP8PXBNw7Hu3ALX7ijVN0pA5OG6pqfSOPgbOknrJkd6PQ=="/>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9FE"/>
    <a:srgbClr val="C00000"/>
    <a:srgbClr val="002060"/>
    <a:srgbClr val="2981C0"/>
    <a:srgbClr val="0C77C3"/>
    <a:srgbClr val="FFFFFF"/>
    <a:srgbClr val="A0C061"/>
    <a:srgbClr val="3572EB"/>
    <a:srgbClr val="B9B9B9"/>
    <a:srgbClr val="95DD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19" autoAdjust="0"/>
    <p:restoredTop sz="96091" autoAdjust="0"/>
  </p:normalViewPr>
  <p:slideViewPr>
    <p:cSldViewPr snapToGrid="0">
      <p:cViewPr varScale="1">
        <p:scale>
          <a:sx n="85" d="100"/>
          <a:sy n="85" d="100"/>
        </p:scale>
        <p:origin x="504" y="82"/>
      </p:cViewPr>
      <p:guideLst>
        <p:guide orient="horz" pos="2160"/>
        <p:guide pos="3840"/>
      </p:guideLst>
    </p:cSldViewPr>
  </p:slideViewPr>
  <p:outlineViewPr>
    <p:cViewPr>
      <p:scale>
        <a:sx n="33" d="100"/>
        <a:sy n="33" d="100"/>
      </p:scale>
      <p:origin x="0" y="-4640"/>
    </p:cViewPr>
  </p:outlineViewPr>
  <p:notesTextViewPr>
    <p:cViewPr>
      <p:scale>
        <a:sx n="75" d="100"/>
        <a:sy n="75" d="100"/>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C35693-2F5F-4C2C-AA37-8E54880345AD}" type="datetimeFigureOut">
              <a:rPr lang="en-US" smtClean="0"/>
              <a:t>8/7/2026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8E920D-5A96-474F-9B79-F5AA1EF5E51D}" type="slidenum">
              <a:rPr lang="en-US" smtClean="0"/>
              <a:t>‹#›</a:t>
            </a:fld>
            <a:endParaRPr lang="en-US"/>
          </a:p>
        </p:txBody>
      </p:sp>
    </p:spTree>
    <p:extLst>
      <p:ext uri="{BB962C8B-B14F-4D97-AF65-F5344CB8AC3E}">
        <p14:creationId xmlns:p14="http://schemas.microsoft.com/office/powerpoint/2010/main" val="2557931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FBB180-F380-4DDD-8F5B-4775C6561492}" type="datetimeFigureOut">
              <a:rPr lang="en-IN" smtClean="0"/>
              <a:t>07-08-2026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E1D88-AA76-442E-88A9-1A7935C108D4}" type="slidenum">
              <a:rPr lang="en-IN" smtClean="0"/>
              <a:t>‹#›</a:t>
            </a:fld>
            <a:endParaRPr lang="en-IN"/>
          </a:p>
        </p:txBody>
      </p:sp>
    </p:spTree>
    <p:extLst>
      <p:ext uri="{BB962C8B-B14F-4D97-AF65-F5344CB8AC3E}">
        <p14:creationId xmlns:p14="http://schemas.microsoft.com/office/powerpoint/2010/main" val="1762014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D6B6-2896-E93A-2770-A9E1E0FB3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44C6B-9C83-166A-53A7-C0FF54B76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D68C7-A354-FE2D-EE8C-7131F17184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Gif</a:t>
            </a:r>
            <a:r>
              <a:rPr lang="en-US" baseline="0" dirty="0"/>
              <a:t> Reference: </a:t>
            </a:r>
            <a:r>
              <a:rPr lang="en-IN" dirty="0"/>
              <a:t>https://tenor.com/view/tkthpsharma-gif-23317246</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IN" dirty="0"/>
          </a:p>
        </p:txBody>
      </p:sp>
      <p:sp>
        <p:nvSpPr>
          <p:cNvPr id="4" name="Slide Number Placeholder 3">
            <a:extLst>
              <a:ext uri="{FF2B5EF4-FFF2-40B4-BE49-F238E27FC236}">
                <a16:creationId xmlns:a16="http://schemas.microsoft.com/office/drawing/2014/main" id="{F201C1CB-9946-033C-7871-48CB841981E3}"/>
              </a:ext>
            </a:extLst>
          </p:cNvPr>
          <p:cNvSpPr>
            <a:spLocks noGrp="1"/>
          </p:cNvSpPr>
          <p:nvPr>
            <p:ph type="sldNum" sz="quarter" idx="10"/>
          </p:nvPr>
        </p:nvSpPr>
        <p:spPr/>
        <p:txBody>
          <a:bodyPr/>
          <a:lstStyle/>
          <a:p>
            <a:fld id="{EFBE1D88-AA76-442E-88A9-1A7935C108D4}" type="slidenum">
              <a:rPr lang="en-IN" smtClean="0"/>
              <a:t>3</a:t>
            </a:fld>
            <a:endParaRPr lang="en-IN"/>
          </a:p>
        </p:txBody>
      </p:sp>
    </p:spTree>
    <p:extLst>
      <p:ext uri="{BB962C8B-B14F-4D97-AF65-F5344CB8AC3E}">
        <p14:creationId xmlns:p14="http://schemas.microsoft.com/office/powerpoint/2010/main" val="1175686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1"/>
        <p:cNvGrpSpPr/>
        <p:nvPr/>
      </p:nvGrpSpPr>
      <p:grpSpPr>
        <a:xfrm>
          <a:off x="0" y="0"/>
          <a:ext cx="0" cy="0"/>
          <a:chOff x="0" y="0"/>
          <a:chExt cx="0" cy="0"/>
        </a:xfrm>
      </p:grpSpPr>
      <p:sp>
        <p:nvSpPr>
          <p:cNvPr id="2092" name="Google Shape;2092;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3" name="Google Shape;2093;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021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2.png"/><Relationship Id="rId5" Type="http://schemas.openxmlformats.org/officeDocument/2006/relationships/image" Target="../media/image8.png"/><Relationship Id="rId10"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0" y="761866"/>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090100" y="962971"/>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2"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
        <p:nvSpPr>
          <p:cNvPr id="23"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Tree>
    <p:extLst>
      <p:ext uri="{BB962C8B-B14F-4D97-AF65-F5344CB8AC3E}">
        <p14:creationId xmlns:p14="http://schemas.microsoft.com/office/powerpoint/2010/main" val="265330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28104" y="5850944"/>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2" y="6858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6"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2532317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08039" y="5952522"/>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8"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2785172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08039" y="5952522"/>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4"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3"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391484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5"/>
            <a:ext cx="11929641" cy="5590364"/>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86BF578-C91A-4942-95D5-11408C3CCACF}"/>
              </a:ext>
            </a:extLst>
          </p:cNvPr>
          <p:cNvCxnSpPr/>
          <p:nvPr userDrawn="1"/>
        </p:nvCxnSpPr>
        <p:spPr>
          <a:xfrm>
            <a:off x="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1"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12121">
                    <a:lumMod val="90000"/>
                    <a:lumOff val="10000"/>
                  </a:srgbClr>
                </a:solidFill>
                <a:effectLst/>
                <a:uLnTx/>
                <a:uFillTx/>
                <a:latin typeface="Roboto Condensed Light" panose="02000000000000000000" pitchFamily="2" charset="0"/>
                <a:ea typeface="Roboto Condensed Light" panose="02000000000000000000" pitchFamily="2" charset="0"/>
                <a:cs typeface="+mn-cs"/>
              </a:rPr>
              <a:t>TCS Placement Practice</a:t>
            </a:r>
          </a:p>
        </p:txBody>
      </p:sp>
      <p:sp>
        <p:nvSpPr>
          <p:cNvPr id="13"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141473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92111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34543" y="921114"/>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2"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294706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29"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cxnSp>
        <p:nvCxnSpPr>
          <p:cNvPr id="30" name="Straight Connector 2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86BF578-C91A-4942-95D5-11408C3CCACF}"/>
              </a:ext>
            </a:extLst>
          </p:cNvPr>
          <p:cNvCxnSpPr/>
          <p:nvPr userDrawn="1"/>
        </p:nvCxnSpPr>
        <p:spPr>
          <a:xfrm>
            <a:off x="9053"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33" name="Picture 32">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36" name="Date Placeholder 1">
            <a:extLst>
              <a:ext uri="{FF2B5EF4-FFF2-40B4-BE49-F238E27FC236}">
                <a16:creationId xmlns:a16="http://schemas.microsoft.com/office/drawing/2014/main" id="{CA463A36-7025-4394-9467-8A3EC3425B00}"/>
              </a:ext>
            </a:extLst>
          </p:cNvPr>
          <p:cNvSpPr txBox="1">
            <a:spLocks/>
          </p:cNvSpPr>
          <p:nvPr userDrawn="1"/>
        </p:nvSpPr>
        <p:spPr>
          <a:xfrm>
            <a:off x="847253" y="6608527"/>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1955476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77041" y="242508"/>
            <a:ext cx="1649043" cy="501287"/>
            <a:chOff x="10721798" y="852808"/>
            <a:chExt cx="1339023" cy="407045"/>
          </a:xfrm>
        </p:grpSpPr>
        <p:pic>
          <p:nvPicPr>
            <p:cNvPr id="16" name="Picture 15">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0"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3795758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42441" y="5980196"/>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0"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3391409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816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3934152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7" name="Group 16">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8" name="Picture 17">
              <a:extLst>
                <a:ext uri="{FF2B5EF4-FFF2-40B4-BE49-F238E27FC236}">
                  <a16:creationId xmlns:a16="http://schemas.microsoft.com/office/drawing/2014/main" id="{538C9597-8AB6-41B2-8903-FB3D0B47ADD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96667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A1721-8CF9-09D4-7B12-699E396EF40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72E8E8-F1D1-9CEB-19A2-607B5CDC6290}"/>
              </a:ext>
            </a:extLst>
          </p:cNvPr>
          <p:cNvSpPr>
            <a:spLocks noGrp="1"/>
          </p:cNvSpPr>
          <p:nvPr>
            <p:ph type="dt" sz="half" idx="10"/>
          </p:nvPr>
        </p:nvSpPr>
        <p:spPr/>
        <p:txBody>
          <a:bodyPr/>
          <a:lstStyle/>
          <a:p>
            <a:fld id="{9CD21B45-1703-4330-B544-825BD8F37AF2}" type="datetimeFigureOut">
              <a:rPr lang="en-US" smtClean="0">
                <a:solidFill>
                  <a:srgbClr val="212121">
                    <a:tint val="75000"/>
                  </a:srgbClr>
                </a:solidFill>
              </a:rPr>
              <a:pPr/>
              <a:t>8/7/2026</a:t>
            </a:fld>
            <a:endParaRPr lang="en-US">
              <a:solidFill>
                <a:srgbClr val="212121">
                  <a:tint val="75000"/>
                </a:srgbClr>
              </a:solidFill>
            </a:endParaRPr>
          </a:p>
        </p:txBody>
      </p:sp>
      <p:sp>
        <p:nvSpPr>
          <p:cNvPr id="4" name="Footer Placeholder 3">
            <a:extLst>
              <a:ext uri="{FF2B5EF4-FFF2-40B4-BE49-F238E27FC236}">
                <a16:creationId xmlns:a16="http://schemas.microsoft.com/office/drawing/2014/main" id="{5F978542-39B3-1981-0439-143C4EAFD3F6}"/>
              </a:ext>
            </a:extLst>
          </p:cNvPr>
          <p:cNvSpPr>
            <a:spLocks noGrp="1"/>
          </p:cNvSpPr>
          <p:nvPr>
            <p:ph type="ftr" sz="quarter" idx="11"/>
          </p:nvPr>
        </p:nvSpPr>
        <p:spPr/>
        <p:txBody>
          <a:bodyPr/>
          <a:lstStyle/>
          <a:p>
            <a:endParaRPr lang="en-US">
              <a:solidFill>
                <a:srgbClr val="212121">
                  <a:tint val="75000"/>
                </a:srgbClr>
              </a:solidFill>
            </a:endParaRPr>
          </a:p>
        </p:txBody>
      </p:sp>
      <p:sp>
        <p:nvSpPr>
          <p:cNvPr id="5" name="Slide Number Placeholder 4">
            <a:extLst>
              <a:ext uri="{FF2B5EF4-FFF2-40B4-BE49-F238E27FC236}">
                <a16:creationId xmlns:a16="http://schemas.microsoft.com/office/drawing/2014/main" id="{746DC2D7-54FF-1FD8-3A27-F62D6E72FA31}"/>
              </a:ext>
            </a:extLst>
          </p:cNvPr>
          <p:cNvSpPr>
            <a:spLocks noGrp="1"/>
          </p:cNvSpPr>
          <p:nvPr>
            <p:ph type="sldNum" sz="quarter" idx="12"/>
          </p:nvPr>
        </p:nvSpPr>
        <p:spPr/>
        <p:txBody>
          <a:body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165114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52807"/>
            <a:ext cx="11929641" cy="5601201"/>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oogle Shape;60;p54"/>
          <p:cNvGrpSpPr/>
          <p:nvPr userDrawn="1"/>
        </p:nvGrpSpPr>
        <p:grpSpPr>
          <a:xfrm>
            <a:off x="10721798" y="852808"/>
            <a:ext cx="1339024" cy="407045"/>
            <a:chOff x="10721798" y="852808"/>
            <a:chExt cx="1339024" cy="407045"/>
          </a:xfrm>
        </p:grpSpPr>
        <p:pic>
          <p:nvPicPr>
            <p:cNvPr id="15" name="Google Shape;61;p54"/>
            <p:cNvPicPr preferRelativeResize="0"/>
            <p:nvPr/>
          </p:nvPicPr>
          <p:blipFill rotWithShape="1">
            <a:blip r:embed="rId3">
              <a:alphaModFix/>
            </a:blip>
            <a:srcRect/>
            <a:stretch/>
          </p:blipFill>
          <p:spPr>
            <a:xfrm>
              <a:off x="10721798" y="852808"/>
              <a:ext cx="1339022" cy="407045"/>
            </a:xfrm>
            <a:prstGeom prst="rect">
              <a:avLst/>
            </a:prstGeom>
            <a:noFill/>
            <a:ln>
              <a:noFill/>
            </a:ln>
          </p:spPr>
        </p:pic>
        <p:sp>
          <p:nvSpPr>
            <p:cNvPr id="21" name="Google Shape;62;p54"/>
            <p:cNvSpPr/>
            <p:nvPr/>
          </p:nvSpPr>
          <p:spPr>
            <a:xfrm>
              <a:off x="10721799" y="852808"/>
              <a:ext cx="1339022" cy="407044"/>
            </a:xfrm>
            <a:prstGeom prst="rect">
              <a:avLst/>
            </a:pr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gr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8527"/>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Roboto Condensed Light" panose="02000000000000000000" pitchFamily="2" charset="0"/>
                <a:ea typeface="Roboto Condensed Light" panose="02000000000000000000" pitchFamily="2" charset="0"/>
              </a:rPr>
              <a:t>TCS Placement Practice</a:t>
            </a:r>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212121">
                    <a:lumMod val="90000"/>
                    <a:lumOff val="10000"/>
                  </a:srgbClr>
                </a:solidFill>
                <a:latin typeface="+mj-lt"/>
                <a:ea typeface="Roboto Condensed Light" panose="02000000000000000000" pitchFamily="2" charset="0"/>
              </a:rPr>
              <a:t>Prof. Radhika Bhateliya</a:t>
            </a:r>
          </a:p>
        </p:txBody>
      </p:sp>
    </p:spTree>
    <p:extLst>
      <p:ext uri="{BB962C8B-B14F-4D97-AF65-F5344CB8AC3E}">
        <p14:creationId xmlns:p14="http://schemas.microsoft.com/office/powerpoint/2010/main" val="3062504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14088" y="-5993"/>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298272" y="1999976"/>
            <a:ext cx="2973402" cy="3211274"/>
          </a:xfrm>
          <a:prstGeom prst="rect">
            <a:avLst/>
          </a:prstGeom>
        </p:spPr>
      </p:pic>
    </p:spTree>
    <p:extLst>
      <p:ext uri="{BB962C8B-B14F-4D97-AF65-F5344CB8AC3E}">
        <p14:creationId xmlns:p14="http://schemas.microsoft.com/office/powerpoint/2010/main" val="3426436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solidFill>
                  <a:srgbClr val="212121">
                    <a:tint val="75000"/>
                  </a:srgbClr>
                </a:solidFill>
              </a:rPr>
              <a:pPr/>
              <a:t>8/7/2026</a:t>
            </a:fld>
            <a:endParaRPr lang="en-US">
              <a:solidFill>
                <a:srgbClr val="212121">
                  <a:tint val="75000"/>
                </a:srgbClr>
              </a:solidFill>
            </a:endParaRPr>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212121">
                  <a:tint val="75000"/>
                </a:srgbClr>
              </a:solidFill>
            </a:endParaRPr>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solidFill>
                  <a:srgbClr val="212121">
                    <a:tint val="75000"/>
                  </a:srgbClr>
                </a:solidFill>
              </a:rPr>
              <a:pPr/>
              <a:t>‹#›</a:t>
            </a:fld>
            <a:endParaRPr lang="en-US">
              <a:solidFill>
                <a:srgbClr val="212121">
                  <a:tint val="75000"/>
                </a:srgbClr>
              </a:solidFill>
            </a:endParaRPr>
          </a:p>
        </p:txBody>
      </p:sp>
    </p:spTree>
    <p:extLst>
      <p:ext uri="{BB962C8B-B14F-4D97-AF65-F5344CB8AC3E}">
        <p14:creationId xmlns:p14="http://schemas.microsoft.com/office/powerpoint/2010/main" val="628999165"/>
      </p:ext>
    </p:extLst>
  </p:cSld>
  <p:clrMap bg1="lt1" tx1="dk1" bg2="lt2" tx2="dk2" accent1="accent1" accent2="accent2" accent3="accent3" accent4="accent4" accent5="accent5" accent6="accent6" hlink="hlink" folHlink="folHlink"/>
  <p:sldLayoutIdLst>
    <p:sldLayoutId id="2147483718" r:id="rId1"/>
    <p:sldLayoutId id="2147483725" r:id="rId2"/>
    <p:sldLayoutId id="2147483719" r:id="rId3"/>
    <p:sldLayoutId id="2147483724" r:id="rId4"/>
    <p:sldLayoutId id="2147483720" r:id="rId5"/>
    <p:sldLayoutId id="2147483663" r:id="rId6"/>
    <p:sldLayoutId id="2147483689" r:id="rId7"/>
    <p:sldLayoutId id="2147483667" r:id="rId8"/>
    <p:sldLayoutId id="2147483669" r:id="rId9"/>
    <p:sldLayoutId id="2147483670" r:id="rId10"/>
    <p:sldLayoutId id="2147483671" r:id="rId11"/>
    <p:sldLayoutId id="2147483705" r:id="rId12"/>
    <p:sldLayoutId id="2147483727" r:id="rId13"/>
    <p:sldLayoutId id="2147483726" r:id="rId14"/>
    <p:sldLayoutId id="214748372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mailto:Swati.sharma@darshan.ac.in" TargetMode="Externa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33F9D0-79AF-43AC-AF9D-363E78BA5BD3}"/>
              </a:ext>
            </a:extLst>
          </p:cNvPr>
          <p:cNvSpPr>
            <a:spLocks noGrp="1"/>
          </p:cNvSpPr>
          <p:nvPr>
            <p:ph type="ctrTitle"/>
          </p:nvPr>
        </p:nvSpPr>
        <p:spPr>
          <a:xfrm>
            <a:off x="789218" y="1327132"/>
            <a:ext cx="7276373" cy="2848166"/>
          </a:xfrm>
        </p:spPr>
        <p:txBody>
          <a:bodyPr/>
          <a:lstStyle/>
          <a:p>
            <a:r>
              <a:rPr lang="en-US" dirty="0">
                <a:ea typeface="Roboto Condensed Light" panose="02000000000000000000" pitchFamily="2" charset="0"/>
              </a:rPr>
              <a:t>Para Recall</a:t>
            </a:r>
            <a:endParaRPr lang="en-US" sz="1800" dirty="0">
              <a:latin typeface="Roboto" panose="02000000000000000000" pitchFamily="2" charset="0"/>
              <a:ea typeface="Roboto" panose="02000000000000000000" pitchFamily="2" charset="0"/>
            </a:endParaRPr>
          </a:p>
        </p:txBody>
      </p:sp>
      <p:sp>
        <p:nvSpPr>
          <p:cNvPr id="10" name="Text Placeholder 9">
            <a:extLst>
              <a:ext uri="{FF2B5EF4-FFF2-40B4-BE49-F238E27FC236}">
                <a16:creationId xmlns:a16="http://schemas.microsoft.com/office/drawing/2014/main" id="{96EA47D8-8426-4DBD-BFF3-4005B9628AC4}"/>
              </a:ext>
            </a:extLst>
          </p:cNvPr>
          <p:cNvSpPr>
            <a:spLocks noGrp="1"/>
          </p:cNvSpPr>
          <p:nvPr>
            <p:ph type="body" sz="quarter" idx="11"/>
          </p:nvPr>
        </p:nvSpPr>
        <p:spPr/>
        <p:txBody>
          <a:bodyPr/>
          <a:lstStyle/>
          <a:p>
            <a:r>
              <a:rPr lang="en-US" dirty="0">
                <a:hlinkClick r:id="rId2"/>
              </a:rPr>
              <a:t>radhika.bhateliya@darshan.ac.in</a:t>
            </a:r>
            <a:r>
              <a:rPr lang="en-US" dirty="0"/>
              <a:t>	</a:t>
            </a:r>
          </a:p>
        </p:txBody>
      </p:sp>
      <p:sp>
        <p:nvSpPr>
          <p:cNvPr id="11" name="Text Placeholder 10">
            <a:extLst>
              <a:ext uri="{FF2B5EF4-FFF2-40B4-BE49-F238E27FC236}">
                <a16:creationId xmlns:a16="http://schemas.microsoft.com/office/drawing/2014/main" id="{04B68CD4-73FE-4D9C-A25E-10B975B94733}"/>
              </a:ext>
            </a:extLst>
          </p:cNvPr>
          <p:cNvSpPr>
            <a:spLocks noGrp="1"/>
          </p:cNvSpPr>
          <p:nvPr>
            <p:ph type="body" sz="quarter" idx="12"/>
          </p:nvPr>
        </p:nvSpPr>
        <p:spPr/>
        <p:txBody>
          <a:bodyPr/>
          <a:lstStyle/>
          <a:p>
            <a:r>
              <a:rPr lang="en-IN" dirty="0"/>
              <a:t>9428035992</a:t>
            </a:r>
          </a:p>
        </p:txBody>
      </p:sp>
      <p:sp>
        <p:nvSpPr>
          <p:cNvPr id="12" name="Text Placeholder 11">
            <a:extLst>
              <a:ext uri="{FF2B5EF4-FFF2-40B4-BE49-F238E27FC236}">
                <a16:creationId xmlns:a16="http://schemas.microsoft.com/office/drawing/2014/main" id="{F3D8A79D-333F-44B3-B1A0-1780CA0E35EF}"/>
              </a:ext>
            </a:extLst>
          </p:cNvPr>
          <p:cNvSpPr>
            <a:spLocks noGrp="1"/>
          </p:cNvSpPr>
          <p:nvPr>
            <p:ph type="body" sz="quarter" idx="13"/>
          </p:nvPr>
        </p:nvSpPr>
        <p:spPr/>
        <p:txBody>
          <a:bodyPr/>
          <a:lstStyle/>
          <a:p>
            <a:r>
              <a:rPr lang="en-US" dirty="0"/>
              <a:t>Humanities and Science Department</a:t>
            </a:r>
          </a:p>
        </p:txBody>
      </p:sp>
      <p:sp>
        <p:nvSpPr>
          <p:cNvPr id="13" name="Text Placeholder 12">
            <a:extLst>
              <a:ext uri="{FF2B5EF4-FFF2-40B4-BE49-F238E27FC236}">
                <a16:creationId xmlns:a16="http://schemas.microsoft.com/office/drawing/2014/main" id="{D4423574-50B3-4C1F-BB03-4625B3BB7D07}"/>
              </a:ext>
            </a:extLst>
          </p:cNvPr>
          <p:cNvSpPr>
            <a:spLocks noGrp="1"/>
          </p:cNvSpPr>
          <p:nvPr>
            <p:ph type="body" sz="quarter" idx="14"/>
          </p:nvPr>
        </p:nvSpPr>
        <p:spPr/>
        <p:txBody>
          <a:bodyPr/>
          <a:lstStyle/>
          <a:p>
            <a:r>
              <a:rPr lang="en-US" dirty="0"/>
              <a:t>Prof. Radhika Bhateliya</a:t>
            </a:r>
            <a:endParaRPr lang="en-IN" dirty="0"/>
          </a:p>
        </p:txBody>
      </p:sp>
      <p:sp>
        <p:nvSpPr>
          <p:cNvPr id="14" name="Text Placeholder 13">
            <a:extLst>
              <a:ext uri="{FF2B5EF4-FFF2-40B4-BE49-F238E27FC236}">
                <a16:creationId xmlns:a16="http://schemas.microsoft.com/office/drawing/2014/main" id="{48C932FB-1928-4F3D-87A8-4A34E306175A}"/>
              </a:ext>
            </a:extLst>
          </p:cNvPr>
          <p:cNvSpPr>
            <a:spLocks noGrp="1"/>
          </p:cNvSpPr>
          <p:nvPr>
            <p:ph type="body" sz="quarter" idx="16"/>
          </p:nvPr>
        </p:nvSpPr>
        <p:spPr/>
        <p:txBody>
          <a:bodyPr/>
          <a:lstStyle/>
          <a:p>
            <a:pPr>
              <a:lnSpc>
                <a:spcPct val="100000"/>
              </a:lnSpc>
              <a:spcBef>
                <a:spcPts val="600"/>
              </a:spcBef>
            </a:pPr>
            <a:r>
              <a:rPr lang="en-US" dirty="0"/>
              <a:t>TCS Placement Practice</a:t>
            </a:r>
          </a:p>
        </p:txBody>
      </p:sp>
      <p:sp>
        <p:nvSpPr>
          <p:cNvPr id="4" name="Rectangle 3"/>
          <p:cNvSpPr/>
          <p:nvPr/>
        </p:nvSpPr>
        <p:spPr>
          <a:xfrm>
            <a:off x="6215961" y="1641307"/>
            <a:ext cx="6096000" cy="461665"/>
          </a:xfrm>
          <a:prstGeom prst="rect">
            <a:avLst/>
          </a:prstGeom>
        </p:spPr>
        <p:txBody>
          <a:bodyPr>
            <a:spAutoFit/>
          </a:bodyPr>
          <a:lstStyle/>
          <a:p>
            <a:r>
              <a:rPr lang="en-US" sz="2400" i="1" dirty="0">
                <a:solidFill>
                  <a:srgbClr val="FF0000"/>
                </a:solidFill>
                <a:latin typeface="+mj-lt"/>
              </a:rPr>
              <a:t> </a:t>
            </a:r>
          </a:p>
        </p:txBody>
      </p:sp>
      <p:pic>
        <p:nvPicPr>
          <p:cNvPr id="7" name="Picture Placeholder 6">
            <a:extLst>
              <a:ext uri="{FF2B5EF4-FFF2-40B4-BE49-F238E27FC236}">
                <a16:creationId xmlns:a16="http://schemas.microsoft.com/office/drawing/2014/main" id="{14A8BBB3-75D3-FAE0-22C4-10312E84D8BB}"/>
              </a:ext>
            </a:extLst>
          </p:cNvPr>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prstClr val="white">
                <a:lumMod val="65000"/>
              </a:prstClr>
            </a:solidFill>
          </a:ln>
        </p:spPr>
      </p:pic>
    </p:spTree>
    <p:extLst>
      <p:ext uri="{BB962C8B-B14F-4D97-AF65-F5344CB8AC3E}">
        <p14:creationId xmlns:p14="http://schemas.microsoft.com/office/powerpoint/2010/main" val="3899380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85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31706"/>
            <a:ext cx="1994457" cy="1938992"/>
          </a:xfrm>
          <a:prstGeom prst="rect">
            <a:avLst/>
          </a:prstGeom>
          <a:noFill/>
        </p:spPr>
        <p:txBody>
          <a:bodyPr wrap="none" rtlCol="0">
            <a:spAutoFit/>
          </a:bodyPr>
          <a:lstStyle/>
          <a:p>
            <a:r>
              <a:rPr lang="en-US" sz="2400" b="1" dirty="0"/>
              <a:t>Topics </a:t>
            </a:r>
            <a:endParaRPr lang="en-US" sz="2400" dirty="0"/>
          </a:p>
          <a:p>
            <a:pPr marL="800100" lvl="1" indent="-342900">
              <a:buSzPct val="100000"/>
              <a:buFont typeface="Arial" panose="020B0604020202020204" pitchFamily="34" charset="0"/>
              <a:buChar char="•"/>
            </a:pPr>
            <a:r>
              <a:rPr lang="en-US" sz="2400" dirty="0"/>
              <a:t>Practice</a:t>
            </a:r>
          </a:p>
          <a:p>
            <a:pPr marL="800100" lvl="1" indent="-342900">
              <a:buSzPct val="100000"/>
              <a:buFont typeface="Arial" panose="020B0604020202020204" pitchFamily="34" charset="0"/>
              <a:buChar char="•"/>
            </a:pPr>
            <a:endParaRPr lang="en-US" sz="2400" dirty="0"/>
          </a:p>
          <a:p>
            <a:pPr marL="428625" lvl="2"/>
            <a:endParaRPr lang="en-US" sz="2400" dirty="0"/>
          </a:p>
          <a:p>
            <a:endParaRPr lang="en-US" sz="2400" dirty="0">
              <a:solidFill>
                <a:schemeClr val="bg1">
                  <a:lumMod val="50000"/>
                </a:schemeClr>
              </a:solidFill>
            </a:endParaRPr>
          </a:p>
        </p:txBody>
      </p:sp>
    </p:spTree>
    <p:extLst>
      <p:ext uri="{BB962C8B-B14F-4D97-AF65-F5344CB8AC3E}">
        <p14:creationId xmlns:p14="http://schemas.microsoft.com/office/powerpoint/2010/main" val="3948169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251DD-9690-C6A9-5387-18349EBC1BD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25AF518-2ABE-6D6C-01A1-FF1E2071DF11}"/>
              </a:ext>
            </a:extLst>
          </p:cNvPr>
          <p:cNvSpPr>
            <a:spLocks noGrp="1"/>
          </p:cNvSpPr>
          <p:nvPr>
            <p:ph type="title"/>
          </p:nvPr>
        </p:nvSpPr>
        <p:spPr>
          <a:xfrm>
            <a:off x="831849" y="1709738"/>
            <a:ext cx="8918438" cy="2852737"/>
          </a:xfrm>
        </p:spPr>
        <p:txBody>
          <a:bodyPr/>
          <a:lstStyle/>
          <a:p>
            <a:r>
              <a:rPr lang="en-US" dirty="0">
                <a:ea typeface="Roboto Condensed Light" panose="02000000000000000000" pitchFamily="2" charset="0"/>
              </a:rPr>
              <a:t>Para Recall</a:t>
            </a:r>
            <a:endParaRPr lang="en-US" dirty="0"/>
          </a:p>
        </p:txBody>
      </p:sp>
    </p:spTree>
    <p:extLst>
      <p:ext uri="{BB962C8B-B14F-4D97-AF65-F5344CB8AC3E}">
        <p14:creationId xmlns:p14="http://schemas.microsoft.com/office/powerpoint/2010/main" val="43168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12622-201C-769D-D3BD-03D282CF1A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B31DDE-8FF3-1B5F-288E-268039C09C7B}"/>
              </a:ext>
            </a:extLst>
          </p:cNvPr>
          <p:cNvSpPr>
            <a:spLocks noGrp="1"/>
          </p:cNvSpPr>
          <p:nvPr>
            <p:ph idx="1"/>
          </p:nvPr>
        </p:nvSpPr>
        <p:spPr>
          <a:xfrm>
            <a:off x="131180" y="863444"/>
            <a:ext cx="12060820" cy="5590565"/>
          </a:xfrm>
        </p:spPr>
        <p:txBody>
          <a:bodyPr/>
          <a:lstStyle/>
          <a:p>
            <a:r>
              <a:rPr lang="en-IN" dirty="0"/>
              <a:t>Cloud computing allows businesses to access data and software remotely over the internet. This eliminates the need for expensive physical servers and lowers hardware maintenance costs. Consequently, companies can easily scale their digital infrastructure as they grow.</a:t>
            </a:r>
          </a:p>
          <a:p>
            <a:pPr lvl="1"/>
            <a:r>
              <a:rPr lang="en-IN" dirty="0"/>
              <a:t>Cloud computing cuts hardware costs and lets businesses easily scale their digital storage remotely.</a:t>
            </a:r>
          </a:p>
          <a:p>
            <a:r>
              <a:rPr lang="en-IN" dirty="0"/>
              <a:t>Regular physical exercise helps reduce stress levels and improves overall mental health. Physical activity releases endorphins, which naturally elevate mood and increase daily energy. Incorporating short daily walks into your routine can lead to long-term health benefits.</a:t>
            </a:r>
          </a:p>
          <a:p>
            <a:pPr lvl="1"/>
            <a:r>
              <a:rPr lang="en-IN" dirty="0"/>
              <a:t>Daily physical exercise boosts energy, improves mood through endorphins, and lowers stress levels.</a:t>
            </a:r>
          </a:p>
          <a:p>
            <a:r>
              <a:rPr lang="en-IN" dirty="0"/>
              <a:t>Effective communication is the cornerstone of successful project management in any organization. Clear updates ensure all team members understand their roles and project deadlines. This prevents costly misunderstandings and keeps projects moving forward smoothly.</a:t>
            </a:r>
          </a:p>
          <a:p>
            <a:pPr lvl="1"/>
            <a:r>
              <a:rPr lang="en-IN" dirty="0"/>
              <a:t>Clear team communication prevents misunderstandings and ensures project deadlines are met successfully.</a:t>
            </a:r>
          </a:p>
          <a:p>
            <a:endParaRPr lang="en-IN" dirty="0"/>
          </a:p>
          <a:p>
            <a:endParaRPr lang="en-IN" dirty="0"/>
          </a:p>
          <a:p>
            <a:endParaRPr lang="en-US" dirty="0"/>
          </a:p>
        </p:txBody>
      </p:sp>
      <p:sp>
        <p:nvSpPr>
          <p:cNvPr id="3" name="Title 2">
            <a:extLst>
              <a:ext uri="{FF2B5EF4-FFF2-40B4-BE49-F238E27FC236}">
                <a16:creationId xmlns:a16="http://schemas.microsoft.com/office/drawing/2014/main" id="{8CE6C72B-825E-1295-FF49-9CDE64B7EB46}"/>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9114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F939-5770-36E4-E4B8-FB1568BEDE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63EB15-D328-BD5B-E27D-14715A4E46DD}"/>
              </a:ext>
            </a:extLst>
          </p:cNvPr>
          <p:cNvSpPr>
            <a:spLocks noGrp="1"/>
          </p:cNvSpPr>
          <p:nvPr>
            <p:ph idx="1"/>
          </p:nvPr>
        </p:nvSpPr>
        <p:spPr>
          <a:xfrm>
            <a:off x="131180" y="863444"/>
            <a:ext cx="12060820" cy="5590565"/>
          </a:xfrm>
        </p:spPr>
        <p:txBody>
          <a:bodyPr/>
          <a:lstStyle/>
          <a:p>
            <a:r>
              <a:rPr lang="en-IN" dirty="0"/>
              <a:t>Artificial Intelligence tools can quickly </a:t>
            </a:r>
            <a:r>
              <a:rPr lang="en-IN" dirty="0" err="1"/>
              <a:t>analyze</a:t>
            </a:r>
            <a:r>
              <a:rPr lang="en-IN" dirty="0"/>
              <a:t> large datasets to spot consumer trends. By identifying these patterns early, companies can tailor their marketing strategies more effectively. This allows businesses to spend less money on inefficient advertising campaigns.</a:t>
            </a:r>
          </a:p>
          <a:p>
            <a:pPr lvl="1"/>
            <a:r>
              <a:rPr lang="en-IN" dirty="0"/>
              <a:t>AI helps companies </a:t>
            </a:r>
            <a:r>
              <a:rPr lang="en-IN" dirty="0" err="1"/>
              <a:t>analyze</a:t>
            </a:r>
            <a:r>
              <a:rPr lang="en-IN" dirty="0"/>
              <a:t> data patterns to create targeted and cost-effective marketing strategies.</a:t>
            </a:r>
          </a:p>
          <a:p>
            <a:r>
              <a:rPr lang="en-IN" dirty="0"/>
              <a:t>Setting daily priorities helps professionals manage heavy workloads without feeling overwhelmed. By completing urgent tasks first, employees maintain better control over their working hours. This simple habit significantly boosts productivity and reduces daily workplace anxiety.</a:t>
            </a:r>
          </a:p>
          <a:p>
            <a:pPr lvl="1"/>
            <a:r>
              <a:rPr lang="en-IN" dirty="0"/>
              <a:t>Prioritizing urgent daily tasks improves productivity and reduces workplace stress for professionals.</a:t>
            </a:r>
          </a:p>
          <a:p>
            <a:r>
              <a:rPr lang="en-IN" dirty="0"/>
              <a:t>Constructive feedback is essential for continuous personal and professional development. It provides individuals with actionable insights into their core strengths and areas for improvement. Embracing feedback fosters a strong culture of learning and growth within a workplace.</a:t>
            </a:r>
          </a:p>
          <a:p>
            <a:pPr lvl="1"/>
            <a:r>
              <a:rPr lang="en-IN" dirty="0"/>
              <a:t>Constructive feedback highlights individual strengths and growth areas to promote continuous development.</a:t>
            </a:r>
          </a:p>
          <a:p>
            <a:endParaRPr lang="en-US" dirty="0"/>
          </a:p>
        </p:txBody>
      </p:sp>
      <p:sp>
        <p:nvSpPr>
          <p:cNvPr id="3" name="Title 2">
            <a:extLst>
              <a:ext uri="{FF2B5EF4-FFF2-40B4-BE49-F238E27FC236}">
                <a16:creationId xmlns:a16="http://schemas.microsoft.com/office/drawing/2014/main" id="{B426A8EB-0A38-A410-1A60-7FDA153A7D14}"/>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75816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C40B5-8FEC-64C0-A92C-E35FD03733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04190A-772C-B4AC-1B03-82F916B75083}"/>
              </a:ext>
            </a:extLst>
          </p:cNvPr>
          <p:cNvSpPr>
            <a:spLocks noGrp="1"/>
          </p:cNvSpPr>
          <p:nvPr>
            <p:ph idx="1"/>
          </p:nvPr>
        </p:nvSpPr>
        <p:spPr>
          <a:xfrm>
            <a:off x="131180" y="863444"/>
            <a:ext cx="12060820" cy="5590565"/>
          </a:xfrm>
        </p:spPr>
        <p:txBody>
          <a:bodyPr/>
          <a:lstStyle/>
          <a:p>
            <a:r>
              <a:rPr lang="en-IN" dirty="0"/>
              <a:t>Hydration plays a critical role in maintaining high focus and cognitive energy throughout the day. Dehydration often leads to unexpected fatigue, headaches, and decreased workplace performance. Drinking water regularly keeps the mind sharp and improves daily task efficiency.</a:t>
            </a:r>
          </a:p>
          <a:p>
            <a:pPr lvl="1"/>
            <a:r>
              <a:rPr lang="en-IN" dirty="0"/>
              <a:t>Staying hydrated maintains high cognitive focus and prevents fatigue during daily activities.</a:t>
            </a:r>
          </a:p>
          <a:p>
            <a:r>
              <a:rPr lang="en-IN" dirty="0"/>
              <a:t>Automated software testing accelerates the application development lifecycle by catching bugs early. It allows developers to test complex code without performing manual, repetitive checks. Ultimately, this leads to faster software releases and higher overall product quality.</a:t>
            </a:r>
          </a:p>
          <a:p>
            <a:pPr lvl="1"/>
            <a:r>
              <a:rPr lang="en-IN" dirty="0"/>
              <a:t>Automated testing speeds up software development and improves product quality by catching bugs early.</a:t>
            </a:r>
          </a:p>
          <a:p>
            <a:r>
              <a:rPr lang="en-IN" dirty="0"/>
              <a:t>Financial literacy enables individuals to make smart choices regarding savings and investments. Understanding basic budgeting principles helps people avoid unnecessary debt and build security. Starting financial planning early ensures a stable and comfortable future.</a:t>
            </a:r>
          </a:p>
          <a:p>
            <a:pPr lvl="1"/>
            <a:r>
              <a:rPr lang="en-IN" dirty="0"/>
              <a:t>Basic financial literacy helps people manage budgets, avoid debt, and build long-term security.</a:t>
            </a:r>
          </a:p>
          <a:p>
            <a:endParaRPr lang="en-US" dirty="0"/>
          </a:p>
        </p:txBody>
      </p:sp>
      <p:sp>
        <p:nvSpPr>
          <p:cNvPr id="3" name="Title 2">
            <a:extLst>
              <a:ext uri="{FF2B5EF4-FFF2-40B4-BE49-F238E27FC236}">
                <a16:creationId xmlns:a16="http://schemas.microsoft.com/office/drawing/2014/main" id="{58B35DDB-06E5-BB84-E16E-D7323EA2B319}"/>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102283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7A503-50F0-FFCD-124F-7C572C5D67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DE013A-DFCB-2244-F404-D2B651AA3545}"/>
              </a:ext>
            </a:extLst>
          </p:cNvPr>
          <p:cNvSpPr>
            <a:spLocks noGrp="1"/>
          </p:cNvSpPr>
          <p:nvPr>
            <p:ph idx="1"/>
          </p:nvPr>
        </p:nvSpPr>
        <p:spPr>
          <a:xfrm>
            <a:off x="131180" y="863444"/>
            <a:ext cx="12060820" cy="5590565"/>
          </a:xfrm>
        </p:spPr>
        <p:txBody>
          <a:bodyPr/>
          <a:lstStyle/>
          <a:p>
            <a:r>
              <a:rPr lang="en-IN" dirty="0"/>
              <a:t>Data privacy regulations require companies to handle customer information with care and transparency. Organizations must implement secure storage systems to protect sensitive records from cyber threats. Compliance builds trust and prevents heavy legal penalties for data breaches.</a:t>
            </a:r>
          </a:p>
          <a:p>
            <a:pPr lvl="1"/>
            <a:r>
              <a:rPr lang="en-IN" dirty="0"/>
              <a:t>Protecting customer data ensures legal compliance and builds long-term customer trust.</a:t>
            </a:r>
          </a:p>
          <a:p>
            <a:r>
              <a:rPr lang="en-IN" dirty="0"/>
              <a:t>Remote work offers flexible schedules, allowing employees to manage personal and professional duties better. However, it requires strong self-discipline to prevent work from bleeding into personal time. Setting clear boundaries is necessary to maintain a healthy work-life balance.</a:t>
            </a:r>
          </a:p>
          <a:p>
            <a:pPr lvl="1"/>
            <a:r>
              <a:rPr lang="en-IN" dirty="0"/>
              <a:t>Remote work provides schedule flexibility but demands self-discipline to maintain a work-life balance.</a:t>
            </a:r>
          </a:p>
          <a:p>
            <a:r>
              <a:rPr lang="en-IN" dirty="0"/>
              <a:t>Continuous learning helps professionals stay relevant in a fast-evolving job market. Acquiring new skills opens up better career opportunities and increases overall job security. Employees who dedicate time to self-improvement remain valuable assets to their teams.</a:t>
            </a:r>
          </a:p>
          <a:p>
            <a:pPr lvl="1"/>
            <a:r>
              <a:rPr lang="en-IN" dirty="0"/>
              <a:t>Regularly learning new skills improves job security and opens up better career opportunities.</a:t>
            </a:r>
          </a:p>
          <a:p>
            <a:endParaRPr lang="en-US" dirty="0"/>
          </a:p>
        </p:txBody>
      </p:sp>
      <p:sp>
        <p:nvSpPr>
          <p:cNvPr id="3" name="Title 2">
            <a:extLst>
              <a:ext uri="{FF2B5EF4-FFF2-40B4-BE49-F238E27FC236}">
                <a16:creationId xmlns:a16="http://schemas.microsoft.com/office/drawing/2014/main" id="{A2F92561-41A9-D91A-BB5F-078A205D026A}"/>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56706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A3E9C-FD3A-94CF-1E09-85DF53A3C9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A44652-40C8-48D7-D863-D6D0E3141ACD}"/>
              </a:ext>
            </a:extLst>
          </p:cNvPr>
          <p:cNvSpPr>
            <a:spLocks noGrp="1"/>
          </p:cNvSpPr>
          <p:nvPr>
            <p:ph idx="1"/>
          </p:nvPr>
        </p:nvSpPr>
        <p:spPr>
          <a:xfrm>
            <a:off x="131180" y="863444"/>
            <a:ext cx="12060820" cy="5590565"/>
          </a:xfrm>
        </p:spPr>
        <p:txBody>
          <a:bodyPr/>
          <a:lstStyle/>
          <a:p>
            <a:r>
              <a:rPr lang="en-IN" dirty="0"/>
              <a:t>Customer feedback provides valuable insights into how a product performs in the real world. Listening to complaints allows companies to fix flaws and improve overall satisfaction. Ultimately, prioritizing user opinions drives long-term customer loyalty.</a:t>
            </a:r>
          </a:p>
          <a:p>
            <a:pPr lvl="1"/>
            <a:r>
              <a:rPr lang="en-IN" dirty="0"/>
              <a:t>Using customer feedback to fix product flaws boosts satisfaction and builds long-term loyalty.</a:t>
            </a:r>
          </a:p>
          <a:p>
            <a:r>
              <a:rPr lang="en-IN" dirty="0"/>
              <a:t>Sustainable business practices help protect natural resources while cutting operational waste. Using energy-efficient equipment lowers utility costs and reduces a company's carbon footprint. Modern consumers prefer supporting brands that demonstrate eco-friendly values.</a:t>
            </a:r>
          </a:p>
          <a:p>
            <a:pPr lvl="1"/>
            <a:r>
              <a:rPr lang="en-IN" dirty="0"/>
              <a:t>Eco-friendly practices lower business costs, reduce waste, and attract environmentally conscious customers.</a:t>
            </a:r>
          </a:p>
          <a:p>
            <a:r>
              <a:rPr lang="en-IN" dirty="0"/>
              <a:t>Agile methodologies encourage teams to deliver software updates in small, iterative stages. This approach allows developers to adapt quickly to changing project requirements. Frequent testing ensures that final products align closely with customer needs.</a:t>
            </a:r>
          </a:p>
          <a:p>
            <a:pPr lvl="1"/>
            <a:r>
              <a:rPr lang="en-IN" dirty="0"/>
              <a:t>Agile development uses small, iterative updates to quickly adapt to changing project needs.</a:t>
            </a:r>
          </a:p>
          <a:p>
            <a:endParaRPr lang="en-US" dirty="0"/>
          </a:p>
        </p:txBody>
      </p:sp>
      <p:sp>
        <p:nvSpPr>
          <p:cNvPr id="3" name="Title 2">
            <a:extLst>
              <a:ext uri="{FF2B5EF4-FFF2-40B4-BE49-F238E27FC236}">
                <a16:creationId xmlns:a16="http://schemas.microsoft.com/office/drawing/2014/main" id="{0C289EF0-0DB6-DA86-8F45-0747BEC16D59}"/>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64102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97ED6-0529-48A8-5562-C19E9A23F5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F5D41C-4F45-D733-35D4-70B44521EBEF}"/>
              </a:ext>
            </a:extLst>
          </p:cNvPr>
          <p:cNvSpPr>
            <a:spLocks noGrp="1"/>
          </p:cNvSpPr>
          <p:nvPr>
            <p:ph idx="1"/>
          </p:nvPr>
        </p:nvSpPr>
        <p:spPr>
          <a:xfrm>
            <a:off x="131180" y="863444"/>
            <a:ext cx="12060820" cy="5590565"/>
          </a:xfrm>
        </p:spPr>
        <p:txBody>
          <a:bodyPr/>
          <a:lstStyle/>
          <a:p>
            <a:r>
              <a:rPr lang="en-IN" dirty="0"/>
              <a:t>Deep work involves focusing on complex tasks without any digital distractions or interruptions. Dedicating uninterrupted blocks of time to important work yields higher quality results. Eliminating social media alerts during work hours dramatically speeds up task completion.</a:t>
            </a:r>
          </a:p>
          <a:p>
            <a:pPr lvl="1"/>
            <a:r>
              <a:rPr lang="en-IN" dirty="0"/>
              <a:t>Focusing on tasks without digital distractions produces higher quality work in less time.</a:t>
            </a:r>
          </a:p>
          <a:p>
            <a:r>
              <a:rPr lang="en-IN" dirty="0"/>
              <a:t>Strong leadership relies on active listening and empathy rather than simply issuing orders. Leaders who value team input build trust and boost overall employee morale. A supportive manager inspires higher engagement and better performance across the team.</a:t>
            </a:r>
          </a:p>
          <a:p>
            <a:pPr lvl="1"/>
            <a:r>
              <a:rPr lang="en-IN" dirty="0"/>
              <a:t>Empathetic leadership and active listening raise employee morale and drive team performance.</a:t>
            </a:r>
          </a:p>
          <a:p>
            <a:r>
              <a:rPr lang="en-IN" dirty="0"/>
              <a:t>Proper ergonomics in the workplace prevents chronic physical discomfort and long-term injury. Using adjustable chairs and placing monitors at eye level supports healthy posture. Taking short physical breaks throughout the day keeps employees comfortable and productive.</a:t>
            </a:r>
          </a:p>
          <a:p>
            <a:pPr lvl="1"/>
            <a:r>
              <a:rPr lang="en-IN" dirty="0"/>
              <a:t>Ergonomic seating and regular breaks prevent physical discomfort and sustain daily workplace focus.</a:t>
            </a:r>
          </a:p>
          <a:p>
            <a:endParaRPr lang="en-US" dirty="0"/>
          </a:p>
        </p:txBody>
      </p:sp>
      <p:sp>
        <p:nvSpPr>
          <p:cNvPr id="3" name="Title 2">
            <a:extLst>
              <a:ext uri="{FF2B5EF4-FFF2-40B4-BE49-F238E27FC236}">
                <a16:creationId xmlns:a16="http://schemas.microsoft.com/office/drawing/2014/main" id="{69296A12-0E9C-74C6-AEDA-6391CC83861D}"/>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14051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18A28-B845-8986-6765-BAEC09D3410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79A015-D146-B6C4-0E11-48AC46328771}"/>
              </a:ext>
            </a:extLst>
          </p:cNvPr>
          <p:cNvSpPr>
            <a:spLocks noGrp="1"/>
          </p:cNvSpPr>
          <p:nvPr>
            <p:ph idx="1"/>
          </p:nvPr>
        </p:nvSpPr>
        <p:spPr>
          <a:xfrm>
            <a:off x="131180" y="863444"/>
            <a:ext cx="12060820" cy="5590565"/>
          </a:xfrm>
        </p:spPr>
        <p:txBody>
          <a:bodyPr/>
          <a:lstStyle/>
          <a:p>
            <a:r>
              <a:rPr lang="en-IN" dirty="0"/>
              <a:t>Cybersecurity awareness training educates staff on how to spot suspicious phishing emails. Human error remains one of the primary causes of organizational security breaches. Teaching employees basic security protocols protects sensitive network systems from unauthorized access.</a:t>
            </a:r>
          </a:p>
          <a:p>
            <a:pPr lvl="1"/>
            <a:r>
              <a:rPr lang="en-IN" dirty="0"/>
              <a:t>Training employees to spot phishing emails reduces human error and secures corporate networks.</a:t>
            </a:r>
          </a:p>
          <a:p>
            <a:r>
              <a:rPr lang="en-IN" dirty="0"/>
              <a:t>Brainstorming sessions encourage team members to share creative ideas without fear of criticism. Diverse perspectives often lead to innovative solutions for tough organizational problems. Collaboration transforms individual insights into powerful collective strategies.</a:t>
            </a:r>
          </a:p>
          <a:p>
            <a:pPr lvl="1"/>
            <a:r>
              <a:rPr lang="en-IN" dirty="0"/>
              <a:t>Open group brainstorming encourages diverse ideas that lead to innovative problem-solving.</a:t>
            </a:r>
          </a:p>
          <a:p>
            <a:r>
              <a:rPr lang="en-IN" dirty="0"/>
              <a:t>Maintaining an organized workspace reduces mental clutter and speeds up task execution. Finding documents quickly saves valuable minutes that add up over a busy workweek. A clean environment fosters a clear mind and improves overall daily efficiency.</a:t>
            </a:r>
          </a:p>
          <a:p>
            <a:pPr lvl="1"/>
            <a:r>
              <a:rPr lang="en-IN" dirty="0"/>
              <a:t>Keeping a clean, organized workspace saves time and improves mental clarity during work.</a:t>
            </a:r>
          </a:p>
          <a:p>
            <a:endParaRPr lang="en-US" dirty="0"/>
          </a:p>
        </p:txBody>
      </p:sp>
      <p:sp>
        <p:nvSpPr>
          <p:cNvPr id="3" name="Title 2">
            <a:extLst>
              <a:ext uri="{FF2B5EF4-FFF2-40B4-BE49-F238E27FC236}">
                <a16:creationId xmlns:a16="http://schemas.microsoft.com/office/drawing/2014/main" id="{354E8200-71F4-BEA1-F3B4-69DA90B6DC19}"/>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60913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15444-7226-15D4-B40E-0A7FFE2E353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6AC65D-0E79-228B-5315-19C6CA712BAE}"/>
              </a:ext>
            </a:extLst>
          </p:cNvPr>
          <p:cNvSpPr>
            <a:spLocks noGrp="1"/>
          </p:cNvSpPr>
          <p:nvPr>
            <p:ph idx="1"/>
          </p:nvPr>
        </p:nvSpPr>
        <p:spPr>
          <a:xfrm>
            <a:off x="131180" y="863444"/>
            <a:ext cx="12060820" cy="5590565"/>
          </a:xfrm>
        </p:spPr>
        <p:txBody>
          <a:bodyPr/>
          <a:lstStyle/>
          <a:p>
            <a:r>
              <a:rPr lang="en-IN" dirty="0"/>
              <a:t>Cross-functional collaboration brings together experts from different departments to solve common goals. This exchange of knowledge breaks down operational silos within a business. As a result, projects benefit from well-rounded strategies and faster delivery times.</a:t>
            </a:r>
          </a:p>
          <a:p>
            <a:pPr lvl="1"/>
            <a:r>
              <a:rPr lang="en-IN" dirty="0"/>
              <a:t>Collaboration across different departments breaks operational silos and improves project outcomes.</a:t>
            </a:r>
          </a:p>
          <a:p>
            <a:r>
              <a:rPr lang="en-IN" dirty="0"/>
              <a:t>Quality sleep is essential for memory consolidation and sharp decision-making skills. Chronic sleep deprivation degrades attention span and slows down reaction times. Prioritizing seven to eight hours of rest ensures optimal daily cognitive functioning.</a:t>
            </a:r>
          </a:p>
          <a:p>
            <a:pPr lvl="1"/>
            <a:r>
              <a:rPr lang="en-IN" dirty="0"/>
              <a:t>Getting adequate sleep restores focus, improves memory, and sharpens daily decision-making skills.</a:t>
            </a:r>
          </a:p>
          <a:p>
            <a:r>
              <a:rPr lang="en-IN" dirty="0"/>
              <a:t>Digital marketing relies on search engine optimization to attract target audiences organically. Higher search engine rankings increase website traffic and boost brand visibility. Producing relevant, high-quality content is key to sustaining online growth.</a:t>
            </a:r>
          </a:p>
          <a:p>
            <a:pPr lvl="1"/>
            <a:r>
              <a:rPr lang="en-IN" dirty="0"/>
              <a:t>SEO and quality content creation drive organic web traffic and enhance online visibility.</a:t>
            </a:r>
          </a:p>
          <a:p>
            <a:endParaRPr lang="en-US" dirty="0"/>
          </a:p>
        </p:txBody>
      </p:sp>
      <p:sp>
        <p:nvSpPr>
          <p:cNvPr id="3" name="Title 2">
            <a:extLst>
              <a:ext uri="{FF2B5EF4-FFF2-40B4-BE49-F238E27FC236}">
                <a16:creationId xmlns:a16="http://schemas.microsoft.com/office/drawing/2014/main" id="{55383081-5DBE-DABC-62F4-EFA41E19360D}"/>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87966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3F107-5A03-1B44-6340-1D19AE35BE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677898-4486-A432-E119-E05761D71350}"/>
              </a:ext>
            </a:extLst>
          </p:cNvPr>
          <p:cNvSpPr>
            <a:spLocks noGrp="1"/>
          </p:cNvSpPr>
          <p:nvPr>
            <p:ph idx="1"/>
          </p:nvPr>
        </p:nvSpPr>
        <p:spPr>
          <a:xfrm>
            <a:off x="131180" y="863444"/>
            <a:ext cx="12060820" cy="5590565"/>
          </a:xfrm>
        </p:spPr>
        <p:txBody>
          <a:bodyPr/>
          <a:lstStyle/>
          <a:p>
            <a:r>
              <a:rPr lang="en-IN" dirty="0"/>
              <a:t>Conflict resolution skills help managers address workplace disputes quickly and fairly. Neutral mediation prevents small disagreements from turning into major team disruptions. Resolving issues early maintains a harmonious and productive work environment.</a:t>
            </a:r>
          </a:p>
          <a:p>
            <a:pPr lvl="1"/>
            <a:r>
              <a:rPr lang="en-IN" dirty="0"/>
              <a:t>Resolving workplace disputes early through neutral mediation preserves team harmony and productivity.</a:t>
            </a:r>
          </a:p>
          <a:p>
            <a:r>
              <a:rPr lang="en-IN" dirty="0"/>
              <a:t>Time-tracking tools help freelancers and remote workers monitor their daily productivity. Seeing where hours are spent highlights inefficiencies and prevents time-wasting habits. Accurate tracking also ensures fair and precise billing for client projects.</a:t>
            </a:r>
          </a:p>
          <a:p>
            <a:pPr lvl="1"/>
            <a:r>
              <a:rPr lang="en-IN" dirty="0"/>
              <a:t>Time-tracking tools highlight work inefficiencies and ensure accurate client project billing.</a:t>
            </a:r>
          </a:p>
          <a:p>
            <a:r>
              <a:rPr lang="en-IN" dirty="0"/>
              <a:t>Networking builds professional connections that open doors to future career opportunities. Attending industry events allows individuals to exchange insights and stay updated on trends. Maintaining strong professional relationships yields valuable support over time.</a:t>
            </a:r>
          </a:p>
          <a:p>
            <a:pPr lvl="1"/>
            <a:r>
              <a:rPr lang="en-IN" dirty="0"/>
              <a:t>Networking helps professionals stay informed on trends and opens up future career options.</a:t>
            </a:r>
          </a:p>
          <a:p>
            <a:endParaRPr lang="en-US" dirty="0"/>
          </a:p>
        </p:txBody>
      </p:sp>
      <p:sp>
        <p:nvSpPr>
          <p:cNvPr id="3" name="Title 2">
            <a:extLst>
              <a:ext uri="{FF2B5EF4-FFF2-40B4-BE49-F238E27FC236}">
                <a16:creationId xmlns:a16="http://schemas.microsoft.com/office/drawing/2014/main" id="{291B66E2-939F-C538-B681-0158BBA65565}"/>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148669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357CF-7843-E7C8-BB48-4AE7EEBE89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5A0F4B-6204-6464-AF8C-23073B727B0B}"/>
              </a:ext>
            </a:extLst>
          </p:cNvPr>
          <p:cNvSpPr>
            <a:spLocks noGrp="1"/>
          </p:cNvSpPr>
          <p:nvPr>
            <p:ph idx="1"/>
          </p:nvPr>
        </p:nvSpPr>
        <p:spPr>
          <a:xfrm>
            <a:off x="131180" y="863444"/>
            <a:ext cx="12060820" cy="5590565"/>
          </a:xfrm>
        </p:spPr>
        <p:txBody>
          <a:bodyPr/>
          <a:lstStyle/>
          <a:p>
            <a:r>
              <a:rPr lang="en-IN" dirty="0"/>
              <a:t>Micro-learning breaks complex subjects down into short, highly focused study modules. Learners digest bite-sized information much faster than reading dense textbooks. This method improves retention rates and fits easily into busy daily routines.</a:t>
            </a:r>
          </a:p>
          <a:p>
            <a:pPr lvl="1"/>
            <a:r>
              <a:rPr lang="en-IN" dirty="0"/>
              <a:t>Micro-learning uses short, focused modules to improve information retention and save study time.</a:t>
            </a:r>
          </a:p>
          <a:p>
            <a:r>
              <a:rPr lang="en-IN" dirty="0"/>
              <a:t>A positive corporate culture attracts top talent and reduces employee turnover rates. When workers feel valued and supported, their motivation and loyalty increase. Investing in workplace culture yields strong long-term business performance.</a:t>
            </a:r>
          </a:p>
          <a:p>
            <a:pPr lvl="1"/>
            <a:r>
              <a:rPr lang="en-IN" dirty="0"/>
              <a:t>A supportive company culture increases employee retention, motivation, and overall business success.</a:t>
            </a:r>
          </a:p>
          <a:p>
            <a:r>
              <a:rPr lang="en-IN" dirty="0"/>
              <a:t>Version control systems like Git help software engineers manage code changes safely. Developers can track modifications, collaborate on projects, and revert mistakes instantly. This safeguards codebases and ensures seamless team development workflows.</a:t>
            </a:r>
          </a:p>
          <a:p>
            <a:pPr lvl="1"/>
            <a:r>
              <a:rPr lang="en-IN" dirty="0"/>
              <a:t>Version control systems allow developers to track code updates safely and collaborate efficiently.</a:t>
            </a:r>
          </a:p>
          <a:p>
            <a:endParaRPr lang="en-US" dirty="0"/>
          </a:p>
        </p:txBody>
      </p:sp>
      <p:sp>
        <p:nvSpPr>
          <p:cNvPr id="3" name="Title 2">
            <a:extLst>
              <a:ext uri="{FF2B5EF4-FFF2-40B4-BE49-F238E27FC236}">
                <a16:creationId xmlns:a16="http://schemas.microsoft.com/office/drawing/2014/main" id="{8C2AA6FB-F67F-B216-16E1-51DEC716B8A7}"/>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10717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69F5-6A73-52C8-B6DA-8A1A5153DB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B72E58-4481-AD04-645F-A5027825149C}"/>
              </a:ext>
            </a:extLst>
          </p:cNvPr>
          <p:cNvSpPr>
            <a:spLocks noGrp="1"/>
          </p:cNvSpPr>
          <p:nvPr>
            <p:ph idx="1"/>
          </p:nvPr>
        </p:nvSpPr>
        <p:spPr>
          <a:xfrm>
            <a:off x="131180" y="863444"/>
            <a:ext cx="12060820" cy="5590565"/>
          </a:xfrm>
        </p:spPr>
        <p:txBody>
          <a:bodyPr/>
          <a:lstStyle/>
          <a:p>
            <a:r>
              <a:rPr lang="en-IN" dirty="0"/>
              <a:t>Diversifying investments spreads financial risk across different asset classes like stocks and bonds. If one sector underperforms, gains in another area help balance overall losses. This strategy protects wealth while building steady long-term returns.</a:t>
            </a:r>
          </a:p>
          <a:p>
            <a:pPr lvl="1"/>
            <a:r>
              <a:rPr lang="en-IN" dirty="0"/>
              <a:t>Investment diversification spreads risk across various assets to protect long-term portfolio growth.</a:t>
            </a:r>
          </a:p>
          <a:p>
            <a:r>
              <a:rPr lang="en-IN" dirty="0"/>
              <a:t>Clear documentation is crucial for training new employees and preserving company knowledge. Step-by-step guides allow new hires to onboard smoothly without constant supervision. Documenting processes ensures consistency across all business operations.</a:t>
            </a:r>
          </a:p>
          <a:p>
            <a:pPr lvl="1"/>
            <a:r>
              <a:rPr lang="en-IN" dirty="0"/>
              <a:t>Process documentation helps onboard new hires efficiently and keeps operations consistent.</a:t>
            </a:r>
          </a:p>
          <a:p>
            <a:r>
              <a:rPr lang="en-IN" dirty="0"/>
              <a:t>Critical thinking enables professionals to evaluate information objectively before making key decisions. It prevents individuals from relying on assumptions or unverified hearsay. </a:t>
            </a:r>
            <a:r>
              <a:rPr lang="en-IN" dirty="0" err="1"/>
              <a:t>Analyzing</a:t>
            </a:r>
            <a:r>
              <a:rPr lang="en-IN" dirty="0"/>
              <a:t> evidence carefully leads to more reliable, high-impact business outcomes.</a:t>
            </a:r>
          </a:p>
          <a:p>
            <a:pPr lvl="1"/>
            <a:r>
              <a:rPr lang="en-IN" dirty="0"/>
              <a:t>Objective critical thinking prevents bad assumptions and leads to better business decisions.</a:t>
            </a:r>
          </a:p>
          <a:p>
            <a:endParaRPr lang="en-US" dirty="0"/>
          </a:p>
        </p:txBody>
      </p:sp>
      <p:sp>
        <p:nvSpPr>
          <p:cNvPr id="3" name="Title 2">
            <a:extLst>
              <a:ext uri="{FF2B5EF4-FFF2-40B4-BE49-F238E27FC236}">
                <a16:creationId xmlns:a16="http://schemas.microsoft.com/office/drawing/2014/main" id="{ED8F9118-09ED-AA8E-BE4C-F1EE2BFFD888}"/>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1769515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DC9F8-CA8E-00D1-FE77-F20C53D9926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9F7ABB-BD32-9ACF-1067-BF41D9FF012B}"/>
              </a:ext>
            </a:extLst>
          </p:cNvPr>
          <p:cNvSpPr>
            <a:spLocks noGrp="1"/>
          </p:cNvSpPr>
          <p:nvPr>
            <p:ph idx="1"/>
          </p:nvPr>
        </p:nvSpPr>
        <p:spPr>
          <a:xfrm>
            <a:off x="131180" y="863444"/>
            <a:ext cx="12060820" cy="5590565"/>
          </a:xfrm>
        </p:spPr>
        <p:txBody>
          <a:bodyPr/>
          <a:lstStyle/>
          <a:p>
            <a:r>
              <a:rPr lang="en-IN" dirty="0"/>
              <a:t>Supply chain transparency allows businesses to track products from raw materials to final delivery. Identifying bottlenecks early prevents costly shipment delays and keeps inventory balanced. It also reassures customers about product origin and ethical sourcing.</a:t>
            </a:r>
          </a:p>
          <a:p>
            <a:pPr lvl="1"/>
            <a:r>
              <a:rPr lang="en-IN" dirty="0"/>
              <a:t>Supply chain visibility prevents product delays and reassures customers about ethical sourcing.</a:t>
            </a:r>
          </a:p>
          <a:p>
            <a:r>
              <a:rPr lang="en-IN" dirty="0"/>
              <a:t>Public speaking skills can be developed through consistent practice and thorough preparation. Structuring ideas logically and maintaining eye contact engages the audience effectively. Overcoming presentation anxiety builds immense professional confidence.</a:t>
            </a:r>
          </a:p>
          <a:p>
            <a:pPr lvl="1"/>
            <a:r>
              <a:rPr lang="en-IN" b="1" dirty="0"/>
              <a:t>:</a:t>
            </a:r>
            <a:r>
              <a:rPr lang="en-IN" dirty="0"/>
              <a:t> Practice and logical preparation help overcome speaking anxiety to deliver engaging presentations.</a:t>
            </a:r>
          </a:p>
          <a:p>
            <a:r>
              <a:rPr lang="en-IN" dirty="0"/>
              <a:t>Emotional intelligence helps individuals manage their own emotions and navigate social dynamics. High EQ enables better empathy, active listening, and stress management under pressure. People with strong emotional intelligence excel in team environments.</a:t>
            </a:r>
          </a:p>
          <a:p>
            <a:pPr lvl="1"/>
            <a:r>
              <a:rPr lang="en-IN" dirty="0"/>
              <a:t>Emotional intelligence improves workplace empathy, stress management, and collaborative teamwork.</a:t>
            </a:r>
          </a:p>
          <a:p>
            <a:endParaRPr lang="en-US" dirty="0"/>
          </a:p>
        </p:txBody>
      </p:sp>
      <p:sp>
        <p:nvSpPr>
          <p:cNvPr id="3" name="Title 2">
            <a:extLst>
              <a:ext uri="{FF2B5EF4-FFF2-40B4-BE49-F238E27FC236}">
                <a16:creationId xmlns:a16="http://schemas.microsoft.com/office/drawing/2014/main" id="{396B17A5-F59C-5834-A070-533C5143517E}"/>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13966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FF9E3-89AF-4DE1-6CC5-BC2DE5BC1D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DB0A66-1A0C-6C27-8DFE-52594A32086A}"/>
              </a:ext>
            </a:extLst>
          </p:cNvPr>
          <p:cNvSpPr>
            <a:spLocks noGrp="1"/>
          </p:cNvSpPr>
          <p:nvPr>
            <p:ph idx="1"/>
          </p:nvPr>
        </p:nvSpPr>
        <p:spPr>
          <a:xfrm>
            <a:off x="131180" y="863444"/>
            <a:ext cx="12060820" cy="5590565"/>
          </a:xfrm>
        </p:spPr>
        <p:txBody>
          <a:bodyPr/>
          <a:lstStyle/>
          <a:p>
            <a:r>
              <a:rPr lang="en-IN" dirty="0"/>
              <a:t>Data backups protect critical company files against ransomware attacks and hardware failure. Storing copies in secure cloud locations allows for rapid system recovery after disasters. Regular backup routines prevent catastrophic data loss for businesses.</a:t>
            </a:r>
          </a:p>
          <a:p>
            <a:pPr lvl="1"/>
            <a:r>
              <a:rPr lang="en-IN" dirty="0"/>
              <a:t>Routine data backups ensure quick business recovery and protect against hardware failures.</a:t>
            </a:r>
          </a:p>
          <a:p>
            <a:r>
              <a:rPr lang="en-IN" dirty="0"/>
              <a:t>Vendor management involves negotiating fair contracts and maintaining good supplier relationships. Reliable suppliers ensure that projects stay on schedule and within assigned budgets. Strong partnerships lead to better pricing and priority service support.</a:t>
            </a:r>
          </a:p>
          <a:p>
            <a:pPr lvl="1"/>
            <a:r>
              <a:rPr lang="en-IN" dirty="0"/>
              <a:t>Good vendor relationships keep projects on schedule and secure </a:t>
            </a:r>
            <a:r>
              <a:rPr lang="en-IN" dirty="0" err="1"/>
              <a:t>favorable</a:t>
            </a:r>
            <a:r>
              <a:rPr lang="en-IN" dirty="0"/>
              <a:t> service pricing.</a:t>
            </a:r>
          </a:p>
          <a:p>
            <a:r>
              <a:rPr lang="en-IN" dirty="0"/>
              <a:t>Delegating tasks allows managers to focus on high-level strategic priorities rather than minor details. It also empowers team members to develop new skills and take ownership. Effective delegation increases overall team capacity and productivity.</a:t>
            </a:r>
          </a:p>
          <a:p>
            <a:pPr lvl="1"/>
            <a:r>
              <a:rPr lang="en-IN" dirty="0"/>
              <a:t> Delegating routine tasks empowers employees and frees managers to focus on core strategy.</a:t>
            </a:r>
          </a:p>
          <a:p>
            <a:endParaRPr lang="en-US" dirty="0"/>
          </a:p>
        </p:txBody>
      </p:sp>
      <p:sp>
        <p:nvSpPr>
          <p:cNvPr id="3" name="Title 2">
            <a:extLst>
              <a:ext uri="{FF2B5EF4-FFF2-40B4-BE49-F238E27FC236}">
                <a16:creationId xmlns:a16="http://schemas.microsoft.com/office/drawing/2014/main" id="{E83E19F1-77D6-8EE2-0070-E2EC84D524D9}"/>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108999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A510F-E11F-E423-522F-DE0A0C2D98D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146036-C82E-59A3-C11C-C2CD68B61462}"/>
              </a:ext>
            </a:extLst>
          </p:cNvPr>
          <p:cNvSpPr>
            <a:spLocks noGrp="1"/>
          </p:cNvSpPr>
          <p:nvPr>
            <p:ph idx="1"/>
          </p:nvPr>
        </p:nvSpPr>
        <p:spPr>
          <a:xfrm>
            <a:off x="131180" y="863444"/>
            <a:ext cx="12060820" cy="5590565"/>
          </a:xfrm>
        </p:spPr>
        <p:txBody>
          <a:bodyPr/>
          <a:lstStyle/>
          <a:p>
            <a:r>
              <a:rPr lang="en-IN" dirty="0"/>
              <a:t>Automated email sequences help businesses nurture leads with minimal manual effort. Sending timely, relevant messages keeps potential clients engaged throughout the sales funnel. This modern strategy increases conversion rates while saving marketing time.</a:t>
            </a:r>
          </a:p>
          <a:p>
            <a:pPr lvl="1"/>
            <a:r>
              <a:rPr lang="en-IN" dirty="0"/>
              <a:t>Automated emails nurture client leads efficiently, raising conversion rates while saving time.</a:t>
            </a:r>
          </a:p>
          <a:p>
            <a:r>
              <a:rPr lang="en-IN" dirty="0"/>
              <a:t>Ad-blocking software speeds up web page loading times by stripping out heavy scripts. It also protects users from malicious online advertisements designed to steal data. Using privacy extensions leads to a safer and smoother browsing experience.</a:t>
            </a:r>
          </a:p>
          <a:p>
            <a:pPr lvl="1"/>
            <a:r>
              <a:rPr lang="en-IN" dirty="0"/>
              <a:t>Ad-blockers improve web browsing speed while protecting users from malicious online ads.</a:t>
            </a:r>
          </a:p>
          <a:p>
            <a:r>
              <a:rPr lang="en-IN" dirty="0"/>
              <a:t>Change management strategies prepare employees for major corporate transitions and system upgrades. Transparent communication helps address employee fears and reduces workplace resistance. Structured support ensures smooth adoption of new organizational processes.</a:t>
            </a:r>
          </a:p>
          <a:p>
            <a:pPr lvl="1"/>
            <a:r>
              <a:rPr lang="en-IN" dirty="0"/>
              <a:t>Structured change management reduces employee resistance and ensures smooth organizational transitions.</a:t>
            </a:r>
          </a:p>
          <a:p>
            <a:endParaRPr lang="en-US" dirty="0"/>
          </a:p>
        </p:txBody>
      </p:sp>
      <p:sp>
        <p:nvSpPr>
          <p:cNvPr id="3" name="Title 2">
            <a:extLst>
              <a:ext uri="{FF2B5EF4-FFF2-40B4-BE49-F238E27FC236}">
                <a16:creationId xmlns:a16="http://schemas.microsoft.com/office/drawing/2014/main" id="{FDED28DB-4EF1-84E0-A024-64E6A7A08F77}"/>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193457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79A25-FA08-0088-A528-8DDF46F7B0D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0AA595-EA26-E022-A584-3EB010A5A65C}"/>
              </a:ext>
            </a:extLst>
          </p:cNvPr>
          <p:cNvSpPr>
            <a:spLocks noGrp="1"/>
          </p:cNvSpPr>
          <p:nvPr>
            <p:ph idx="1"/>
          </p:nvPr>
        </p:nvSpPr>
        <p:spPr>
          <a:xfrm>
            <a:off x="131180" y="863444"/>
            <a:ext cx="12060820" cy="5590565"/>
          </a:xfrm>
        </p:spPr>
        <p:txBody>
          <a:bodyPr/>
          <a:lstStyle/>
          <a:p>
            <a:r>
              <a:rPr lang="en-IN" dirty="0"/>
              <a:t>Consistent branding creates a recognizable identity across all marketing channels. Using uniform </a:t>
            </a:r>
            <a:r>
              <a:rPr lang="en-IN" dirty="0" err="1"/>
              <a:t>colors</a:t>
            </a:r>
            <a:r>
              <a:rPr lang="en-IN" dirty="0"/>
              <a:t>, logos, and messaging builds strong brand recall among consumers. Trust develops naturally when a company maintains a polished public image.</a:t>
            </a:r>
          </a:p>
          <a:p>
            <a:pPr lvl="1"/>
            <a:r>
              <a:rPr lang="en-IN" dirty="0"/>
              <a:t>Uniform branding across channels creates strong market recognition and builds customer trust.</a:t>
            </a:r>
          </a:p>
          <a:p>
            <a:r>
              <a:rPr lang="en-IN" dirty="0"/>
              <a:t>Mindfulness practices teach individuals to focus on the present moment without passing judgment. Spending a few minutes meditating daily reduces mental fatigue and anxiety. This practice sharpens daily attention and improves emotional regulation.</a:t>
            </a:r>
          </a:p>
          <a:p>
            <a:pPr lvl="1"/>
            <a:r>
              <a:rPr lang="en-IN" dirty="0"/>
              <a:t>Daily mindfulness meditation reduces mental fatigue and sharpens focus on current tasks.</a:t>
            </a:r>
          </a:p>
          <a:p>
            <a:r>
              <a:rPr lang="en-IN" dirty="0"/>
              <a:t>Customer retention is significantly cheaper for companies than acquiring brand-new clients. Exceptional post-purchase support encourages existing customers to buy again repeatedly. Building strong loyalty programs maximizes long-term customer lifetime value.</a:t>
            </a:r>
          </a:p>
          <a:p>
            <a:pPr lvl="1"/>
            <a:r>
              <a:rPr lang="en-IN" dirty="0"/>
              <a:t>Retaining existing customers through strong service is more cost-effective than finding new ones.</a:t>
            </a:r>
          </a:p>
          <a:p>
            <a:endParaRPr lang="en-US" dirty="0"/>
          </a:p>
        </p:txBody>
      </p:sp>
      <p:sp>
        <p:nvSpPr>
          <p:cNvPr id="3" name="Title 2">
            <a:extLst>
              <a:ext uri="{FF2B5EF4-FFF2-40B4-BE49-F238E27FC236}">
                <a16:creationId xmlns:a16="http://schemas.microsoft.com/office/drawing/2014/main" id="{A89B767C-176C-825C-671E-CE67357DB5CE}"/>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86306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896AC-168C-7CEB-7703-8F9EC802C3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DC58CA-FC1E-F3D0-F205-A2DF9A1420CD}"/>
              </a:ext>
            </a:extLst>
          </p:cNvPr>
          <p:cNvSpPr>
            <a:spLocks noGrp="1"/>
          </p:cNvSpPr>
          <p:nvPr>
            <p:ph idx="1"/>
          </p:nvPr>
        </p:nvSpPr>
        <p:spPr>
          <a:xfrm>
            <a:off x="131180" y="863444"/>
            <a:ext cx="12060820" cy="5590565"/>
          </a:xfrm>
        </p:spPr>
        <p:txBody>
          <a:bodyPr/>
          <a:lstStyle/>
          <a:p>
            <a:r>
              <a:rPr lang="en-IN" dirty="0"/>
              <a:t>Open-source software allows developers worldwide to inspect, modify, and improve code freely. Community collaboration leads to rapid bug fixes and innovative feature updates. It provides a cost-effective alternative to expensive proprietary software.</a:t>
            </a:r>
          </a:p>
          <a:p>
            <a:pPr lvl="1"/>
            <a:r>
              <a:rPr lang="en-IN" dirty="0"/>
              <a:t>Open-source software drives rapid, community-led innovation while cutting licensing costs.</a:t>
            </a:r>
          </a:p>
          <a:p>
            <a:r>
              <a:rPr lang="en-IN" dirty="0"/>
              <a:t>Goal tracking helps teams stay accountable and aligned with long-term business objectives. Breaking massive projects into smaller milestones makes ambitious targets feel achievable. Celebrating incremental wins maintains team momentum and high energy.</a:t>
            </a:r>
          </a:p>
          <a:p>
            <a:pPr lvl="1"/>
            <a:r>
              <a:rPr lang="en-IN" dirty="0"/>
              <a:t>Breaking projects into clear milestones maintains team momentum and tracks goal progress.</a:t>
            </a:r>
          </a:p>
          <a:p>
            <a:r>
              <a:rPr lang="en-IN" dirty="0"/>
              <a:t>Search engine algorithms evaluate website speed and mobile responsiveness when ranking pages. Fast-loading sites offer better user experiences and retain visitors longer. Optimizing code ensures better visibility on competitive search result pages.</a:t>
            </a:r>
          </a:p>
          <a:p>
            <a:pPr lvl="1"/>
            <a:r>
              <a:rPr lang="en-IN" dirty="0"/>
              <a:t>Fast, mobile-friendly websites rank higher on search engines and retain visitors longer.</a:t>
            </a:r>
          </a:p>
          <a:p>
            <a:endParaRPr lang="en-US" dirty="0"/>
          </a:p>
        </p:txBody>
      </p:sp>
      <p:sp>
        <p:nvSpPr>
          <p:cNvPr id="3" name="Title 2">
            <a:extLst>
              <a:ext uri="{FF2B5EF4-FFF2-40B4-BE49-F238E27FC236}">
                <a16:creationId xmlns:a16="http://schemas.microsoft.com/office/drawing/2014/main" id="{FDADEC71-11E4-58AF-89E2-F1D218E77F89}"/>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02538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75407-98DD-09BD-CEC4-A897180921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443FF4-E487-6B70-D565-E97231864B4F}"/>
              </a:ext>
            </a:extLst>
          </p:cNvPr>
          <p:cNvSpPr>
            <a:spLocks noGrp="1"/>
          </p:cNvSpPr>
          <p:nvPr>
            <p:ph idx="1"/>
          </p:nvPr>
        </p:nvSpPr>
        <p:spPr>
          <a:xfrm>
            <a:off x="131180" y="863444"/>
            <a:ext cx="12060820" cy="5590565"/>
          </a:xfrm>
        </p:spPr>
        <p:txBody>
          <a:bodyPr/>
          <a:lstStyle/>
          <a:p>
            <a:r>
              <a:rPr lang="en-IN" dirty="0"/>
              <a:t>Risk assessment identifies potential operational hazards before they disrupt business activities. Developing contingency plans minimizes financial damage during unexpected market downturns. Proactive planning protects company assets and preserves stability.</a:t>
            </a:r>
          </a:p>
          <a:p>
            <a:pPr lvl="1"/>
            <a:r>
              <a:rPr lang="en-IN" dirty="0"/>
              <a:t>Proactive risk assessment minimizes operational downtime and protects business financial stability.</a:t>
            </a:r>
          </a:p>
          <a:p>
            <a:r>
              <a:rPr lang="en-IN" dirty="0"/>
              <a:t>Onboarding programs introduce new hires to company tools, culture, and expectations. Structured guidance speeds up the time it takes for new employees to become productive. A positive onboarding experience reduces early turnover rates significantly.</a:t>
            </a:r>
          </a:p>
          <a:p>
            <a:pPr lvl="1"/>
            <a:r>
              <a:rPr lang="en-IN" dirty="0"/>
              <a:t>Structured onboarding helps new hires become productive faster and cuts early turnover.</a:t>
            </a:r>
          </a:p>
          <a:p>
            <a:r>
              <a:rPr lang="en-IN" dirty="0"/>
              <a:t>Virtual reality training offers immersive, risk-free simulations for complex job technical skills. Trainees can practice hazardous scenarios without endangering physical equipment or safety. This modern method accelerates learning and builds practical muscle memory.</a:t>
            </a:r>
          </a:p>
          <a:p>
            <a:pPr lvl="1"/>
            <a:r>
              <a:rPr lang="en-IN" dirty="0"/>
              <a:t>VR simulations provide safe, practical training for hazardous or complex technical procedures.</a:t>
            </a:r>
          </a:p>
          <a:p>
            <a:endParaRPr lang="en-US" dirty="0"/>
          </a:p>
        </p:txBody>
      </p:sp>
      <p:sp>
        <p:nvSpPr>
          <p:cNvPr id="3" name="Title 2">
            <a:extLst>
              <a:ext uri="{FF2B5EF4-FFF2-40B4-BE49-F238E27FC236}">
                <a16:creationId xmlns:a16="http://schemas.microsoft.com/office/drawing/2014/main" id="{A4AB8404-E6B1-56F6-1C95-659A14D0FA71}"/>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21776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C596A-E1EC-AB3C-FC8C-746C8D19320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FFCA17-C741-8362-C562-B4C0B22A0247}"/>
              </a:ext>
            </a:extLst>
          </p:cNvPr>
          <p:cNvSpPr>
            <a:spLocks noGrp="1"/>
          </p:cNvSpPr>
          <p:nvPr>
            <p:ph idx="1"/>
          </p:nvPr>
        </p:nvSpPr>
        <p:spPr>
          <a:xfrm>
            <a:off x="131180" y="863444"/>
            <a:ext cx="12060820" cy="5590565"/>
          </a:xfrm>
        </p:spPr>
        <p:txBody>
          <a:bodyPr/>
          <a:lstStyle/>
          <a:p>
            <a:r>
              <a:rPr lang="en-IN" dirty="0"/>
              <a:t>Corporate social responsibility demonstrates a company's commitment to ethical community values. Supporting local charitable initiatives boosts brand reputation and employee morale. Modern workers prefer working for companies that actively contribute to society.</a:t>
            </a:r>
          </a:p>
          <a:p>
            <a:pPr lvl="1"/>
            <a:r>
              <a:rPr lang="en-IN" dirty="0"/>
              <a:t>Social responsibility programs enhance brand reputation and boost internal employee pride.</a:t>
            </a:r>
          </a:p>
          <a:p>
            <a:r>
              <a:rPr lang="en-IN" dirty="0"/>
              <a:t>Regular software updates patch known system vulnerabilities against cyber attacks. Delaying updates exposes computers to malicious viruses and unauthorized data access. Keeping systems patched is a fundamental rule of cyber hygiene.</a:t>
            </a:r>
          </a:p>
          <a:p>
            <a:pPr lvl="1"/>
            <a:r>
              <a:rPr lang="en-IN" dirty="0"/>
              <a:t>Installing regular software updates patches system security gaps and blocks cyber threats.</a:t>
            </a:r>
          </a:p>
          <a:p>
            <a:r>
              <a:rPr lang="en-IN" dirty="0"/>
              <a:t>Workplace diversity brings together varied cultural backgrounds, life experiences, and problem-solving styles. Inclusive teams are demonstrably more innovative and better at solving complex problems. Respecting differences creates a vibrant and fair workplace culture.</a:t>
            </a:r>
          </a:p>
          <a:p>
            <a:pPr lvl="1"/>
            <a:r>
              <a:rPr lang="en-IN" dirty="0"/>
              <a:t>Diverse and inclusive teams drive higher innovation through varied problem-solving perspectives.</a:t>
            </a:r>
          </a:p>
          <a:p>
            <a:endParaRPr lang="en-US" dirty="0"/>
          </a:p>
        </p:txBody>
      </p:sp>
      <p:sp>
        <p:nvSpPr>
          <p:cNvPr id="3" name="Title 2">
            <a:extLst>
              <a:ext uri="{FF2B5EF4-FFF2-40B4-BE49-F238E27FC236}">
                <a16:creationId xmlns:a16="http://schemas.microsoft.com/office/drawing/2014/main" id="{734A8A77-5BB4-229F-1BE9-9BB59AE6301A}"/>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95455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A69E3-9436-36F3-91DA-C6112C0B56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A5BA3B-7A7A-8442-D7EB-1D786873268B}"/>
              </a:ext>
            </a:extLst>
          </p:cNvPr>
          <p:cNvSpPr>
            <a:spLocks noGrp="1"/>
          </p:cNvSpPr>
          <p:nvPr>
            <p:ph idx="1"/>
          </p:nvPr>
        </p:nvSpPr>
        <p:spPr>
          <a:xfrm>
            <a:off x="131180" y="863444"/>
            <a:ext cx="12060820" cy="5590565"/>
          </a:xfrm>
        </p:spPr>
        <p:txBody>
          <a:bodyPr/>
          <a:lstStyle/>
          <a:p>
            <a:r>
              <a:rPr lang="en-IN" dirty="0"/>
              <a:t>Performance metrics provide objective data to evaluate employee output and campaign success. Tracking key performance indicators removes bias from performance reviews and promotion choices. Clear metrics help managers make fair, data-informed decisions.</a:t>
            </a:r>
          </a:p>
          <a:p>
            <a:pPr lvl="1"/>
            <a:r>
              <a:rPr lang="en-IN" dirty="0"/>
              <a:t>Key performance metrics offer unbiased, data-driven evaluation of employee productivity.</a:t>
            </a:r>
          </a:p>
          <a:p>
            <a:r>
              <a:rPr lang="en-IN" dirty="0"/>
              <a:t>Active listening requires fully concentrating on what a speaker is saying rather than planning a response. Paraphrasing the speaker's points ensures accurate understanding and avoids miscommunication. This simple skill strengthens trust in all interpersonal relationships.</a:t>
            </a:r>
          </a:p>
          <a:p>
            <a:pPr lvl="1"/>
            <a:r>
              <a:rPr lang="en-IN" dirty="0"/>
              <a:t>Active listening focuses on full understanding to prevent miscommunication and build trust.</a:t>
            </a:r>
          </a:p>
          <a:p>
            <a:r>
              <a:rPr lang="en-IN" dirty="0"/>
              <a:t>Digital transformation replaces manual paper processes with streamlined software workflows. Automating routine tasks cuts administrative overhead and eliminates human error. Businesses that digitize operations remain far more competitive in modern markets.</a:t>
            </a:r>
          </a:p>
          <a:p>
            <a:pPr lvl="1"/>
            <a:r>
              <a:rPr lang="en-IN" dirty="0"/>
              <a:t>Digitizing manual tasks cuts administrative errors and improves overall business competitiveness.</a:t>
            </a:r>
          </a:p>
          <a:p>
            <a:endParaRPr lang="en-US" dirty="0"/>
          </a:p>
        </p:txBody>
      </p:sp>
      <p:sp>
        <p:nvSpPr>
          <p:cNvPr id="3" name="Title 2">
            <a:extLst>
              <a:ext uri="{FF2B5EF4-FFF2-40B4-BE49-F238E27FC236}">
                <a16:creationId xmlns:a16="http://schemas.microsoft.com/office/drawing/2014/main" id="{FB19D085-0F32-E92A-2E58-5A65C8D34D02}"/>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280228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E8786-FD3C-6991-65C4-4707829FDA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C6D4A2-AD71-0125-E435-33D52161975C}"/>
              </a:ext>
            </a:extLst>
          </p:cNvPr>
          <p:cNvSpPr>
            <a:spLocks noGrp="1"/>
          </p:cNvSpPr>
          <p:nvPr>
            <p:ph idx="1"/>
          </p:nvPr>
        </p:nvSpPr>
        <p:spPr>
          <a:xfrm>
            <a:off x="131180" y="863444"/>
            <a:ext cx="12060820" cy="5590565"/>
          </a:xfrm>
        </p:spPr>
        <p:txBody>
          <a:bodyPr/>
          <a:lstStyle/>
          <a:p>
            <a:r>
              <a:rPr lang="en-IN" dirty="0"/>
              <a:t>Stress management techniques help professionals navigate high-pressure work deadlines effectively. Taking short walks, breathing deeply, and setting limits prevent physical burnout. Prioritizing wellness maintains sustained long-term productivity and happiness.</a:t>
            </a:r>
          </a:p>
          <a:p>
            <a:pPr lvl="1"/>
            <a:r>
              <a:rPr lang="en-IN" dirty="0"/>
              <a:t>Managing stress through wellness habits prevents physical burnout and sustains productivity.</a:t>
            </a:r>
          </a:p>
          <a:p>
            <a:r>
              <a:rPr lang="en-IN" dirty="0"/>
              <a:t>Product prototyping allows designers to test core functionality before starting full manufacturing. Gathering user feedback on early models exposes design flaws cheaply and quickly. This iterative process saves companies immense time and capital investment.</a:t>
            </a:r>
          </a:p>
          <a:p>
            <a:pPr lvl="1"/>
            <a:r>
              <a:rPr lang="en-IN" dirty="0"/>
              <a:t>Prototyping tests product design early, saving significant development costs and manufacturing time.</a:t>
            </a:r>
          </a:p>
          <a:p>
            <a:r>
              <a:rPr lang="en-IN" dirty="0"/>
              <a:t>Knowledge sharing prevents critical technical information from disappearing when key employees leave. Documenting procedures in shared knowledge bases keeps entire teams informed and capable. Open information flow ensures operational continuity across the company.</a:t>
            </a:r>
          </a:p>
          <a:p>
            <a:pPr lvl="1"/>
            <a:r>
              <a:rPr lang="en-IN" dirty="0"/>
              <a:t>Sharing internal team documentation prevents knowledge loss when key staff members leave.</a:t>
            </a:r>
          </a:p>
          <a:p>
            <a:endParaRPr lang="en-US" dirty="0"/>
          </a:p>
        </p:txBody>
      </p:sp>
      <p:sp>
        <p:nvSpPr>
          <p:cNvPr id="3" name="Title 2">
            <a:extLst>
              <a:ext uri="{FF2B5EF4-FFF2-40B4-BE49-F238E27FC236}">
                <a16:creationId xmlns:a16="http://schemas.microsoft.com/office/drawing/2014/main" id="{B228CAB5-205B-A76A-872C-04250A835DDD}"/>
              </a:ext>
            </a:extLst>
          </p:cNvPr>
          <p:cNvSpPr>
            <a:spLocks noGrp="1"/>
          </p:cNvSpPr>
          <p:nvPr>
            <p:ph type="title"/>
          </p:nvPr>
        </p:nvSpPr>
        <p:spPr/>
        <p:txBody>
          <a:bodyPr/>
          <a:lstStyle/>
          <a:p>
            <a:r>
              <a:rPr lang="en-US" dirty="0"/>
              <a:t>Practice </a:t>
            </a:r>
            <a:endParaRPr lang="en-IN" dirty="0"/>
          </a:p>
        </p:txBody>
      </p:sp>
    </p:spTree>
    <p:extLst>
      <p:ext uri="{BB962C8B-B14F-4D97-AF65-F5344CB8AC3E}">
        <p14:creationId xmlns:p14="http://schemas.microsoft.com/office/powerpoint/2010/main" val="359732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5" name="Google Shape;2095;p8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D3064"/>
              </a:buClr>
              <a:buSzPts val="6000"/>
              <a:buFont typeface="Roboto Condensed"/>
              <a:buNone/>
            </a:pPr>
            <a:r>
              <a:rPr lang="en-US" i="1" dirty="0"/>
              <a:t>Thank You</a:t>
            </a:r>
            <a:endParaRPr i="1" dirty="0"/>
          </a:p>
        </p:txBody>
      </p:sp>
    </p:spTree>
  </p:cSld>
  <p:clrMapOvr>
    <a:masterClrMapping/>
  </p:clrMapOvr>
</p:sld>
</file>

<file path=ppt/theme/theme1.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23525</TotalTime>
  <Words>3109</Words>
  <Application>Microsoft Office PowerPoint</Application>
  <PresentationFormat>Widescreen</PresentationFormat>
  <Paragraphs>157</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Roboto</vt:lpstr>
      <vt:lpstr>Calibri</vt:lpstr>
      <vt:lpstr>Wingdings 3</vt:lpstr>
      <vt:lpstr>Roboto Condensed Light</vt:lpstr>
      <vt:lpstr>Wingdings</vt:lpstr>
      <vt:lpstr>Arial</vt:lpstr>
      <vt:lpstr>Roboto Condensed</vt:lpstr>
      <vt:lpstr>1_Office Theme</vt:lpstr>
      <vt:lpstr>Para Recall</vt:lpstr>
      <vt:lpstr>PowerPoint Presentation</vt:lpstr>
      <vt:lpstr>Para Recall</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Practice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Chauhan</dc:creator>
  <cp:lastModifiedBy>prashant chauhan</cp:lastModifiedBy>
  <cp:revision>2275</cp:revision>
  <dcterms:created xsi:type="dcterms:W3CDTF">2020-06-11T07:03:50Z</dcterms:created>
  <dcterms:modified xsi:type="dcterms:W3CDTF">2026-08-07T03:57:37Z</dcterms:modified>
</cp:coreProperties>
</file>