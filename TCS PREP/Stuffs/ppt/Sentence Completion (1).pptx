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15"/>
  </p:notesMasterIdLst>
  <p:handoutMasterIdLst>
    <p:handoutMasterId r:id="rId16"/>
  </p:handoutMasterIdLst>
  <p:sldIdLst>
    <p:sldId id="257" r:id="rId2"/>
    <p:sldId id="459" r:id="rId3"/>
    <p:sldId id="694" r:id="rId4"/>
    <p:sldId id="745" r:id="rId5"/>
    <p:sldId id="746" r:id="rId6"/>
    <p:sldId id="747" r:id="rId7"/>
    <p:sldId id="749" r:id="rId8"/>
    <p:sldId id="750" r:id="rId9"/>
    <p:sldId id="751" r:id="rId10"/>
    <p:sldId id="752" r:id="rId11"/>
    <p:sldId id="753" r:id="rId12"/>
    <p:sldId id="754" r:id="rId13"/>
    <p:sldId id="337" r:id="rId14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Condensed" panose="02000000000000000000" pitchFamily="2" charset="0"/>
      <p:regular r:id="rId25"/>
      <p:bold r:id="rId26"/>
      <p:italic r:id="rId27"/>
      <p:boldItalic r:id="rId28"/>
    </p:embeddedFont>
    <p:embeddedFont>
      <p:font typeface="Roboto Condensed Light" panose="02000000000000000000" pitchFamily="2" charset="0"/>
      <p:regular r:id="rId29"/>
      <p:italic r:id="rId30"/>
    </p:embeddedFont>
    <p:embeddedFont>
      <p:font typeface="Wingdings 3" panose="05040102010807070707" pitchFamily="18" charset="2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KEvqXCZZ3xIANyb8C2TFvg==" hashData="W6LR16wxWTzg0o25MWnGnPZVICaXkTUS3Bch3PjbKff8lIQ4cBusPYdHYNQyktSitXUTxUGAiI+dEO6Eyso1+g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9FE"/>
    <a:srgbClr val="C00000"/>
    <a:srgbClr val="002060"/>
    <a:srgbClr val="2981C0"/>
    <a:srgbClr val="0C77C3"/>
    <a:srgbClr val="FFFFFF"/>
    <a:srgbClr val="A0C061"/>
    <a:srgbClr val="3572EB"/>
    <a:srgbClr val="B9B9B9"/>
    <a:srgbClr val="95D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9" autoAdjust="0"/>
    <p:restoredTop sz="96091" autoAdjust="0"/>
  </p:normalViewPr>
  <p:slideViewPr>
    <p:cSldViewPr snapToGrid="0">
      <p:cViewPr varScale="1">
        <p:scale>
          <a:sx n="85" d="100"/>
          <a:sy n="85" d="100"/>
        </p:scale>
        <p:origin x="504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64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35693-2F5F-4C2C-AA37-8E54880345AD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E920D-5A96-474F-9B79-F5AA1EF5E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3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BB180-F380-4DDD-8F5B-4775C656149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E1D88-AA76-442E-88A9-1A7935C1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1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D6B6-2896-E93A-2770-A9E1E0FB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44C6B-9C83-166A-53A7-C0FF54B76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D68C7-A354-FE2D-EE8C-7131F1718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Gif</a:t>
            </a:r>
            <a:r>
              <a:rPr lang="en-US" baseline="0" dirty="0"/>
              <a:t> Reference: </a:t>
            </a:r>
            <a:r>
              <a:rPr lang="en-IN" dirty="0"/>
              <a:t>https://tenor.com/view/tkthpsharma-gif-23317246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1C1CB-9946-033C-7871-48CB84198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68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102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1866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090100" y="96297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</p:spTree>
    <p:extLst>
      <p:ext uri="{BB962C8B-B14F-4D97-AF65-F5344CB8AC3E}">
        <p14:creationId xmlns:p14="http://schemas.microsoft.com/office/powerpoint/2010/main" val="265330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28104" y="585094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-2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253231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27851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91484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TCS Placement Practice</a:t>
            </a:r>
            <a:endParaRPr lang="en-IN" dirty="0">
              <a:effectLst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141473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92111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34543" y="92111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TCS Placement Practice</a:t>
            </a:r>
            <a:endParaRPr lang="en-IN" dirty="0">
              <a:effectLst/>
            </a:endParaRP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 eaLnBrk="1" latinLnBrk="0" hangingPunct="1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Prof. Radhika Bhateliya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470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9053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3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47253" y="6608527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195547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77041" y="242508"/>
            <a:ext cx="1649043" cy="501287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79575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42441" y="5980196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39140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1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52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666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1721-8CF9-09D4-7B12-699E396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2E8E8-F1D1-9CEB-19A2-607B5CDC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78542-39B3-1981-0439-143C4EAF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DC2D7-54FF-1FD8-3A27-F62D6E72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142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52807"/>
            <a:ext cx="11929641" cy="560120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oogle Shape;60;p54"/>
          <p:cNvGrpSpPr/>
          <p:nvPr userDrawn="1"/>
        </p:nvGrpSpPr>
        <p:grpSpPr>
          <a:xfrm>
            <a:off x="10721798" y="852808"/>
            <a:ext cx="1339024" cy="407045"/>
            <a:chOff x="10721798" y="852808"/>
            <a:chExt cx="1339024" cy="407045"/>
          </a:xfrm>
        </p:grpSpPr>
        <p:pic>
          <p:nvPicPr>
            <p:cNvPr id="15" name="Google Shape;61;p5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62;p54"/>
            <p:cNvSpPr/>
            <p:nvPr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TCS Placement Practice</a:t>
            </a:r>
            <a:endParaRPr lang="en-US" dirty="0">
              <a:solidFill>
                <a:srgbClr val="212121">
                  <a:lumMod val="90000"/>
                  <a:lumOff val="10000"/>
                </a:srgbClr>
              </a:solidFill>
              <a:latin typeface="+mj-lt"/>
              <a:ea typeface="Roboto Condensed Light" panose="02000000000000000000" pitchFamily="2" charset="0"/>
            </a:endParaRP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Prof. Radhika Bhateliya</a:t>
            </a:r>
          </a:p>
        </p:txBody>
      </p:sp>
    </p:spTree>
    <p:extLst>
      <p:ext uri="{BB962C8B-B14F-4D97-AF65-F5344CB8AC3E}">
        <p14:creationId xmlns:p14="http://schemas.microsoft.com/office/powerpoint/2010/main" val="306250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14088" y="-599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72" y="1999976"/>
            <a:ext cx="2973402" cy="321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3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9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5" r:id="rId2"/>
    <p:sldLayoutId id="2147483719" r:id="rId3"/>
    <p:sldLayoutId id="2147483724" r:id="rId4"/>
    <p:sldLayoutId id="2147483720" r:id="rId5"/>
    <p:sldLayoutId id="2147483663" r:id="rId6"/>
    <p:sldLayoutId id="2147483689" r:id="rId7"/>
    <p:sldLayoutId id="2147483667" r:id="rId8"/>
    <p:sldLayoutId id="2147483669" r:id="rId9"/>
    <p:sldLayoutId id="2147483670" r:id="rId10"/>
    <p:sldLayoutId id="2147483671" r:id="rId11"/>
    <p:sldLayoutId id="2147483705" r:id="rId12"/>
    <p:sldLayoutId id="2147483727" r:id="rId13"/>
    <p:sldLayoutId id="2147483726" r:id="rId14"/>
    <p:sldLayoutId id="214748372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mailto:Swati.sharma@darshan.ac.in" TargetMode="Externa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33F9D0-79AF-43AC-AF9D-363E78BA5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218" y="1327132"/>
            <a:ext cx="7276373" cy="2848166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Sentence Completion 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EA47D8-8426-4DBD-BFF3-4005B9628A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radhika.bhateliya@darshan.ac.in</a:t>
            </a:r>
            <a:r>
              <a:rPr lang="en-US" dirty="0"/>
              <a:t>	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B68CD4-73FE-4D9C-A25E-10B975B94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9428035992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D8A79D-333F-44B3-B1A0-1780CA0E3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Humanities and Science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423574-50B3-4C1F-BB03-4625B3BB7D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Radhika J Bhateliya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C932FB-1928-4F3D-87A8-4A34E3061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TCS Placement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5961" y="1641307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A8E46D0-2CA0-8369-BD56-792E84BA50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prstClr val="white">
                <a:lumMod val="65000"/>
              </a:prstClr>
            </a:solidFill>
          </a:ln>
        </p:spPr>
      </p:pic>
    </p:spTree>
    <p:extLst>
      <p:ext uri="{BB962C8B-B14F-4D97-AF65-F5344CB8AC3E}">
        <p14:creationId xmlns:p14="http://schemas.microsoft.com/office/powerpoint/2010/main" val="389938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685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31706"/>
            <a:ext cx="19944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Topics </a:t>
            </a:r>
            <a:endParaRPr lang="en-US" sz="2400" dirty="0"/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Practice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28625" lvl="2"/>
            <a:endParaRPr lang="en-US" sz="2400" dirty="0"/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6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251DD-9690-C6A9-5387-18349EBC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5AF518-2ABE-6D6C-01A1-FF1E2071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8918438" cy="2852737"/>
          </a:xfrm>
        </p:spPr>
        <p:txBody>
          <a:bodyPr/>
          <a:lstStyle/>
          <a:p>
            <a:r>
              <a:rPr lang="en-US" dirty="0">
                <a:ea typeface="Roboto Condensed Light" panose="02000000000000000000" pitchFamily="2" charset="0"/>
              </a:rPr>
              <a:t>Sentence Completion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8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12622-201C-769D-D3BD-03D282CF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B31DDE-8FF3-1B5F-288E-268039C09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dirty="0"/>
              <a:t>Although the project faced several unexpected challenges, the team remained </a:t>
            </a:r>
            <a:r>
              <a:rPr lang="en-IN" b="1" dirty="0"/>
              <a:t>______</a:t>
            </a:r>
            <a:r>
              <a:rPr lang="en-IN" dirty="0"/>
              <a:t> and completed it on schedule. </a:t>
            </a:r>
          </a:p>
          <a:p>
            <a:pPr lvl="1"/>
            <a:r>
              <a:rPr lang="en-IN" dirty="0"/>
              <a:t>focused / committed / persistent / resilient / undaunted / strong</a:t>
            </a:r>
          </a:p>
          <a:p>
            <a:r>
              <a:rPr lang="en-IN" dirty="0"/>
              <a:t>The manager requested all employees to </a:t>
            </a:r>
            <a:r>
              <a:rPr lang="en-IN" b="1" dirty="0"/>
              <a:t>______</a:t>
            </a:r>
            <a:r>
              <a:rPr lang="en-IN" dirty="0"/>
              <a:t> the revised policy before acknowledging it. </a:t>
            </a:r>
          </a:p>
          <a:p>
            <a:pPr lvl="1"/>
            <a:r>
              <a:rPr lang="en-IN" dirty="0"/>
              <a:t>read / check / examine / go through / peruse / scrutinize </a:t>
            </a:r>
          </a:p>
          <a:p>
            <a:r>
              <a:rPr lang="en-IN" dirty="0"/>
              <a:t>Employees are expected to </a:t>
            </a:r>
            <a:r>
              <a:rPr lang="en-IN" b="1" dirty="0"/>
              <a:t>______</a:t>
            </a:r>
            <a:r>
              <a:rPr lang="en-IN" dirty="0"/>
              <a:t> themselves to changing workplace requirements.</a:t>
            </a:r>
          </a:p>
          <a:p>
            <a:pPr lvl="1"/>
            <a:r>
              <a:rPr lang="en-IN" dirty="0"/>
              <a:t>adjust / adapt / transform / acclimatize / assimilate </a:t>
            </a:r>
          </a:p>
          <a:p>
            <a:r>
              <a:rPr lang="en-IN" dirty="0"/>
              <a:t>The proposal was approved because it offered a practical </a:t>
            </a:r>
            <a:r>
              <a:rPr lang="en-IN" b="1" dirty="0"/>
              <a:t>______</a:t>
            </a:r>
            <a:r>
              <a:rPr lang="en-IN" dirty="0"/>
              <a:t> to the problem. </a:t>
            </a:r>
          </a:p>
          <a:p>
            <a:pPr lvl="1"/>
            <a:r>
              <a:rPr lang="en-IN" dirty="0"/>
              <a:t>fix / choice / remedy / solution / resolution / pragmatic resolution </a:t>
            </a:r>
          </a:p>
          <a:p>
            <a:r>
              <a:rPr lang="en-IN" dirty="0"/>
              <a:t>If the client approves the quotation today, the project </a:t>
            </a:r>
            <a:r>
              <a:rPr lang="en-IN" b="1" dirty="0"/>
              <a:t>______</a:t>
            </a:r>
            <a:r>
              <a:rPr lang="en-IN" dirty="0"/>
              <a:t> next Monday. </a:t>
            </a:r>
          </a:p>
          <a:p>
            <a:pPr lvl="1"/>
            <a:r>
              <a:rPr lang="en-IN" dirty="0"/>
              <a:t>will start / will begin / will commence / is slated to initiate </a:t>
            </a:r>
          </a:p>
          <a:p>
            <a:r>
              <a:rPr lang="en-IN" dirty="0"/>
              <a:t>Every candidate must bring </a:t>
            </a:r>
            <a:r>
              <a:rPr lang="en-IN" b="1" dirty="0"/>
              <a:t>______</a:t>
            </a:r>
            <a:r>
              <a:rPr lang="en-IN" dirty="0"/>
              <a:t> identity proof to the interview.</a:t>
            </a:r>
          </a:p>
          <a:p>
            <a:pPr lvl="1"/>
            <a:r>
              <a:rPr lang="en-IN" dirty="0"/>
              <a:t>an / a valid / a proper / requisite government-issued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E6C72B-825E-1295-FF49-9CDE64B7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4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A9DAD-8164-3510-52AD-170C05EF6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2626FD-6E3B-75AE-5903-5985A6A1B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dirty="0"/>
              <a:t>By the time we reached the seminar hall, the keynote speech </a:t>
            </a:r>
            <a:r>
              <a:rPr lang="en-IN" b="1" dirty="0"/>
              <a:t>______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had started / had begun / had concluded / had commenced </a:t>
            </a:r>
          </a:p>
          <a:p>
            <a:r>
              <a:rPr lang="en-IN" dirty="0"/>
              <a:t>The committee </a:t>
            </a:r>
            <a:r>
              <a:rPr lang="en-IN" b="1" dirty="0"/>
              <a:t>______</a:t>
            </a:r>
            <a:r>
              <a:rPr lang="en-IN" dirty="0"/>
              <a:t> discussing the annual budget when the meeting was adjourned.</a:t>
            </a:r>
          </a:p>
          <a:p>
            <a:pPr lvl="1"/>
            <a:r>
              <a:rPr lang="en-IN" dirty="0"/>
              <a:t>was / had been / was actively / was concurrently </a:t>
            </a:r>
          </a:p>
          <a:p>
            <a:r>
              <a:rPr lang="en-IN" dirty="0"/>
              <a:t>Each participant </a:t>
            </a:r>
            <a:r>
              <a:rPr lang="en-IN" b="1" dirty="0"/>
              <a:t>______</a:t>
            </a:r>
            <a:r>
              <a:rPr lang="en-IN" dirty="0"/>
              <a:t> responsible for submitting the feedback form. </a:t>
            </a:r>
          </a:p>
          <a:p>
            <a:pPr lvl="1"/>
            <a:r>
              <a:rPr lang="en-IN" dirty="0"/>
              <a:t>is / is held</a:t>
            </a:r>
          </a:p>
          <a:p>
            <a:r>
              <a:rPr lang="en-IN" dirty="0"/>
              <a:t>The company introduced flexible working hours </a:t>
            </a:r>
            <a:r>
              <a:rPr lang="en-IN" b="1" dirty="0"/>
              <a:t>______</a:t>
            </a:r>
            <a:r>
              <a:rPr lang="en-IN" dirty="0"/>
              <a:t> employee satisfaction. </a:t>
            </a:r>
          </a:p>
          <a:p>
            <a:pPr lvl="1"/>
            <a:r>
              <a:rPr lang="en-IN" dirty="0"/>
              <a:t>to help / to improve / to boost / to enhance / to ameliorate </a:t>
            </a:r>
          </a:p>
          <a:p>
            <a:r>
              <a:rPr lang="en-IN" dirty="0"/>
              <a:t>The internet connection was poor; </a:t>
            </a:r>
            <a:r>
              <a:rPr lang="en-IN" b="1" dirty="0"/>
              <a:t>______</a:t>
            </a:r>
            <a:r>
              <a:rPr lang="en-IN" dirty="0"/>
              <a:t>, the presentation had to be postponed. </a:t>
            </a:r>
          </a:p>
          <a:p>
            <a:pPr lvl="1"/>
            <a:r>
              <a:rPr lang="en-IN" dirty="0"/>
              <a:t>so / therefore / as a result / consequently / hence </a:t>
            </a:r>
          </a:p>
          <a:p>
            <a:r>
              <a:rPr lang="en-IN" dirty="0"/>
              <a:t>She prepared well for the interview. </a:t>
            </a:r>
            <a:r>
              <a:rPr lang="en-IN" b="1" dirty="0"/>
              <a:t>______</a:t>
            </a:r>
            <a:r>
              <a:rPr lang="en-IN" dirty="0"/>
              <a:t>, she answered every question confidently.</a:t>
            </a:r>
          </a:p>
          <a:p>
            <a:pPr lvl="1"/>
            <a:r>
              <a:rPr lang="en-IN" dirty="0"/>
              <a:t>therefore / as a result / consequently / subsequently / accordingly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A3F8B7-2124-7464-FB66-FB166DE6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666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32F5-9B02-0789-4C07-AB38A9AE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A973EC-F586-F696-608C-D9DCF375F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dirty="0"/>
              <a:t>The product was expensive; </a:t>
            </a:r>
            <a:r>
              <a:rPr lang="en-IN" b="1" dirty="0"/>
              <a:t>______</a:t>
            </a:r>
            <a:r>
              <a:rPr lang="en-IN" dirty="0"/>
              <a:t>, customers continued to buy it because of its quality. </a:t>
            </a:r>
          </a:p>
          <a:p>
            <a:pPr lvl="1"/>
            <a:r>
              <a:rPr lang="en-IN" dirty="0"/>
              <a:t>but / however / even so / nevertheless / notwithstanding</a:t>
            </a:r>
          </a:p>
          <a:p>
            <a:r>
              <a:rPr lang="en-IN" dirty="0"/>
              <a:t>The manager encouraged innovation </a:t>
            </a:r>
            <a:r>
              <a:rPr lang="en-IN" b="1" dirty="0"/>
              <a:t>______</a:t>
            </a:r>
            <a:r>
              <a:rPr lang="en-IN" dirty="0"/>
              <a:t> maintaining quality standards.</a:t>
            </a:r>
          </a:p>
          <a:p>
            <a:pPr lvl="1"/>
            <a:r>
              <a:rPr lang="en-IN" dirty="0"/>
              <a:t>while / without losing / while concurrently / in tandem with </a:t>
            </a:r>
          </a:p>
          <a:p>
            <a:r>
              <a:rPr lang="en-IN" dirty="0"/>
              <a:t>We started early </a:t>
            </a:r>
            <a:r>
              <a:rPr lang="en-IN" b="1" dirty="0"/>
              <a:t>______</a:t>
            </a:r>
            <a:r>
              <a:rPr lang="en-IN" dirty="0"/>
              <a:t> avoid the morning traffic. </a:t>
            </a:r>
          </a:p>
          <a:p>
            <a:pPr lvl="1"/>
            <a:r>
              <a:rPr lang="en-IN" dirty="0"/>
              <a:t>to / in order to / so as to / with a view to</a:t>
            </a:r>
          </a:p>
          <a:p>
            <a:r>
              <a:rPr lang="en-IN" dirty="0"/>
              <a:t>Please </a:t>
            </a:r>
            <a:r>
              <a:rPr lang="en-IN" b="1" dirty="0"/>
              <a:t>______</a:t>
            </a:r>
            <a:r>
              <a:rPr lang="en-IN" dirty="0"/>
              <a:t> the report carefully before sending it to the client. </a:t>
            </a:r>
          </a:p>
          <a:p>
            <a:pPr lvl="1"/>
            <a:r>
              <a:rPr lang="en-IN" dirty="0"/>
              <a:t>check / review / proofread / inspect / meticulously audit </a:t>
            </a:r>
          </a:p>
          <a:p>
            <a:r>
              <a:rPr lang="en-IN" dirty="0"/>
              <a:t>During the interview, candidates should answer questions clearly and </a:t>
            </a:r>
            <a:r>
              <a:rPr lang="en-IN" b="1" dirty="0"/>
              <a:t>______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politely / confidently / effectively / articulately / eloquently </a:t>
            </a:r>
          </a:p>
          <a:p>
            <a:r>
              <a:rPr lang="en-IN" dirty="0"/>
              <a:t>Customer complaints must always be handled </a:t>
            </a:r>
            <a:r>
              <a:rPr lang="en-IN" b="1" dirty="0"/>
              <a:t>______</a:t>
            </a:r>
            <a:r>
              <a:rPr lang="en-IN" dirty="0"/>
              <a:t> and professionally. </a:t>
            </a:r>
          </a:p>
          <a:p>
            <a:pPr lvl="1"/>
            <a:r>
              <a:rPr lang="en-IN" dirty="0"/>
              <a:t>promptly / efficiently / courteously / expeditiously</a:t>
            </a:r>
          </a:p>
          <a:p>
            <a:r>
              <a:rPr lang="en-IN" dirty="0"/>
              <a:t>he shortlisted candidates were informed </a:t>
            </a:r>
            <a:r>
              <a:rPr lang="en-IN" b="1" dirty="0"/>
              <a:t>______</a:t>
            </a:r>
            <a:r>
              <a:rPr lang="en-IN" dirty="0"/>
              <a:t> email. </a:t>
            </a:r>
          </a:p>
          <a:p>
            <a:pPr lvl="1"/>
            <a:r>
              <a:rPr lang="en-IN" dirty="0"/>
              <a:t>by / via / through / through the medium of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4E3FB7-4012-1395-6C58-97168EA3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48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7B5D-444A-B06B-0E9A-4B25F2F6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3B141A-C7A6-FB3C-220E-9C83AB87C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dirty="0"/>
              <a:t>A successful leader inspires employees rather than merely </a:t>
            </a:r>
            <a:r>
              <a:rPr lang="en-IN" b="1" dirty="0"/>
              <a:t>______</a:t>
            </a:r>
            <a:r>
              <a:rPr lang="en-IN" dirty="0"/>
              <a:t> orders.</a:t>
            </a:r>
          </a:p>
          <a:p>
            <a:pPr lvl="1"/>
            <a:r>
              <a:rPr lang="en-IN" dirty="0"/>
              <a:t>giving / issuing / stating / dictating / delegating / decreeing</a:t>
            </a:r>
          </a:p>
          <a:p>
            <a:r>
              <a:rPr lang="en-IN" dirty="0"/>
              <a:t>The company plans to </a:t>
            </a:r>
            <a:r>
              <a:rPr lang="en-IN" b="1" dirty="0"/>
              <a:t>______</a:t>
            </a:r>
            <a:r>
              <a:rPr lang="en-IN" dirty="0"/>
              <a:t> a new office in Pune next year. </a:t>
            </a:r>
          </a:p>
          <a:p>
            <a:pPr lvl="1"/>
            <a:r>
              <a:rPr lang="en-IN" dirty="0"/>
              <a:t>open / set up / establish / launch / build / inaugurate</a:t>
            </a:r>
          </a:p>
          <a:p>
            <a:r>
              <a:rPr lang="en-IN" dirty="0"/>
              <a:t>The technician quickly identified the problem and suggested an effective </a:t>
            </a:r>
            <a:r>
              <a:rPr lang="en-IN" b="1" dirty="0"/>
              <a:t>______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fix / patch / remedy / solution / troubleshooting patch / rectification </a:t>
            </a:r>
          </a:p>
          <a:p>
            <a:r>
              <a:rPr lang="en-IN" dirty="0"/>
              <a:t>Regular training helps employees improve their professional </a:t>
            </a:r>
            <a:r>
              <a:rPr lang="en-IN" b="1" dirty="0"/>
              <a:t>______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skills / expertise / knowledge / competencies / acumen </a:t>
            </a:r>
          </a:p>
          <a:p>
            <a:r>
              <a:rPr lang="en-IN" dirty="0"/>
              <a:t>The meeting was postponed </a:t>
            </a:r>
            <a:r>
              <a:rPr lang="en-IN" b="1" dirty="0"/>
              <a:t>______</a:t>
            </a:r>
            <a:r>
              <a:rPr lang="en-IN" dirty="0"/>
              <a:t> unexpected technical issues. </a:t>
            </a:r>
          </a:p>
          <a:p>
            <a:pPr lvl="1"/>
            <a:r>
              <a:rPr lang="en-IN" dirty="0"/>
              <a:t>due to / because of / owing to / on account of </a:t>
            </a:r>
          </a:p>
          <a:p>
            <a:r>
              <a:rPr lang="en-IN" dirty="0"/>
              <a:t>The trainer asked participants to pay close </a:t>
            </a:r>
            <a:r>
              <a:rPr lang="en-IN" b="1" dirty="0"/>
              <a:t>______</a:t>
            </a:r>
            <a:r>
              <a:rPr lang="en-IN" dirty="0"/>
              <a:t> to the safety instructions. </a:t>
            </a:r>
          </a:p>
          <a:p>
            <a:pPr lvl="1"/>
            <a:r>
              <a:rPr lang="en-IN" dirty="0"/>
              <a:t>heed / care / attention / strict heed / meticulous focus </a:t>
            </a:r>
          </a:p>
          <a:p>
            <a:r>
              <a:rPr lang="en-IN" dirty="0"/>
              <a:t>The software update significantly improved the </a:t>
            </a:r>
            <a:r>
              <a:rPr lang="en-IN" b="1" dirty="0"/>
              <a:t>______</a:t>
            </a:r>
            <a:r>
              <a:rPr lang="en-IN" dirty="0"/>
              <a:t> of the system.</a:t>
            </a:r>
          </a:p>
          <a:p>
            <a:pPr lvl="1"/>
            <a:r>
              <a:rPr lang="en-IN" dirty="0"/>
              <a:t>speed / output / efficiency / performance / optimization / throughput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F74D6B-EB14-0099-2387-F51404D62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09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1A96-ED04-E685-DDF6-AC91BB71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52A1D2-AE03-D0BA-3A67-91A4BEAA0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dirty="0"/>
              <a:t>Customer </a:t>
            </a:r>
            <a:r>
              <a:rPr lang="en-IN" b="1" dirty="0"/>
              <a:t>______</a:t>
            </a:r>
            <a:r>
              <a:rPr lang="en-IN" dirty="0"/>
              <a:t> plays a vital role in improving products and services. </a:t>
            </a:r>
          </a:p>
          <a:p>
            <a:pPr lvl="1"/>
            <a:r>
              <a:rPr lang="en-IN" dirty="0"/>
              <a:t>reviews / input / suggestions / feedback / evaluative metrics </a:t>
            </a:r>
          </a:p>
          <a:p>
            <a:r>
              <a:rPr lang="en-IN" dirty="0"/>
              <a:t>Although the assignment was difficult, everyone completed it </a:t>
            </a:r>
            <a:r>
              <a:rPr lang="en-IN" b="1" dirty="0"/>
              <a:t>______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well / successfully / efficiently / completely / flawlessly</a:t>
            </a:r>
          </a:p>
          <a:p>
            <a:r>
              <a:rPr lang="en-IN" dirty="0"/>
              <a:t>The employee received appreciation for consistently meeting project </a:t>
            </a:r>
            <a:r>
              <a:rPr lang="en-IN" b="1" dirty="0"/>
              <a:t>______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goals / dates / targets / deadlines / milestones </a:t>
            </a:r>
          </a:p>
          <a:p>
            <a:r>
              <a:rPr lang="en-IN" dirty="0"/>
              <a:t>Students should </a:t>
            </a:r>
            <a:r>
              <a:rPr lang="en-IN" b="1" dirty="0"/>
              <a:t>______</a:t>
            </a:r>
            <a:r>
              <a:rPr lang="en-IN" dirty="0"/>
              <a:t> their assignments thoroughly before submission. </a:t>
            </a:r>
          </a:p>
          <a:p>
            <a:pPr lvl="1"/>
            <a:r>
              <a:rPr lang="en-IN" dirty="0"/>
              <a:t>check / review / read over / proofread / examine / vet</a:t>
            </a:r>
          </a:p>
          <a:p>
            <a:r>
              <a:rPr lang="en-IN" dirty="0"/>
              <a:t>The CEO emphasized that customer satisfaction remains the company's highest </a:t>
            </a:r>
            <a:r>
              <a:rPr lang="en-IN" b="1" dirty="0"/>
              <a:t>______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goal / focus / priority / paramount objective / core mandate</a:t>
            </a:r>
          </a:p>
          <a:p>
            <a:r>
              <a:rPr lang="en-IN" dirty="0"/>
              <a:t>Good communication helps prevent unnecessary </a:t>
            </a:r>
            <a:r>
              <a:rPr lang="en-IN" b="1" dirty="0"/>
              <a:t>______</a:t>
            </a:r>
            <a:r>
              <a:rPr lang="en-IN" dirty="0"/>
              <a:t> among team members. </a:t>
            </a:r>
          </a:p>
          <a:p>
            <a:pPr lvl="1"/>
            <a:r>
              <a:rPr lang="en-IN" dirty="0"/>
              <a:t>fights / errors / conflicts / gaps / friction / discrepancies</a:t>
            </a:r>
          </a:p>
          <a:p>
            <a:r>
              <a:rPr lang="en-IN" dirty="0"/>
              <a:t>The project succeeded because every member worked in close </a:t>
            </a:r>
            <a:r>
              <a:rPr lang="en-IN" b="1" dirty="0"/>
              <a:t>______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partnership / cooperation / collaboration / alignment / synergy / tandem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01C003-DAA1-3C7A-EDEF-F1F0867C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14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1F622-2767-4851-3B4B-5B0B2A3E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C7FAD4-D406-BACE-1E2A-E16A1626C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dirty="0"/>
              <a:t>The organization encourages employees to share innovative </a:t>
            </a:r>
            <a:r>
              <a:rPr lang="en-IN" b="1" dirty="0"/>
              <a:t>______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ideas / insights / suggestions / perspectives / innovative concepts </a:t>
            </a:r>
          </a:p>
          <a:p>
            <a:r>
              <a:rPr lang="en-IN" dirty="0"/>
              <a:t>The manager requested everyone to arrive </a:t>
            </a:r>
            <a:r>
              <a:rPr lang="en-IN" b="1" dirty="0"/>
              <a:t>______</a:t>
            </a:r>
            <a:r>
              <a:rPr lang="en-IN" dirty="0"/>
              <a:t> time for the client meeting. </a:t>
            </a:r>
          </a:p>
          <a:p>
            <a:pPr lvl="1"/>
            <a:r>
              <a:rPr lang="en-IN" dirty="0"/>
              <a:t>on / in / punctually for</a:t>
            </a:r>
          </a:p>
          <a:p>
            <a:r>
              <a:rPr lang="en-IN" dirty="0"/>
              <a:t>The report contains useful </a:t>
            </a:r>
            <a:r>
              <a:rPr lang="en-IN" b="1" dirty="0"/>
              <a:t>______</a:t>
            </a:r>
            <a:r>
              <a:rPr lang="en-IN" dirty="0"/>
              <a:t> regarding consumer preferences.</a:t>
            </a:r>
          </a:p>
          <a:p>
            <a:pPr lvl="1"/>
            <a:r>
              <a:rPr lang="en-IN" dirty="0"/>
              <a:t>facts / data / observations / insights / analytical metrics / telemetry </a:t>
            </a:r>
          </a:p>
          <a:p>
            <a:r>
              <a:rPr lang="en-IN" dirty="0"/>
              <a:t>The company follows strict quality </a:t>
            </a:r>
            <a:r>
              <a:rPr lang="en-IN" b="1" dirty="0"/>
              <a:t>______</a:t>
            </a:r>
            <a:r>
              <a:rPr lang="en-IN" dirty="0"/>
              <a:t> throughout the production process. </a:t>
            </a:r>
          </a:p>
          <a:p>
            <a:pPr lvl="1"/>
            <a:r>
              <a:rPr lang="en-IN" dirty="0"/>
              <a:t>rules / systems / procedures / standards / stringent protocols </a:t>
            </a:r>
          </a:p>
          <a:p>
            <a:r>
              <a:rPr lang="en-IN" dirty="0"/>
              <a:t>Employees must maintain complete </a:t>
            </a:r>
            <a:r>
              <a:rPr lang="en-IN" b="1" dirty="0"/>
              <a:t>______</a:t>
            </a:r>
            <a:r>
              <a:rPr lang="en-IN" dirty="0"/>
              <a:t> while handling confidential documents. </a:t>
            </a:r>
          </a:p>
          <a:p>
            <a:pPr lvl="1"/>
            <a:r>
              <a:rPr lang="en-IN" dirty="0"/>
              <a:t>secrecy / security / discretion / complete confidentiality </a:t>
            </a:r>
          </a:p>
          <a:p>
            <a:r>
              <a:rPr lang="en-IN" dirty="0"/>
              <a:t>The workshop focused on leadership and problem-solving </a:t>
            </a:r>
            <a:r>
              <a:rPr lang="en-IN" b="1" dirty="0"/>
              <a:t>______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talents / skills / habits / abilities / core capabilities</a:t>
            </a:r>
          </a:p>
          <a:p>
            <a:r>
              <a:rPr lang="en-IN" dirty="0"/>
              <a:t>The intern adapted quickly </a:t>
            </a:r>
            <a:r>
              <a:rPr lang="en-IN" b="1" dirty="0"/>
              <a:t>______</a:t>
            </a:r>
            <a:r>
              <a:rPr lang="en-IN" dirty="0"/>
              <a:t> the new work environment.</a:t>
            </a:r>
          </a:p>
          <a:p>
            <a:pPr lvl="1"/>
            <a:r>
              <a:rPr lang="en-IN" dirty="0"/>
              <a:t>to / towards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A02048-A8C8-13C6-4C2B-D11D4AD6A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137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CB8B3-B9EC-C970-CD6E-1F415125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2E0D7A-1DF3-9831-FE49-4426307F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dirty="0"/>
              <a:t>The speaker concluded the session </a:t>
            </a:r>
            <a:r>
              <a:rPr lang="en-IN" b="1" dirty="0"/>
              <a:t>______</a:t>
            </a:r>
            <a:r>
              <a:rPr lang="en-IN" dirty="0"/>
              <a:t> thanking the audience. </a:t>
            </a:r>
          </a:p>
          <a:p>
            <a:pPr lvl="1"/>
            <a:r>
              <a:rPr lang="en-IN" dirty="0"/>
              <a:t>by / after / by subsequently </a:t>
            </a:r>
          </a:p>
          <a:p>
            <a:r>
              <a:rPr lang="en-IN" dirty="0"/>
              <a:t>Employees should immediately inform their supervisor </a:t>
            </a:r>
            <a:r>
              <a:rPr lang="en-IN" b="1" dirty="0"/>
              <a:t>______</a:t>
            </a:r>
            <a:r>
              <a:rPr lang="en-IN" dirty="0"/>
              <a:t> any workplace emergency. </a:t>
            </a:r>
          </a:p>
          <a:p>
            <a:pPr lvl="1"/>
            <a:r>
              <a:rPr lang="en-IN" dirty="0"/>
              <a:t>of / about / regarding / apprising of </a:t>
            </a:r>
          </a:p>
          <a:p>
            <a:r>
              <a:rPr lang="en-IN" dirty="0"/>
              <a:t>The recruitment process was delayed because several candidates failed to </a:t>
            </a:r>
            <a:r>
              <a:rPr lang="en-IN" b="1" dirty="0"/>
              <a:t>______</a:t>
            </a:r>
            <a:r>
              <a:rPr lang="en-IN" dirty="0"/>
              <a:t> the required documents. </a:t>
            </a:r>
          </a:p>
          <a:p>
            <a:pPr lvl="1"/>
            <a:r>
              <a:rPr lang="en-IN" dirty="0"/>
              <a:t>give / send / provide / submit / present / tender</a:t>
            </a:r>
          </a:p>
          <a:p>
            <a:r>
              <a:rPr lang="en-IN" dirty="0"/>
              <a:t>Organizations prefer candidates who are willing to learn and </a:t>
            </a:r>
            <a:r>
              <a:rPr lang="en-IN" b="1" dirty="0"/>
              <a:t>______</a:t>
            </a:r>
            <a:r>
              <a:rPr lang="en-IN" dirty="0"/>
              <a:t> continuously. </a:t>
            </a:r>
          </a:p>
          <a:p>
            <a:pPr lvl="1"/>
            <a:r>
              <a:rPr lang="en-IN" dirty="0"/>
              <a:t>grow / learn / improve / develop / advance / evolve</a:t>
            </a:r>
          </a:p>
          <a:p>
            <a:r>
              <a:rPr lang="en-IN" dirty="0"/>
              <a:t>Hard work alone is not enough; one must also work </a:t>
            </a:r>
            <a:r>
              <a:rPr lang="en-IN" b="1" dirty="0"/>
              <a:t>______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fast / smartly / efficiently / strategically / systematically </a:t>
            </a:r>
          </a:p>
          <a:p>
            <a:r>
              <a:rPr lang="en-IN" dirty="0"/>
              <a:t>The manager appreciated her ability to remain calm </a:t>
            </a:r>
            <a:r>
              <a:rPr lang="en-IN" b="1" dirty="0"/>
              <a:t>______</a:t>
            </a:r>
            <a:r>
              <a:rPr lang="en-IN" dirty="0"/>
              <a:t> pressure. </a:t>
            </a:r>
          </a:p>
          <a:p>
            <a:pPr lvl="1"/>
            <a:r>
              <a:rPr lang="en-IN" dirty="0"/>
              <a:t>under / amid / during / under intense</a:t>
            </a:r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59C95E-96E2-250D-E763-02CFCF2D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53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1371D-4DBC-3221-42F2-1C657375C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A97014-BCDB-C8D0-9E32-E491E65ED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dirty="0"/>
              <a:t>The company believes that teamwork and trust are the foundation </a:t>
            </a:r>
            <a:r>
              <a:rPr lang="en-IN" b="1" dirty="0"/>
              <a:t>______</a:t>
            </a:r>
            <a:r>
              <a:rPr lang="en-IN" dirty="0"/>
              <a:t> long-term success. </a:t>
            </a:r>
          </a:p>
          <a:p>
            <a:pPr lvl="1"/>
            <a:r>
              <a:rPr lang="en-IN" dirty="0"/>
              <a:t>of / for / behind </a:t>
            </a:r>
          </a:p>
          <a:p>
            <a:r>
              <a:rPr lang="en-IN" dirty="0"/>
              <a:t>To capture a larger share of the enterprise sector, the firm intends to </a:t>
            </a:r>
            <a:r>
              <a:rPr lang="en-IN" b="1" dirty="0"/>
              <a:t>______</a:t>
            </a:r>
            <a:r>
              <a:rPr lang="en-IN" dirty="0"/>
              <a:t> its software services globally. </a:t>
            </a:r>
          </a:p>
          <a:p>
            <a:pPr lvl="1"/>
            <a:r>
              <a:rPr lang="en-IN" dirty="0"/>
              <a:t>expand / grow / scale / diversify / proliferate</a:t>
            </a:r>
          </a:p>
          <a:p>
            <a:r>
              <a:rPr lang="en-IN" dirty="0"/>
              <a:t>Before granting database clearance, security administrators must strictly </a:t>
            </a:r>
            <a:r>
              <a:rPr lang="en-IN" b="1" dirty="0"/>
              <a:t>______</a:t>
            </a:r>
            <a:r>
              <a:rPr lang="en-IN" dirty="0"/>
              <a:t> all incoming system credentials. </a:t>
            </a:r>
          </a:p>
          <a:p>
            <a:pPr lvl="1"/>
            <a:r>
              <a:rPr lang="en-IN" dirty="0"/>
              <a:t>test / check / verify / validate / authenticate</a:t>
            </a:r>
          </a:p>
          <a:p>
            <a:r>
              <a:rPr lang="en-IN" dirty="0"/>
              <a:t>The market research team worked for two weeks to </a:t>
            </a:r>
            <a:r>
              <a:rPr lang="en-IN" b="1" dirty="0"/>
              <a:t>______</a:t>
            </a:r>
            <a:r>
              <a:rPr lang="en-IN" dirty="0"/>
              <a:t> regional performance metrics into one report. </a:t>
            </a:r>
          </a:p>
          <a:p>
            <a:pPr lvl="1"/>
            <a:r>
              <a:rPr lang="en-IN" dirty="0"/>
              <a:t>collect / gather / compile / aggregate / consolidate</a:t>
            </a:r>
          </a:p>
          <a:p>
            <a:r>
              <a:rPr lang="en-IN" dirty="0"/>
              <a:t>In light of the recent economic adjustments, the corporate board requested managers to </a:t>
            </a:r>
            <a:r>
              <a:rPr lang="en-IN" b="1" dirty="0"/>
              <a:t>______</a:t>
            </a:r>
            <a:r>
              <a:rPr lang="en-IN" dirty="0"/>
              <a:t> operational costs. </a:t>
            </a:r>
          </a:p>
          <a:p>
            <a:pPr lvl="1"/>
            <a:r>
              <a:rPr lang="en-IN" dirty="0"/>
              <a:t>drop / cut / reduce / limit / curtail / optimize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5D55FD-5A6B-EB89-C7D8-9AE87A7F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22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47082-5713-D4CE-0DC1-16B60F67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984983-50AF-9DF7-1BC3-D03AA0679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dirty="0"/>
              <a:t>Run a deep system trace to </a:t>
            </a:r>
            <a:r>
              <a:rPr lang="en-IN" b="1" dirty="0"/>
              <a:t>______</a:t>
            </a:r>
            <a:r>
              <a:rPr lang="en-IN" dirty="0"/>
              <a:t> whether the memory leak originated within the payment gateway module.</a:t>
            </a:r>
          </a:p>
          <a:p>
            <a:pPr lvl="1"/>
            <a:r>
              <a:rPr lang="en-IN" dirty="0"/>
              <a:t>find / see / check / spot / notice / ascertain / discern</a:t>
            </a:r>
          </a:p>
          <a:p>
            <a:r>
              <a:rPr lang="en-IN" dirty="0"/>
              <a:t>The project lead sent out a brief email directive to </a:t>
            </a:r>
            <a:r>
              <a:rPr lang="en-IN" b="1" dirty="0"/>
              <a:t>______</a:t>
            </a:r>
            <a:r>
              <a:rPr lang="en-IN" dirty="0"/>
              <a:t> operational feedback from the remote engineering track.</a:t>
            </a:r>
          </a:p>
          <a:p>
            <a:pPr lvl="1"/>
            <a:r>
              <a:rPr lang="en-IN" dirty="0"/>
              <a:t>ask for / request / collect / gather / solicit </a:t>
            </a:r>
          </a:p>
          <a:p>
            <a:r>
              <a:rPr lang="en-IN" dirty="0"/>
              <a:t>If we can secure executive approval by noon, we will be able to </a:t>
            </a:r>
            <a:r>
              <a:rPr lang="en-IN" b="1" dirty="0"/>
              <a:t>______</a:t>
            </a:r>
            <a:r>
              <a:rPr lang="en-IN" dirty="0"/>
              <a:t> the hardware procurement framework.</a:t>
            </a:r>
          </a:p>
          <a:p>
            <a:pPr lvl="1"/>
            <a:r>
              <a:rPr lang="en-IN" dirty="0"/>
              <a:t>rush / push / speed up / hurry / accelerate / expedite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0839C8-D49E-4D6F-5146-9A36E440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6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i="1" dirty="0"/>
              <a:t>Thank You</a:t>
            </a:r>
            <a:endParaRPr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23358</TotalTime>
  <Words>1255</Words>
  <Application>Microsoft Office PowerPoint</Application>
  <PresentationFormat>Widescreen</PresentationFormat>
  <Paragraphs>133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Roboto</vt:lpstr>
      <vt:lpstr>Calibri</vt:lpstr>
      <vt:lpstr>Wingdings 3</vt:lpstr>
      <vt:lpstr>Roboto Condensed Light</vt:lpstr>
      <vt:lpstr>Wingdings</vt:lpstr>
      <vt:lpstr>Arial</vt:lpstr>
      <vt:lpstr>Roboto Condensed</vt:lpstr>
      <vt:lpstr>1_Office Theme</vt:lpstr>
      <vt:lpstr>Sentence Completion </vt:lpstr>
      <vt:lpstr>PowerPoint Presentation</vt:lpstr>
      <vt:lpstr>Sentence Completion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Practice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Chauhan</dc:creator>
  <cp:lastModifiedBy>prashant chauhan</cp:lastModifiedBy>
  <cp:revision>2274</cp:revision>
  <dcterms:created xsi:type="dcterms:W3CDTF">2020-06-11T07:03:50Z</dcterms:created>
  <dcterms:modified xsi:type="dcterms:W3CDTF">2026-08-07T03:58:00Z</dcterms:modified>
</cp:coreProperties>
</file>