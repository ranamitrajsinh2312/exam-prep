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4"/>
  </p:notesMasterIdLst>
  <p:handoutMasterIdLst>
    <p:handoutMasterId r:id="rId15"/>
  </p:handoutMasterIdLst>
  <p:sldIdLst>
    <p:sldId id="257" r:id="rId2"/>
    <p:sldId id="459" r:id="rId3"/>
    <p:sldId id="694" r:id="rId4"/>
    <p:sldId id="745" r:id="rId5"/>
    <p:sldId id="746" r:id="rId6"/>
    <p:sldId id="747" r:id="rId7"/>
    <p:sldId id="748" r:id="rId8"/>
    <p:sldId id="749" r:id="rId9"/>
    <p:sldId id="750" r:id="rId10"/>
    <p:sldId id="751" r:id="rId11"/>
    <p:sldId id="753" r:id="rId12"/>
    <p:sldId id="337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Condensed" panose="02000000000000000000" pitchFamily="2" charset="0"/>
      <p:regular r:id="rId24"/>
      <p:bold r:id="rId25"/>
      <p:italic r:id="rId26"/>
      <p:boldItalic r:id="rId27"/>
    </p:embeddedFont>
    <p:embeddedFont>
      <p:font typeface="Roboto Condensed Light" panose="02000000000000000000" pitchFamily="2" charset="0"/>
      <p:regular r:id="rId28"/>
      <p: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v4/gVYfmQFX1giwRBeeiNQ==" hashData="ZSr/q3GJwi4/ccL7jm8uoYq7vxXSBPXGUvg9XC0dnlvmjWF97tj3UdFkMnp7GhypmPVnVry2zj52mSMPdh7EpQ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Synonyms Antonyms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radhika.bhateliya@darshan.ac.in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9428035992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Radhika J Bhateliya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A8E46D0-2CA0-8369-BD56-792E84BA50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19944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Practice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Synonyms Antonyms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622-201C-769D-D3BD-03D282C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B31DDE-8FF3-1B5F-288E-268039C0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921" y="1015843"/>
            <a:ext cx="5714449" cy="5590565"/>
          </a:xfrm>
        </p:spPr>
        <p:txBody>
          <a:bodyPr/>
          <a:lstStyle/>
          <a:p>
            <a:r>
              <a:rPr lang="en-IN" dirty="0"/>
              <a:t>Candid</a:t>
            </a:r>
          </a:p>
          <a:p>
            <a:pPr lvl="1"/>
            <a:r>
              <a:rPr lang="en-IN" dirty="0"/>
              <a:t>Frank, Honest, Direct	</a:t>
            </a:r>
          </a:p>
          <a:p>
            <a:pPr lvl="1"/>
            <a:r>
              <a:rPr lang="en-IN" dirty="0"/>
              <a:t>Deceitful, Evasive, Insincere</a:t>
            </a:r>
          </a:p>
          <a:p>
            <a:r>
              <a:rPr lang="en-IN" dirty="0"/>
              <a:t>Cautious</a:t>
            </a:r>
          </a:p>
          <a:p>
            <a:pPr lvl="1"/>
            <a:r>
              <a:rPr lang="en-IN" dirty="0"/>
              <a:t>Careful, Prudent, Guarded </a:t>
            </a:r>
          </a:p>
          <a:p>
            <a:pPr lvl="1"/>
            <a:r>
              <a:rPr lang="en-IN" dirty="0"/>
              <a:t>Reckless, Careless, Rash</a:t>
            </a:r>
          </a:p>
          <a:p>
            <a:r>
              <a:rPr lang="en-IN" dirty="0"/>
              <a:t>Clarity</a:t>
            </a:r>
          </a:p>
          <a:p>
            <a:pPr lvl="1" algn="l"/>
            <a:r>
              <a:rPr lang="en-IN" dirty="0"/>
              <a:t>Clearness, Precision, Lucidity</a:t>
            </a:r>
          </a:p>
          <a:p>
            <a:pPr lvl="1"/>
            <a:r>
              <a:rPr lang="en-IN" dirty="0"/>
              <a:t>Confusion, Obscurity, Vagueness</a:t>
            </a:r>
          </a:p>
          <a:p>
            <a:r>
              <a:rPr lang="en-IN" dirty="0"/>
              <a:t>Diligence</a:t>
            </a:r>
          </a:p>
          <a:p>
            <a:pPr lvl="1" algn="l"/>
            <a:r>
              <a:rPr lang="en-IN" dirty="0"/>
              <a:t>Hard work, Persistence, Thoroughness</a:t>
            </a:r>
          </a:p>
          <a:p>
            <a:pPr lvl="1"/>
            <a:r>
              <a:rPr lang="en-IN" dirty="0"/>
              <a:t>Laziness, Negligence, Sloth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6C72B-825E-1295-FF49-9CDE64B7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8E815C1-F375-86E0-05D7-16D8F5075AE4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408159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Abundant</a:t>
            </a:r>
          </a:p>
          <a:p>
            <a:pPr lvl="1"/>
            <a:r>
              <a:rPr lang="en-IN" dirty="0"/>
              <a:t>Plentiful, Copious, Ample</a:t>
            </a:r>
          </a:p>
          <a:p>
            <a:pPr lvl="1"/>
            <a:r>
              <a:rPr lang="en-IN" dirty="0"/>
              <a:t>Scarce, </a:t>
            </a:r>
            <a:r>
              <a:rPr lang="en-IN" dirty="0" err="1"/>
              <a:t>Meager</a:t>
            </a:r>
            <a:r>
              <a:rPr lang="en-IN" dirty="0"/>
              <a:t>, Deficient</a:t>
            </a:r>
          </a:p>
          <a:p>
            <a:r>
              <a:rPr lang="en-IN" dirty="0"/>
              <a:t>Accurate</a:t>
            </a:r>
          </a:p>
          <a:p>
            <a:pPr lvl="1"/>
            <a:r>
              <a:rPr lang="en-IN" dirty="0"/>
              <a:t>Correct, Precise, Exact</a:t>
            </a:r>
          </a:p>
          <a:p>
            <a:pPr lvl="1"/>
            <a:r>
              <a:rPr lang="en-IN" dirty="0"/>
              <a:t>Incorrect, Faulty, Inaccurate</a:t>
            </a:r>
          </a:p>
          <a:p>
            <a:r>
              <a:rPr lang="en-IN" dirty="0"/>
              <a:t>Adapt</a:t>
            </a:r>
          </a:p>
          <a:p>
            <a:pPr lvl="1"/>
            <a:r>
              <a:rPr lang="en-IN" dirty="0"/>
              <a:t>Adjust, Acclimatize, Modify</a:t>
            </a:r>
          </a:p>
          <a:p>
            <a:pPr lvl="1"/>
            <a:r>
              <a:rPr lang="en-IN" dirty="0"/>
              <a:t>Resist, Reject, Misadjust</a:t>
            </a:r>
          </a:p>
          <a:p>
            <a:r>
              <a:rPr lang="en-IN" dirty="0"/>
              <a:t>Brief</a:t>
            </a:r>
          </a:p>
          <a:p>
            <a:pPr lvl="1"/>
            <a:r>
              <a:rPr lang="en-IN" dirty="0"/>
              <a:t>Short, Concise, Succinct</a:t>
            </a:r>
          </a:p>
          <a:p>
            <a:pPr lvl="1"/>
            <a:r>
              <a:rPr lang="en-IN" dirty="0"/>
              <a:t>Lengthy, Verbose, Extended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2E9E5-96A0-B571-A8F3-2B65190E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BC4646-7C94-549C-5521-FF3F33FAE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921" y="1015843"/>
            <a:ext cx="5714449" cy="5590565"/>
          </a:xfrm>
        </p:spPr>
        <p:txBody>
          <a:bodyPr/>
          <a:lstStyle/>
          <a:p>
            <a:r>
              <a:rPr lang="en-IN" dirty="0"/>
              <a:t>Mandatory</a:t>
            </a:r>
          </a:p>
          <a:p>
            <a:pPr lvl="1"/>
            <a:r>
              <a:rPr lang="en-IN" dirty="0"/>
              <a:t>Compulsory, Obligatory, Required</a:t>
            </a:r>
          </a:p>
          <a:p>
            <a:pPr lvl="1"/>
            <a:r>
              <a:rPr lang="en-IN" dirty="0"/>
              <a:t>Optional, Voluntary, Discretionary</a:t>
            </a:r>
          </a:p>
          <a:p>
            <a:r>
              <a:rPr lang="en-IN" dirty="0"/>
              <a:t>Obvious</a:t>
            </a:r>
          </a:p>
          <a:p>
            <a:pPr lvl="1"/>
            <a:r>
              <a:rPr lang="en-IN" dirty="0"/>
              <a:t>Apparent, Clear, Evident</a:t>
            </a:r>
          </a:p>
          <a:p>
            <a:pPr lvl="1"/>
            <a:r>
              <a:rPr lang="en-IN" dirty="0"/>
              <a:t>Hidden, Obscure, Subtle</a:t>
            </a:r>
          </a:p>
          <a:p>
            <a:r>
              <a:rPr lang="en-IN" dirty="0"/>
              <a:t>Punctual</a:t>
            </a:r>
          </a:p>
          <a:p>
            <a:pPr lvl="1"/>
            <a:r>
              <a:rPr lang="en-IN" dirty="0"/>
              <a:t>Prompt, On-time, Timely</a:t>
            </a:r>
          </a:p>
          <a:p>
            <a:pPr lvl="1"/>
            <a:r>
              <a:rPr lang="en-IN" dirty="0"/>
              <a:t>Late, Tardy, Delayed</a:t>
            </a:r>
          </a:p>
          <a:p>
            <a:r>
              <a:rPr lang="en-IN" dirty="0"/>
              <a:t>Rigid</a:t>
            </a:r>
          </a:p>
          <a:p>
            <a:pPr lvl="1"/>
            <a:r>
              <a:rPr lang="en-IN" dirty="0"/>
              <a:t>Strict, Inflexible, Unyielding</a:t>
            </a:r>
          </a:p>
          <a:p>
            <a:pPr lvl="1"/>
            <a:r>
              <a:rPr lang="en-IN" dirty="0"/>
              <a:t>Flexible, Adaptable, Pliable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9586C1-FF41-32F9-292E-BD7AEDE8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7EC98A9-50C9-9F89-2AB5-7F133E35D6D3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476194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Expand</a:t>
            </a:r>
          </a:p>
          <a:p>
            <a:pPr lvl="1"/>
            <a:r>
              <a:rPr lang="en-IN" dirty="0"/>
              <a:t>Broaden, Enlarge, Scale</a:t>
            </a:r>
          </a:p>
          <a:p>
            <a:pPr lvl="1"/>
            <a:r>
              <a:rPr lang="en-IN" dirty="0"/>
              <a:t>Shrink, Contract, Reduce</a:t>
            </a:r>
          </a:p>
          <a:p>
            <a:r>
              <a:rPr lang="en-IN" dirty="0"/>
              <a:t>Hostile</a:t>
            </a:r>
          </a:p>
          <a:p>
            <a:pPr lvl="1"/>
            <a:r>
              <a:rPr lang="en-IN" dirty="0"/>
              <a:t>Unfriendly, Antagonistic, Aggressive</a:t>
            </a:r>
          </a:p>
          <a:p>
            <a:pPr lvl="1"/>
            <a:r>
              <a:rPr lang="en-IN" dirty="0"/>
              <a:t>Friendly, Amicable, Welcoming</a:t>
            </a:r>
          </a:p>
          <a:p>
            <a:r>
              <a:rPr lang="en-IN" dirty="0"/>
              <a:t>Impair</a:t>
            </a:r>
          </a:p>
          <a:p>
            <a:pPr lvl="1"/>
            <a:r>
              <a:rPr lang="en-IN" dirty="0"/>
              <a:t>Damage, Weaken, Harm</a:t>
            </a:r>
          </a:p>
          <a:p>
            <a:pPr lvl="1"/>
            <a:r>
              <a:rPr lang="en-IN" dirty="0"/>
              <a:t>Improve, Enhance, Repair</a:t>
            </a:r>
          </a:p>
          <a:p>
            <a:r>
              <a:rPr lang="en-IN" dirty="0"/>
              <a:t>Lenient</a:t>
            </a:r>
          </a:p>
          <a:p>
            <a:pPr lvl="1"/>
            <a:r>
              <a:rPr lang="en-IN" dirty="0"/>
              <a:t>Forgiving, Tolerant, Merciful</a:t>
            </a:r>
          </a:p>
          <a:p>
            <a:pPr lvl="1"/>
            <a:r>
              <a:rPr lang="en-IN" dirty="0"/>
              <a:t>Strict, Harsh, Severe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3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135D-2A3E-9768-CE53-19708278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69B447-BC32-4E3A-D5D4-D00F8D12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578" y="986659"/>
            <a:ext cx="5714449" cy="5590565"/>
          </a:xfrm>
        </p:spPr>
        <p:txBody>
          <a:bodyPr/>
          <a:lstStyle/>
          <a:p>
            <a:r>
              <a:rPr lang="en-IN" dirty="0"/>
              <a:t>Adversity		</a:t>
            </a:r>
          </a:p>
          <a:p>
            <a:pPr lvl="1"/>
            <a:r>
              <a:rPr lang="en-IN" dirty="0"/>
              <a:t>Hardship, Misfortune, Difficulty	</a:t>
            </a:r>
          </a:p>
          <a:p>
            <a:pPr lvl="1"/>
            <a:r>
              <a:rPr lang="en-IN" dirty="0"/>
              <a:t>Prosperity, Good fortune, Advantage</a:t>
            </a:r>
          </a:p>
          <a:p>
            <a:r>
              <a:rPr lang="en-IN" dirty="0"/>
              <a:t>Apprehensive		</a:t>
            </a:r>
          </a:p>
          <a:p>
            <a:pPr lvl="1"/>
            <a:r>
              <a:rPr lang="en-IN" dirty="0"/>
              <a:t>Anxious, Fearful, Uneasy	</a:t>
            </a:r>
          </a:p>
          <a:p>
            <a:pPr lvl="1"/>
            <a:r>
              <a:rPr lang="en-IN" dirty="0"/>
              <a:t>Confident, Calm, Unconcerned	</a:t>
            </a:r>
          </a:p>
          <a:p>
            <a:r>
              <a:rPr lang="en-IN" dirty="0"/>
              <a:t>Benevolent		</a:t>
            </a:r>
          </a:p>
          <a:p>
            <a:pPr lvl="1"/>
            <a:r>
              <a:rPr lang="en-IN" dirty="0"/>
              <a:t>Kind, Generous, Charitable	</a:t>
            </a:r>
          </a:p>
          <a:p>
            <a:pPr lvl="1"/>
            <a:r>
              <a:rPr lang="en-IN" dirty="0"/>
              <a:t>Malevolent, Harsh, Unkind	</a:t>
            </a:r>
          </a:p>
          <a:p>
            <a:r>
              <a:rPr lang="en-IN" dirty="0"/>
              <a:t>Candor		</a:t>
            </a:r>
          </a:p>
          <a:p>
            <a:pPr lvl="1"/>
            <a:r>
              <a:rPr lang="en-IN" dirty="0"/>
              <a:t>Frankness, Openness, Honesty	</a:t>
            </a:r>
          </a:p>
          <a:p>
            <a:pPr lvl="1"/>
            <a:r>
              <a:rPr lang="en-IN" dirty="0"/>
              <a:t>Deceit, Guile, Evasiveness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6F9DB6-6916-B23B-918F-2476E238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36E4AE4-5E0C-9FBA-92B7-C4233D6F5A99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469663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Scarce</a:t>
            </a:r>
          </a:p>
          <a:p>
            <a:pPr lvl="1"/>
            <a:r>
              <a:rPr lang="en-IN" dirty="0"/>
              <a:t>Rare, Limited, Insufficient</a:t>
            </a:r>
          </a:p>
          <a:p>
            <a:pPr lvl="1"/>
            <a:r>
              <a:rPr lang="en-IN" dirty="0"/>
              <a:t>Abundant, Plentiful, Excessive</a:t>
            </a:r>
          </a:p>
          <a:p>
            <a:r>
              <a:rPr lang="en-US" dirty="0"/>
              <a:t>Subtle	</a:t>
            </a:r>
          </a:p>
          <a:p>
            <a:pPr lvl="1" algn="l"/>
            <a:r>
              <a:rPr lang="en-US" dirty="0"/>
              <a:t>Delicately small, Fine, Understated</a:t>
            </a:r>
          </a:p>
          <a:p>
            <a:pPr lvl="1" algn="l"/>
            <a:r>
              <a:rPr lang="en-US" dirty="0"/>
              <a:t>Overstated, Obvious, Blatant</a:t>
            </a:r>
          </a:p>
          <a:p>
            <a:pPr algn="l"/>
            <a:r>
              <a:rPr lang="en-US" dirty="0"/>
              <a:t>Vague	</a:t>
            </a:r>
          </a:p>
          <a:p>
            <a:pPr lvl="1" algn="l"/>
            <a:r>
              <a:rPr lang="en-US" dirty="0"/>
              <a:t>	Unclear, Indefinite, Ambiguous</a:t>
            </a:r>
          </a:p>
          <a:p>
            <a:pPr lvl="1" algn="l"/>
            <a:r>
              <a:rPr lang="en-US" dirty="0"/>
              <a:t>	Precise, Specific, Clear</a:t>
            </a:r>
          </a:p>
          <a:p>
            <a:pPr algn="l"/>
            <a:r>
              <a:rPr lang="en-US" dirty="0"/>
              <a:t>Acquiesce		</a:t>
            </a:r>
          </a:p>
          <a:p>
            <a:pPr lvl="1"/>
            <a:r>
              <a:rPr lang="en-US" dirty="0"/>
              <a:t>Agree, Comply, Consent	</a:t>
            </a:r>
          </a:p>
          <a:p>
            <a:pPr lvl="1"/>
            <a:r>
              <a:rPr lang="en-US" dirty="0"/>
              <a:t>Dissent, Refuse, Protest</a:t>
            </a:r>
          </a:p>
        </p:txBody>
      </p:sp>
    </p:spTree>
    <p:extLst>
      <p:ext uri="{BB962C8B-B14F-4D97-AF65-F5344CB8AC3E}">
        <p14:creationId xmlns:p14="http://schemas.microsoft.com/office/powerpoint/2010/main" val="347662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E260-5539-C72C-2B0E-86865C7E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568F0B-0386-EC87-1BC5-7DF6F3DC9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921" y="1015843"/>
            <a:ext cx="5714449" cy="5590565"/>
          </a:xfrm>
        </p:spPr>
        <p:txBody>
          <a:bodyPr/>
          <a:lstStyle/>
          <a:p>
            <a:r>
              <a:rPr lang="en-IN" dirty="0"/>
              <a:t>Frugal		</a:t>
            </a:r>
          </a:p>
          <a:p>
            <a:pPr lvl="1"/>
            <a:r>
              <a:rPr lang="en-IN" dirty="0"/>
              <a:t>Economical, Thrifty, Saving	</a:t>
            </a:r>
          </a:p>
          <a:p>
            <a:pPr lvl="1"/>
            <a:r>
              <a:rPr lang="en-IN" dirty="0"/>
              <a:t>Extravagant, Wasteful, Lavish	</a:t>
            </a:r>
          </a:p>
          <a:p>
            <a:r>
              <a:rPr lang="en-IN" dirty="0"/>
              <a:t>Impediment		</a:t>
            </a:r>
          </a:p>
          <a:p>
            <a:pPr lvl="1"/>
            <a:r>
              <a:rPr lang="en-IN" dirty="0"/>
              <a:t>Obstacle, Barrier, Hindrance	</a:t>
            </a:r>
          </a:p>
          <a:p>
            <a:pPr lvl="1"/>
            <a:r>
              <a:rPr lang="en-IN" dirty="0"/>
              <a:t>Catalyst, Advantage, Aid	</a:t>
            </a:r>
          </a:p>
          <a:p>
            <a:r>
              <a:rPr lang="en-IN" dirty="0"/>
              <a:t>Lucid		</a:t>
            </a:r>
          </a:p>
          <a:p>
            <a:pPr lvl="1"/>
            <a:r>
              <a:rPr lang="en-IN" dirty="0"/>
              <a:t>Clear, Articulate, Intelligible	</a:t>
            </a:r>
          </a:p>
          <a:p>
            <a:pPr lvl="1"/>
            <a:r>
              <a:rPr lang="en-IN" dirty="0"/>
              <a:t>Confusing, Ambiguous, Obscure	</a:t>
            </a:r>
          </a:p>
          <a:p>
            <a:r>
              <a:rPr lang="en-IN" dirty="0"/>
              <a:t>Meticulous	</a:t>
            </a:r>
          </a:p>
          <a:p>
            <a:pPr lvl="1"/>
            <a:r>
              <a:rPr lang="en-IN" dirty="0"/>
              <a:t>Painstaking, Precise, Detailed</a:t>
            </a:r>
          </a:p>
          <a:p>
            <a:pPr lvl="1"/>
            <a:r>
              <a:rPr lang="en-IN" dirty="0"/>
              <a:t>Careless, Sloppy, Negligent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650243-D094-6AF3-89CF-916ED97E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248B142-D6C4-B59D-D218-AF09B178103B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408159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Coerce		</a:t>
            </a:r>
          </a:p>
          <a:p>
            <a:pPr lvl="1"/>
            <a:r>
              <a:rPr lang="en-IN" dirty="0"/>
              <a:t>Force, Compel, Pressure	</a:t>
            </a:r>
          </a:p>
          <a:p>
            <a:pPr lvl="1"/>
            <a:r>
              <a:rPr lang="en-IN" dirty="0"/>
              <a:t>Persuade, Encourage, Allow	</a:t>
            </a:r>
          </a:p>
          <a:p>
            <a:r>
              <a:rPr lang="en-IN" dirty="0"/>
              <a:t>Curtail		</a:t>
            </a:r>
          </a:p>
          <a:p>
            <a:pPr lvl="1"/>
            <a:r>
              <a:rPr lang="en-IN" dirty="0"/>
              <a:t>Reduce, Cut short, Truncate	</a:t>
            </a:r>
          </a:p>
          <a:p>
            <a:pPr lvl="1"/>
            <a:r>
              <a:rPr lang="en-IN" dirty="0"/>
              <a:t>Extend, Lengthen, Expand	</a:t>
            </a:r>
          </a:p>
          <a:p>
            <a:r>
              <a:rPr lang="en-IN" dirty="0"/>
              <a:t>Divergent		</a:t>
            </a:r>
          </a:p>
          <a:p>
            <a:pPr lvl="1"/>
            <a:r>
              <a:rPr lang="en-IN" dirty="0"/>
              <a:t>Deviating, Differing, Varying	</a:t>
            </a:r>
          </a:p>
          <a:p>
            <a:pPr lvl="1"/>
            <a:r>
              <a:rPr lang="en-IN" dirty="0"/>
              <a:t>Convergent, Similar, Agreeing	</a:t>
            </a:r>
          </a:p>
          <a:p>
            <a:r>
              <a:rPr lang="en-IN" dirty="0"/>
              <a:t>Emulate		</a:t>
            </a:r>
          </a:p>
          <a:p>
            <a:pPr lvl="1"/>
            <a:r>
              <a:rPr lang="en-IN" dirty="0"/>
              <a:t>Imitate, Copy, Mirror	</a:t>
            </a:r>
          </a:p>
          <a:p>
            <a:pPr lvl="1"/>
            <a:r>
              <a:rPr lang="en-IN" dirty="0"/>
              <a:t>Neglect, Ignore, Disregard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3FE8-835C-6BF1-0081-3F036B42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83139A-04A5-F43D-AEBB-B65DB8577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921" y="1015843"/>
            <a:ext cx="5714449" cy="5590565"/>
          </a:xfrm>
        </p:spPr>
        <p:txBody>
          <a:bodyPr/>
          <a:lstStyle/>
          <a:p>
            <a:r>
              <a:rPr lang="en-US" dirty="0"/>
              <a:t>Scrutinize		</a:t>
            </a:r>
          </a:p>
          <a:p>
            <a:pPr lvl="1"/>
            <a:r>
              <a:rPr lang="en-US" dirty="0"/>
              <a:t>Inspect, Audit, Peruse	</a:t>
            </a:r>
          </a:p>
          <a:p>
            <a:pPr lvl="1"/>
            <a:r>
              <a:rPr lang="en-US" dirty="0"/>
              <a:t>Ignore, Overlook, Glance	</a:t>
            </a:r>
          </a:p>
          <a:p>
            <a:r>
              <a:rPr lang="en-US" dirty="0"/>
              <a:t>Tangible		</a:t>
            </a:r>
          </a:p>
          <a:p>
            <a:pPr lvl="1"/>
            <a:r>
              <a:rPr lang="en-US" dirty="0"/>
              <a:t>Concrete, Real, Touchable	</a:t>
            </a:r>
          </a:p>
          <a:p>
            <a:pPr lvl="1"/>
            <a:r>
              <a:rPr lang="en-US" dirty="0"/>
              <a:t>Intangible, Abstract, Unreal	</a:t>
            </a:r>
          </a:p>
          <a:p>
            <a:r>
              <a:rPr lang="en-US" dirty="0"/>
              <a:t>Vindicate		</a:t>
            </a:r>
          </a:p>
          <a:p>
            <a:pPr lvl="1"/>
            <a:r>
              <a:rPr lang="en-US" dirty="0"/>
              <a:t>Clear, Absolve, Exonerate	</a:t>
            </a:r>
          </a:p>
          <a:p>
            <a:pPr lvl="1"/>
            <a:r>
              <a:rPr lang="en-US" dirty="0"/>
              <a:t>Blame, Condemn, Incriminate</a:t>
            </a:r>
          </a:p>
          <a:p>
            <a:r>
              <a:rPr lang="en-US" dirty="0"/>
              <a:t>Acumen		</a:t>
            </a:r>
          </a:p>
          <a:p>
            <a:pPr lvl="1"/>
            <a:r>
              <a:rPr lang="en-US" dirty="0"/>
              <a:t>Sharpness, Insight, Shrewdness</a:t>
            </a:r>
          </a:p>
          <a:p>
            <a:pPr lvl="1"/>
            <a:r>
              <a:rPr lang="en-US" dirty="0"/>
              <a:t>Ignorance, Stupidity, Ineptitude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B9D123-143B-9008-2770-0CB7462D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B6AB4F3-B80B-2246-D69C-9AB9342F3FD9}"/>
              </a:ext>
            </a:extLst>
          </p:cNvPr>
          <p:cNvSpPr txBox="1">
            <a:spLocks/>
          </p:cNvSpPr>
          <p:nvPr/>
        </p:nvSpPr>
        <p:spPr>
          <a:xfrm>
            <a:off x="283579" y="1015844"/>
            <a:ext cx="459866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Novel		</a:t>
            </a:r>
          </a:p>
          <a:p>
            <a:pPr lvl="1"/>
            <a:r>
              <a:rPr lang="en-US" dirty="0"/>
              <a:t>New, Original, Innovative	</a:t>
            </a:r>
          </a:p>
          <a:p>
            <a:pPr lvl="1" algn="l"/>
            <a:r>
              <a:rPr lang="en-US" dirty="0"/>
              <a:t>Traditional, Conventional, Old </a:t>
            </a:r>
          </a:p>
          <a:p>
            <a:r>
              <a:rPr lang="en-US" dirty="0"/>
              <a:t>Ostentatious		</a:t>
            </a:r>
          </a:p>
          <a:p>
            <a:pPr lvl="1"/>
            <a:r>
              <a:rPr lang="en-US" dirty="0"/>
              <a:t>Showy, Pretentious, Flamboyant</a:t>
            </a:r>
          </a:p>
          <a:p>
            <a:pPr lvl="1"/>
            <a:r>
              <a:rPr lang="en-US" dirty="0"/>
              <a:t>Modest, Restrained, Subtle	</a:t>
            </a:r>
          </a:p>
          <a:p>
            <a:r>
              <a:rPr lang="en-US" dirty="0"/>
              <a:t>Pragmatic		</a:t>
            </a:r>
          </a:p>
          <a:p>
            <a:pPr lvl="1"/>
            <a:r>
              <a:rPr lang="en-US" dirty="0"/>
              <a:t>Practical, Realistic, Sensible	</a:t>
            </a:r>
          </a:p>
          <a:p>
            <a:pPr lvl="1" algn="l"/>
            <a:r>
              <a:rPr lang="en-US" dirty="0"/>
              <a:t>Idealistic, Impractical, Theoretical	</a:t>
            </a:r>
          </a:p>
          <a:p>
            <a:r>
              <a:rPr lang="en-US" dirty="0"/>
              <a:t>Resilient		</a:t>
            </a:r>
          </a:p>
          <a:p>
            <a:pPr lvl="1"/>
            <a:r>
              <a:rPr lang="en-US" dirty="0"/>
              <a:t>Tough, Adaptable, Buoyant	</a:t>
            </a:r>
          </a:p>
          <a:p>
            <a:pPr lvl="1"/>
            <a:r>
              <a:rPr lang="en-US" dirty="0"/>
              <a:t>Fragile, Vulnerable, Weak</a:t>
            </a:r>
          </a:p>
        </p:txBody>
      </p:sp>
    </p:spTree>
    <p:extLst>
      <p:ext uri="{BB962C8B-B14F-4D97-AF65-F5344CB8AC3E}">
        <p14:creationId xmlns:p14="http://schemas.microsoft.com/office/powerpoint/2010/main" val="343478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EB4E-120A-5F57-2510-6E26013E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E081DC-95CC-2FB5-8DFB-5DA5157C9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921" y="1015843"/>
            <a:ext cx="5714449" cy="5590565"/>
          </a:xfrm>
        </p:spPr>
        <p:txBody>
          <a:bodyPr/>
          <a:lstStyle/>
          <a:p>
            <a:r>
              <a:rPr lang="en-IN" dirty="0"/>
              <a:t>Disparate		</a:t>
            </a:r>
          </a:p>
          <a:p>
            <a:pPr lvl="1"/>
            <a:r>
              <a:rPr lang="en-IN" dirty="0"/>
              <a:t>Dissimilar, Distinct, Incompatible	</a:t>
            </a:r>
          </a:p>
          <a:p>
            <a:pPr lvl="1"/>
            <a:r>
              <a:rPr lang="en-IN" dirty="0"/>
              <a:t>Similar, Homogeneous, Identical</a:t>
            </a:r>
          </a:p>
          <a:p>
            <a:r>
              <a:rPr lang="en-IN" dirty="0"/>
              <a:t>Ephemeral		</a:t>
            </a:r>
          </a:p>
          <a:p>
            <a:pPr lvl="1"/>
            <a:r>
              <a:rPr lang="en-IN" dirty="0"/>
              <a:t>Short-lived, Transitory, Fleeting	</a:t>
            </a:r>
          </a:p>
          <a:p>
            <a:pPr lvl="1"/>
            <a:r>
              <a:rPr lang="en-IN" dirty="0"/>
              <a:t>Eternal, Permanent, Lasting</a:t>
            </a:r>
          </a:p>
          <a:p>
            <a:r>
              <a:rPr lang="en-IN" dirty="0"/>
              <a:t>Exacerbate		</a:t>
            </a:r>
          </a:p>
          <a:p>
            <a:pPr lvl="1"/>
            <a:r>
              <a:rPr lang="en-IN" dirty="0"/>
              <a:t>Worsen, Aggravate, Intensify	</a:t>
            </a:r>
          </a:p>
          <a:p>
            <a:pPr lvl="1"/>
            <a:r>
              <a:rPr lang="en-IN" dirty="0"/>
              <a:t>Alleviate, Soothe, Improve	</a:t>
            </a:r>
          </a:p>
          <a:p>
            <a:r>
              <a:rPr lang="en-IN" dirty="0"/>
              <a:t>Fastidious		</a:t>
            </a:r>
          </a:p>
          <a:p>
            <a:pPr lvl="1"/>
            <a:r>
              <a:rPr lang="en-IN" dirty="0"/>
              <a:t>Meticulous, Fussy, Exacting	</a:t>
            </a:r>
          </a:p>
          <a:p>
            <a:pPr lvl="1"/>
            <a:r>
              <a:rPr lang="en-IN" dirty="0"/>
              <a:t>Careless, Easy-going, Sloppy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E96E8-0F91-0B48-6126-5CC693F6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02AF858-63FB-12B9-5D8D-68675A0DCE1E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472929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Anachronism		</a:t>
            </a:r>
          </a:p>
          <a:p>
            <a:pPr lvl="1"/>
            <a:r>
              <a:rPr lang="en-US" dirty="0"/>
              <a:t>Relic, Misplacement in time	</a:t>
            </a:r>
          </a:p>
          <a:p>
            <a:pPr lvl="1"/>
            <a:r>
              <a:rPr lang="en-US" dirty="0"/>
              <a:t>Modernity, Contemporary fit</a:t>
            </a:r>
          </a:p>
          <a:p>
            <a:r>
              <a:rPr lang="en-US" dirty="0"/>
              <a:t>Apathetic		</a:t>
            </a:r>
          </a:p>
          <a:p>
            <a:pPr lvl="1" algn="l"/>
            <a:r>
              <a:rPr lang="en-US" dirty="0"/>
              <a:t>Indifferent, Unconcerned, Passive</a:t>
            </a:r>
          </a:p>
          <a:p>
            <a:pPr lvl="1" algn="l"/>
            <a:r>
              <a:rPr lang="en-US" dirty="0"/>
              <a:t>Enthusiastic, Eager, Passionate</a:t>
            </a:r>
          </a:p>
          <a:p>
            <a:pPr algn="l"/>
            <a:r>
              <a:rPr lang="en-US" dirty="0"/>
              <a:t>Capricious		</a:t>
            </a:r>
          </a:p>
          <a:p>
            <a:pPr lvl="1"/>
            <a:r>
              <a:rPr lang="en-US" dirty="0"/>
              <a:t>Fickle, Whimsical, Unpredictable</a:t>
            </a:r>
          </a:p>
          <a:p>
            <a:pPr lvl="1"/>
            <a:r>
              <a:rPr lang="en-US" dirty="0"/>
              <a:t>Constant, Predictable, Steady	</a:t>
            </a:r>
          </a:p>
          <a:p>
            <a:r>
              <a:rPr lang="en-US" dirty="0"/>
              <a:t>Cogent		</a:t>
            </a:r>
          </a:p>
          <a:p>
            <a:pPr lvl="1" algn="l"/>
            <a:r>
              <a:rPr lang="en-US" dirty="0"/>
              <a:t>Compelling, Persuasive, Convincing</a:t>
            </a:r>
          </a:p>
          <a:p>
            <a:pPr lvl="1" algn="l"/>
            <a:r>
              <a:rPr lang="en-US" dirty="0"/>
              <a:t>Unconvincing, Weak, Ineffective</a:t>
            </a:r>
          </a:p>
        </p:txBody>
      </p:sp>
    </p:spTree>
    <p:extLst>
      <p:ext uri="{BB962C8B-B14F-4D97-AF65-F5344CB8AC3E}">
        <p14:creationId xmlns:p14="http://schemas.microsoft.com/office/powerpoint/2010/main" val="354873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C17D-8C46-01D4-A15D-0AF0B7C0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F8D39F-2B16-D288-12D0-1CDD21874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921" y="1015843"/>
            <a:ext cx="5714449" cy="5590565"/>
          </a:xfrm>
        </p:spPr>
        <p:txBody>
          <a:bodyPr/>
          <a:lstStyle/>
          <a:p>
            <a:r>
              <a:rPr lang="en-US" dirty="0"/>
              <a:t>Obfuscate		</a:t>
            </a:r>
          </a:p>
          <a:p>
            <a:pPr lvl="1"/>
            <a:r>
              <a:rPr lang="en-US" dirty="0"/>
              <a:t>Confuse, Cloud, Muddle	</a:t>
            </a:r>
          </a:p>
          <a:p>
            <a:pPr lvl="1"/>
            <a:r>
              <a:rPr lang="en-US" dirty="0"/>
              <a:t>Clarify, Simplify, Explain</a:t>
            </a:r>
          </a:p>
          <a:p>
            <a:r>
              <a:rPr lang="en-US" dirty="0"/>
              <a:t>Pervasive		</a:t>
            </a:r>
          </a:p>
          <a:p>
            <a:pPr lvl="1"/>
            <a:r>
              <a:rPr lang="en-US" dirty="0"/>
              <a:t>Widespread, Omnipresent, Invasive	</a:t>
            </a:r>
          </a:p>
          <a:p>
            <a:pPr lvl="1"/>
            <a:r>
              <a:rPr lang="en-US" dirty="0"/>
              <a:t>Rare, Limited, Restricted	</a:t>
            </a:r>
          </a:p>
          <a:p>
            <a:r>
              <a:rPr lang="en-US" dirty="0"/>
              <a:t>Recalcitrant		</a:t>
            </a:r>
          </a:p>
          <a:p>
            <a:pPr lvl="1"/>
            <a:r>
              <a:rPr lang="en-US" dirty="0"/>
              <a:t>Obstinate, Defiant, Disobedient	</a:t>
            </a:r>
          </a:p>
          <a:p>
            <a:pPr lvl="1"/>
            <a:r>
              <a:rPr lang="en-US" dirty="0"/>
              <a:t>Compliant, Submissive, Obedient	</a:t>
            </a:r>
          </a:p>
          <a:p>
            <a:r>
              <a:rPr lang="en-US" dirty="0"/>
              <a:t>Spurious		</a:t>
            </a:r>
          </a:p>
          <a:p>
            <a:pPr lvl="1"/>
            <a:r>
              <a:rPr lang="en-US" dirty="0"/>
              <a:t>Fake, False, Counterfeit	</a:t>
            </a:r>
          </a:p>
          <a:p>
            <a:pPr lvl="1"/>
            <a:r>
              <a:rPr lang="en-US" dirty="0"/>
              <a:t>Genuine, Authentic, Valid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C893BA-27AC-4B14-C29C-DF98A74C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DCBE151-DEE5-0FC3-3125-97DDC2820033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476194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Garrulous		</a:t>
            </a:r>
          </a:p>
          <a:p>
            <a:pPr lvl="1" algn="l"/>
            <a:r>
              <a:rPr lang="en-US" dirty="0"/>
              <a:t>Talkative, Verbose, Loquacious</a:t>
            </a:r>
          </a:p>
          <a:p>
            <a:pPr lvl="1" algn="l"/>
            <a:r>
              <a:rPr lang="en-US" dirty="0"/>
              <a:t>Laconic, Taciturn, Silent</a:t>
            </a:r>
          </a:p>
          <a:p>
            <a:r>
              <a:rPr lang="en-US" dirty="0"/>
              <a:t>Inadvertent		</a:t>
            </a:r>
          </a:p>
          <a:p>
            <a:pPr lvl="1"/>
            <a:r>
              <a:rPr lang="en-US" dirty="0"/>
              <a:t>Unintentional, Accidental, Unplanned	</a:t>
            </a:r>
          </a:p>
          <a:p>
            <a:pPr lvl="1"/>
            <a:r>
              <a:rPr lang="en-US" dirty="0"/>
              <a:t>Deliberate, Intentional, Planned	</a:t>
            </a:r>
          </a:p>
          <a:p>
            <a:r>
              <a:rPr lang="en-US" dirty="0"/>
              <a:t>Laconic		</a:t>
            </a:r>
          </a:p>
          <a:p>
            <a:pPr lvl="1"/>
            <a:r>
              <a:rPr lang="en-US" dirty="0"/>
              <a:t>Concise, Terse, Brief	</a:t>
            </a:r>
          </a:p>
          <a:p>
            <a:pPr lvl="1"/>
            <a:r>
              <a:rPr lang="en-US" dirty="0"/>
              <a:t>Verbose, Wordy, Garrulous	</a:t>
            </a:r>
          </a:p>
          <a:p>
            <a:r>
              <a:rPr lang="en-US" dirty="0"/>
              <a:t>Mitigate		</a:t>
            </a:r>
          </a:p>
          <a:p>
            <a:pPr lvl="1"/>
            <a:r>
              <a:rPr lang="en-US" dirty="0"/>
              <a:t>Soften, Lessen, Ease	</a:t>
            </a:r>
          </a:p>
          <a:p>
            <a:pPr lvl="1"/>
            <a:r>
              <a:rPr lang="en-US" dirty="0"/>
              <a:t>Aggravate, Intensify, Worsen</a:t>
            </a:r>
          </a:p>
        </p:txBody>
      </p:sp>
    </p:spTree>
    <p:extLst>
      <p:ext uri="{BB962C8B-B14F-4D97-AF65-F5344CB8AC3E}">
        <p14:creationId xmlns:p14="http://schemas.microsoft.com/office/powerpoint/2010/main" val="176974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65DB-FA0B-26FB-CEF9-1DB569950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E03820-02D3-8CD7-1955-8EA9F77F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F50CD4F-6CA1-EE60-B3E5-06C663786EF1}"/>
              </a:ext>
            </a:extLst>
          </p:cNvPr>
          <p:cNvSpPr txBox="1">
            <a:spLocks/>
          </p:cNvSpPr>
          <p:nvPr/>
        </p:nvSpPr>
        <p:spPr>
          <a:xfrm>
            <a:off x="283580" y="1015844"/>
            <a:ext cx="5366106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Taciturn</a:t>
            </a:r>
          </a:p>
          <a:p>
            <a:pPr lvl="1"/>
            <a:r>
              <a:rPr lang="en-US" dirty="0"/>
              <a:t>Reserved, Untalkative, Quiet</a:t>
            </a:r>
          </a:p>
          <a:p>
            <a:pPr lvl="1"/>
            <a:r>
              <a:rPr lang="en-US" dirty="0"/>
              <a:t>Talkative, Extroverted, Garrulous</a:t>
            </a:r>
          </a:p>
          <a:p>
            <a:r>
              <a:rPr lang="en-US" dirty="0"/>
              <a:t>Ubiquitous</a:t>
            </a:r>
          </a:p>
          <a:p>
            <a:pPr lvl="1"/>
            <a:r>
              <a:rPr lang="en-US" dirty="0"/>
              <a:t>Everywhere, Universal, Omnipresent</a:t>
            </a:r>
          </a:p>
          <a:p>
            <a:pPr lvl="1"/>
            <a:r>
              <a:rPr lang="en-US" dirty="0"/>
              <a:t>Rare, Scarce, Uncommon</a:t>
            </a:r>
          </a:p>
          <a:p>
            <a:r>
              <a:rPr lang="en-US" dirty="0"/>
              <a:t>Zealous</a:t>
            </a:r>
          </a:p>
          <a:p>
            <a:pPr lvl="1"/>
            <a:r>
              <a:rPr lang="en-US" dirty="0"/>
              <a:t>Passionate, Fervent, Ardent</a:t>
            </a:r>
          </a:p>
          <a:p>
            <a:pPr lvl="1"/>
            <a:r>
              <a:rPr lang="en-US" dirty="0"/>
              <a:t>Apathetic, Indifferent, Unenthusiastic</a:t>
            </a:r>
          </a:p>
        </p:txBody>
      </p:sp>
    </p:spTree>
    <p:extLst>
      <p:ext uri="{BB962C8B-B14F-4D97-AF65-F5344CB8AC3E}">
        <p14:creationId xmlns:p14="http://schemas.microsoft.com/office/powerpoint/2010/main" val="96084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23532</TotalTime>
  <Words>833</Words>
  <Application>Microsoft Office PowerPoint</Application>
  <PresentationFormat>Widescreen</PresentationFormat>
  <Paragraphs>201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1_Office Theme</vt:lpstr>
      <vt:lpstr>Synonyms Antonyms</vt:lpstr>
      <vt:lpstr>PowerPoint Presentation</vt:lpstr>
      <vt:lpstr>Synonyms Antonyms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2279</cp:revision>
  <dcterms:created xsi:type="dcterms:W3CDTF">2020-06-11T07:03:50Z</dcterms:created>
  <dcterms:modified xsi:type="dcterms:W3CDTF">2026-08-07T03:58:25Z</dcterms:modified>
</cp:coreProperties>
</file>